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38801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screen 5 minutes before. As people join, in chat: "Which AI assistant did you use this week, and did it get anything wrong?" Also confirm each team knows its allocated failure brief (allocation posted Wednesday).
Opening line (1 min): "For nine sessions the asset was a model that predicts a number. Today it is a model that writes. Most of what you know still applies; the parts that change are the parts that get companies sued. And then we close the loop: six real failures, and you tell me which control was missing."
Rhythm as always: break at 46, one breakout at 61, closing trio at 86. Video 2 (governance) opens today with a knowledge check that counts. Leave this slide by minute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Paste two or three Forum 4 quotes on Friday night, and the misconception of the week (thresholds without windows; "alert the team" alerts nobody). Say Video 1's quiz results will be discussed in two minutes in Session 12's forum, not today.
Then outcomes and agenda. Point at the agenda: the demo is short, the workshop has the minutes. Timing: minute 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Harvest the chat (90 seconds): assistants that got something wrong this week. Typical: invented a reference, wrong date, confident nonsense, refused something harmless. Name the pattern without theory yet: "it wrote something plausible that was not true, and nobody stopped it before you read it." Then: today's running example is the TelcoNova HR assistant from Video 1: employees ask, it answers from the policy documents. In Video 1 you watched it; today you build it and operate it. And the six cases on the right are what happens when the operating part is missing.
Timing: minute 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Minute 8. Three slides: the five differences, the two lifecycles side by side (Forum 5 Q2), and prompt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differences, each with an operational consequence. One: you rarely train; you configure. The model is bought (or a foundation model is hosted); what you build is the prompt, the retrieval and the guardrails. Consequence: "retraining" becomes "change the prompt or the documents", and it happens weekly, not quarterly. Two: the prompt is code. It decides behaviour; a one-word change alters thousands of answers. Consequence: version it, review it, test it, roll it back, like code (Session 3). Three: outputs are not deterministic. The same question can get two different answers. Consequence: you cannot test with "expected output equals actual"; you test with a rubric and a sample. Four: cost is per token, both directions. Consequence: a verbose prompt or a long document costs money on every request; cost is a monitoring metric (Video 1). Five: quality is judged, not measured. There is usually no label. Consequence: golden sets, judges and human review replace accuracy (Video 1 segment 5).
What does not change: the lifecycle logic (Session 1), the pipeline and CI/CD discipline (Sessions 3 and 5), monitoring with thresholds and owners (Session 7), and governance (Video 2). The four modules apply; they apply to different objects.
Timing: minute 9–12.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reference slide for Forum 5 Q2. Top row: the MLOps lifecycle you know. Bottom row: LLMOps. Read them in pairs. Data collection becomes document collection and curation: what the assistant may know. Training becomes prompt design plus retrieval design: you do not fit weights, you write instructions and decide what context the model sees. Validation becomes evaluation on a golden set with a judge and humans. Deployment adds guardrails and a gateway (which model, which version, a cache). Monitoring adds tokens, cost, feedback and the three LLM drifts. Retraining becomes iterate prompt and documents; fine-tuning is the exception, not the rule.
Then the table: four concrete differences, the kind Forum 5 Q2 wants. What is versioned: model plus data plus code, versus prompt plus document set plus model version. What a test is: accuracy on a held-out set, versus a rubric score on a golden set. What drifts: features and labels, versus questions, documents and answers. Who changes it: a data scientist retrains, versus a content owner edits a document and changes the behaviour without touching any code. That last one is the governance problem of Module 4.
Timing: minute 12–14.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management in four practices. One: templates with variables; the prompt is a text with placeholders (question, context), never a string typed into a chat window by whoever is on duty. Two: versions with a commit message: what changed and why, exactly like the model registry in Session 3. Three: aliases as environments: production, challenger, staging; the application asks for "the production prompt", not for version 7, so promoting a prompt is changing an alias, and rolling back is changing it back (Session 5's rollback, applied to text). Four: a review before promotion, with the evaluation scores attached (next block), signed by the content owner: HR for the HR assistant.
Who owns the prompt is the governance question: not the engineer who typed it. Tools: MLflow's prompt registry (the demo), LangSmith, the vendors' prompt studios; same four practices.
Timing: minute 14–16.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Minute 16. This block builds the architecture with the class (Forum 5 Q1), explains evaluation, and runs the 5-minute demo with the poll.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Retrieval-augmented generation in eight steps, no mathematics. Documents: the HR policies. Chunks: cut into passages of a few hundred words. Embeddings: each passage turned into a vector, a list of numbers that places it on a map of meaning. Index: the vectors stored so that "nearest neighbours" is fast. Retrieval: the question is embedded and the closest passages fetched. Prompt assembly: the template from the registry, filled with the question and the passages. Generation: the model writes the answer. Answer: shown to the user, with the sources.
Two owner questions per step, in the table. The pattern: at every step there is a version and a failure. Documents: which version, and is anything missing or stale? Chunks: too small loses context, too big wastes tokens. Embeddings: which model, and was the index rebuilt when it changed? Retrieval: how many passages, and what happens when nothing relevant is found? Prompt: which version, who approved? Generation: which model version, what cost? Answer: are sources shown, can the user say it was wrong?
Timing: minute 17–20.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whole-class build, 6–7 minutes, and the reference answer to Forum 5 Q1. Show the slide with only the middle row visible if you can (or cover it and reveal); otherwise walk it. Start from the user and ask the chat at each gap: "the question arrives; what should happen before the model sees it?" (input guardrails: PII, prompt injection from Session 3, off-topic). "Where does the context come from?" (retrieval from an index that an ingestion pipeline builds from versioned documents). "Where does the prompt come from?" (the registry, alias production). "Which model, and through what?" (a gateway that pins the model version, caches repeated questions, and meters tokens). "What happens to the answer before the user sees it?" (output guardrails: groundedness check, PII, format). "And around it?" Three side systems: evaluation (golden set, judge, humans), monitoring (Video 1's metrics, with alerts), and the log that stores every answer with prompt version, document-set version and model version, or nothing can be explained.
Then the trade-off sentence Forum 5 Q1 asks for: every box on the path adds latency and some add tokens; the output groundedness check is itself a model call. Ask: "which box would you remove to save 800 ms?" Do not resolve; it is a Forum 5 theme.
Timing: minute 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1 segment 5 in one slide, from the operator's side. A golden set: a curated list of questions with approved answers, written by the content owner; run on every change to the prompt, the model or the documents; cheap, repeatable, and the only test that runs before a change reaches anyone. A judge: another model scores live answers against a rubric (correct, complete, grounded, one to five) on a daily sample; scalable; biased, so it must be checked against humans. Human review: HR scores a hundred conversations a week with the same rubric; expensive; the gold standard; it also calibrates the judge.
Why all three: the golden set catches regressions before release but only for questions you thought of; the judge covers what people really ask but can be fooled; humans are right but slow. Remove any one and a class of failure becomes invisible. The demo shows the first one, with a judge you can read, on two prompt versions.
Timing: minute 27–29.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5 minutes, browser only (demo script in S10/MLOps_S10_Demo_Script.md; everything pre-rendered). Tab 1: MLflow, Prompts, hr-assistant: two versions, aliases production and challenger; click Compare: v1 on the right is the friendly baseline; v2 on the left has five rules: answer only from the policy text, refuse and refer to HR when absent, cite the section, sixty words, never a name. Say: "this is the same registry you saw for the churn model in Session 3; the artefact is text." Tab 2: eval_results.html: twelve HR questions, the two answers side by side, and three verdicts per answer from a judge: correct (are HR's key facts there), grounded (is every number in the policy), PII (did it repeat an employee's name). Scroll to question 2: v1 says 26 days, the policy says 25; question 5: v1 allows 45 days abroad and names Ana García; question 12: v1 invents a salary band, v2 says "I cannot answer that". Say plainly: the answers are illustrative transcripts and the judge is a rule-based stand-in so that you can read it; in production the judge is a model with a rubric, checked by humans. The pattern is the production pattern. Then the scorecard on the next slide.
Timing: minute 29–34.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 the demo with the scorecard. v1: six of twelve correct, seven grounded, one leaked name, and it invented a salary band. v2: eleven of twelve correct and grounded, no leak, refused the out-of-scope question. v2 is also faster, because its answers are half as long. But v2 costs 2.24 euros per thousand questions against 1.59: forty percent more, because its rules add input tokens and it retrieves two passages instead of one. That is the trade-off sentence Forum 5 Q1 asks for, with numbers.
And v2 is still wrong once (question 11: "until the child is 8"; the policy says 12): a grounded prompt reduces invention, it does not abolish it. The twelfth of twelve is why the judge runs daily and humans weekly.
Chat poll (2 minutes): "Promote v2 to production today?" A: yes. B: no. C: only as a canary for 10% of questions, with the judge watching. One letter and one line. Do not resolve; C is the Session 5 answer, and the question of who signs (HR, not the engineer) is Forum 5's Theme B.
Timing: minute 34–35 (poll runs into the next block if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Minute 35. Four short slides, then the break at 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Guardrails are checks on the way in and on the way out; the Session 7 idea of "steps rather than documents", applied to text. Input side: PII detection (do not send an employee's salary to a third-party model); prompt injection, the Session 3 slide: "ignore your instructions and…" hidden in a question or in a document; off-topic and abuse filters. Output side: groundedness, is every claim supported by the retrieved passages, which is itself a model call and the most expensive box; PII and toxicity detectors; format checks (did it cite a source, is it under sixty words); and a refusal path: what the user sees when a guardrail blocks.
The cost column is the point of the slide. Detectors cost tens of milliseconds and occasionally block something harmless (a false positive is a frustrated employee). The groundedness judge costs close to a second and doubles the tokens. A guardrail is a control with a latency budget and a false-block rate, and it is monitored like anything else. Which two you would keep if you could only afford two is Forum 5 Theme B.
Timing: minute 36–39.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arithmetic every owner should be able to do. Requests per day times tokens per request times price per token. The HR assistant: 3,000 questions a day; v2 uses about 760 input and 34 output tokens; at illustrative prices of 2.5 euros per million input tokens and 10 per million output, that is 2.24 euros per thousand questions, 6.70 a day, about 2,450 a year. Add the daily judge on a ten percent sample: another 1,500 tokens per judged question, about one euro a day. Add the output groundedness guardrail on every answer: doubles the model cost. Now add the human review: a hundred conversations a week at three minutes each is five hours of HR time a week, roughly 12,000 euros a year. The people are the biggest line, and they are also the only line that produces truth.
Two levers. Caching: about thirty percent of HR questions repeat ("how many holiday days?"); a cache answers them in milliseconds for nothing, and, careful, must be invalidated when the documents change. Shorter context: v2 retrieves two passages; retrieving one saves thirty percent of tokens and loses some grounding; that is a measured decision, with the golden set. Latency budget: p95 under three seconds; the boxes add up: guardrails 200 ms, retrieval 150, generation 1,200, groundedness 900. Something has to give, and it should be a decision, not an accident.
Timing: minute 39–42.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it is Video 1 segment 5, recapped as a checklist. The families: quality and faithfulness (judge scores, weekly human sample); the counted failures (hallucination, toxicity, PII, some thresholds zero); groundedness and retrieval quality; tokens, cost and latency (time to first token); feedback (thumbs, escalation, resolution rate); and the three drifts (questions, documents, answers). And the one rule that makes any of it explainable: every answer logged with prompt version, document-set version and model version.
Ask one question: "the HR policy changed on Monday; which of these tiles moves first?" (groundedness against the new document set; then the questions drift as people ask about the change).
Timing: minute 42–43.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trends, framed as operations, not as hype. Edge: the model runs on the device, a phone, a car, a factory sensor, for latency, privacy or connectivity. Operationally: updates are deployments to thousands of devices (Session 5's rollout strategies, literally), there are no central logs unless you design them, and monitoring means sampling telemetry back. Agents: an LLM that decides which tools to call (search the policy, open a ticket, book leave) and loops until done. Operationally: every tool is a permission (what may it do on the employee's behalf?), every loop needs a step and cost budget (an agent that retries forever is an outage and a bill), and every run needs a trace, the sequence of decisions and calls, or nobody can explain what it did. Air Canada's chatbot only wrote; imagine one that also books.
The framing sentence: nothing here changes the four modules; each trend multiplies the objects they apply to. End of block; break.
Timing: minute 43–46.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46–51. On return, straight into the diagnostics block: six patterns, the template, the six cases, then rooms at 61.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Minute 51. Seven minutes to the activity brief: patterns (2), template (2), the six cases at a glance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patterns, without naming the cases yet; the rooms will map their case onto one or two of them. One: a high-stakes decision with no human gate: the model's output became an action automatically and nobody could stop it in time (Module 2: approval and rollback; Module 4: human oversight). Two: the training data encoded the past: the model learned who was hired, who was investigated, and reproduced it (Module 1: data provenance; Module 4: bias audit). Three: a vendor's or a lab's performance claim was never validated locally: the model was good somewhere else (Module 2: model validation as a gate). Four: no ground-truth loop: nobody compared predictions with what happened, or the decision itself hid the truth (Module 3, Video 1 segment 3). Five: a deployment without verification or rollback: the wrong code ran, the alerts were not read, the fix made it worse (Module 2: CI/CD and rollout strategies). Six: generation without grounding or accountability: the system wrote something false and the organisation said it was not responsible (Module 4 today; Module 3 monitoring).
Say: most real incidents are two of these at once; one technical, one organisational.
Timing: minute 51–53.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template the rooms fill (activity brief and Forum 5 Q3). Symptom: what was observed, by whom, when; facts only. Stage where it originated: the lifecycle stage where the problem was created, which is usually earlier than where it was noticed. Missing control: the specific check, gate, metric or rule that did not exist or was not applied; name it with course vocabulary. Accountable persona: who should have owned that control (Session 1's personas: product owner, data scientist, ML engineer, IT, Risk and Compliance, and now the content owner). Corrective roadmap: one action per module, foundations, pipelines and deployment, monitoring, governance; ten words each.
The example row is NorthRetail from Session 1, which everyone knows, filled in. Show it as the level of specificity expected: not "better monitoring" but "share of features updated this week, threshold, owner".
Timing: minute 53–55.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line once; the rooms have the full brief. Zillow Offers: a home-price forecasting model drove purchases; in late 2021 Zillow closed the business, wrote down more than 500 million dollars, laid off 2,000 people; the CEO said the unpredictability in forecasting home prices far exceeded what they anticipated. Amazon recruiting tool: built from 2014 to score CVs; it penalised the word "women's" and graduates of two women's colleges; disbanded by 2017; never used as the sole basis for a decision. Air Canada: its chatbot told a customer in 2022 he could claim a bereavement fare after flying; the policy said the opposite, on the page the chatbot linked to; in February 2024 a tribunal ordered compensation and rejected the argument that the chatbot was a separate legal entity. Dutch childcare benefits: a risk-scoring system at the tax authority used nationality as a risk factor; about 26,000 parents were wrongly accused of fraud and ordered to repay; the cabinet resigned in January 2021. Epic sepsis model: used in hundreds of US hospitals; an external validation on 38,000 admissions found an AUC of 0.63 against the vendor's 0.76 to 0.83, missed two thirds of sepsis cases, and alerted on 18 percent of all patients. Knight Capital: a deployment to eight servers missed one; old code reactivated; 45 minutes, 4 million executions, a 460 million dollar loss; 97 warning emails before the open that nobody read.
Allocation on the right (adjust to the real rooms). Timing: minute 55–58.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before the rooms. Each room has one case and the brief it read. Fill the five rows of the template; the fifth row, the roadmap, must have one action per module with a metric, a gate, a person or a document in it. Then one sentence: the single control that would most likely have prevented or contained it, and who should have owned it. Output: the template on one slide or whiteboard. Two rooms present in the debrief, one classical case and one GenAI case; the other rooms add their one sentence in chat. Everyone posts their template in Forum 5 as the basis of Q3.
Timing: brief 58–61; rooms 61–76; debrief 76–86.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Visit each room once. Push for specificity: "which metric? which gate? who?". Typical drift: rooms narrate the story instead of filling the rows; rooms put "monitoring" in the missing-control row without a metric; rooms blame "the algorithm" in the persona row (a persona is a person with a role). Warn at 12 minutes. Timing: minute 61–76.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rooms present (76–82): one classical (ask Zillow or Epic) and one GenAI (Air Canada). The others post their one sentence in chat; read four aloud. Then reveal the table (82–86) and walk it fast. Zillow: the model's forecasts became purchase offers at scale with no gate on aggregate exposure or forecast uncertainty, in a market that moved (concept drift); the control: a human approval and exposure limit above a threshold, and forecast-vs-resale monitoring routed to a person; product owner. Amazon: the training data was ten years of mostly male hires; the control: a bias audit of the training data and of outcomes by group before any use, and a documented prohibition on proxy features; data scientist plus Risk and Compliance. Air Canada: an answer generated with no grounding check against the policy it linked to, and an organisation that treated the bot as someone else's; the control: a groundedness guardrail with a refusal-and-handoff path for policy questions, and an owner who signs for the output; product owner with Legal. Dutch benefits: a prohibited feature (nationality) in a risk score, no explanation, no contestability, and enforcement that treated a score as proof; the control: a feature review against the law, explanations per decision, a human review before any enforcement action; Risk and Compliance, and the political owner. Epic: a vendor model deployed without local validation on the hospital's own data, and an alert burden nobody measured; the control: external validation as a go-live gate, calibration per site, alert-burden monitoring; the clinical product owner with the ML engineer. Knight: a manual deployment to eight servers with no verification, dead code never removed, warning emails nobody read, a fix that made it worse; the control: automated deployment with verification and rollback, a kill switch, alerts that page a person; IT/ML engineer.
Close with the sentence: "In every case somebody could have said no, and the system was not built to let them."
Timing: minute 76–86.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synthesis slide, two minutes. Module 1, foundations: what is the model for, who owns it, what would "worse" mean; the model card, the personas, the KPI defined before the model existed. Module 2, pipelines and deployment: how does a change reach production safely; versioned data, code and models; tests for code and for data; CI/CD/CT; canary and rollback. Module 3, monitoring: how do we know it is still right, and who is told; drifts, performance by segment, ground truth, alerts with a threshold, a window and a person. Module 4, GenAI and governance: what changes when the model writes, and who is accountable; prompts, RAG, judges, guardrails, cost; the EU AI Act and NIST in Video 2.
Then the thread through the six cases: each one failed on a question some module answers. Point at the learning objectives on the right: this is what the exam and the project ask.
Timing: minute 84–86 (inside the debrief slot).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Cheat-sheet material. Timing: minute 86–87.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Verbatim from the syllabus. Q1 = the architecture we built together, drawn by each student, with the trade-off sentence from the demo. Q2 = the two-lifecycles slide. Q3 = the template from the activity, roadmap row. Video 2 opens today: AI Governance and Regulatory Readiness, 60 minutes, with a ten-question knowledge check that counts; watch it before answering Q3's governance row. Themes: the judge, the guardrail budget, the one control that would have prevented most of the six cases.
Timing: minute 87–89.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slide, one minute. Group project: the deliverables from the syllabus, an MLOps roadmap, persona responsibilities, a CI/CD schematic, a monitoring-and-retraining policy covering classical and LLM metrics where relevant, and a governance framework; the rubric weights the four equally plus the defence; dates as posted on campus (fill in). Exam: individual, on lifecycle logic, pipelines and CI/CD, monitoring and drift metrics, governance frameworks; one single-sided handwritten A4 sheet allowed: "formulas, architecture diagrams, or alert-threshold logic", which is exactly what the "three things" slides and the summary tables are for; minimum 3.5 out of 10 to pass. What to keep: the ten "three things" slides, the drift table, the metric-decision table, the monitoring plan template, the architecture from today, and the root-cause template.
Thank them; stop on time. Minute 89–90.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Case-card divider. Use the cards during the debrief when a room presents, so the class sees the facts while the room gives the diagnosis.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only. The room should find: the forecast became an irreversible action (a purchase) at scale; the market moved (concept drift) while the model kept buying; no visible gate on aggregate exposure or on forecast uncertainty; the truth (resale price) arrived months after the decision (Video 1 segment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only. The room should find: the training data encoded past decisions; no bias audit of data or outcomes by group before use; proxy terms; a "fix" that removed symptoms, not the cause; the control belongs in Module 1 (data provenance) and Module 4 (fairness audit, and a decision about whether the use case is appropriate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only. The room should find: an answer generated with no grounding check against the very page it linked to; no refusal-and-handoff path for policy questions; no owner who signed for the assistant's output; the small amount and the large precedent: the organisation is liable for what its assistant writes.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only. The room should find: a prohibited or proxy feature in the model; no explanation per decision and no contestability; a score that triggered enforcement automatically, with no human review; accountability that was political as well as technical; the strongest Module 4 case, and the one the EU AI Act's high-risk tier (Video 2) was written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only. The room should find: a performance claim never validated on local data before go-live; calibration and thresholds set elsewhere; no measurement of alert burden or of what the model added over clinicians; the ground truth (who developed sepsis) existed but nobody joined it to the predictions until researchers did; Module 2 validation as a gate, Module 3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only. The room should find: a manual deployment with no verification that all servers matched; dead code never removed; alerts that were not alerts; a fix without rollback that widened the blast radius; no kill switch. Module 2 (CI/CD, rollout strategies, rollback) and Module 3 (alerts that page a person). Not ML, and every MLOps failure mode is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divider. Not covered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covered live. Names change every year; functions do not. Prompt registries: MLflow (the demo), LangSmith, Weights &amp; Biases, the vendors' prompt studios. Evaluation: MLflow GenAI evaluation, LangSmith, Ragas, DeepEval, Promptfoo; the hyperscalers' evaluation services; IBM watsonx.governance for the enterprise dashboard. Guardrails: NeMo Guardrails, Guardrails AI, Llama Guard, the cloud providers' content filters; PII detectors such as Presidio. Gateways and observability: LiteLLM and the cloud AI gateways for routing, caching and metering; Langfuse, Arize Phoenix, OpenTelemetry for traces. Vector stores: pgvector, Elasticsearch/OpenSearch, Pinecone, Weaviate, Chroma. The rule from Session 3 applies: pick by the function you need and the platform you already run; the exam asks for functions, not product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covered live unless someone asks "how much code is that?". Left: the prompt registry calls from s10_demo_setup.py: register a version with a commit message and tags, set aliases, and load by alias in the application. Right: the evaluation loop: for each golden question and each version, the judge returns verdicts; the aggregate goes to an MLflow run with the prompt version as a parameter, so the registry and the scores live in the same place the churn model's runs did in Session 3. The judge here is a rule-based stand-in (key facts present; every number exists in the policy; no employee name); in production replace the judge function with a model call and a rubric, and keep everything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covered live. An agent is a loop: the model reads the goal, decides on a tool call, sees the result, decides again, until it declares itself done or hits a budget. The trace on the left is what observability tools record: each step with its tool, its arguments, its result, its tokens and its time. What you operate is on the right: the permissions each tool grants (the agent may read the policy; may it book leave on the employee's behalf?), the budgets (maximum steps, maximum tokens, maximum euros per run), the approval points (a human confirms before an irreversible action: the Session 5 gate again), the trace retention, and the evaluation, which is now of outcomes ("was the leave booked correctly?") rather than of one answer. Every failure pattern from today applies, multiplied by the number of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 Id="rId8"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 Id="rId6"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 Id="rId5"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slideLayout" Target="../slideLayouts/slideLayout1.xml"/><Relationship Id="rId9" Type="http://schemas.openxmlformats.org/officeDocument/2006/relationships/notesSlide" Target="../notesSlides/notesSlide17.xml"/><Relationship Id="rId10"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 Id="rId6"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 Id="rId6"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 Id="rId5"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B8C4D6"/>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B8C4D6"/>
                </a:solidFill>
                <a:latin typeface="Calibri" pitchFamily="34" charset="0"/>
                <a:ea typeface="Calibri" pitchFamily="34" charset="-122"/>
                <a:cs typeface="Calibri" pitchFamily="34" charset="-120"/>
              </a:rPr>
              <a:t>MLOps · MBDS-PT2026F · Session 10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B8C4D6"/>
                </a:solidFill>
                <a:latin typeface="Calibri" pitchFamily="34" charset="0"/>
                <a:ea typeface="Calibri" pitchFamily="34" charset="-122"/>
                <a:cs typeface="Calibri" pitchFamily="34" charset="-120"/>
              </a:rPr>
              <a:t>1</a:t>
            </a:r>
            <a:endParaRPr lang="en-US" sz="800" dirty="0"/>
          </a:p>
        </p:txBody>
      </p:sp>
      <p:sp>
        <p:nvSpPr>
          <p:cNvPr id="5" name="Text 3"/>
          <p:cNvSpPr txBox="1"/>
          <p:nvPr/>
        </p:nvSpPr>
        <p:spPr>
          <a:xfrm>
            <a:off x="548640" y="822960"/>
            <a:ext cx="8046720" cy="45720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MLOps: Machine Learning Operations</a:t>
            </a:r>
            <a:endParaRPr lang="en-US" sz="1600" dirty="0"/>
          </a:p>
        </p:txBody>
      </p:sp>
      <p:sp>
        <p:nvSpPr>
          <p:cNvPr id="6" name="Text 4"/>
          <p:cNvSpPr txBox="1"/>
          <p:nvPr/>
        </p:nvSpPr>
        <p:spPr>
          <a:xfrm>
            <a:off x="548640" y="1280160"/>
            <a:ext cx="8046720" cy="457200"/>
          </a:xfrm>
          <a:prstGeom prst="rect">
            <a:avLst/>
          </a:prstGeom>
          <a:noFill/>
          <a:ln/>
        </p:spPr>
        <p:txBody>
          <a:bodyPr wrap="square" lIns="0" tIns="0" rIns="0" bIns="0" rtlCol="0" anchor="ctr"/>
          <a:lstStyle/>
          <a:p>
            <a:pPr indent="0" marL="0">
              <a:buNone/>
            </a:pPr>
            <a:r>
              <a:rPr lang="en-US" sz="2000" b="1" dirty="0">
                <a:solidFill>
                  <a:srgbClr val="CADCFC"/>
                </a:solidFill>
                <a:latin typeface="Calibri" pitchFamily="34" charset="0"/>
                <a:ea typeface="Calibri" pitchFamily="34" charset="-122"/>
                <a:cs typeface="Calibri" pitchFamily="34" charset="-120"/>
              </a:rPr>
              <a:t>Session 10</a:t>
            </a:r>
            <a:endParaRPr lang="en-US" sz="2000" dirty="0"/>
          </a:p>
        </p:txBody>
      </p:sp>
      <p:sp>
        <p:nvSpPr>
          <p:cNvPr id="7" name="Text 5"/>
          <p:cNvSpPr txBox="1"/>
          <p:nvPr/>
        </p:nvSpPr>
        <p:spPr>
          <a:xfrm>
            <a:off x="548640" y="1737360"/>
            <a:ext cx="8046720" cy="109728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LLMOps &amp; Enterprise Scenario Diagnostics</a:t>
            </a:r>
            <a:endParaRPr lang="en-US" sz="3600" dirty="0"/>
          </a:p>
        </p:txBody>
      </p:sp>
      <p:sp>
        <p:nvSpPr>
          <p:cNvPr id="8" name="Text 6"/>
          <p:cNvSpPr txBox="1"/>
          <p:nvPr/>
        </p:nvSpPr>
        <p:spPr>
          <a:xfrm>
            <a:off x="548640" y="3017520"/>
            <a:ext cx="804672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Juan Manuel Ramírez García · jramirezg@faculty.ie.edu</a:t>
            </a:r>
            <a:endParaRPr lang="en-US" sz="1400" dirty="0"/>
          </a:p>
        </p:txBody>
      </p:sp>
      <p:sp>
        <p:nvSpPr>
          <p:cNvPr id="9" name="Text 7"/>
          <p:cNvSpPr txBox="1"/>
          <p:nvPr/>
        </p:nvSpPr>
        <p:spPr>
          <a:xfrm>
            <a:off x="548640" y="3383280"/>
            <a:ext cx="8046720" cy="365760"/>
          </a:xfrm>
          <a:prstGeom prst="rect">
            <a:avLst/>
          </a:prstGeom>
          <a:noFill/>
          <a:ln/>
        </p:spPr>
        <p:txBody>
          <a:bodyPr wrap="square" lIns="0" tIns="0" rIns="0" bIns="0" rtlCol="0" anchor="ctr"/>
          <a:lstStyle/>
          <a:p>
            <a:pPr indent="0" marL="0">
              <a:buNone/>
            </a:pPr>
            <a:r>
              <a:rPr lang="en-US" sz="1200" dirty="0">
                <a:solidFill>
                  <a:srgbClr val="B8C4D6"/>
                </a:solidFill>
                <a:latin typeface="Calibri" pitchFamily="34" charset="0"/>
                <a:ea typeface="Calibri" pitchFamily="34" charset="-122"/>
                <a:cs typeface="Calibri" pitchFamily="34" charset="-120"/>
              </a:rPr>
              <a:t>Live online session · Saturday 31 October 2026 · 90 minutes</a:t>
            </a:r>
            <a:endParaRPr lang="en-US" sz="1200" dirty="0"/>
          </a:p>
        </p:txBody>
      </p:sp>
      <p:sp>
        <p:nvSpPr>
          <p:cNvPr id="10" name="Shape 8"/>
          <p:cNvSpPr/>
          <p:nvPr/>
        </p:nvSpPr>
        <p:spPr>
          <a:xfrm>
            <a:off x="548640" y="3977640"/>
            <a:ext cx="845312" cy="566928"/>
          </a:xfrm>
          <a:prstGeom prst="roundRect">
            <a:avLst>
              <a:gd name="adj" fmla="val 9677"/>
            </a:avLst>
          </a:prstGeom>
          <a:solidFill>
            <a:srgbClr val="2E3F63"/>
          </a:solidFill>
          <a:ln w="12700">
            <a:solidFill>
              <a:srgbClr val="2E3F63"/>
            </a:solidFill>
            <a:prstDash val="solid"/>
          </a:ln>
        </p:spPr>
        <p:txBody>
          <a:bodyPr/>
          <a:p/>
        </p:txBody>
      </p:sp>
      <p:sp>
        <p:nvSpPr>
          <p:cNvPr id="11" name="Text 9"/>
          <p:cNvSpPr txBox="1"/>
          <p:nvPr/>
        </p:nvSpPr>
        <p:spPr>
          <a:xfrm>
            <a:off x="548640" y="397764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ingestion &amp; versioning</a:t>
            </a:r>
            <a:endParaRPr lang="en-US" sz="800" dirty="0"/>
          </a:p>
        </p:txBody>
      </p:sp>
      <p:sp>
        <p:nvSpPr>
          <p:cNvPr id="12" name="Shape 10"/>
          <p:cNvSpPr/>
          <p:nvPr/>
        </p:nvSpPr>
        <p:spPr>
          <a:xfrm>
            <a:off x="1448816" y="3977640"/>
            <a:ext cx="845312" cy="566928"/>
          </a:xfrm>
          <a:prstGeom prst="roundRect">
            <a:avLst>
              <a:gd name="adj" fmla="val 9677"/>
            </a:avLst>
          </a:prstGeom>
          <a:solidFill>
            <a:srgbClr val="2E3F63"/>
          </a:solidFill>
          <a:ln w="12700">
            <a:solidFill>
              <a:srgbClr val="2E3F63"/>
            </a:solidFill>
            <a:prstDash val="solid"/>
          </a:ln>
        </p:spPr>
        <p:txBody>
          <a:bodyPr/>
          <a:p/>
        </p:txBody>
      </p:sp>
      <p:sp>
        <p:nvSpPr>
          <p:cNvPr id="13" name="Text 11"/>
          <p:cNvSpPr txBox="1"/>
          <p:nvPr/>
        </p:nvSpPr>
        <p:spPr>
          <a:xfrm>
            <a:off x="1448816" y="397764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validation</a:t>
            </a:r>
            <a:endParaRPr lang="en-US" sz="800" dirty="0"/>
          </a:p>
        </p:txBody>
      </p:sp>
      <p:sp>
        <p:nvSpPr>
          <p:cNvPr id="14" name="Shape 12"/>
          <p:cNvSpPr/>
          <p:nvPr/>
        </p:nvSpPr>
        <p:spPr>
          <a:xfrm>
            <a:off x="2348992" y="3977640"/>
            <a:ext cx="845312" cy="566928"/>
          </a:xfrm>
          <a:prstGeom prst="roundRect">
            <a:avLst>
              <a:gd name="adj" fmla="val 9677"/>
            </a:avLst>
          </a:prstGeom>
          <a:solidFill>
            <a:srgbClr val="2E3F63"/>
          </a:solidFill>
          <a:ln w="12700">
            <a:solidFill>
              <a:srgbClr val="2E3F63"/>
            </a:solidFill>
            <a:prstDash val="solid"/>
          </a:ln>
        </p:spPr>
        <p:txBody>
          <a:bodyPr/>
          <a:p/>
        </p:txBody>
      </p:sp>
      <p:sp>
        <p:nvSpPr>
          <p:cNvPr id="15" name="Text 13"/>
          <p:cNvSpPr txBox="1"/>
          <p:nvPr/>
        </p:nvSpPr>
        <p:spPr>
          <a:xfrm>
            <a:off x="2348992" y="397764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pre-processing</a:t>
            </a:r>
            <a:endParaRPr lang="en-US" sz="800" dirty="0"/>
          </a:p>
        </p:txBody>
      </p:sp>
      <p:sp>
        <p:nvSpPr>
          <p:cNvPr id="16" name="Shape 14"/>
          <p:cNvSpPr/>
          <p:nvPr/>
        </p:nvSpPr>
        <p:spPr>
          <a:xfrm>
            <a:off x="3249168" y="3977640"/>
            <a:ext cx="845312" cy="566928"/>
          </a:xfrm>
          <a:prstGeom prst="roundRect">
            <a:avLst>
              <a:gd name="adj" fmla="val 9677"/>
            </a:avLst>
          </a:prstGeom>
          <a:solidFill>
            <a:srgbClr val="2E3F63"/>
          </a:solidFill>
          <a:ln w="12700">
            <a:solidFill>
              <a:srgbClr val="2E3F63"/>
            </a:solidFill>
            <a:prstDash val="solid"/>
          </a:ln>
        </p:spPr>
        <p:txBody>
          <a:bodyPr/>
          <a:p/>
        </p:txBody>
      </p:sp>
      <p:sp>
        <p:nvSpPr>
          <p:cNvPr id="17" name="Text 15"/>
          <p:cNvSpPr txBox="1"/>
          <p:nvPr/>
        </p:nvSpPr>
        <p:spPr>
          <a:xfrm>
            <a:off x="3249168" y="397764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training</a:t>
            </a:r>
            <a:endParaRPr lang="en-US" sz="800" dirty="0"/>
          </a:p>
        </p:txBody>
      </p:sp>
      <p:sp>
        <p:nvSpPr>
          <p:cNvPr id="18" name="Shape 16"/>
          <p:cNvSpPr/>
          <p:nvPr/>
        </p:nvSpPr>
        <p:spPr>
          <a:xfrm>
            <a:off x="4149344" y="3977640"/>
            <a:ext cx="845312" cy="566928"/>
          </a:xfrm>
          <a:prstGeom prst="roundRect">
            <a:avLst>
              <a:gd name="adj" fmla="val 9677"/>
            </a:avLst>
          </a:prstGeom>
          <a:solidFill>
            <a:srgbClr val="2E3F63"/>
          </a:solidFill>
          <a:ln w="12700">
            <a:solidFill>
              <a:srgbClr val="2E3F63"/>
            </a:solidFill>
            <a:prstDash val="solid"/>
          </a:ln>
        </p:spPr>
        <p:txBody>
          <a:bodyPr/>
          <a:p/>
        </p:txBody>
      </p:sp>
      <p:sp>
        <p:nvSpPr>
          <p:cNvPr id="19" name="Text 17"/>
          <p:cNvSpPr txBox="1"/>
          <p:nvPr/>
        </p:nvSpPr>
        <p:spPr>
          <a:xfrm>
            <a:off x="4149344" y="397764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tuning</a:t>
            </a:r>
            <a:endParaRPr lang="en-US" sz="800" dirty="0"/>
          </a:p>
        </p:txBody>
      </p:sp>
      <p:sp>
        <p:nvSpPr>
          <p:cNvPr id="20" name="Shape 18"/>
          <p:cNvSpPr/>
          <p:nvPr/>
        </p:nvSpPr>
        <p:spPr>
          <a:xfrm>
            <a:off x="5049520" y="3977640"/>
            <a:ext cx="845312" cy="566928"/>
          </a:xfrm>
          <a:prstGeom prst="roundRect">
            <a:avLst>
              <a:gd name="adj" fmla="val 9677"/>
            </a:avLst>
          </a:prstGeom>
          <a:solidFill>
            <a:srgbClr val="2E3F63"/>
          </a:solidFill>
          <a:ln w="12700">
            <a:solidFill>
              <a:srgbClr val="2E3F63"/>
            </a:solidFill>
            <a:prstDash val="solid"/>
          </a:ln>
        </p:spPr>
        <p:txBody>
          <a:bodyPr/>
          <a:p/>
        </p:txBody>
      </p:sp>
      <p:sp>
        <p:nvSpPr>
          <p:cNvPr id="21" name="Text 19"/>
          <p:cNvSpPr txBox="1"/>
          <p:nvPr/>
        </p:nvSpPr>
        <p:spPr>
          <a:xfrm>
            <a:off x="5049520" y="397764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analysis</a:t>
            </a:r>
            <a:endParaRPr lang="en-US" sz="800" dirty="0"/>
          </a:p>
        </p:txBody>
      </p:sp>
      <p:sp>
        <p:nvSpPr>
          <p:cNvPr id="22" name="Shape 20"/>
          <p:cNvSpPr/>
          <p:nvPr/>
        </p:nvSpPr>
        <p:spPr>
          <a:xfrm>
            <a:off x="5949696" y="3977640"/>
            <a:ext cx="845312" cy="566928"/>
          </a:xfrm>
          <a:prstGeom prst="roundRect">
            <a:avLst>
              <a:gd name="adj" fmla="val 9677"/>
            </a:avLst>
          </a:prstGeom>
          <a:solidFill>
            <a:srgbClr val="2E3F63"/>
          </a:solidFill>
          <a:ln w="12700">
            <a:solidFill>
              <a:srgbClr val="2E3F63"/>
            </a:solidFill>
            <a:prstDash val="solid"/>
          </a:ln>
        </p:spPr>
        <p:txBody>
          <a:bodyPr/>
          <a:p/>
        </p:txBody>
      </p:sp>
      <p:sp>
        <p:nvSpPr>
          <p:cNvPr id="23" name="Text 21"/>
          <p:cNvSpPr txBox="1"/>
          <p:nvPr/>
        </p:nvSpPr>
        <p:spPr>
          <a:xfrm>
            <a:off x="5949696" y="397764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validation</a:t>
            </a:r>
            <a:endParaRPr lang="en-US" sz="800" dirty="0"/>
          </a:p>
        </p:txBody>
      </p:sp>
      <p:sp>
        <p:nvSpPr>
          <p:cNvPr id="24" name="Shape 22"/>
          <p:cNvSpPr/>
          <p:nvPr/>
        </p:nvSpPr>
        <p:spPr>
          <a:xfrm>
            <a:off x="6849872" y="3977640"/>
            <a:ext cx="845312" cy="566928"/>
          </a:xfrm>
          <a:prstGeom prst="roundRect">
            <a:avLst>
              <a:gd name="adj" fmla="val 9677"/>
            </a:avLst>
          </a:prstGeom>
          <a:solidFill>
            <a:srgbClr val="2E3F63"/>
          </a:solidFill>
          <a:ln w="12700">
            <a:solidFill>
              <a:srgbClr val="2E3F63"/>
            </a:solidFill>
            <a:prstDash val="solid"/>
          </a:ln>
        </p:spPr>
        <p:txBody>
          <a:bodyPr/>
          <a:p/>
        </p:txBody>
      </p:sp>
      <p:sp>
        <p:nvSpPr>
          <p:cNvPr id="25" name="Text 23"/>
          <p:cNvSpPr txBox="1"/>
          <p:nvPr/>
        </p:nvSpPr>
        <p:spPr>
          <a:xfrm>
            <a:off x="6849872" y="397764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deployment</a:t>
            </a:r>
            <a:endParaRPr lang="en-US" sz="800" dirty="0"/>
          </a:p>
        </p:txBody>
      </p:sp>
      <p:sp>
        <p:nvSpPr>
          <p:cNvPr id="26" name="Shape 24"/>
          <p:cNvSpPr/>
          <p:nvPr/>
        </p:nvSpPr>
        <p:spPr>
          <a:xfrm>
            <a:off x="7750048" y="3977640"/>
            <a:ext cx="845312" cy="566928"/>
          </a:xfrm>
          <a:prstGeom prst="roundRect">
            <a:avLst>
              <a:gd name="adj" fmla="val 9677"/>
            </a:avLst>
          </a:prstGeom>
          <a:solidFill>
            <a:srgbClr val="2E3F63"/>
          </a:solidFill>
          <a:ln w="12700">
            <a:solidFill>
              <a:srgbClr val="2E3F63"/>
            </a:solidFill>
            <a:prstDash val="solid"/>
          </a:ln>
        </p:spPr>
        <p:txBody>
          <a:bodyPr/>
          <a:p/>
        </p:txBody>
      </p:sp>
      <p:sp>
        <p:nvSpPr>
          <p:cNvPr id="27" name="Text 25"/>
          <p:cNvSpPr txBox="1"/>
          <p:nvPr/>
        </p:nvSpPr>
        <p:spPr>
          <a:xfrm>
            <a:off x="7750048" y="397764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feedback</a:t>
            </a:r>
            <a:endParaRPr lang="en-US" sz="800" dirty="0"/>
          </a:p>
        </p:txBody>
      </p:sp>
      <p:pic>
        <p:nvPicPr>
          <p:cNvPr id="28" name="IE University logo" descr="IE University, School of Science &amp; Technology"/>
          <p:cNvPicPr>
            <a:picLocks noChangeAspect="1"/>
          </p:cNvPicPr>
          <p:nvPr/>
        </p:nvPicPr>
        <p:blipFill>
          <a:blip r:embed="rId3"/>
          <a:stretch>
            <a:fillRect/>
          </a:stretch>
        </p:blipFill>
        <p:spPr>
          <a:xfrm>
            <a:off x="8252653" y="109728"/>
            <a:ext cx="525587" cy="70439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10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2</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Where we are: what Forum 4 said, and what today adds</a:t>
            </a:r>
            <a:endParaRPr lang="en-US" sz="2400" dirty="0"/>
          </a:p>
        </p:txBody>
      </p:sp>
      <p:sp>
        <p:nvSpPr>
          <p:cNvPr id="7" name="Text 4"/>
          <p:cNvSpPr txBox="1"/>
          <p:nvPr/>
        </p:nvSpPr>
        <p:spPr>
          <a:xfrm>
            <a:off x="365760" y="1143000"/>
            <a:ext cx="4023360" cy="274320"/>
          </a:xfrm>
          <a:prstGeom prst="rect">
            <a:avLst/>
          </a:prstGeom>
          <a:noFill/>
          <a:ln/>
        </p:spPr>
        <p:txBody>
          <a:bodyPr wrap="square" lIns="0" tIns="0" rIns="0" bIns="0" rtlCol="0" anchor="t"/>
          <a:lstStyle/>
          <a:p>
            <a:pPr algn="l" indent="0" marL="0">
              <a:buNone/>
            </a:pPr>
            <a:r>
              <a:rPr lang="en-US" sz="1300" b="1" dirty="0">
                <a:solidFill>
                  <a:srgbClr val="0E7C86"/>
                </a:solidFill>
                <a:latin typeface="Calibri" pitchFamily="34" charset="0"/>
                <a:ea typeface="Calibri" pitchFamily="34" charset="-122"/>
                <a:cs typeface="Calibri" pitchFamily="34" charset="-120"/>
              </a:rPr>
              <a:t>From Forum 4 (paste 2–3 quotes on Friday)</a:t>
            </a:r>
            <a:endParaRPr lang="en-US" sz="1300" dirty="0"/>
          </a:p>
        </p:txBody>
      </p:sp>
      <p:sp>
        <p:nvSpPr>
          <p:cNvPr id="8" name="Shape 5"/>
          <p:cNvSpPr/>
          <p:nvPr/>
        </p:nvSpPr>
        <p:spPr>
          <a:xfrm>
            <a:off x="365760" y="1463040"/>
            <a:ext cx="4023360" cy="1417320"/>
          </a:xfrm>
          <a:prstGeom prst="roundRect">
            <a:avLst>
              <a:gd name="adj" fmla="val 5161"/>
            </a:avLst>
          </a:prstGeom>
          <a:solidFill>
            <a:srgbClr val="F3F5F8"/>
          </a:solidFill>
          <a:ln w="12700">
            <a:solidFill>
              <a:srgbClr val="F3F5F8"/>
            </a:solidFill>
            <a:prstDash val="solid"/>
          </a:ln>
        </p:spPr>
        <p:txBody>
          <a:bodyPr/>
          <a:p/>
        </p:txBody>
      </p:sp>
      <p:sp>
        <p:nvSpPr>
          <p:cNvPr id="9" name="Text 6"/>
          <p:cNvSpPr txBox="1"/>
          <p:nvPr/>
        </p:nvSpPr>
        <p:spPr>
          <a:xfrm>
            <a:off x="502920" y="1554480"/>
            <a:ext cx="3749040" cy="329184"/>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What you said</a:t>
            </a:r>
            <a:endParaRPr lang="en-US" sz="1300" dirty="0"/>
          </a:p>
        </p:txBody>
      </p:sp>
      <p:sp>
        <p:nvSpPr>
          <p:cNvPr id="10" name="Text 7"/>
          <p:cNvSpPr txBox="1"/>
          <p:nvPr/>
        </p:nvSpPr>
        <p:spPr>
          <a:xfrm>
            <a:off x="502920" y="1920240"/>
            <a:ext cx="3749040" cy="86868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 — [student]</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 — [student]</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Misconception of the week: a threshold without a window; "alert the team" alerts nobody</a:t>
            </a:r>
            <a:endParaRPr lang="en-US" sz="1100" dirty="0"/>
          </a:p>
        </p:txBody>
      </p:sp>
      <p:sp>
        <p:nvSpPr>
          <p:cNvPr id="11" name="Text 8"/>
          <p:cNvSpPr txBox="1"/>
          <p:nvPr/>
        </p:nvSpPr>
        <p:spPr>
          <a:xfrm>
            <a:off x="365760" y="3017520"/>
            <a:ext cx="4023360" cy="274320"/>
          </a:xfrm>
          <a:prstGeom prst="rect">
            <a:avLst/>
          </a:prstGeom>
          <a:noFill/>
          <a:ln/>
        </p:spPr>
        <p:txBody>
          <a:bodyPr wrap="square" lIns="0" tIns="0" rIns="0" bIns="0" rtlCol="0" anchor="t"/>
          <a:lstStyle/>
          <a:p>
            <a:pPr algn="l" indent="0" marL="0">
              <a:buNone/>
            </a:pPr>
            <a:r>
              <a:rPr lang="en-US" sz="1300" b="1" dirty="0">
                <a:solidFill>
                  <a:srgbClr val="0E7C86"/>
                </a:solidFill>
                <a:latin typeface="Calibri" pitchFamily="34" charset="0"/>
                <a:ea typeface="Calibri" pitchFamily="34" charset="-122"/>
                <a:cs typeface="Calibri" pitchFamily="34" charset="-120"/>
              </a:rPr>
              <a:t>By the end of this session you can…</a:t>
            </a:r>
            <a:endParaRPr lang="en-US" sz="1300" dirty="0"/>
          </a:p>
        </p:txBody>
      </p:sp>
      <p:sp>
        <p:nvSpPr>
          <p:cNvPr id="12" name="Shape 9"/>
          <p:cNvSpPr/>
          <p:nvPr/>
        </p:nvSpPr>
        <p:spPr>
          <a:xfrm>
            <a:off x="365760" y="3337560"/>
            <a:ext cx="420624" cy="420624"/>
          </a:xfrm>
          <a:prstGeom prst="ellipse">
            <a:avLst/>
          </a:prstGeom>
          <a:solidFill>
            <a:srgbClr val="0E7C86"/>
          </a:solidFill>
          <a:ln w="12700">
            <a:solidFill>
              <a:srgbClr val="0E7C86"/>
            </a:solidFill>
            <a:prstDash val="solid"/>
          </a:ln>
        </p:spPr>
        <p:txBody>
          <a:bodyPr/>
          <a:p/>
        </p:txBody>
      </p:sp>
      <p:pic>
        <p:nvPicPr>
          <p:cNvPr id="13" name="Image 0" descr="preencoded.png">    </p:cNvPr>
          <p:cNvPicPr>
            <a:picLocks noChangeAspect="1"/>
          </p:cNvPicPr>
          <p:nvPr/>
        </p:nvPicPr>
        <p:blipFill>
          <a:blip r:embed="rId1"/>
          <a:stretch>
            <a:fillRect/>
          </a:stretch>
        </p:blipFill>
        <p:spPr>
          <a:xfrm>
            <a:off x="457200" y="3429000"/>
            <a:ext cx="237744" cy="237744"/>
          </a:xfrm>
          <a:prstGeom prst="rect">
            <a:avLst/>
          </a:prstGeom>
        </p:spPr>
      </p:pic>
      <p:sp>
        <p:nvSpPr>
          <p:cNvPr id="14" name="Text 10"/>
          <p:cNvSpPr txBox="1"/>
          <p:nvPr/>
        </p:nvSpPr>
        <p:spPr>
          <a:xfrm>
            <a:off x="914400" y="3319272"/>
            <a:ext cx="3474720" cy="256032"/>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Say what changes when the asset is an LLM</a:t>
            </a:r>
            <a:endParaRPr lang="en-US" sz="1300" dirty="0"/>
          </a:p>
        </p:txBody>
      </p:sp>
      <p:sp>
        <p:nvSpPr>
          <p:cNvPr id="15" name="Text 11"/>
          <p:cNvSpPr txBox="1"/>
          <p:nvPr/>
        </p:nvSpPr>
        <p:spPr>
          <a:xfrm>
            <a:off x="914400" y="3575304"/>
            <a:ext cx="3474720" cy="36576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And draw the operational architecture of a RAG assistant, with one cost or latency trade-off.</a:t>
            </a:r>
            <a:endParaRPr lang="en-US" sz="1100" dirty="0"/>
          </a:p>
        </p:txBody>
      </p:sp>
      <p:sp>
        <p:nvSpPr>
          <p:cNvPr id="16" name="Shape 12"/>
          <p:cNvSpPr/>
          <p:nvPr/>
        </p:nvSpPr>
        <p:spPr>
          <a:xfrm>
            <a:off x="365760" y="3977640"/>
            <a:ext cx="420624" cy="420624"/>
          </a:xfrm>
          <a:prstGeom prst="ellipse">
            <a:avLst/>
          </a:prstGeom>
          <a:solidFill>
            <a:srgbClr val="0E7C86"/>
          </a:solidFill>
          <a:ln w="12700">
            <a:solidFill>
              <a:srgbClr val="0E7C86"/>
            </a:solidFill>
            <a:prstDash val="solid"/>
          </a:ln>
        </p:spPr>
        <p:txBody>
          <a:bodyPr/>
          <a:p/>
        </p:txBody>
      </p:sp>
      <p:pic>
        <p:nvPicPr>
          <p:cNvPr id="17" name="Image 1" descr="preencoded.png">    </p:cNvPr>
          <p:cNvPicPr>
            <a:picLocks noChangeAspect="1"/>
          </p:cNvPicPr>
          <p:nvPr/>
        </p:nvPicPr>
        <p:blipFill>
          <a:blip r:embed="rId2"/>
          <a:stretch>
            <a:fillRect/>
          </a:stretch>
        </p:blipFill>
        <p:spPr>
          <a:xfrm>
            <a:off x="457200" y="4069080"/>
            <a:ext cx="237744" cy="237744"/>
          </a:xfrm>
          <a:prstGeom prst="rect">
            <a:avLst/>
          </a:prstGeom>
        </p:spPr>
      </p:pic>
      <p:sp>
        <p:nvSpPr>
          <p:cNvPr id="18" name="Text 13"/>
          <p:cNvSpPr txBox="1"/>
          <p:nvPr/>
        </p:nvSpPr>
        <p:spPr>
          <a:xfrm>
            <a:off x="914400" y="3959352"/>
            <a:ext cx="3474720" cy="256032"/>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Diagnose a real failure</a:t>
            </a:r>
            <a:endParaRPr lang="en-US" sz="1300" dirty="0"/>
          </a:p>
        </p:txBody>
      </p:sp>
      <p:sp>
        <p:nvSpPr>
          <p:cNvPr id="19" name="Text 14"/>
          <p:cNvSpPr txBox="1"/>
          <p:nvPr/>
        </p:nvSpPr>
        <p:spPr>
          <a:xfrm>
            <a:off x="914400" y="4215384"/>
            <a:ext cx="3474720" cy="36576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Symptom → stage → missing control → accountable persona → a roadmap across the four modules.</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754880" y="1143000"/>
          <a:ext cx="4023360" cy="914400"/>
        </p:xfrm>
        <a:graphic>
          <a:graphicData uri="http://schemas.openxmlformats.org/drawingml/2006/table">
            <a:tbl>
              <a:tblPr/>
              <a:tblGrid>
                <a:gridCol w="822960"/>
                <a:gridCol w="3200400"/>
              </a:tblGrid>
              <a:tr h="329184">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Minute</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Block</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r>
              <a:tr h="329184">
                <a:tc>
                  <a:txBody>
                    <a:bodyPr/>
                    <a:lstStyle/>
                    <a:p>
                      <a:pPr algn="l" indent="0" marL="0">
                        <a:buNone/>
                      </a:pPr>
                      <a:r>
                        <a:rPr lang="en-US" sz="1050" b="1" dirty="0">
                          <a:solidFill>
                            <a:srgbClr val="222222"/>
                          </a:solidFill>
                          <a:latin typeface="Calibri" pitchFamily="34" charset="0"/>
                          <a:ea typeface="Calibri" pitchFamily="34" charset="-122"/>
                          <a:cs typeface="Calibri" pitchFamily="34" charset="-120"/>
                        </a:rPr>
                        <a:t>0–8</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Recap, outcomes, "which assistant got it wrong this week?"</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algn="l" indent="0" marL="0">
                        <a:buNone/>
                      </a:pPr>
                      <a:r>
                        <a:rPr lang="en-US" sz="1050" b="1" dirty="0">
                          <a:solidFill>
                            <a:srgbClr val="222222"/>
                          </a:solidFill>
                          <a:latin typeface="Calibri" pitchFamily="34" charset="0"/>
                          <a:ea typeface="Calibri" pitchFamily="34" charset="-122"/>
                          <a:cs typeface="Calibri" pitchFamily="34" charset="-120"/>
                        </a:rPr>
                        <a:t>8–16</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What changes when the asset is a language model; the two lifecycles; the prompt is code</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algn="l" indent="0" marL="0">
                        <a:buNone/>
                      </a:pPr>
                      <a:r>
                        <a:rPr lang="en-US" sz="1050" b="1" dirty="0">
                          <a:solidFill>
                            <a:srgbClr val="222222"/>
                          </a:solidFill>
                          <a:latin typeface="Calibri" pitchFamily="34" charset="0"/>
                          <a:ea typeface="Calibri" pitchFamily="34" charset="-122"/>
                          <a:cs typeface="Calibri" pitchFamily="34" charset="-120"/>
                        </a:rPr>
                        <a:t>16–35</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RAG anatomy; we build the architecture together; evaluation (+ 5-min demo, + poll)</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algn="l" indent="0" marL="0">
                        <a:buNone/>
                      </a:pPr>
                      <a:r>
                        <a:rPr lang="en-US" sz="1050" b="1" dirty="0">
                          <a:solidFill>
                            <a:srgbClr val="222222"/>
                          </a:solidFill>
                          <a:latin typeface="Calibri" pitchFamily="34" charset="0"/>
                          <a:ea typeface="Calibri" pitchFamily="34" charset="-122"/>
                          <a:cs typeface="Calibri" pitchFamily="34" charset="-120"/>
                        </a:rPr>
                        <a:t>35–46</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Guardrails, cost and latency, monitoring recap, edge and agents</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algn="l" indent="0" marL="0">
                        <a:buNone/>
                      </a:pPr>
                      <a:r>
                        <a:rPr lang="en-US" sz="1050" b="1" dirty="0">
                          <a:solidFill>
                            <a:srgbClr val="222222"/>
                          </a:solidFill>
                          <a:latin typeface="Calibri" pitchFamily="34" charset="0"/>
                          <a:ea typeface="Calibri" pitchFamily="34" charset="-122"/>
                          <a:cs typeface="Calibri" pitchFamily="34" charset="-120"/>
                        </a:rPr>
                        <a:t>46–51</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Break</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algn="l" indent="0" marL="0">
                        <a:buNone/>
                      </a:pPr>
                      <a:r>
                        <a:rPr lang="en-US" sz="1050" b="1" dirty="0">
                          <a:solidFill>
                            <a:srgbClr val="222222"/>
                          </a:solidFill>
                          <a:latin typeface="Calibri" pitchFamily="34" charset="0"/>
                          <a:ea typeface="Calibri" pitchFamily="34" charset="-122"/>
                          <a:cs typeface="Calibri" pitchFamily="34" charset="-120"/>
                        </a:rPr>
                        <a:t>51–58</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Why AI systems fail: six patterns, the root-cause template, the six cases</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algn="l" indent="0" marL="0">
                        <a:buNone/>
                      </a:pPr>
                      <a:r>
                        <a:rPr lang="en-US" sz="1050" b="1" dirty="0">
                          <a:solidFill>
                            <a:srgbClr val="222222"/>
                          </a:solidFill>
                          <a:latin typeface="Calibri" pitchFamily="34" charset="0"/>
                          <a:ea typeface="Calibri" pitchFamily="34" charset="-122"/>
                          <a:cs typeface="Calibri" pitchFamily="34" charset="-120"/>
                        </a:rPr>
                        <a:t>58–76</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Activity: diagnose your case</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algn="l" indent="0" marL="0">
                        <a:buNone/>
                      </a:pPr>
                      <a:r>
                        <a:rPr lang="en-US" sz="1050" b="1" dirty="0">
                          <a:solidFill>
                            <a:srgbClr val="222222"/>
                          </a:solidFill>
                          <a:latin typeface="Calibri" pitchFamily="34" charset="0"/>
                          <a:ea typeface="Calibri" pitchFamily="34" charset="-122"/>
                          <a:cs typeface="Calibri" pitchFamily="34" charset="-120"/>
                        </a:rPr>
                        <a:t>76–86</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Debrief and the course in one picture</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algn="l" indent="0" marL="0">
                        <a:buNone/>
                      </a:pPr>
                      <a:r>
                        <a:rPr lang="en-US" sz="1050" b="1" dirty="0">
                          <a:solidFill>
                            <a:srgbClr val="222222"/>
                          </a:solidFill>
                          <a:latin typeface="Calibri" pitchFamily="34" charset="0"/>
                          <a:ea typeface="Calibri" pitchFamily="34" charset="-122"/>
                          <a:cs typeface="Calibri" pitchFamily="34" charset="-120"/>
                        </a:rPr>
                        <a:t>86–90</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50" dirty="0">
                          <a:solidFill>
                            <a:srgbClr val="222222"/>
                          </a:solidFill>
                          <a:latin typeface="Calibri" pitchFamily="34" charset="0"/>
                          <a:ea typeface="Calibri" pitchFamily="34" charset="-122"/>
                          <a:cs typeface="Calibri" pitchFamily="34" charset="-120"/>
                        </a:rPr>
                        <a:t>Three things, Forum 5, Video 2, exam and project</a:t>
                      </a:r>
                      <a:endParaRPr lang="en-US" sz="10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pic>
        <p:nvPicPr>
          <p:cNvPr id="20" name="IE University logo" descr="IE University, School of Science &amp; Technology"/>
          <p:cNvPicPr>
            <a:picLocks noChangeAspect="1"/>
          </p:cNvPicPr>
          <p:nvPr/>
        </p:nvPicPr>
        <p:blipFill>
          <a:blip r:embed="rId5"/>
          <a:stretch>
            <a:fillRect/>
          </a:stretch>
        </p:blipFill>
        <p:spPr>
          <a:xfrm>
            <a:off x="8013607" y="92634"/>
            <a:ext cx="764633" cy="26278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10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3</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The assistant you learned to monitor in Video 1 is the one we build today</a:t>
            </a:r>
            <a:endParaRPr lang="en-US" sz="2400" dirty="0"/>
          </a:p>
        </p:txBody>
      </p:sp>
      <p:sp>
        <p:nvSpPr>
          <p:cNvPr id="7" name="Text 4"/>
          <p:cNvSpPr txBox="1"/>
          <p:nvPr/>
        </p:nvSpPr>
        <p:spPr>
          <a:xfrm>
            <a:off x="365760" y="1188720"/>
            <a:ext cx="4023360" cy="274320"/>
          </a:xfrm>
          <a:prstGeom prst="rect">
            <a:avLst/>
          </a:prstGeom>
          <a:noFill/>
          <a:ln/>
        </p:spPr>
        <p:txBody>
          <a:bodyPr wrap="square" lIns="0" tIns="0" rIns="0" bIns="0" rtlCol="0" anchor="t"/>
          <a:lstStyle/>
          <a:p>
            <a:pPr algn="l" indent="0" marL="0">
              <a:buNone/>
            </a:pPr>
            <a:r>
              <a:rPr lang="en-US" sz="1300" b="1" dirty="0">
                <a:solidFill>
                  <a:srgbClr val="E07A2F"/>
                </a:solidFill>
                <a:latin typeface="Calibri" pitchFamily="34" charset="0"/>
                <a:ea typeface="Calibri" pitchFamily="34" charset="-122"/>
                <a:cs typeface="Calibri" pitchFamily="34" charset="-120"/>
              </a:rPr>
              <a:t>From the chat: "which assistant got it wrong this week?"</a:t>
            </a:r>
            <a:endParaRPr lang="en-US" sz="1300" dirty="0"/>
          </a:p>
        </p:txBody>
      </p:sp>
      <p:sp>
        <p:nvSpPr>
          <p:cNvPr id="8" name="Shape 5"/>
          <p:cNvSpPr/>
          <p:nvPr/>
        </p:nvSpPr>
        <p:spPr>
          <a:xfrm>
            <a:off x="365760" y="1508760"/>
            <a:ext cx="4023360" cy="1234440"/>
          </a:xfrm>
          <a:prstGeom prst="roundRect">
            <a:avLst>
              <a:gd name="adj" fmla="val 5926"/>
            </a:avLst>
          </a:prstGeom>
          <a:solidFill>
            <a:srgbClr val="FBE9DC"/>
          </a:solidFill>
          <a:ln w="12700">
            <a:solidFill>
              <a:srgbClr val="FBE9DC"/>
            </a:solidFill>
            <a:prstDash val="solid"/>
          </a:ln>
        </p:spPr>
        <p:txBody>
          <a:bodyPr/>
          <a:p/>
        </p:txBody>
      </p:sp>
      <p:sp>
        <p:nvSpPr>
          <p:cNvPr id="9" name="Text 6"/>
          <p:cNvSpPr txBox="1"/>
          <p:nvPr/>
        </p:nvSpPr>
        <p:spPr>
          <a:xfrm>
            <a:off x="502920" y="1600200"/>
            <a:ext cx="3749040" cy="329184"/>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The pattern behind most answers</a:t>
            </a:r>
            <a:endParaRPr lang="en-US" sz="1300" dirty="0"/>
          </a:p>
        </p:txBody>
      </p:sp>
      <p:sp>
        <p:nvSpPr>
          <p:cNvPr id="10" name="Text 7"/>
          <p:cNvSpPr txBox="1"/>
          <p:nvPr/>
        </p:nvSpPr>
        <p:spPr>
          <a:xfrm>
            <a:off x="502920" y="1965960"/>
            <a:ext cx="3749040" cy="685800"/>
          </a:xfrm>
          <a:prstGeom prst="rect">
            <a:avLst/>
          </a:prstGeom>
          <a:noFill/>
          <a:ln/>
        </p:spPr>
        <p:txBody>
          <a:bodyPr wrap="square" lIns="0" tIns="0" rIns="0" bIns="0" rtlCol="0" anchor="t"/>
          <a:lstStyle/>
          <a:p>
            <a:pPr algn="l" indent="0" marL="0">
              <a:buNone/>
            </a:pPr>
            <a:r>
              <a:rPr lang="en-US" sz="1150" dirty="0">
                <a:solidFill>
                  <a:srgbClr val="222222"/>
                </a:solidFill>
                <a:latin typeface="Calibri" pitchFamily="34" charset="0"/>
                <a:ea typeface="Calibri" pitchFamily="34" charset="-122"/>
                <a:cs typeface="Calibri" pitchFamily="34" charset="-120"/>
              </a:rPr>
              <a:t>It wrote something plausible that was not true, and nothing stopped it before a person acted on it. Hold that sentence: it is half of today.</a:t>
            </a:r>
            <a:endParaRPr lang="en-US" sz="1150" dirty="0"/>
          </a:p>
        </p:txBody>
      </p:sp>
      <p:sp>
        <p:nvSpPr>
          <p:cNvPr id="11" name="Text 8"/>
          <p:cNvSpPr txBox="1"/>
          <p:nvPr/>
        </p:nvSpPr>
        <p:spPr>
          <a:xfrm>
            <a:off x="365760" y="2834640"/>
            <a:ext cx="4023360" cy="274320"/>
          </a:xfrm>
          <a:prstGeom prst="rect">
            <a:avLst/>
          </a:prstGeom>
          <a:noFill/>
          <a:ln/>
        </p:spPr>
        <p:txBody>
          <a:bodyPr wrap="square" lIns="0" tIns="0" rIns="0" bIns="0" rtlCol="0" anchor="t"/>
          <a:lstStyle/>
          <a:p>
            <a:pPr algn="l" indent="0" marL="0">
              <a:buNone/>
            </a:pPr>
            <a:r>
              <a:rPr lang="en-US" sz="1300" b="1" dirty="0">
                <a:solidFill>
                  <a:srgbClr val="0E7C86"/>
                </a:solidFill>
                <a:latin typeface="Calibri" pitchFamily="34" charset="0"/>
                <a:ea typeface="Calibri" pitchFamily="34" charset="-122"/>
                <a:cs typeface="Calibri" pitchFamily="34" charset="-120"/>
              </a:rPr>
              <a:t>Today's running example</a:t>
            </a:r>
            <a:endParaRPr lang="en-US" sz="1300" dirty="0"/>
          </a:p>
        </p:txBody>
      </p:sp>
      <p:sp>
        <p:nvSpPr>
          <p:cNvPr id="12" name="Shape 9"/>
          <p:cNvSpPr/>
          <p:nvPr/>
        </p:nvSpPr>
        <p:spPr>
          <a:xfrm>
            <a:off x="365760" y="3154680"/>
            <a:ext cx="4023360" cy="1417320"/>
          </a:xfrm>
          <a:prstGeom prst="roundRect">
            <a:avLst>
              <a:gd name="adj" fmla="val 5161"/>
            </a:avLst>
          </a:prstGeom>
          <a:solidFill>
            <a:srgbClr val="F3F5F8"/>
          </a:solidFill>
          <a:ln w="12700">
            <a:solidFill>
              <a:srgbClr val="F3F5F8"/>
            </a:solidFill>
            <a:prstDash val="solid"/>
          </a:ln>
        </p:spPr>
        <p:txBody>
          <a:bodyPr/>
          <a:p/>
        </p:txBody>
      </p:sp>
      <p:sp>
        <p:nvSpPr>
          <p:cNvPr id="13" name="Shape 10"/>
          <p:cNvSpPr/>
          <p:nvPr/>
        </p:nvSpPr>
        <p:spPr>
          <a:xfrm>
            <a:off x="502920" y="3273552"/>
            <a:ext cx="347472" cy="347472"/>
          </a:xfrm>
          <a:prstGeom prst="ellipse">
            <a:avLst/>
          </a:prstGeom>
          <a:solidFill>
            <a:srgbClr val="0E7C86"/>
          </a:solidFill>
          <a:ln w="12700">
            <a:solidFill>
              <a:srgbClr val="0E7C86"/>
            </a:solidFill>
            <a:prstDash val="solid"/>
          </a:ln>
        </p:spPr>
        <p:txBody>
          <a:bodyPr/>
          <a:p/>
        </p:txBody>
      </p:sp>
      <p:pic>
        <p:nvPicPr>
          <p:cNvPr id="14" name="Image 0" descr="preencoded.png">    </p:cNvPr>
          <p:cNvPicPr>
            <a:picLocks noChangeAspect="1"/>
          </p:cNvPicPr>
          <p:nvPr/>
        </p:nvPicPr>
        <p:blipFill>
          <a:blip r:embed="rId1"/>
          <a:stretch>
            <a:fillRect/>
          </a:stretch>
        </p:blipFill>
        <p:spPr>
          <a:xfrm>
            <a:off x="576072" y="3346704"/>
            <a:ext cx="201168" cy="201168"/>
          </a:xfrm>
          <a:prstGeom prst="rect">
            <a:avLst/>
          </a:prstGeom>
        </p:spPr>
      </p:pic>
      <p:sp>
        <p:nvSpPr>
          <p:cNvPr id="15" name="Text 11"/>
          <p:cNvSpPr txBox="1"/>
          <p:nvPr/>
        </p:nvSpPr>
        <p:spPr>
          <a:xfrm>
            <a:off x="932688" y="3246120"/>
            <a:ext cx="333756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TelcoNova HR assistant</a:t>
            </a:r>
            <a:endParaRPr lang="en-US" sz="1300" dirty="0"/>
          </a:p>
        </p:txBody>
      </p:sp>
      <p:sp>
        <p:nvSpPr>
          <p:cNvPr id="16" name="Text 12"/>
          <p:cNvSpPr txBox="1"/>
          <p:nvPr/>
        </p:nvSpPr>
        <p:spPr>
          <a:xfrm>
            <a:off x="502920" y="3703320"/>
            <a:ext cx="3749040" cy="777240"/>
          </a:xfrm>
          <a:prstGeom prst="rect">
            <a:avLst/>
          </a:prstGeom>
          <a:noFill/>
          <a:ln/>
        </p:spPr>
        <p:txBody>
          <a:bodyPr wrap="square" lIns="0" tIns="0" rIns="0" bIns="0" rtlCol="0" anchor="t"/>
          <a:lstStyle/>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Employees ask about holidays, remote work, expenses, parental leave</a:t>
            </a:r>
            <a:endParaRPr lang="en-US" sz="1050" dirty="0"/>
          </a:p>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It answers from the HR policy documents (RAG)</a:t>
            </a:r>
            <a:endParaRPr lang="en-US" sz="1050" dirty="0"/>
          </a:p>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Video 1: you learned to monitor it. Today: how it is built, evaluated, guarded and paid for</a:t>
            </a:r>
            <a:endParaRPr lang="en-US" sz="1050" dirty="0"/>
          </a:p>
        </p:txBody>
      </p:sp>
      <p:sp>
        <p:nvSpPr>
          <p:cNvPr id="17" name="Text 13"/>
          <p:cNvSpPr txBox="1"/>
          <p:nvPr/>
        </p:nvSpPr>
        <p:spPr>
          <a:xfrm>
            <a:off x="4754880" y="1188720"/>
            <a:ext cx="4023360" cy="274320"/>
          </a:xfrm>
          <a:prstGeom prst="rect">
            <a:avLst/>
          </a:prstGeom>
          <a:noFill/>
          <a:ln/>
        </p:spPr>
        <p:txBody>
          <a:bodyPr wrap="square" lIns="0" tIns="0" rIns="0" bIns="0" rtlCol="0" anchor="t"/>
          <a:lstStyle/>
          <a:p>
            <a:pPr algn="l" indent="0" marL="0">
              <a:buNone/>
            </a:pPr>
            <a:r>
              <a:rPr lang="en-US" sz="1300" b="1" dirty="0">
                <a:solidFill>
                  <a:srgbClr val="0E7C86"/>
                </a:solidFill>
                <a:latin typeface="Calibri" pitchFamily="34" charset="0"/>
                <a:ea typeface="Calibri" pitchFamily="34" charset="-122"/>
                <a:cs typeface="Calibri" pitchFamily="34" charset="-120"/>
              </a:rPr>
              <a:t>And six real systems where the operating part was missing</a:t>
            </a:r>
            <a:endParaRPr lang="en-US" sz="13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754880" y="1508760"/>
          <a:ext cx="4023360" cy="914400"/>
        </p:xfrm>
        <a:graphic>
          <a:graphicData uri="http://schemas.openxmlformats.org/drawingml/2006/table">
            <a:tbl>
              <a:tblPr/>
              <a:tblGrid>
                <a:gridCol w="1645920"/>
                <a:gridCol w="731520"/>
                <a:gridCol w="1645920"/>
              </a:tblGrid>
              <a:tr h="329184">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Case</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Year</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Kind</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r>
              <a:tr h="329184">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Zillow Offers</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2021</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Forecasting model, home buying</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Amazon recruiting tool</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2014–17</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Classifier, CV screening</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Air Canada chatbot</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2022–24</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GenAI assistant</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Dutch childcare benefits</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2013–21</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Risk-scoring, public sector</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Epic sepsis model</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2021</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Clinical prediction model</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Knight Capital</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2012</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Deployment failure (not ML)</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19" name="Text 14"/>
          <p:cNvSpPr txBox="1"/>
          <p:nvPr/>
        </p:nvSpPr>
        <p:spPr>
          <a:xfrm>
            <a:off x="4754880" y="3977640"/>
            <a:ext cx="4023360" cy="365760"/>
          </a:xfrm>
          <a:prstGeom prst="rect">
            <a:avLst/>
          </a:prstGeom>
          <a:noFill/>
          <a:ln/>
        </p:spPr>
        <p:txBody>
          <a:bodyPr wrap="square" lIns="0" tIns="0" rIns="0" bIns="0" rtlCol="0" anchor="t"/>
          <a:lstStyle/>
          <a:p>
            <a:pPr algn="l" indent="0" marL="0">
              <a:buNone/>
            </a:pPr>
            <a:r>
              <a:rPr lang="en-US" sz="1100" b="1" i="1" dirty="0">
                <a:solidFill>
                  <a:srgbClr val="0E7C86"/>
                </a:solidFill>
                <a:latin typeface="Calibri" pitchFamily="34" charset="0"/>
                <a:ea typeface="Calibri" pitchFamily="34" charset="-122"/>
                <a:cs typeface="Calibri" pitchFamily="34" charset="-120"/>
              </a:rPr>
              <a:t>Your team read one of them. At minute 61 you diagnose it.</a:t>
            </a:r>
            <a:endParaRPr lang="en-US" sz="1100" dirty="0"/>
          </a:p>
        </p:txBody>
      </p:sp>
      <p:pic>
        <p:nvPicPr>
          <p:cNvPr id="20"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B8C4D6"/>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B8C4D6"/>
                </a:solidFill>
                <a:latin typeface="Calibri" pitchFamily="34" charset="0"/>
                <a:ea typeface="Calibri" pitchFamily="34" charset="-122"/>
                <a:cs typeface="Calibri" pitchFamily="34" charset="-120"/>
              </a:rPr>
              <a:t>MLOps · MBDS-PT2026F · Session 10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B8C4D6"/>
                </a:solidFill>
                <a:latin typeface="Calibri" pitchFamily="34" charset="0"/>
                <a:ea typeface="Calibri" pitchFamily="34" charset="-122"/>
                <a:cs typeface="Calibri" pitchFamily="34" charset="-120"/>
              </a:rPr>
              <a:t>4</a:t>
            </a:r>
            <a:endParaRPr lang="en-US" sz="800" dirty="0"/>
          </a:p>
        </p:txBody>
      </p:sp>
      <p:sp>
        <p:nvSpPr>
          <p:cNvPr id="5" name="Text 3"/>
          <p:cNvSpPr txBox="1"/>
          <p:nvPr/>
        </p:nvSpPr>
        <p:spPr>
          <a:xfrm>
            <a:off x="548640" y="1188720"/>
            <a:ext cx="8046720" cy="9144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What changes when the asset is a language model</a:t>
            </a:r>
            <a:endParaRPr lang="en-US" sz="3000" dirty="0"/>
          </a:p>
        </p:txBody>
      </p:sp>
      <p:sp>
        <p:nvSpPr>
          <p:cNvPr id="6" name="Text 4"/>
          <p:cNvSpPr txBox="1"/>
          <p:nvPr/>
        </p:nvSpPr>
        <p:spPr>
          <a:xfrm>
            <a:off x="548640" y="2103120"/>
            <a:ext cx="8046720" cy="54864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You configure rather than train; the prompt is code; quality is judged, not measured</a:t>
            </a:r>
            <a:endParaRPr lang="en-US" sz="1600" dirty="0"/>
          </a:p>
        </p:txBody>
      </p:sp>
      <p:sp>
        <p:nvSpPr>
          <p:cNvPr id="7" name="Shape 5"/>
          <p:cNvSpPr/>
          <p:nvPr/>
        </p:nvSpPr>
        <p:spPr>
          <a:xfrm>
            <a:off x="548640"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8" name="Text 6"/>
          <p:cNvSpPr txBox="1"/>
          <p:nvPr/>
        </p:nvSpPr>
        <p:spPr>
          <a:xfrm>
            <a:off x="548640"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ingestion &amp; versioning</a:t>
            </a:r>
            <a:endParaRPr lang="en-US" sz="800" dirty="0"/>
          </a:p>
        </p:txBody>
      </p:sp>
      <p:sp>
        <p:nvSpPr>
          <p:cNvPr id="9" name="Shape 7"/>
          <p:cNvSpPr/>
          <p:nvPr/>
        </p:nvSpPr>
        <p:spPr>
          <a:xfrm>
            <a:off x="1448816"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0" name="Text 8"/>
          <p:cNvSpPr txBox="1"/>
          <p:nvPr/>
        </p:nvSpPr>
        <p:spPr>
          <a:xfrm>
            <a:off x="1448816"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validation</a:t>
            </a:r>
            <a:endParaRPr lang="en-US" sz="800" dirty="0"/>
          </a:p>
        </p:txBody>
      </p:sp>
      <p:sp>
        <p:nvSpPr>
          <p:cNvPr id="11" name="Shape 9"/>
          <p:cNvSpPr/>
          <p:nvPr/>
        </p:nvSpPr>
        <p:spPr>
          <a:xfrm>
            <a:off x="2348992"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2" name="Text 10"/>
          <p:cNvSpPr txBox="1"/>
          <p:nvPr/>
        </p:nvSpPr>
        <p:spPr>
          <a:xfrm>
            <a:off x="2348992"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pre-processing</a:t>
            </a:r>
            <a:endParaRPr lang="en-US" sz="800" dirty="0"/>
          </a:p>
        </p:txBody>
      </p:sp>
      <p:sp>
        <p:nvSpPr>
          <p:cNvPr id="13" name="Shape 11"/>
          <p:cNvSpPr/>
          <p:nvPr/>
        </p:nvSpPr>
        <p:spPr>
          <a:xfrm>
            <a:off x="3249168" y="3246120"/>
            <a:ext cx="845312" cy="566928"/>
          </a:xfrm>
          <a:prstGeom prst="roundRect">
            <a:avLst>
              <a:gd name="adj" fmla="val 9677"/>
            </a:avLst>
          </a:prstGeom>
          <a:solidFill>
            <a:srgbClr val="0E7C86"/>
          </a:solidFill>
          <a:ln w="12700">
            <a:solidFill>
              <a:srgbClr val="0E7C86"/>
            </a:solidFill>
            <a:prstDash val="solid"/>
          </a:ln>
        </p:spPr>
        <p:txBody>
          <a:bodyPr/>
          <a:p/>
        </p:txBody>
      </p:sp>
      <p:sp>
        <p:nvSpPr>
          <p:cNvPr id="14" name="Text 12"/>
          <p:cNvSpPr txBox="1"/>
          <p:nvPr/>
        </p:nvSpPr>
        <p:spPr>
          <a:xfrm>
            <a:off x="3249168" y="3246120"/>
            <a:ext cx="845312" cy="566928"/>
          </a:xfrm>
          <a:prstGeom prst="rect">
            <a:avLst/>
          </a:prstGeom>
          <a:noFill/>
          <a:ln/>
        </p:spPr>
        <p:txBody>
          <a:bodyPr wrap="square" lIns="254" tIns="254" rIns="254" bIns="254"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Model training</a:t>
            </a:r>
            <a:endParaRPr lang="en-US" sz="800" dirty="0"/>
          </a:p>
        </p:txBody>
      </p:sp>
      <p:sp>
        <p:nvSpPr>
          <p:cNvPr id="15" name="Shape 13"/>
          <p:cNvSpPr/>
          <p:nvPr/>
        </p:nvSpPr>
        <p:spPr>
          <a:xfrm>
            <a:off x="4149344" y="3246120"/>
            <a:ext cx="845312" cy="566928"/>
          </a:xfrm>
          <a:prstGeom prst="roundRect">
            <a:avLst>
              <a:gd name="adj" fmla="val 9677"/>
            </a:avLst>
          </a:prstGeom>
          <a:solidFill>
            <a:srgbClr val="0E7C86"/>
          </a:solidFill>
          <a:ln w="12700">
            <a:solidFill>
              <a:srgbClr val="0E7C86"/>
            </a:solidFill>
            <a:prstDash val="solid"/>
          </a:ln>
        </p:spPr>
        <p:txBody>
          <a:bodyPr/>
          <a:p/>
        </p:txBody>
      </p:sp>
      <p:sp>
        <p:nvSpPr>
          <p:cNvPr id="16" name="Text 14"/>
          <p:cNvSpPr txBox="1"/>
          <p:nvPr/>
        </p:nvSpPr>
        <p:spPr>
          <a:xfrm>
            <a:off x="4149344" y="3246120"/>
            <a:ext cx="845312" cy="566928"/>
          </a:xfrm>
          <a:prstGeom prst="rect">
            <a:avLst/>
          </a:prstGeom>
          <a:noFill/>
          <a:ln/>
        </p:spPr>
        <p:txBody>
          <a:bodyPr wrap="square" lIns="254" tIns="254" rIns="254" bIns="254"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Model tuning</a:t>
            </a:r>
            <a:endParaRPr lang="en-US" sz="800" dirty="0"/>
          </a:p>
        </p:txBody>
      </p:sp>
      <p:sp>
        <p:nvSpPr>
          <p:cNvPr id="17" name="Shape 15"/>
          <p:cNvSpPr/>
          <p:nvPr/>
        </p:nvSpPr>
        <p:spPr>
          <a:xfrm>
            <a:off x="5049520"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8" name="Text 16"/>
          <p:cNvSpPr txBox="1"/>
          <p:nvPr/>
        </p:nvSpPr>
        <p:spPr>
          <a:xfrm>
            <a:off x="5049520"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analysis</a:t>
            </a:r>
            <a:endParaRPr lang="en-US" sz="800" dirty="0"/>
          </a:p>
        </p:txBody>
      </p:sp>
      <p:sp>
        <p:nvSpPr>
          <p:cNvPr id="19" name="Shape 17"/>
          <p:cNvSpPr/>
          <p:nvPr/>
        </p:nvSpPr>
        <p:spPr>
          <a:xfrm>
            <a:off x="5949696"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20" name="Text 18"/>
          <p:cNvSpPr txBox="1"/>
          <p:nvPr/>
        </p:nvSpPr>
        <p:spPr>
          <a:xfrm>
            <a:off x="5949696"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validation</a:t>
            </a:r>
            <a:endParaRPr lang="en-US" sz="800" dirty="0"/>
          </a:p>
        </p:txBody>
      </p:sp>
      <p:sp>
        <p:nvSpPr>
          <p:cNvPr id="21" name="Shape 19"/>
          <p:cNvSpPr/>
          <p:nvPr/>
        </p:nvSpPr>
        <p:spPr>
          <a:xfrm>
            <a:off x="6849872" y="3246120"/>
            <a:ext cx="845312" cy="566928"/>
          </a:xfrm>
          <a:prstGeom prst="roundRect">
            <a:avLst>
              <a:gd name="adj" fmla="val 9677"/>
            </a:avLst>
          </a:prstGeom>
          <a:solidFill>
            <a:srgbClr val="0E7C86"/>
          </a:solidFill>
          <a:ln w="12700">
            <a:solidFill>
              <a:srgbClr val="0E7C86"/>
            </a:solidFill>
            <a:prstDash val="solid"/>
          </a:ln>
        </p:spPr>
        <p:txBody>
          <a:bodyPr/>
          <a:p/>
        </p:txBody>
      </p:sp>
      <p:sp>
        <p:nvSpPr>
          <p:cNvPr id="22" name="Text 20"/>
          <p:cNvSpPr txBox="1"/>
          <p:nvPr/>
        </p:nvSpPr>
        <p:spPr>
          <a:xfrm>
            <a:off x="6849872" y="3246120"/>
            <a:ext cx="845312" cy="566928"/>
          </a:xfrm>
          <a:prstGeom prst="rect">
            <a:avLst/>
          </a:prstGeom>
          <a:noFill/>
          <a:ln/>
        </p:spPr>
        <p:txBody>
          <a:bodyPr wrap="square" lIns="254" tIns="254" rIns="254" bIns="254"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Model deployment</a:t>
            </a:r>
            <a:endParaRPr lang="en-US" sz="800" dirty="0"/>
          </a:p>
        </p:txBody>
      </p:sp>
      <p:sp>
        <p:nvSpPr>
          <p:cNvPr id="23" name="Shape 21"/>
          <p:cNvSpPr/>
          <p:nvPr/>
        </p:nvSpPr>
        <p:spPr>
          <a:xfrm>
            <a:off x="7750048" y="3246120"/>
            <a:ext cx="845312" cy="566928"/>
          </a:xfrm>
          <a:prstGeom prst="roundRect">
            <a:avLst>
              <a:gd name="adj" fmla="val 9677"/>
            </a:avLst>
          </a:prstGeom>
          <a:solidFill>
            <a:srgbClr val="0E7C86"/>
          </a:solidFill>
          <a:ln w="12700">
            <a:solidFill>
              <a:srgbClr val="0E7C86"/>
            </a:solidFill>
            <a:prstDash val="solid"/>
          </a:ln>
        </p:spPr>
        <p:txBody>
          <a:bodyPr/>
          <a:p/>
        </p:txBody>
      </p:sp>
      <p:sp>
        <p:nvSpPr>
          <p:cNvPr id="24" name="Text 22"/>
          <p:cNvSpPr txBox="1"/>
          <p:nvPr/>
        </p:nvSpPr>
        <p:spPr>
          <a:xfrm>
            <a:off x="7750048" y="3246120"/>
            <a:ext cx="845312" cy="566928"/>
          </a:xfrm>
          <a:prstGeom prst="rect">
            <a:avLst/>
          </a:prstGeom>
          <a:noFill/>
          <a:ln/>
        </p:spPr>
        <p:txBody>
          <a:bodyPr wrap="square" lIns="254" tIns="254" rIns="254" bIns="254"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Model feedback</a:t>
            </a:r>
            <a:endParaRPr lang="en-US" sz="800" dirty="0"/>
          </a:p>
        </p:txBody>
      </p:sp>
      <p:sp>
        <p:nvSpPr>
          <p:cNvPr id="25" name="Text 23"/>
          <p:cNvSpPr txBox="1"/>
          <p:nvPr/>
        </p:nvSpPr>
        <p:spPr>
          <a:xfrm>
            <a:off x="548640" y="4160520"/>
            <a:ext cx="8046720" cy="274320"/>
          </a:xfrm>
          <a:prstGeom prst="rect">
            <a:avLst/>
          </a:prstGeom>
          <a:noFill/>
          <a:ln/>
        </p:spPr>
        <p:txBody>
          <a:bodyPr wrap="square" lIns="0" tIns="0" rIns="0" bIns="0" rtlCol="0" anchor="ctr"/>
          <a:lstStyle/>
          <a:p>
            <a:pPr indent="0" marL="0">
              <a:buNone/>
            </a:pPr>
            <a:r>
              <a:rPr lang="en-US" sz="1000" i="1" dirty="0">
                <a:solidFill>
                  <a:srgbClr val="B8C4D6"/>
                </a:solidFill>
                <a:latin typeface="Calibri" pitchFamily="34" charset="0"/>
                <a:ea typeface="Calibri" pitchFamily="34" charset="-122"/>
                <a:cs typeface="Calibri" pitchFamily="34" charset="-120"/>
              </a:rPr>
              <a:t>The lifecycle we follow through the course · highlighted: where this section sits</a:t>
            </a:r>
            <a:endParaRPr lang="en-US" sz="1000" dirty="0"/>
          </a:p>
        </p:txBody>
      </p:sp>
      <p:pic>
        <p:nvPicPr>
          <p:cNvPr id="26" name="IE University logo" descr="IE University, School of Science &amp; Technology"/>
          <p:cNvPicPr>
            <a:picLocks noChangeAspect="1"/>
          </p:cNvPicPr>
          <p:nvPr/>
        </p:nvPicPr>
        <p:blipFill>
          <a:blip r:embed="rId3"/>
          <a:stretch>
            <a:fillRect/>
          </a:stretch>
        </p:blipFill>
        <p:spPr>
          <a:xfrm>
            <a:off x="8252653" y="109728"/>
            <a:ext cx="525587" cy="70439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10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5</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Five things that change, and one that does not</a:t>
            </a:r>
            <a:endParaRPr lang="en-US" sz="2400" dirty="0"/>
          </a:p>
        </p:txBody>
      </p:sp>
      <p:sp>
        <p:nvSpPr>
          <p:cNvPr id="7" name="Shape 4"/>
          <p:cNvSpPr/>
          <p:nvPr/>
        </p:nvSpPr>
        <p:spPr>
          <a:xfrm>
            <a:off x="365760" y="1234440"/>
            <a:ext cx="420624" cy="420624"/>
          </a:xfrm>
          <a:prstGeom prst="ellipse">
            <a:avLst/>
          </a:prstGeom>
          <a:solidFill>
            <a:srgbClr val="0E7C86"/>
          </a:solidFill>
          <a:ln w="12700">
            <a:solidFill>
              <a:srgbClr val="0E7C86"/>
            </a:solidFill>
            <a:prstDash val="solid"/>
          </a:ln>
        </p:spPr>
        <p:txBody>
          <a:bodyPr/>
          <a:p/>
        </p:txBody>
      </p:sp>
      <p:pic>
        <p:nvPicPr>
          <p:cNvPr id="8" name="Image 0" descr="preencoded.png">    </p:cNvPr>
          <p:cNvPicPr>
            <a:picLocks noChangeAspect="1"/>
          </p:cNvPicPr>
          <p:nvPr/>
        </p:nvPicPr>
        <p:blipFill>
          <a:blip r:embed="rId1"/>
          <a:stretch>
            <a:fillRect/>
          </a:stretch>
        </p:blipFill>
        <p:spPr>
          <a:xfrm>
            <a:off x="457200" y="1325880"/>
            <a:ext cx="237744" cy="237744"/>
          </a:xfrm>
          <a:prstGeom prst="rect">
            <a:avLst/>
          </a:prstGeom>
        </p:spPr>
      </p:pic>
      <p:sp>
        <p:nvSpPr>
          <p:cNvPr id="9" name="Text 5"/>
          <p:cNvSpPr txBox="1"/>
          <p:nvPr/>
        </p:nvSpPr>
        <p:spPr>
          <a:xfrm>
            <a:off x="914400" y="1216152"/>
            <a:ext cx="4846320" cy="25603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You configure rather than train</a:t>
            </a:r>
            <a:endParaRPr lang="en-US" sz="1200" dirty="0"/>
          </a:p>
        </p:txBody>
      </p:sp>
      <p:sp>
        <p:nvSpPr>
          <p:cNvPr id="10" name="Text 6"/>
          <p:cNvSpPr txBox="1"/>
          <p:nvPr/>
        </p:nvSpPr>
        <p:spPr>
          <a:xfrm>
            <a:off x="914400" y="1472184"/>
            <a:ext cx="4846320" cy="36576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The model is bought; you build the prompt, the retrieval and the guardrails. "Retraining" becomes "change the prompt or the documents", weekly.</a:t>
            </a:r>
            <a:endParaRPr lang="en-US" sz="1100" dirty="0"/>
          </a:p>
        </p:txBody>
      </p:sp>
      <p:sp>
        <p:nvSpPr>
          <p:cNvPr id="11" name="Shape 7"/>
          <p:cNvSpPr/>
          <p:nvPr/>
        </p:nvSpPr>
        <p:spPr>
          <a:xfrm>
            <a:off x="365760" y="1837944"/>
            <a:ext cx="420624" cy="420624"/>
          </a:xfrm>
          <a:prstGeom prst="ellipse">
            <a:avLst/>
          </a:prstGeom>
          <a:solidFill>
            <a:srgbClr val="0E7C86"/>
          </a:solidFill>
          <a:ln w="12700">
            <a:solidFill>
              <a:srgbClr val="0E7C86"/>
            </a:solidFill>
            <a:prstDash val="solid"/>
          </a:ln>
        </p:spPr>
        <p:txBody>
          <a:bodyPr/>
          <a:p/>
        </p:txBody>
      </p:sp>
      <p:pic>
        <p:nvPicPr>
          <p:cNvPr id="12" name="Image 1" descr="preencoded.png">    </p:cNvPr>
          <p:cNvPicPr>
            <a:picLocks noChangeAspect="1"/>
          </p:cNvPicPr>
          <p:nvPr/>
        </p:nvPicPr>
        <p:blipFill>
          <a:blip r:embed="rId2"/>
          <a:stretch>
            <a:fillRect/>
          </a:stretch>
        </p:blipFill>
        <p:spPr>
          <a:xfrm>
            <a:off x="457200" y="1929384"/>
            <a:ext cx="237744" cy="237744"/>
          </a:xfrm>
          <a:prstGeom prst="rect">
            <a:avLst/>
          </a:prstGeom>
        </p:spPr>
      </p:pic>
      <p:sp>
        <p:nvSpPr>
          <p:cNvPr id="13" name="Text 8"/>
          <p:cNvSpPr txBox="1"/>
          <p:nvPr/>
        </p:nvSpPr>
        <p:spPr>
          <a:xfrm>
            <a:off x="914400" y="1819656"/>
            <a:ext cx="4846320" cy="25603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The prompt is code</a:t>
            </a:r>
            <a:endParaRPr lang="en-US" sz="1200" dirty="0"/>
          </a:p>
        </p:txBody>
      </p:sp>
      <p:sp>
        <p:nvSpPr>
          <p:cNvPr id="14" name="Text 9"/>
          <p:cNvSpPr txBox="1"/>
          <p:nvPr/>
        </p:nvSpPr>
        <p:spPr>
          <a:xfrm>
            <a:off x="914400" y="2075688"/>
            <a:ext cx="4846320" cy="36576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One word changes thousands of answers. Version it, review it, test it, roll it back (Session 3).</a:t>
            </a:r>
            <a:endParaRPr lang="en-US" sz="1100" dirty="0"/>
          </a:p>
        </p:txBody>
      </p:sp>
      <p:sp>
        <p:nvSpPr>
          <p:cNvPr id="15" name="Shape 10"/>
          <p:cNvSpPr/>
          <p:nvPr/>
        </p:nvSpPr>
        <p:spPr>
          <a:xfrm>
            <a:off x="365760" y="2441448"/>
            <a:ext cx="420624" cy="420624"/>
          </a:xfrm>
          <a:prstGeom prst="ellipse">
            <a:avLst/>
          </a:prstGeom>
          <a:solidFill>
            <a:srgbClr val="0E7C86"/>
          </a:solidFill>
          <a:ln w="12700">
            <a:solidFill>
              <a:srgbClr val="0E7C86"/>
            </a:solidFill>
            <a:prstDash val="solid"/>
          </a:ln>
        </p:spPr>
        <p:txBody>
          <a:bodyPr/>
          <a:p/>
        </p:txBody>
      </p:sp>
      <p:pic>
        <p:nvPicPr>
          <p:cNvPr id="16" name="Image 2" descr="preencoded.png">    </p:cNvPr>
          <p:cNvPicPr>
            <a:picLocks noChangeAspect="1"/>
          </p:cNvPicPr>
          <p:nvPr/>
        </p:nvPicPr>
        <p:blipFill>
          <a:blip r:embed="rId3"/>
          <a:stretch>
            <a:fillRect/>
          </a:stretch>
        </p:blipFill>
        <p:spPr>
          <a:xfrm>
            <a:off x="457200" y="2532888"/>
            <a:ext cx="237744" cy="237744"/>
          </a:xfrm>
          <a:prstGeom prst="rect">
            <a:avLst/>
          </a:prstGeom>
        </p:spPr>
      </p:pic>
      <p:sp>
        <p:nvSpPr>
          <p:cNvPr id="17" name="Text 11"/>
          <p:cNvSpPr txBox="1"/>
          <p:nvPr/>
        </p:nvSpPr>
        <p:spPr>
          <a:xfrm>
            <a:off x="914400" y="2423160"/>
            <a:ext cx="4846320" cy="25603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Outputs are not deterministic</a:t>
            </a:r>
            <a:endParaRPr lang="en-US" sz="1200" dirty="0"/>
          </a:p>
        </p:txBody>
      </p:sp>
      <p:sp>
        <p:nvSpPr>
          <p:cNvPr id="18" name="Text 12"/>
          <p:cNvSpPr txBox="1"/>
          <p:nvPr/>
        </p:nvSpPr>
        <p:spPr>
          <a:xfrm>
            <a:off x="914400" y="2679192"/>
            <a:ext cx="4846320" cy="36576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Same question, two answers. No "expected equals actual"; test with a rubric on a sample.</a:t>
            </a:r>
            <a:endParaRPr lang="en-US" sz="1100" dirty="0"/>
          </a:p>
        </p:txBody>
      </p:sp>
      <p:sp>
        <p:nvSpPr>
          <p:cNvPr id="19" name="Shape 13"/>
          <p:cNvSpPr/>
          <p:nvPr/>
        </p:nvSpPr>
        <p:spPr>
          <a:xfrm>
            <a:off x="365760" y="3044952"/>
            <a:ext cx="420624" cy="420624"/>
          </a:xfrm>
          <a:prstGeom prst="ellipse">
            <a:avLst/>
          </a:prstGeom>
          <a:solidFill>
            <a:srgbClr val="0E7C86"/>
          </a:solidFill>
          <a:ln w="12700">
            <a:solidFill>
              <a:srgbClr val="0E7C86"/>
            </a:solidFill>
            <a:prstDash val="solid"/>
          </a:ln>
        </p:spPr>
        <p:txBody>
          <a:bodyPr/>
          <a:p/>
        </p:txBody>
      </p:sp>
      <p:pic>
        <p:nvPicPr>
          <p:cNvPr id="20" name="Image 3" descr="preencoded.png">    </p:cNvPr>
          <p:cNvPicPr>
            <a:picLocks noChangeAspect="1"/>
          </p:cNvPicPr>
          <p:nvPr/>
        </p:nvPicPr>
        <p:blipFill>
          <a:blip r:embed="rId4"/>
          <a:stretch>
            <a:fillRect/>
          </a:stretch>
        </p:blipFill>
        <p:spPr>
          <a:xfrm>
            <a:off x="457200" y="3136392"/>
            <a:ext cx="237744" cy="237744"/>
          </a:xfrm>
          <a:prstGeom prst="rect">
            <a:avLst/>
          </a:prstGeom>
        </p:spPr>
      </p:pic>
      <p:sp>
        <p:nvSpPr>
          <p:cNvPr id="21" name="Text 14"/>
          <p:cNvSpPr txBox="1"/>
          <p:nvPr/>
        </p:nvSpPr>
        <p:spPr>
          <a:xfrm>
            <a:off x="914400" y="3026664"/>
            <a:ext cx="4846320" cy="25603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Cost is per token, in and out</a:t>
            </a:r>
            <a:endParaRPr lang="en-US" sz="1200" dirty="0"/>
          </a:p>
        </p:txBody>
      </p:sp>
      <p:sp>
        <p:nvSpPr>
          <p:cNvPr id="22" name="Text 15"/>
          <p:cNvSpPr txBox="1"/>
          <p:nvPr/>
        </p:nvSpPr>
        <p:spPr>
          <a:xfrm>
            <a:off x="914400" y="3282696"/>
            <a:ext cx="4846320" cy="36576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A verbose prompt or a long document costs money on every request. Cost is a monitoring metric.</a:t>
            </a:r>
            <a:endParaRPr lang="en-US" sz="1100" dirty="0"/>
          </a:p>
        </p:txBody>
      </p:sp>
      <p:sp>
        <p:nvSpPr>
          <p:cNvPr id="23" name="Shape 16"/>
          <p:cNvSpPr/>
          <p:nvPr/>
        </p:nvSpPr>
        <p:spPr>
          <a:xfrm>
            <a:off x="365760" y="3648456"/>
            <a:ext cx="420624" cy="420624"/>
          </a:xfrm>
          <a:prstGeom prst="ellipse">
            <a:avLst/>
          </a:prstGeom>
          <a:solidFill>
            <a:srgbClr val="0E7C86"/>
          </a:solidFill>
          <a:ln w="12700">
            <a:solidFill>
              <a:srgbClr val="0E7C86"/>
            </a:solidFill>
            <a:prstDash val="solid"/>
          </a:ln>
        </p:spPr>
        <p:txBody>
          <a:bodyPr/>
          <a:p/>
        </p:txBody>
      </p:sp>
      <p:pic>
        <p:nvPicPr>
          <p:cNvPr id="24" name="Image 4" descr="preencoded.png">    </p:cNvPr>
          <p:cNvPicPr>
            <a:picLocks noChangeAspect="1"/>
          </p:cNvPicPr>
          <p:nvPr/>
        </p:nvPicPr>
        <p:blipFill>
          <a:blip r:embed="rId5"/>
          <a:stretch>
            <a:fillRect/>
          </a:stretch>
        </p:blipFill>
        <p:spPr>
          <a:xfrm>
            <a:off x="457200" y="3739896"/>
            <a:ext cx="237744" cy="237744"/>
          </a:xfrm>
          <a:prstGeom prst="rect">
            <a:avLst/>
          </a:prstGeom>
        </p:spPr>
      </p:pic>
      <p:sp>
        <p:nvSpPr>
          <p:cNvPr id="25" name="Text 17"/>
          <p:cNvSpPr txBox="1"/>
          <p:nvPr/>
        </p:nvSpPr>
        <p:spPr>
          <a:xfrm>
            <a:off x="914400" y="3630168"/>
            <a:ext cx="4846320" cy="256032"/>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Quality is judged, not measured</a:t>
            </a:r>
            <a:endParaRPr lang="en-US" sz="1200" dirty="0"/>
          </a:p>
        </p:txBody>
      </p:sp>
      <p:sp>
        <p:nvSpPr>
          <p:cNvPr id="26" name="Text 18"/>
          <p:cNvSpPr txBox="1"/>
          <p:nvPr/>
        </p:nvSpPr>
        <p:spPr>
          <a:xfrm>
            <a:off x="914400" y="3886200"/>
            <a:ext cx="4846320" cy="365760"/>
          </a:xfrm>
          <a:prstGeom prst="rect">
            <a:avLst/>
          </a:prstGeom>
          <a:noFill/>
          <a:ln/>
        </p:spPr>
        <p:txBody>
          <a:bodyPr wrap="square" lIns="0" tIns="0" rIns="0" bIns="0" rtlCol="0" anchor="t"/>
          <a:lstStyle/>
          <a:p>
            <a:pPr indent="0" marL="0">
              <a:buNone/>
            </a:pPr>
            <a:r>
              <a:rPr lang="en-US" sz="1100" dirty="0">
                <a:solidFill>
                  <a:srgbClr val="222222"/>
                </a:solidFill>
                <a:latin typeface="Calibri" pitchFamily="34" charset="0"/>
                <a:ea typeface="Calibri" pitchFamily="34" charset="-122"/>
                <a:cs typeface="Calibri" pitchFamily="34" charset="-120"/>
              </a:rPr>
              <a:t>Usually no label. Golden sets, judges and human review replace accuracy (Video 1, segment 5).</a:t>
            </a:r>
            <a:endParaRPr lang="en-US" sz="1100" dirty="0"/>
          </a:p>
        </p:txBody>
      </p:sp>
      <p:sp>
        <p:nvSpPr>
          <p:cNvPr id="27" name="Shape 19"/>
          <p:cNvSpPr/>
          <p:nvPr/>
        </p:nvSpPr>
        <p:spPr>
          <a:xfrm>
            <a:off x="6035040" y="1234440"/>
            <a:ext cx="2743200" cy="3017520"/>
          </a:xfrm>
          <a:prstGeom prst="roundRect">
            <a:avLst>
              <a:gd name="adj" fmla="val 2667"/>
            </a:avLst>
          </a:prstGeom>
          <a:solidFill>
            <a:srgbClr val="1B2A4A"/>
          </a:solidFill>
          <a:ln w="12700">
            <a:solidFill>
              <a:srgbClr val="1B2A4A"/>
            </a:solidFill>
            <a:prstDash val="solid"/>
          </a:ln>
        </p:spPr>
        <p:txBody>
          <a:bodyPr/>
          <a:p/>
        </p:txBody>
      </p:sp>
      <p:sp>
        <p:nvSpPr>
          <p:cNvPr id="28" name="Text 20"/>
          <p:cNvSpPr txBox="1"/>
          <p:nvPr/>
        </p:nvSpPr>
        <p:spPr>
          <a:xfrm>
            <a:off x="6217920" y="1307592"/>
            <a:ext cx="237744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What does not change</a:t>
            </a:r>
            <a:endParaRPr lang="en-US" sz="1400" dirty="0"/>
          </a:p>
        </p:txBody>
      </p:sp>
      <p:sp>
        <p:nvSpPr>
          <p:cNvPr id="29" name="Text 21"/>
          <p:cNvSpPr txBox="1"/>
          <p:nvPr/>
        </p:nvSpPr>
        <p:spPr>
          <a:xfrm>
            <a:off x="6217920" y="1673352"/>
            <a:ext cx="2377440" cy="2514600"/>
          </a:xfrm>
          <a:prstGeom prst="rect">
            <a:avLst/>
          </a:prstGeom>
          <a:noFill/>
          <a:ln/>
        </p:spPr>
        <p:txBody>
          <a:bodyPr wrap="square" lIns="0" tIns="0" rIns="0" bIns="0" rtlCol="0" anchor="t"/>
          <a:lstStyle/>
          <a:p>
            <a:pPr indent="0" marL="0">
              <a:buNone/>
            </a:pPr>
            <a:r>
              <a:rPr lang="en-US" sz="1200" dirty="0">
                <a:solidFill>
                  <a:srgbClr val="CADCFC"/>
                </a:solidFill>
                <a:latin typeface="Calibri" pitchFamily="34" charset="0"/>
                <a:ea typeface="Calibri" pitchFamily="34" charset="-122"/>
                <a:cs typeface="Calibri" pitchFamily="34" charset="-120"/>
              </a:rPr>
              <a:t>The lifecycle logic (S1). Pipelines, tests and CI/CD (S3, S5). Monitoring with thresholds and owners (S7, Video 1). Governance (Video 2).</a:t>
            </a:r>
            <a:endParaRPr lang="en-US" sz="1200" dirty="0"/>
          </a:p>
          <a:p>
            <a:pPr indent="0" marL="0">
              <a:buNone/>
            </a:pPr>
            <a:endParaRPr lang="en-US" sz="1200" dirty="0"/>
          </a:p>
          <a:p>
            <a:pPr indent="0" marL="0">
              <a:buNone/>
            </a:pPr>
            <a:r>
              <a:rPr lang="en-US" sz="1200" dirty="0">
                <a:solidFill>
                  <a:srgbClr val="CADCFC"/>
                </a:solidFill>
                <a:latin typeface="Calibri" pitchFamily="34" charset="0"/>
                <a:ea typeface="Calibri" pitchFamily="34" charset="-122"/>
                <a:cs typeface="Calibri" pitchFamily="34" charset="-120"/>
              </a:rPr>
              <a:t>The four modules apply. They apply to different objects: prompts, documents, judges and tokens instead of features, weights, labels and latency.</a:t>
            </a:r>
            <a:endParaRPr lang="en-US" sz="1200" dirty="0"/>
          </a:p>
        </p:txBody>
      </p:sp>
      <p:sp>
        <p:nvSpPr>
          <p:cNvPr id="30" name="Text 22"/>
          <p:cNvSpPr txBox="1"/>
          <p:nvPr/>
        </p:nvSpPr>
        <p:spPr>
          <a:xfrm>
            <a:off x="365760" y="4343400"/>
            <a:ext cx="8412480" cy="320040"/>
          </a:xfrm>
          <a:prstGeom prst="rect">
            <a:avLst/>
          </a:prstGeom>
          <a:noFill/>
          <a:ln/>
        </p:spPr>
        <p:txBody>
          <a:bodyPr wrap="square" lIns="0" tIns="0" rIns="0" bIns="0" rtlCol="0" anchor="t"/>
          <a:lstStyle/>
          <a:p>
            <a:pPr algn="l" indent="0" marL="0">
              <a:buNone/>
            </a:pPr>
            <a:r>
              <a:rPr lang="en-US" sz="1050" b="1" i="1" dirty="0">
                <a:solidFill>
                  <a:srgbClr val="0E7C86"/>
                </a:solidFill>
                <a:latin typeface="Calibri" pitchFamily="34" charset="0"/>
                <a:ea typeface="Calibri" pitchFamily="34" charset="-122"/>
                <a:cs typeface="Calibri" pitchFamily="34" charset="-120"/>
              </a:rPr>
              <a:t>Forum 5, Q2 asks for two concrete differences: pick two of the five and give the operational consequence.</a:t>
            </a:r>
            <a:endParaRPr lang="en-US" sz="1050" dirty="0"/>
          </a:p>
        </p:txBody>
      </p:sp>
      <p:pic>
        <p:nvPicPr>
          <p:cNvPr id="31" name="IE University logo" descr="IE University, School of Science &amp; Technology"/>
          <p:cNvPicPr>
            <a:picLocks noChangeAspect="1"/>
          </p:cNvPicPr>
          <p:nvPr/>
        </p:nvPicPr>
        <p:blipFill>
          <a:blip r:embed="rId8"/>
          <a:stretch>
            <a:fillRect/>
          </a:stretch>
        </p:blipFill>
        <p:spPr>
          <a:xfrm>
            <a:off x="8013607" y="92634"/>
            <a:ext cx="764633" cy="26278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10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6</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Two lifecycles side by side: same shape, different objects</a:t>
            </a:r>
            <a:endParaRPr lang="en-US" sz="2400" dirty="0"/>
          </a:p>
        </p:txBody>
      </p:sp>
      <p:sp>
        <p:nvSpPr>
          <p:cNvPr id="7" name="Text 4"/>
          <p:cNvSpPr txBox="1"/>
          <p:nvPr/>
        </p:nvSpPr>
        <p:spPr>
          <a:xfrm>
            <a:off x="365760" y="1143000"/>
            <a:ext cx="3657600" cy="274320"/>
          </a:xfrm>
          <a:prstGeom prst="rect">
            <a:avLst/>
          </a:prstGeom>
          <a:noFill/>
          <a:ln/>
        </p:spPr>
        <p:txBody>
          <a:bodyPr wrap="square" lIns="0" tIns="0" rIns="0" bIns="0" rtlCol="0" anchor="t"/>
          <a:lstStyle/>
          <a:p>
            <a:pPr algn="l" indent="0" marL="0">
              <a:buNone/>
            </a:pPr>
            <a:r>
              <a:rPr lang="en-US" sz="1200" b="1" dirty="0">
                <a:solidFill>
                  <a:srgbClr val="1B2A4A"/>
                </a:solidFill>
                <a:latin typeface="Calibri" pitchFamily="34" charset="0"/>
                <a:ea typeface="Calibri" pitchFamily="34" charset="-122"/>
                <a:cs typeface="Calibri" pitchFamily="34" charset="-120"/>
              </a:rPr>
              <a:t>MLOps (Sessions 1–7)</a:t>
            </a:r>
            <a:endParaRPr lang="en-US" sz="1200" dirty="0"/>
          </a:p>
        </p:txBody>
      </p:sp>
      <p:sp>
        <p:nvSpPr>
          <p:cNvPr id="8" name="Shape 5"/>
          <p:cNvSpPr/>
          <p:nvPr/>
        </p:nvSpPr>
        <p:spPr>
          <a:xfrm>
            <a:off x="365760" y="1417320"/>
            <a:ext cx="1247503" cy="457200"/>
          </a:xfrm>
          <a:prstGeom prst="chevron">
            <a:avLst/>
          </a:prstGeom>
          <a:solidFill>
            <a:srgbClr val="1B2A4A"/>
          </a:solidFill>
          <a:ln w="12700">
            <a:solidFill>
              <a:srgbClr val="FFFFFF"/>
            </a:solidFill>
            <a:prstDash val="solid"/>
          </a:ln>
        </p:spPr>
        <p:txBody>
          <a:bodyPr/>
          <a:p/>
        </p:txBody>
      </p:sp>
      <p:sp>
        <p:nvSpPr>
          <p:cNvPr id="9" name="Text 6"/>
          <p:cNvSpPr txBox="1"/>
          <p:nvPr/>
        </p:nvSpPr>
        <p:spPr>
          <a:xfrm>
            <a:off x="502920" y="1417320"/>
            <a:ext cx="1018903"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Collect data</a:t>
            </a:r>
            <a:endParaRPr lang="en-US" sz="1000" dirty="0"/>
          </a:p>
        </p:txBody>
      </p:sp>
      <p:sp>
        <p:nvSpPr>
          <p:cNvPr id="10" name="Shape 7"/>
          <p:cNvSpPr/>
          <p:nvPr/>
        </p:nvSpPr>
        <p:spPr>
          <a:xfrm>
            <a:off x="1567543" y="1417320"/>
            <a:ext cx="1247503" cy="457200"/>
          </a:xfrm>
          <a:prstGeom prst="chevron">
            <a:avLst/>
          </a:prstGeom>
          <a:solidFill>
            <a:srgbClr val="0E7C86"/>
          </a:solidFill>
          <a:ln w="12700">
            <a:solidFill>
              <a:srgbClr val="FFFFFF"/>
            </a:solidFill>
            <a:prstDash val="solid"/>
          </a:ln>
        </p:spPr>
        <p:txBody>
          <a:bodyPr/>
          <a:p/>
        </p:txBody>
      </p:sp>
      <p:sp>
        <p:nvSpPr>
          <p:cNvPr id="11" name="Text 8"/>
          <p:cNvSpPr txBox="1"/>
          <p:nvPr/>
        </p:nvSpPr>
        <p:spPr>
          <a:xfrm>
            <a:off x="1704703" y="1417320"/>
            <a:ext cx="1018903"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Features</a:t>
            </a:r>
            <a:endParaRPr lang="en-US" sz="1000" dirty="0"/>
          </a:p>
        </p:txBody>
      </p:sp>
      <p:sp>
        <p:nvSpPr>
          <p:cNvPr id="12" name="Shape 9"/>
          <p:cNvSpPr/>
          <p:nvPr/>
        </p:nvSpPr>
        <p:spPr>
          <a:xfrm>
            <a:off x="2769326" y="1417320"/>
            <a:ext cx="1247503" cy="457200"/>
          </a:xfrm>
          <a:prstGeom prst="chevron">
            <a:avLst/>
          </a:prstGeom>
          <a:solidFill>
            <a:srgbClr val="1B2A4A"/>
          </a:solidFill>
          <a:ln w="12700">
            <a:solidFill>
              <a:srgbClr val="FFFFFF"/>
            </a:solidFill>
            <a:prstDash val="solid"/>
          </a:ln>
        </p:spPr>
        <p:txBody>
          <a:bodyPr/>
          <a:p/>
        </p:txBody>
      </p:sp>
      <p:sp>
        <p:nvSpPr>
          <p:cNvPr id="13" name="Text 10"/>
          <p:cNvSpPr txBox="1"/>
          <p:nvPr/>
        </p:nvSpPr>
        <p:spPr>
          <a:xfrm>
            <a:off x="2906486" y="1417320"/>
            <a:ext cx="1018903"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Train</a:t>
            </a:r>
            <a:endParaRPr lang="en-US" sz="1000" dirty="0"/>
          </a:p>
        </p:txBody>
      </p:sp>
      <p:sp>
        <p:nvSpPr>
          <p:cNvPr id="14" name="Shape 11"/>
          <p:cNvSpPr/>
          <p:nvPr/>
        </p:nvSpPr>
        <p:spPr>
          <a:xfrm>
            <a:off x="3971109" y="1417320"/>
            <a:ext cx="1247503" cy="457200"/>
          </a:xfrm>
          <a:prstGeom prst="chevron">
            <a:avLst/>
          </a:prstGeom>
          <a:solidFill>
            <a:srgbClr val="0E7C86"/>
          </a:solidFill>
          <a:ln w="12700">
            <a:solidFill>
              <a:srgbClr val="FFFFFF"/>
            </a:solidFill>
            <a:prstDash val="solid"/>
          </a:ln>
        </p:spPr>
        <p:txBody>
          <a:bodyPr/>
          <a:p/>
        </p:txBody>
      </p:sp>
      <p:sp>
        <p:nvSpPr>
          <p:cNvPr id="15" name="Text 12"/>
          <p:cNvSpPr txBox="1"/>
          <p:nvPr/>
        </p:nvSpPr>
        <p:spPr>
          <a:xfrm>
            <a:off x="4108269" y="1417320"/>
            <a:ext cx="1018903"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Validate</a:t>
            </a:r>
            <a:endParaRPr lang="en-US" sz="1000" dirty="0"/>
          </a:p>
        </p:txBody>
      </p:sp>
      <p:sp>
        <p:nvSpPr>
          <p:cNvPr id="16" name="Shape 13"/>
          <p:cNvSpPr/>
          <p:nvPr/>
        </p:nvSpPr>
        <p:spPr>
          <a:xfrm>
            <a:off x="5172891" y="1417320"/>
            <a:ext cx="1247503" cy="457200"/>
          </a:xfrm>
          <a:prstGeom prst="chevron">
            <a:avLst/>
          </a:prstGeom>
          <a:solidFill>
            <a:srgbClr val="1B2A4A"/>
          </a:solidFill>
          <a:ln w="12700">
            <a:solidFill>
              <a:srgbClr val="FFFFFF"/>
            </a:solidFill>
            <a:prstDash val="solid"/>
          </a:ln>
        </p:spPr>
        <p:txBody>
          <a:bodyPr/>
          <a:p/>
        </p:txBody>
      </p:sp>
      <p:sp>
        <p:nvSpPr>
          <p:cNvPr id="17" name="Text 14"/>
          <p:cNvSpPr txBox="1"/>
          <p:nvPr/>
        </p:nvSpPr>
        <p:spPr>
          <a:xfrm>
            <a:off x="5310051" y="1417320"/>
            <a:ext cx="1018903"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Deploy</a:t>
            </a:r>
            <a:endParaRPr lang="en-US" sz="1000" dirty="0"/>
          </a:p>
        </p:txBody>
      </p:sp>
      <p:sp>
        <p:nvSpPr>
          <p:cNvPr id="18" name="Shape 15"/>
          <p:cNvSpPr/>
          <p:nvPr/>
        </p:nvSpPr>
        <p:spPr>
          <a:xfrm>
            <a:off x="6374674" y="1417320"/>
            <a:ext cx="1247503" cy="457200"/>
          </a:xfrm>
          <a:prstGeom prst="chevron">
            <a:avLst/>
          </a:prstGeom>
          <a:solidFill>
            <a:srgbClr val="0E7C86"/>
          </a:solidFill>
          <a:ln w="12700">
            <a:solidFill>
              <a:srgbClr val="FFFFFF"/>
            </a:solidFill>
            <a:prstDash val="solid"/>
          </a:ln>
        </p:spPr>
        <p:txBody>
          <a:bodyPr/>
          <a:p/>
        </p:txBody>
      </p:sp>
      <p:sp>
        <p:nvSpPr>
          <p:cNvPr id="19" name="Text 16"/>
          <p:cNvSpPr txBox="1"/>
          <p:nvPr/>
        </p:nvSpPr>
        <p:spPr>
          <a:xfrm>
            <a:off x="6511834" y="1417320"/>
            <a:ext cx="1018903"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Monitor</a:t>
            </a:r>
            <a:endParaRPr lang="en-US" sz="1000" dirty="0"/>
          </a:p>
        </p:txBody>
      </p:sp>
      <p:sp>
        <p:nvSpPr>
          <p:cNvPr id="20" name="Shape 17"/>
          <p:cNvSpPr/>
          <p:nvPr/>
        </p:nvSpPr>
        <p:spPr>
          <a:xfrm>
            <a:off x="7576457" y="1417320"/>
            <a:ext cx="1247503" cy="457200"/>
          </a:xfrm>
          <a:prstGeom prst="chevron">
            <a:avLst/>
          </a:prstGeom>
          <a:solidFill>
            <a:srgbClr val="1B2A4A"/>
          </a:solidFill>
          <a:ln w="12700">
            <a:solidFill>
              <a:srgbClr val="FFFFFF"/>
            </a:solidFill>
            <a:prstDash val="solid"/>
          </a:ln>
        </p:spPr>
        <p:txBody>
          <a:bodyPr/>
          <a:p/>
        </p:txBody>
      </p:sp>
      <p:sp>
        <p:nvSpPr>
          <p:cNvPr id="21" name="Text 18"/>
          <p:cNvSpPr txBox="1"/>
          <p:nvPr/>
        </p:nvSpPr>
        <p:spPr>
          <a:xfrm>
            <a:off x="7713617" y="1417320"/>
            <a:ext cx="1018903"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Retrain</a:t>
            </a:r>
            <a:endParaRPr lang="en-US" sz="1000" dirty="0"/>
          </a:p>
        </p:txBody>
      </p:sp>
      <p:sp>
        <p:nvSpPr>
          <p:cNvPr id="22" name="Text 19"/>
          <p:cNvSpPr txBox="1"/>
          <p:nvPr/>
        </p:nvSpPr>
        <p:spPr>
          <a:xfrm>
            <a:off x="365760" y="1965960"/>
            <a:ext cx="3657600" cy="274320"/>
          </a:xfrm>
          <a:prstGeom prst="rect">
            <a:avLst/>
          </a:prstGeom>
          <a:noFill/>
          <a:ln/>
        </p:spPr>
        <p:txBody>
          <a:bodyPr wrap="square" lIns="0" tIns="0" rIns="0" bIns="0" rtlCol="0" anchor="t"/>
          <a:lstStyle/>
          <a:p>
            <a:pPr algn="l" indent="0" marL="0">
              <a:buNone/>
            </a:pPr>
            <a:r>
              <a:rPr lang="en-US" sz="1200" b="1" dirty="0">
                <a:solidFill>
                  <a:srgbClr val="E07A2F"/>
                </a:solidFill>
                <a:latin typeface="Calibri" pitchFamily="34" charset="0"/>
                <a:ea typeface="Calibri" pitchFamily="34" charset="-122"/>
                <a:cs typeface="Calibri" pitchFamily="34" charset="-120"/>
              </a:rPr>
              <a:t>LLMOps (today)</a:t>
            </a:r>
            <a:endParaRPr lang="en-US" sz="1200" dirty="0"/>
          </a:p>
        </p:txBody>
      </p:sp>
      <p:sp>
        <p:nvSpPr>
          <p:cNvPr id="23" name="Shape 20"/>
          <p:cNvSpPr/>
          <p:nvPr/>
        </p:nvSpPr>
        <p:spPr>
          <a:xfrm>
            <a:off x="365760" y="2240280"/>
            <a:ext cx="1247503" cy="457200"/>
          </a:xfrm>
          <a:prstGeom prst="chevron">
            <a:avLst/>
          </a:prstGeom>
          <a:solidFill>
            <a:srgbClr val="E07A2F"/>
          </a:solidFill>
          <a:ln w="12700">
            <a:solidFill>
              <a:srgbClr val="FFFFFF"/>
            </a:solidFill>
            <a:prstDash val="solid"/>
          </a:ln>
        </p:spPr>
        <p:txBody>
          <a:bodyPr/>
          <a:p/>
        </p:txBody>
      </p:sp>
      <p:sp>
        <p:nvSpPr>
          <p:cNvPr id="24" name="Text 21"/>
          <p:cNvSpPr txBox="1"/>
          <p:nvPr/>
        </p:nvSpPr>
        <p:spPr>
          <a:xfrm>
            <a:off x="502920" y="2240280"/>
            <a:ext cx="1018903"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Curate docs</a:t>
            </a:r>
            <a:endParaRPr lang="en-US" sz="1000" dirty="0"/>
          </a:p>
        </p:txBody>
      </p:sp>
      <p:sp>
        <p:nvSpPr>
          <p:cNvPr id="25" name="Shape 22"/>
          <p:cNvSpPr/>
          <p:nvPr/>
        </p:nvSpPr>
        <p:spPr>
          <a:xfrm>
            <a:off x="1567543" y="2240280"/>
            <a:ext cx="1247503" cy="457200"/>
          </a:xfrm>
          <a:prstGeom prst="chevron">
            <a:avLst/>
          </a:prstGeom>
          <a:solidFill>
            <a:srgbClr val="C2691F"/>
          </a:solidFill>
          <a:ln w="12700">
            <a:solidFill>
              <a:srgbClr val="FFFFFF"/>
            </a:solidFill>
            <a:prstDash val="solid"/>
          </a:ln>
        </p:spPr>
        <p:txBody>
          <a:bodyPr/>
          <a:p/>
        </p:txBody>
      </p:sp>
      <p:sp>
        <p:nvSpPr>
          <p:cNvPr id="26" name="Text 23"/>
          <p:cNvSpPr txBox="1"/>
          <p:nvPr/>
        </p:nvSpPr>
        <p:spPr>
          <a:xfrm>
            <a:off x="1704703" y="2240280"/>
            <a:ext cx="1018903"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Design retrieval</a:t>
            </a:r>
            <a:endParaRPr lang="en-US" sz="1000" dirty="0"/>
          </a:p>
        </p:txBody>
      </p:sp>
      <p:sp>
        <p:nvSpPr>
          <p:cNvPr id="27" name="Shape 24"/>
          <p:cNvSpPr/>
          <p:nvPr/>
        </p:nvSpPr>
        <p:spPr>
          <a:xfrm>
            <a:off x="2769326" y="2240280"/>
            <a:ext cx="1247503" cy="457200"/>
          </a:xfrm>
          <a:prstGeom prst="chevron">
            <a:avLst/>
          </a:prstGeom>
          <a:solidFill>
            <a:srgbClr val="E07A2F"/>
          </a:solidFill>
          <a:ln w="12700">
            <a:solidFill>
              <a:srgbClr val="FFFFFF"/>
            </a:solidFill>
            <a:prstDash val="solid"/>
          </a:ln>
        </p:spPr>
        <p:txBody>
          <a:bodyPr/>
          <a:p/>
        </p:txBody>
      </p:sp>
      <p:sp>
        <p:nvSpPr>
          <p:cNvPr id="28" name="Text 25"/>
          <p:cNvSpPr txBox="1"/>
          <p:nvPr/>
        </p:nvSpPr>
        <p:spPr>
          <a:xfrm>
            <a:off x="2906486" y="2240280"/>
            <a:ext cx="1018903"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Design prompt</a:t>
            </a:r>
            <a:endParaRPr lang="en-US" sz="1000" dirty="0"/>
          </a:p>
        </p:txBody>
      </p:sp>
      <p:sp>
        <p:nvSpPr>
          <p:cNvPr id="29" name="Shape 26"/>
          <p:cNvSpPr/>
          <p:nvPr/>
        </p:nvSpPr>
        <p:spPr>
          <a:xfrm>
            <a:off x="3971109" y="2240280"/>
            <a:ext cx="1247503" cy="457200"/>
          </a:xfrm>
          <a:prstGeom prst="chevron">
            <a:avLst/>
          </a:prstGeom>
          <a:solidFill>
            <a:srgbClr val="C2691F"/>
          </a:solidFill>
          <a:ln w="12700">
            <a:solidFill>
              <a:srgbClr val="FFFFFF"/>
            </a:solidFill>
            <a:prstDash val="solid"/>
          </a:ln>
        </p:spPr>
        <p:txBody>
          <a:bodyPr/>
          <a:p/>
        </p:txBody>
      </p:sp>
      <p:sp>
        <p:nvSpPr>
          <p:cNvPr id="30" name="Text 27"/>
          <p:cNvSpPr txBox="1"/>
          <p:nvPr/>
        </p:nvSpPr>
        <p:spPr>
          <a:xfrm>
            <a:off x="4108269" y="2240280"/>
            <a:ext cx="1018903"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Evaluate</a:t>
            </a:r>
            <a:endParaRPr lang="en-US" sz="1000" dirty="0"/>
          </a:p>
        </p:txBody>
      </p:sp>
      <p:sp>
        <p:nvSpPr>
          <p:cNvPr id="31" name="Shape 28"/>
          <p:cNvSpPr/>
          <p:nvPr/>
        </p:nvSpPr>
        <p:spPr>
          <a:xfrm>
            <a:off x="5172891" y="2240280"/>
            <a:ext cx="1247503" cy="457200"/>
          </a:xfrm>
          <a:prstGeom prst="chevron">
            <a:avLst/>
          </a:prstGeom>
          <a:solidFill>
            <a:srgbClr val="E07A2F"/>
          </a:solidFill>
          <a:ln w="12700">
            <a:solidFill>
              <a:srgbClr val="FFFFFF"/>
            </a:solidFill>
            <a:prstDash val="solid"/>
          </a:ln>
        </p:spPr>
        <p:txBody>
          <a:bodyPr/>
          <a:p/>
        </p:txBody>
      </p:sp>
      <p:sp>
        <p:nvSpPr>
          <p:cNvPr id="32" name="Text 29"/>
          <p:cNvSpPr txBox="1"/>
          <p:nvPr/>
        </p:nvSpPr>
        <p:spPr>
          <a:xfrm>
            <a:off x="5310051" y="2240280"/>
            <a:ext cx="1018903"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Deploy + guards</a:t>
            </a:r>
            <a:endParaRPr lang="en-US" sz="1000" dirty="0"/>
          </a:p>
        </p:txBody>
      </p:sp>
      <p:sp>
        <p:nvSpPr>
          <p:cNvPr id="33" name="Shape 30"/>
          <p:cNvSpPr/>
          <p:nvPr/>
        </p:nvSpPr>
        <p:spPr>
          <a:xfrm>
            <a:off x="6374674" y="2240280"/>
            <a:ext cx="1247503" cy="457200"/>
          </a:xfrm>
          <a:prstGeom prst="chevron">
            <a:avLst/>
          </a:prstGeom>
          <a:solidFill>
            <a:srgbClr val="C2691F"/>
          </a:solidFill>
          <a:ln w="12700">
            <a:solidFill>
              <a:srgbClr val="FFFFFF"/>
            </a:solidFill>
            <a:prstDash val="solid"/>
          </a:ln>
        </p:spPr>
        <p:txBody>
          <a:bodyPr/>
          <a:p/>
        </p:txBody>
      </p:sp>
      <p:sp>
        <p:nvSpPr>
          <p:cNvPr id="34" name="Text 31"/>
          <p:cNvSpPr txBox="1"/>
          <p:nvPr/>
        </p:nvSpPr>
        <p:spPr>
          <a:xfrm>
            <a:off x="6511834" y="2240280"/>
            <a:ext cx="1018903"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Monitor</a:t>
            </a:r>
            <a:endParaRPr lang="en-US" sz="1000" dirty="0"/>
          </a:p>
        </p:txBody>
      </p:sp>
      <p:sp>
        <p:nvSpPr>
          <p:cNvPr id="35" name="Shape 32"/>
          <p:cNvSpPr/>
          <p:nvPr/>
        </p:nvSpPr>
        <p:spPr>
          <a:xfrm>
            <a:off x="7576457" y="2240280"/>
            <a:ext cx="1247503" cy="457200"/>
          </a:xfrm>
          <a:prstGeom prst="chevron">
            <a:avLst/>
          </a:prstGeom>
          <a:solidFill>
            <a:srgbClr val="E07A2F"/>
          </a:solidFill>
          <a:ln w="12700">
            <a:solidFill>
              <a:srgbClr val="FFFFFF"/>
            </a:solidFill>
            <a:prstDash val="solid"/>
          </a:ln>
        </p:spPr>
        <p:txBody>
          <a:bodyPr/>
          <a:p/>
        </p:txBody>
      </p:sp>
      <p:sp>
        <p:nvSpPr>
          <p:cNvPr id="36" name="Text 33"/>
          <p:cNvSpPr txBox="1"/>
          <p:nvPr/>
        </p:nvSpPr>
        <p:spPr>
          <a:xfrm>
            <a:off x="7713617" y="2240280"/>
            <a:ext cx="1018903"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Iterate</a:t>
            </a:r>
            <a:endParaRPr lang="en-US" sz="10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365760" y="2834640"/>
          <a:ext cx="8412480" cy="914400"/>
        </p:xfrm>
        <a:graphic>
          <a:graphicData uri="http://schemas.openxmlformats.org/drawingml/2006/table">
            <a:tbl>
              <a:tblPr/>
              <a:tblGrid>
                <a:gridCol w="1828800"/>
                <a:gridCol w="2834640"/>
                <a:gridCol w="3749040"/>
              </a:tblGrid>
              <a:tr h="301752">
                <a:tc>
                  <a:txBody>
                    <a:bodyPr/>
                    <a:lstStyle/>
                    <a:p>
                      <a:pPr algn="l" indent="0" marL="0">
                        <a:buNone/>
                      </a:pP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Classical model</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LLM application</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r>
              <a:tr h="301752">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What is versioned</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Model + data + code</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Prompt + document set + model version (+ code)</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01752">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What a test is</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Accuracy on a held-out set</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Rubric score on a golden set, by a judge and by humans</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01752">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What drifts</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Features (inputs), labels (concept)</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Questions, documents, answers; cost</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01752">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Who changes behaviour</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A data scientist retrains</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A content owner edits a document or a prompt; no code touched</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38" name="Text 34"/>
          <p:cNvSpPr txBox="1"/>
          <p:nvPr/>
        </p:nvSpPr>
        <p:spPr>
          <a:xfrm>
            <a:off x="365760" y="4480560"/>
            <a:ext cx="8412480" cy="274320"/>
          </a:xfrm>
          <a:prstGeom prst="rect">
            <a:avLst/>
          </a:prstGeom>
          <a:noFill/>
          <a:ln/>
        </p:spPr>
        <p:txBody>
          <a:bodyPr wrap="square" lIns="0" tIns="0" rIns="0" bIns="0" rtlCol="0" anchor="t"/>
          <a:lstStyle/>
          <a:p>
            <a:pPr algn="l" indent="0" marL="0">
              <a:buNone/>
            </a:pPr>
            <a:r>
              <a:rPr lang="en-US" sz="1050" b="1" i="1" dirty="0">
                <a:solidFill>
                  <a:srgbClr val="0E7C86"/>
                </a:solidFill>
                <a:latin typeface="Calibri" pitchFamily="34" charset="0"/>
                <a:ea typeface="Calibri" pitchFamily="34" charset="-122"/>
                <a:cs typeface="Calibri" pitchFamily="34" charset="-120"/>
              </a:rPr>
              <a:t>Forum 5, Q2: two concrete differences with their operational consequence. Any two rows of this table, in your own words, with an example.</a:t>
            </a:r>
            <a:endParaRPr lang="en-US" sz="1050" dirty="0"/>
          </a:p>
        </p:txBody>
      </p:sp>
      <p:pic>
        <p:nvPicPr>
          <p:cNvPr id="39" name="IE University logo" descr="IE University, School of Science &amp; Technology"/>
          <p:cNvPicPr>
            <a:picLocks noChangeAspect="1"/>
          </p:cNvPicPr>
          <p:nvPr/>
        </p:nvPicPr>
        <p:blipFill>
          <a:blip r:embed="rId3"/>
          <a:stretch>
            <a:fillRect/>
          </a:stretch>
        </p:blipFill>
        <p:spPr>
          <a:xfrm>
            <a:off x="8013607" y="92634"/>
            <a:ext cx="764633" cy="26278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10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7</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The prompt is code: version it, template it, promote it through environments</a:t>
            </a:r>
            <a:endParaRPr lang="en-US" sz="2400" dirty="0"/>
          </a:p>
        </p:txBody>
      </p:sp>
      <p:sp>
        <p:nvSpPr>
          <p:cNvPr id="7" name="Shape 4"/>
          <p:cNvSpPr/>
          <p:nvPr/>
        </p:nvSpPr>
        <p:spPr>
          <a:xfrm>
            <a:off x="365760" y="1280160"/>
            <a:ext cx="640080" cy="640080"/>
          </a:xfrm>
          <a:prstGeom prst="ellipse">
            <a:avLst/>
          </a:prstGeom>
          <a:solidFill>
            <a:srgbClr val="0E7C86"/>
          </a:solidFill>
          <a:ln w="12700">
            <a:solidFill>
              <a:srgbClr val="0E7C86"/>
            </a:solidFill>
            <a:prstDash val="solid"/>
          </a:ln>
        </p:spPr>
        <p:txBody>
          <a:bodyPr/>
          <a:p/>
        </p:txBody>
      </p:sp>
      <p:sp>
        <p:nvSpPr>
          <p:cNvPr id="8" name="Text 5"/>
          <p:cNvSpPr txBox="1"/>
          <p:nvPr/>
        </p:nvSpPr>
        <p:spPr>
          <a:xfrm>
            <a:off x="365760" y="128016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9" name="Text 6"/>
          <p:cNvSpPr txBox="1"/>
          <p:nvPr/>
        </p:nvSpPr>
        <p:spPr>
          <a:xfrm>
            <a:off x="1188720" y="1188720"/>
            <a:ext cx="329184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Templates with variables</a:t>
            </a:r>
            <a:endParaRPr lang="en-US" sz="1600" dirty="0"/>
          </a:p>
        </p:txBody>
      </p:sp>
      <p:sp>
        <p:nvSpPr>
          <p:cNvPr id="10" name="Text 7"/>
          <p:cNvSpPr txBox="1"/>
          <p:nvPr/>
        </p:nvSpPr>
        <p:spPr>
          <a:xfrm>
            <a:off x="1188720" y="1600200"/>
            <a:ext cx="329184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A text with placeholders ({{question}}, {{context}}); never a string typed by whoever is on duty.</a:t>
            </a:r>
            <a:endParaRPr lang="en-US" sz="1200" dirty="0"/>
          </a:p>
        </p:txBody>
      </p:sp>
      <p:sp>
        <p:nvSpPr>
          <p:cNvPr id="11" name="Shape 8"/>
          <p:cNvSpPr/>
          <p:nvPr/>
        </p:nvSpPr>
        <p:spPr>
          <a:xfrm>
            <a:off x="365760" y="2286000"/>
            <a:ext cx="640080" cy="640080"/>
          </a:xfrm>
          <a:prstGeom prst="ellipse">
            <a:avLst/>
          </a:prstGeom>
          <a:solidFill>
            <a:srgbClr val="0E7C86"/>
          </a:solidFill>
          <a:ln w="12700">
            <a:solidFill>
              <a:srgbClr val="0E7C86"/>
            </a:solidFill>
            <a:prstDash val="solid"/>
          </a:ln>
        </p:spPr>
        <p:txBody>
          <a:bodyPr/>
          <a:p/>
        </p:txBody>
      </p:sp>
      <p:sp>
        <p:nvSpPr>
          <p:cNvPr id="12" name="Text 9"/>
          <p:cNvSpPr txBox="1"/>
          <p:nvPr/>
        </p:nvSpPr>
        <p:spPr>
          <a:xfrm>
            <a:off x="365760" y="228600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3" name="Text 10"/>
          <p:cNvSpPr txBox="1"/>
          <p:nvPr/>
        </p:nvSpPr>
        <p:spPr>
          <a:xfrm>
            <a:off x="1188720" y="2194560"/>
            <a:ext cx="329184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Versions with a commit message</a:t>
            </a:r>
            <a:endParaRPr lang="en-US" sz="1600" dirty="0"/>
          </a:p>
        </p:txBody>
      </p:sp>
      <p:sp>
        <p:nvSpPr>
          <p:cNvPr id="14" name="Text 11"/>
          <p:cNvSpPr txBox="1"/>
          <p:nvPr/>
        </p:nvSpPr>
        <p:spPr>
          <a:xfrm>
            <a:off x="1188720" y="2606040"/>
            <a:ext cx="329184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What changed and why. The model registry of Session 3, for text.</a:t>
            </a:r>
            <a:endParaRPr lang="en-US" sz="1200" dirty="0"/>
          </a:p>
        </p:txBody>
      </p:sp>
      <p:sp>
        <p:nvSpPr>
          <p:cNvPr id="15" name="Shape 12"/>
          <p:cNvSpPr/>
          <p:nvPr/>
        </p:nvSpPr>
        <p:spPr>
          <a:xfrm>
            <a:off x="4663440" y="1280160"/>
            <a:ext cx="640080" cy="640080"/>
          </a:xfrm>
          <a:prstGeom prst="ellipse">
            <a:avLst/>
          </a:prstGeom>
          <a:solidFill>
            <a:srgbClr val="0E7C86"/>
          </a:solidFill>
          <a:ln w="12700">
            <a:solidFill>
              <a:srgbClr val="0E7C86"/>
            </a:solidFill>
            <a:prstDash val="solid"/>
          </a:ln>
        </p:spPr>
        <p:txBody>
          <a:bodyPr/>
          <a:p/>
        </p:txBody>
      </p:sp>
      <p:sp>
        <p:nvSpPr>
          <p:cNvPr id="16" name="Text 13"/>
          <p:cNvSpPr txBox="1"/>
          <p:nvPr/>
        </p:nvSpPr>
        <p:spPr>
          <a:xfrm>
            <a:off x="4663440" y="128016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17" name="Text 14"/>
          <p:cNvSpPr txBox="1"/>
          <p:nvPr/>
        </p:nvSpPr>
        <p:spPr>
          <a:xfrm>
            <a:off x="5486400" y="1188720"/>
            <a:ext cx="329184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Aliases as environments</a:t>
            </a:r>
            <a:endParaRPr lang="en-US" sz="1600" dirty="0"/>
          </a:p>
        </p:txBody>
      </p:sp>
      <p:sp>
        <p:nvSpPr>
          <p:cNvPr id="18" name="Text 15"/>
          <p:cNvSpPr txBox="1"/>
          <p:nvPr/>
        </p:nvSpPr>
        <p:spPr>
          <a:xfrm>
            <a:off x="5486400" y="1600200"/>
            <a:ext cx="329184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production · challenger · staging. The app asks for "production", not "v7". Promotion = move the alias; rollback = move it back.</a:t>
            </a:r>
            <a:endParaRPr lang="en-US" sz="1200" dirty="0"/>
          </a:p>
        </p:txBody>
      </p:sp>
      <p:sp>
        <p:nvSpPr>
          <p:cNvPr id="19" name="Shape 16"/>
          <p:cNvSpPr/>
          <p:nvPr/>
        </p:nvSpPr>
        <p:spPr>
          <a:xfrm>
            <a:off x="4663440" y="2286000"/>
            <a:ext cx="640080" cy="640080"/>
          </a:xfrm>
          <a:prstGeom prst="ellipse">
            <a:avLst/>
          </a:prstGeom>
          <a:solidFill>
            <a:srgbClr val="0E7C86"/>
          </a:solidFill>
          <a:ln w="12700">
            <a:solidFill>
              <a:srgbClr val="0E7C86"/>
            </a:solidFill>
            <a:prstDash val="solid"/>
          </a:ln>
        </p:spPr>
        <p:txBody>
          <a:bodyPr/>
          <a:p/>
        </p:txBody>
      </p:sp>
      <p:sp>
        <p:nvSpPr>
          <p:cNvPr id="20" name="Text 17"/>
          <p:cNvSpPr txBox="1"/>
          <p:nvPr/>
        </p:nvSpPr>
        <p:spPr>
          <a:xfrm>
            <a:off x="4663440" y="228600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21" name="Text 18"/>
          <p:cNvSpPr txBox="1"/>
          <p:nvPr/>
        </p:nvSpPr>
        <p:spPr>
          <a:xfrm>
            <a:off x="5486400" y="2194560"/>
            <a:ext cx="329184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A review before promotion</a:t>
            </a:r>
            <a:endParaRPr lang="en-US" sz="1600" dirty="0"/>
          </a:p>
        </p:txBody>
      </p:sp>
      <p:sp>
        <p:nvSpPr>
          <p:cNvPr id="22" name="Text 19"/>
          <p:cNvSpPr txBox="1"/>
          <p:nvPr/>
        </p:nvSpPr>
        <p:spPr>
          <a:xfrm>
            <a:off x="5486400" y="2606040"/>
            <a:ext cx="329184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Evaluation scores attached; signed by the content owner (HR), not by the engineer who typed it.</a:t>
            </a:r>
            <a:endParaRPr lang="en-US" sz="1200" dirty="0"/>
          </a:p>
        </p:txBody>
      </p:sp>
      <p:sp>
        <p:nvSpPr>
          <p:cNvPr id="23" name="Shape 20"/>
          <p:cNvSpPr/>
          <p:nvPr/>
        </p:nvSpPr>
        <p:spPr>
          <a:xfrm>
            <a:off x="4663440" y="1280160"/>
            <a:ext cx="640080" cy="640080"/>
          </a:xfrm>
          <a:prstGeom prst="ellipse">
            <a:avLst/>
          </a:prstGeom>
          <a:solidFill>
            <a:srgbClr val="0E7C86"/>
          </a:solidFill>
          <a:ln w="12700">
            <a:solidFill>
              <a:srgbClr val="0E7C86"/>
            </a:solidFill>
            <a:prstDash val="solid"/>
          </a:ln>
        </p:spPr>
        <p:txBody>
          <a:bodyPr/>
          <a:p/>
        </p:txBody>
      </p:sp>
      <p:sp>
        <p:nvSpPr>
          <p:cNvPr id="24" name="Text 21"/>
          <p:cNvSpPr txBox="1"/>
          <p:nvPr/>
        </p:nvSpPr>
        <p:spPr>
          <a:xfrm>
            <a:off x="4663440" y="128016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25" name="Shape 22"/>
          <p:cNvSpPr/>
          <p:nvPr/>
        </p:nvSpPr>
        <p:spPr>
          <a:xfrm>
            <a:off x="4663440" y="2286000"/>
            <a:ext cx="640080" cy="640080"/>
          </a:xfrm>
          <a:prstGeom prst="ellipse">
            <a:avLst/>
          </a:prstGeom>
          <a:solidFill>
            <a:srgbClr val="0E7C86"/>
          </a:solidFill>
          <a:ln w="12700">
            <a:solidFill>
              <a:srgbClr val="0E7C86"/>
            </a:solidFill>
            <a:prstDash val="solid"/>
          </a:ln>
        </p:spPr>
        <p:txBody>
          <a:bodyPr/>
          <a:p/>
        </p:txBody>
      </p:sp>
      <p:sp>
        <p:nvSpPr>
          <p:cNvPr id="26" name="Text 23"/>
          <p:cNvSpPr txBox="1"/>
          <p:nvPr/>
        </p:nvSpPr>
        <p:spPr>
          <a:xfrm>
            <a:off x="4663440" y="228600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27" name="Shape 24"/>
          <p:cNvSpPr/>
          <p:nvPr/>
        </p:nvSpPr>
        <p:spPr>
          <a:xfrm>
            <a:off x="365760" y="3291840"/>
            <a:ext cx="8412480" cy="914400"/>
          </a:xfrm>
          <a:prstGeom prst="roundRect">
            <a:avLst>
              <a:gd name="adj" fmla="val 8000"/>
            </a:avLst>
          </a:prstGeom>
          <a:solidFill>
            <a:srgbClr val="F3F5F8"/>
          </a:solidFill>
          <a:ln w="12700">
            <a:solidFill>
              <a:srgbClr val="F3F5F8"/>
            </a:solidFill>
            <a:prstDash val="solid"/>
          </a:ln>
        </p:spPr>
        <p:txBody>
          <a:bodyPr/>
          <a:p/>
        </p:txBody>
      </p:sp>
      <p:sp>
        <p:nvSpPr>
          <p:cNvPr id="28" name="Text 25"/>
          <p:cNvSpPr txBox="1"/>
          <p:nvPr/>
        </p:nvSpPr>
        <p:spPr>
          <a:xfrm>
            <a:off x="548640" y="3337560"/>
            <a:ext cx="8046720" cy="822960"/>
          </a:xfrm>
          <a:prstGeom prst="rect">
            <a:avLst/>
          </a:prstGeom>
          <a:noFill/>
          <a:ln/>
        </p:spPr>
        <p:txBody>
          <a:bodyPr wrap="square" lIns="0" tIns="0" rIns="0" bIns="0" rtlCol="0" anchor="ctr"/>
          <a:lstStyle/>
          <a:p>
            <a:pPr indent="0" marL="0">
              <a:buNone/>
            </a:pPr>
            <a:r>
              <a:rPr lang="en-US" sz="1050" b="1" dirty="0">
                <a:solidFill>
                  <a:srgbClr val="0E7C86"/>
                </a:solidFill>
                <a:latin typeface="Courier New" pitchFamily="34" charset="0"/>
                <a:ea typeface="Courier New" pitchFamily="34" charset="-122"/>
                <a:cs typeface="Courier New" pitchFamily="34" charset="-120"/>
              </a:rPr>
              <a:t>prompts:/hr-assistant@production</a:t>
            </a:r>
            <a:endParaRPr lang="en-US" sz="1050" dirty="0"/>
          </a:p>
          <a:p>
            <a:pPr indent="0" marL="0">
              <a:buNone/>
            </a:pPr>
            <a:r>
              <a:rPr lang="en-US" sz="1050" dirty="0">
                <a:solidFill>
                  <a:srgbClr val="222222"/>
                </a:solidFill>
                <a:latin typeface="Courier New" pitchFamily="34" charset="0"/>
                <a:ea typeface="Courier New" pitchFamily="34" charset="-122"/>
                <a:cs typeface="Courier New" pitchFamily="34" charset="-120"/>
              </a:rPr>
              <a:t>v1 · "baseline prompt, friendly tone, no grounding rules" · alias production</a:t>
            </a:r>
            <a:endParaRPr lang="en-US" sz="1050" dirty="0"/>
          </a:p>
          <a:p>
            <a:pPr indent="0" marL="0">
              <a:buNone/>
            </a:pPr>
            <a:r>
              <a:rPr lang="en-US" sz="1050" dirty="0">
                <a:solidFill>
                  <a:srgbClr val="222222"/>
                </a:solidFill>
                <a:latin typeface="Courier New" pitchFamily="34" charset="0"/>
                <a:ea typeface="Courier New" pitchFamily="34" charset="-122"/>
                <a:cs typeface="Courier New" pitchFamily="34" charset="-120"/>
              </a:rPr>
              <a:t>v2 · "answer only from context; refuse when absent; cite the section; 60 words; no names" · alias challenger</a:t>
            </a:r>
            <a:endParaRPr lang="en-US" sz="1050" dirty="0"/>
          </a:p>
        </p:txBody>
      </p:sp>
      <p:sp>
        <p:nvSpPr>
          <p:cNvPr id="29" name="Shape 26"/>
          <p:cNvSpPr/>
          <p:nvPr/>
        </p:nvSpPr>
        <p:spPr>
          <a:xfrm>
            <a:off x="365760" y="4297680"/>
            <a:ext cx="8412480" cy="411480"/>
          </a:xfrm>
          <a:prstGeom prst="roundRect">
            <a:avLst>
              <a:gd name="adj" fmla="val 17778"/>
            </a:avLst>
          </a:prstGeom>
          <a:solidFill>
            <a:srgbClr val="E3F1F2"/>
          </a:solidFill>
          <a:ln w="12700">
            <a:solidFill>
              <a:srgbClr val="E3F1F2"/>
            </a:solidFill>
            <a:prstDash val="solid"/>
          </a:ln>
        </p:spPr>
        <p:txBody>
          <a:bodyPr/>
          <a:p/>
        </p:txBody>
      </p:sp>
      <p:pic>
        <p:nvPicPr>
          <p:cNvPr id="30" name="Image 0" descr="preencoded.png">    </p:cNvPr>
          <p:cNvPicPr>
            <a:picLocks noChangeAspect="1"/>
          </p:cNvPicPr>
          <p:nvPr/>
        </p:nvPicPr>
        <p:blipFill>
          <a:blip r:embed="rId1"/>
          <a:stretch>
            <a:fillRect/>
          </a:stretch>
        </p:blipFill>
        <p:spPr>
          <a:xfrm>
            <a:off x="502920" y="4366260"/>
            <a:ext cx="274320" cy="274320"/>
          </a:xfrm>
          <a:prstGeom prst="rect">
            <a:avLst/>
          </a:prstGeom>
        </p:spPr>
      </p:pic>
      <p:sp>
        <p:nvSpPr>
          <p:cNvPr id="31" name="Text 27"/>
          <p:cNvSpPr txBox="1"/>
          <p:nvPr/>
        </p:nvSpPr>
        <p:spPr>
          <a:xfrm>
            <a:off x="896112" y="4297680"/>
            <a:ext cx="7772400" cy="411480"/>
          </a:xfrm>
          <a:prstGeom prst="rect">
            <a:avLst/>
          </a:prstGeom>
          <a:noFill/>
          <a:ln/>
        </p:spPr>
        <p:txBody>
          <a:bodyPr wrap="square" lIns="0" tIns="0" rIns="0" bIns="0" rtlCol="0" anchor="ctr"/>
          <a:lstStyle/>
          <a:p>
            <a:pPr indent="0" marL="0">
              <a:buNone/>
            </a:pPr>
            <a:r>
              <a:rPr lang="en-US" sz="1050" dirty="0">
                <a:solidFill>
                  <a:srgbClr val="1B2A4A"/>
                </a:solidFill>
                <a:latin typeface="Calibri" pitchFamily="34" charset="0"/>
                <a:ea typeface="Calibri" pitchFamily="34" charset="-122"/>
                <a:cs typeface="Calibri" pitchFamily="34" charset="-120"/>
              </a:rPr>
              <a:t>Who owns the prompt is the governance question. Tools: MLflow prompt registry (demo in ten minutes), LangSmith, the vendors' prompt studios; same four practices.</a:t>
            </a:r>
            <a:endParaRPr lang="en-US" sz="1050" dirty="0"/>
          </a:p>
        </p:txBody>
      </p:sp>
      <p:pic>
        <p:nvPicPr>
          <p:cNvPr id="32"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B8C4D6"/>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B8C4D6"/>
                </a:solidFill>
                <a:latin typeface="Calibri" pitchFamily="34" charset="0"/>
                <a:ea typeface="Calibri" pitchFamily="34" charset="-122"/>
                <a:cs typeface="Calibri" pitchFamily="34" charset="-120"/>
              </a:rPr>
              <a:t>MLOps · MBDS-PT2026F · Session 10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B8C4D6"/>
                </a:solidFill>
                <a:latin typeface="Calibri" pitchFamily="34" charset="0"/>
                <a:ea typeface="Calibri" pitchFamily="34" charset="-122"/>
                <a:cs typeface="Calibri" pitchFamily="34" charset="-120"/>
              </a:rPr>
              <a:t>8</a:t>
            </a:r>
            <a:endParaRPr lang="en-US" sz="800" dirty="0"/>
          </a:p>
        </p:txBody>
      </p:sp>
      <p:sp>
        <p:nvSpPr>
          <p:cNvPr id="5" name="Text 3"/>
          <p:cNvSpPr txBox="1"/>
          <p:nvPr/>
        </p:nvSpPr>
        <p:spPr>
          <a:xfrm>
            <a:off x="548640" y="1188720"/>
            <a:ext cx="8046720" cy="9144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RAG, evaluation, and a demo</a:t>
            </a:r>
            <a:endParaRPr lang="en-US" sz="3000" dirty="0"/>
          </a:p>
        </p:txBody>
      </p:sp>
      <p:sp>
        <p:nvSpPr>
          <p:cNvPr id="6" name="Text 4"/>
          <p:cNvSpPr txBox="1"/>
          <p:nvPr/>
        </p:nvSpPr>
        <p:spPr>
          <a:xfrm>
            <a:off x="548640" y="2103120"/>
            <a:ext cx="8046720" cy="54864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How the assistant is built, how you know it is good, and two prompts compared</a:t>
            </a:r>
            <a:endParaRPr lang="en-US" sz="1600" dirty="0"/>
          </a:p>
        </p:txBody>
      </p:sp>
      <p:sp>
        <p:nvSpPr>
          <p:cNvPr id="7" name="Shape 5"/>
          <p:cNvSpPr/>
          <p:nvPr/>
        </p:nvSpPr>
        <p:spPr>
          <a:xfrm>
            <a:off x="548640" y="3246120"/>
            <a:ext cx="845312" cy="566928"/>
          </a:xfrm>
          <a:prstGeom prst="roundRect">
            <a:avLst>
              <a:gd name="adj" fmla="val 9677"/>
            </a:avLst>
          </a:prstGeom>
          <a:solidFill>
            <a:srgbClr val="0E7C86"/>
          </a:solidFill>
          <a:ln w="12700">
            <a:solidFill>
              <a:srgbClr val="0E7C86"/>
            </a:solidFill>
            <a:prstDash val="solid"/>
          </a:ln>
        </p:spPr>
        <p:txBody>
          <a:bodyPr/>
          <a:p/>
        </p:txBody>
      </p:sp>
      <p:sp>
        <p:nvSpPr>
          <p:cNvPr id="8" name="Text 6"/>
          <p:cNvSpPr txBox="1"/>
          <p:nvPr/>
        </p:nvSpPr>
        <p:spPr>
          <a:xfrm>
            <a:off x="548640" y="3246120"/>
            <a:ext cx="845312" cy="566928"/>
          </a:xfrm>
          <a:prstGeom prst="rect">
            <a:avLst/>
          </a:prstGeom>
          <a:noFill/>
          <a:ln/>
        </p:spPr>
        <p:txBody>
          <a:bodyPr wrap="square" lIns="254" tIns="254" rIns="254" bIns="254"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Data ingestion &amp; versioning</a:t>
            </a:r>
            <a:endParaRPr lang="en-US" sz="800" dirty="0"/>
          </a:p>
        </p:txBody>
      </p:sp>
      <p:sp>
        <p:nvSpPr>
          <p:cNvPr id="9" name="Shape 7"/>
          <p:cNvSpPr/>
          <p:nvPr/>
        </p:nvSpPr>
        <p:spPr>
          <a:xfrm>
            <a:off x="1448816" y="3246120"/>
            <a:ext cx="845312" cy="566928"/>
          </a:xfrm>
          <a:prstGeom prst="roundRect">
            <a:avLst>
              <a:gd name="adj" fmla="val 9677"/>
            </a:avLst>
          </a:prstGeom>
          <a:solidFill>
            <a:srgbClr val="0E7C86"/>
          </a:solidFill>
          <a:ln w="12700">
            <a:solidFill>
              <a:srgbClr val="0E7C86"/>
            </a:solidFill>
            <a:prstDash val="solid"/>
          </a:ln>
        </p:spPr>
        <p:txBody>
          <a:bodyPr/>
          <a:p/>
        </p:txBody>
      </p:sp>
      <p:sp>
        <p:nvSpPr>
          <p:cNvPr id="10" name="Text 8"/>
          <p:cNvSpPr txBox="1"/>
          <p:nvPr/>
        </p:nvSpPr>
        <p:spPr>
          <a:xfrm>
            <a:off x="1448816" y="3246120"/>
            <a:ext cx="845312" cy="566928"/>
          </a:xfrm>
          <a:prstGeom prst="rect">
            <a:avLst/>
          </a:prstGeom>
          <a:noFill/>
          <a:ln/>
        </p:spPr>
        <p:txBody>
          <a:bodyPr wrap="square" lIns="254" tIns="254" rIns="254" bIns="254"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Data validation</a:t>
            </a:r>
            <a:endParaRPr lang="en-US" sz="800" dirty="0"/>
          </a:p>
        </p:txBody>
      </p:sp>
      <p:sp>
        <p:nvSpPr>
          <p:cNvPr id="11" name="Shape 9"/>
          <p:cNvSpPr/>
          <p:nvPr/>
        </p:nvSpPr>
        <p:spPr>
          <a:xfrm>
            <a:off x="2348992" y="3246120"/>
            <a:ext cx="845312" cy="566928"/>
          </a:xfrm>
          <a:prstGeom prst="roundRect">
            <a:avLst>
              <a:gd name="adj" fmla="val 9677"/>
            </a:avLst>
          </a:prstGeom>
          <a:solidFill>
            <a:srgbClr val="0E7C86"/>
          </a:solidFill>
          <a:ln w="12700">
            <a:solidFill>
              <a:srgbClr val="0E7C86"/>
            </a:solidFill>
            <a:prstDash val="solid"/>
          </a:ln>
        </p:spPr>
        <p:txBody>
          <a:bodyPr/>
          <a:p/>
        </p:txBody>
      </p:sp>
      <p:sp>
        <p:nvSpPr>
          <p:cNvPr id="12" name="Text 10"/>
          <p:cNvSpPr txBox="1"/>
          <p:nvPr/>
        </p:nvSpPr>
        <p:spPr>
          <a:xfrm>
            <a:off x="2348992" y="3246120"/>
            <a:ext cx="845312" cy="566928"/>
          </a:xfrm>
          <a:prstGeom prst="rect">
            <a:avLst/>
          </a:prstGeom>
          <a:noFill/>
          <a:ln/>
        </p:spPr>
        <p:txBody>
          <a:bodyPr wrap="square" lIns="254" tIns="254" rIns="254" bIns="254"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Data pre-processing</a:t>
            </a:r>
            <a:endParaRPr lang="en-US" sz="800" dirty="0"/>
          </a:p>
        </p:txBody>
      </p:sp>
      <p:sp>
        <p:nvSpPr>
          <p:cNvPr id="13" name="Shape 11"/>
          <p:cNvSpPr/>
          <p:nvPr/>
        </p:nvSpPr>
        <p:spPr>
          <a:xfrm>
            <a:off x="3249168"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4" name="Text 12"/>
          <p:cNvSpPr txBox="1"/>
          <p:nvPr/>
        </p:nvSpPr>
        <p:spPr>
          <a:xfrm>
            <a:off x="3249168"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training</a:t>
            </a:r>
            <a:endParaRPr lang="en-US" sz="800" dirty="0"/>
          </a:p>
        </p:txBody>
      </p:sp>
      <p:sp>
        <p:nvSpPr>
          <p:cNvPr id="15" name="Shape 13"/>
          <p:cNvSpPr/>
          <p:nvPr/>
        </p:nvSpPr>
        <p:spPr>
          <a:xfrm>
            <a:off x="4149344"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6" name="Text 14"/>
          <p:cNvSpPr txBox="1"/>
          <p:nvPr/>
        </p:nvSpPr>
        <p:spPr>
          <a:xfrm>
            <a:off x="4149344"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tuning</a:t>
            </a:r>
            <a:endParaRPr lang="en-US" sz="800" dirty="0"/>
          </a:p>
        </p:txBody>
      </p:sp>
      <p:sp>
        <p:nvSpPr>
          <p:cNvPr id="17" name="Shape 15"/>
          <p:cNvSpPr/>
          <p:nvPr/>
        </p:nvSpPr>
        <p:spPr>
          <a:xfrm>
            <a:off x="5049520"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8" name="Text 16"/>
          <p:cNvSpPr txBox="1"/>
          <p:nvPr/>
        </p:nvSpPr>
        <p:spPr>
          <a:xfrm>
            <a:off x="5049520"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analysis</a:t>
            </a:r>
            <a:endParaRPr lang="en-US" sz="800" dirty="0"/>
          </a:p>
        </p:txBody>
      </p:sp>
      <p:sp>
        <p:nvSpPr>
          <p:cNvPr id="19" name="Shape 17"/>
          <p:cNvSpPr/>
          <p:nvPr/>
        </p:nvSpPr>
        <p:spPr>
          <a:xfrm>
            <a:off x="5949696"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20" name="Text 18"/>
          <p:cNvSpPr txBox="1"/>
          <p:nvPr/>
        </p:nvSpPr>
        <p:spPr>
          <a:xfrm>
            <a:off x="5949696"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validation</a:t>
            </a:r>
            <a:endParaRPr lang="en-US" sz="800" dirty="0"/>
          </a:p>
        </p:txBody>
      </p:sp>
      <p:sp>
        <p:nvSpPr>
          <p:cNvPr id="21" name="Shape 19"/>
          <p:cNvSpPr/>
          <p:nvPr/>
        </p:nvSpPr>
        <p:spPr>
          <a:xfrm>
            <a:off x="6849872" y="3246120"/>
            <a:ext cx="845312" cy="566928"/>
          </a:xfrm>
          <a:prstGeom prst="roundRect">
            <a:avLst>
              <a:gd name="adj" fmla="val 9677"/>
            </a:avLst>
          </a:prstGeom>
          <a:solidFill>
            <a:srgbClr val="0E7C86"/>
          </a:solidFill>
          <a:ln w="12700">
            <a:solidFill>
              <a:srgbClr val="0E7C86"/>
            </a:solidFill>
            <a:prstDash val="solid"/>
          </a:ln>
        </p:spPr>
        <p:txBody>
          <a:bodyPr/>
          <a:p/>
        </p:txBody>
      </p:sp>
      <p:sp>
        <p:nvSpPr>
          <p:cNvPr id="22" name="Text 20"/>
          <p:cNvSpPr txBox="1"/>
          <p:nvPr/>
        </p:nvSpPr>
        <p:spPr>
          <a:xfrm>
            <a:off x="6849872" y="3246120"/>
            <a:ext cx="845312" cy="566928"/>
          </a:xfrm>
          <a:prstGeom prst="rect">
            <a:avLst/>
          </a:prstGeom>
          <a:noFill/>
          <a:ln/>
        </p:spPr>
        <p:txBody>
          <a:bodyPr wrap="square" lIns="254" tIns="254" rIns="254" bIns="254"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Model deployment</a:t>
            </a:r>
            <a:endParaRPr lang="en-US" sz="800" dirty="0"/>
          </a:p>
        </p:txBody>
      </p:sp>
      <p:sp>
        <p:nvSpPr>
          <p:cNvPr id="23" name="Shape 21"/>
          <p:cNvSpPr/>
          <p:nvPr/>
        </p:nvSpPr>
        <p:spPr>
          <a:xfrm>
            <a:off x="7750048"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24" name="Text 22"/>
          <p:cNvSpPr txBox="1"/>
          <p:nvPr/>
        </p:nvSpPr>
        <p:spPr>
          <a:xfrm>
            <a:off x="7750048"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feedback</a:t>
            </a:r>
            <a:endParaRPr lang="en-US" sz="800" dirty="0"/>
          </a:p>
        </p:txBody>
      </p:sp>
      <p:sp>
        <p:nvSpPr>
          <p:cNvPr id="25" name="Text 23"/>
          <p:cNvSpPr txBox="1"/>
          <p:nvPr/>
        </p:nvSpPr>
        <p:spPr>
          <a:xfrm>
            <a:off x="548640" y="4160520"/>
            <a:ext cx="8046720" cy="274320"/>
          </a:xfrm>
          <a:prstGeom prst="rect">
            <a:avLst/>
          </a:prstGeom>
          <a:noFill/>
          <a:ln/>
        </p:spPr>
        <p:txBody>
          <a:bodyPr wrap="square" lIns="0" tIns="0" rIns="0" bIns="0" rtlCol="0" anchor="ctr"/>
          <a:lstStyle/>
          <a:p>
            <a:pPr indent="0" marL="0">
              <a:buNone/>
            </a:pPr>
            <a:r>
              <a:rPr lang="en-US" sz="1000" i="1" dirty="0">
                <a:solidFill>
                  <a:srgbClr val="B8C4D6"/>
                </a:solidFill>
                <a:latin typeface="Calibri" pitchFamily="34" charset="0"/>
                <a:ea typeface="Calibri" pitchFamily="34" charset="-122"/>
                <a:cs typeface="Calibri" pitchFamily="34" charset="-120"/>
              </a:rPr>
              <a:t>The lifecycle we follow through the course · highlighted: where this section sits</a:t>
            </a:r>
            <a:endParaRPr lang="en-US" sz="1000" dirty="0"/>
          </a:p>
        </p:txBody>
      </p:sp>
      <p:pic>
        <p:nvPicPr>
          <p:cNvPr id="26" name="IE University logo" descr="IE University, School of Science &amp; Technology"/>
          <p:cNvPicPr>
            <a:picLocks noChangeAspect="1"/>
          </p:cNvPicPr>
          <p:nvPr/>
        </p:nvPicPr>
        <p:blipFill>
          <a:blip r:embed="rId3"/>
          <a:stretch>
            <a:fillRect/>
          </a:stretch>
        </p:blipFill>
        <p:spPr>
          <a:xfrm>
            <a:off x="8252653" y="109728"/>
            <a:ext cx="525587" cy="70439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10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9</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RAG anatomy: eight steps, and the two questions an owner should ask at each</a:t>
            </a:r>
            <a:endParaRPr lang="en-US" sz="2400" dirty="0"/>
          </a:p>
        </p:txBody>
      </p:sp>
      <p:sp>
        <p:nvSpPr>
          <p:cNvPr id="7" name="Shape 4"/>
          <p:cNvSpPr/>
          <p:nvPr/>
        </p:nvSpPr>
        <p:spPr>
          <a:xfrm>
            <a:off x="365760" y="1188720"/>
            <a:ext cx="1097280" cy="502920"/>
          </a:xfrm>
          <a:prstGeom prst="chevron">
            <a:avLst/>
          </a:prstGeom>
          <a:solidFill>
            <a:srgbClr val="1B2A4A"/>
          </a:solidFill>
          <a:ln w="12700">
            <a:solidFill>
              <a:srgbClr val="FFFFFF"/>
            </a:solidFill>
            <a:prstDash val="solid"/>
          </a:ln>
        </p:spPr>
        <p:txBody>
          <a:bodyPr/>
          <a:p/>
        </p:txBody>
      </p:sp>
      <p:sp>
        <p:nvSpPr>
          <p:cNvPr id="8" name="Text 5"/>
          <p:cNvSpPr txBox="1"/>
          <p:nvPr/>
        </p:nvSpPr>
        <p:spPr>
          <a:xfrm>
            <a:off x="502920" y="1188720"/>
            <a:ext cx="868680"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Documents</a:t>
            </a:r>
            <a:endParaRPr lang="en-US" sz="950" dirty="0"/>
          </a:p>
        </p:txBody>
      </p:sp>
      <p:sp>
        <p:nvSpPr>
          <p:cNvPr id="9" name="Shape 6"/>
          <p:cNvSpPr/>
          <p:nvPr/>
        </p:nvSpPr>
        <p:spPr>
          <a:xfrm>
            <a:off x="1417320" y="1188720"/>
            <a:ext cx="1097280" cy="502920"/>
          </a:xfrm>
          <a:prstGeom prst="chevron">
            <a:avLst/>
          </a:prstGeom>
          <a:solidFill>
            <a:srgbClr val="0E7C86"/>
          </a:solidFill>
          <a:ln w="12700">
            <a:solidFill>
              <a:srgbClr val="FFFFFF"/>
            </a:solidFill>
            <a:prstDash val="solid"/>
          </a:ln>
        </p:spPr>
        <p:txBody>
          <a:bodyPr/>
          <a:p/>
        </p:txBody>
      </p:sp>
      <p:sp>
        <p:nvSpPr>
          <p:cNvPr id="10" name="Text 7"/>
          <p:cNvSpPr txBox="1"/>
          <p:nvPr/>
        </p:nvSpPr>
        <p:spPr>
          <a:xfrm>
            <a:off x="1554480" y="1188720"/>
            <a:ext cx="868680"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Chunks</a:t>
            </a:r>
            <a:endParaRPr lang="en-US" sz="950" dirty="0"/>
          </a:p>
        </p:txBody>
      </p:sp>
      <p:sp>
        <p:nvSpPr>
          <p:cNvPr id="11" name="Shape 8"/>
          <p:cNvSpPr/>
          <p:nvPr/>
        </p:nvSpPr>
        <p:spPr>
          <a:xfrm>
            <a:off x="2468880" y="1188720"/>
            <a:ext cx="1097280" cy="502920"/>
          </a:xfrm>
          <a:prstGeom prst="chevron">
            <a:avLst/>
          </a:prstGeom>
          <a:solidFill>
            <a:srgbClr val="1B2A4A"/>
          </a:solidFill>
          <a:ln w="12700">
            <a:solidFill>
              <a:srgbClr val="FFFFFF"/>
            </a:solidFill>
            <a:prstDash val="solid"/>
          </a:ln>
        </p:spPr>
        <p:txBody>
          <a:bodyPr/>
          <a:p/>
        </p:txBody>
      </p:sp>
      <p:sp>
        <p:nvSpPr>
          <p:cNvPr id="12" name="Text 9"/>
          <p:cNvSpPr txBox="1"/>
          <p:nvPr/>
        </p:nvSpPr>
        <p:spPr>
          <a:xfrm>
            <a:off x="2606040" y="1188720"/>
            <a:ext cx="868680"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Embeddings</a:t>
            </a:r>
            <a:endParaRPr lang="en-US" sz="950" dirty="0"/>
          </a:p>
        </p:txBody>
      </p:sp>
      <p:sp>
        <p:nvSpPr>
          <p:cNvPr id="13" name="Shape 10"/>
          <p:cNvSpPr/>
          <p:nvPr/>
        </p:nvSpPr>
        <p:spPr>
          <a:xfrm>
            <a:off x="3520440" y="1188720"/>
            <a:ext cx="1097280" cy="502920"/>
          </a:xfrm>
          <a:prstGeom prst="chevron">
            <a:avLst/>
          </a:prstGeom>
          <a:solidFill>
            <a:srgbClr val="0E7C86"/>
          </a:solidFill>
          <a:ln w="12700">
            <a:solidFill>
              <a:srgbClr val="FFFFFF"/>
            </a:solidFill>
            <a:prstDash val="solid"/>
          </a:ln>
        </p:spPr>
        <p:txBody>
          <a:bodyPr/>
          <a:p/>
        </p:txBody>
      </p:sp>
      <p:sp>
        <p:nvSpPr>
          <p:cNvPr id="14" name="Text 11"/>
          <p:cNvSpPr txBox="1"/>
          <p:nvPr/>
        </p:nvSpPr>
        <p:spPr>
          <a:xfrm>
            <a:off x="3657600" y="1188720"/>
            <a:ext cx="868680"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Index</a:t>
            </a:r>
            <a:endParaRPr lang="en-US" sz="950" dirty="0"/>
          </a:p>
        </p:txBody>
      </p:sp>
      <p:sp>
        <p:nvSpPr>
          <p:cNvPr id="15" name="Shape 12"/>
          <p:cNvSpPr/>
          <p:nvPr/>
        </p:nvSpPr>
        <p:spPr>
          <a:xfrm>
            <a:off x="4572000" y="1188720"/>
            <a:ext cx="1097280" cy="502920"/>
          </a:xfrm>
          <a:prstGeom prst="chevron">
            <a:avLst/>
          </a:prstGeom>
          <a:solidFill>
            <a:srgbClr val="1B2A4A"/>
          </a:solidFill>
          <a:ln w="12700">
            <a:solidFill>
              <a:srgbClr val="FFFFFF"/>
            </a:solidFill>
            <a:prstDash val="solid"/>
          </a:ln>
        </p:spPr>
        <p:txBody>
          <a:bodyPr/>
          <a:p/>
        </p:txBody>
      </p:sp>
      <p:sp>
        <p:nvSpPr>
          <p:cNvPr id="16" name="Text 13"/>
          <p:cNvSpPr txBox="1"/>
          <p:nvPr/>
        </p:nvSpPr>
        <p:spPr>
          <a:xfrm>
            <a:off x="4709160" y="1188720"/>
            <a:ext cx="868680"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Retrieval</a:t>
            </a:r>
            <a:endParaRPr lang="en-US" sz="950" dirty="0"/>
          </a:p>
        </p:txBody>
      </p:sp>
      <p:sp>
        <p:nvSpPr>
          <p:cNvPr id="17" name="Shape 14"/>
          <p:cNvSpPr/>
          <p:nvPr/>
        </p:nvSpPr>
        <p:spPr>
          <a:xfrm>
            <a:off x="5623560" y="1188720"/>
            <a:ext cx="1097280" cy="502920"/>
          </a:xfrm>
          <a:prstGeom prst="chevron">
            <a:avLst/>
          </a:prstGeom>
          <a:solidFill>
            <a:srgbClr val="0E7C86"/>
          </a:solidFill>
          <a:ln w="12700">
            <a:solidFill>
              <a:srgbClr val="FFFFFF"/>
            </a:solidFill>
            <a:prstDash val="solid"/>
          </a:ln>
        </p:spPr>
        <p:txBody>
          <a:bodyPr/>
          <a:p/>
        </p:txBody>
      </p:sp>
      <p:sp>
        <p:nvSpPr>
          <p:cNvPr id="18" name="Text 15"/>
          <p:cNvSpPr txBox="1"/>
          <p:nvPr/>
        </p:nvSpPr>
        <p:spPr>
          <a:xfrm>
            <a:off x="5760720" y="1188720"/>
            <a:ext cx="868680"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Prompt</a:t>
            </a:r>
            <a:endParaRPr lang="en-US" sz="950" dirty="0"/>
          </a:p>
        </p:txBody>
      </p:sp>
      <p:sp>
        <p:nvSpPr>
          <p:cNvPr id="19" name="Shape 16"/>
          <p:cNvSpPr/>
          <p:nvPr/>
        </p:nvSpPr>
        <p:spPr>
          <a:xfrm>
            <a:off x="6675120" y="1188720"/>
            <a:ext cx="1097280" cy="502920"/>
          </a:xfrm>
          <a:prstGeom prst="chevron">
            <a:avLst/>
          </a:prstGeom>
          <a:solidFill>
            <a:srgbClr val="1B2A4A"/>
          </a:solidFill>
          <a:ln w="12700">
            <a:solidFill>
              <a:srgbClr val="FFFFFF"/>
            </a:solidFill>
            <a:prstDash val="solid"/>
          </a:ln>
        </p:spPr>
        <p:txBody>
          <a:bodyPr/>
          <a:p/>
        </p:txBody>
      </p:sp>
      <p:sp>
        <p:nvSpPr>
          <p:cNvPr id="20" name="Text 17"/>
          <p:cNvSpPr txBox="1"/>
          <p:nvPr/>
        </p:nvSpPr>
        <p:spPr>
          <a:xfrm>
            <a:off x="6812280" y="1188720"/>
            <a:ext cx="868680"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Generation</a:t>
            </a:r>
            <a:endParaRPr lang="en-US" sz="950" dirty="0"/>
          </a:p>
        </p:txBody>
      </p:sp>
      <p:sp>
        <p:nvSpPr>
          <p:cNvPr id="21" name="Shape 18"/>
          <p:cNvSpPr/>
          <p:nvPr/>
        </p:nvSpPr>
        <p:spPr>
          <a:xfrm>
            <a:off x="7726680" y="1188720"/>
            <a:ext cx="1097280" cy="502920"/>
          </a:xfrm>
          <a:prstGeom prst="chevron">
            <a:avLst/>
          </a:prstGeom>
          <a:solidFill>
            <a:srgbClr val="0E7C86"/>
          </a:solidFill>
          <a:ln w="12700">
            <a:solidFill>
              <a:srgbClr val="FFFFFF"/>
            </a:solidFill>
            <a:prstDash val="solid"/>
          </a:ln>
        </p:spPr>
        <p:txBody>
          <a:bodyPr/>
          <a:p/>
        </p:txBody>
      </p:sp>
      <p:sp>
        <p:nvSpPr>
          <p:cNvPr id="22" name="Text 19"/>
          <p:cNvSpPr txBox="1"/>
          <p:nvPr/>
        </p:nvSpPr>
        <p:spPr>
          <a:xfrm>
            <a:off x="7863840" y="1188720"/>
            <a:ext cx="868680" cy="5029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Answer</a:t>
            </a:r>
            <a:endParaRPr lang="en-US" sz="9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365760" y="1828800"/>
          <a:ext cx="8412480" cy="914400"/>
        </p:xfrm>
        <a:graphic>
          <a:graphicData uri="http://schemas.openxmlformats.org/drawingml/2006/table">
            <a:tbl>
              <a:tblPr/>
              <a:tblGrid>
                <a:gridCol w="1645920"/>
                <a:gridCol w="3657600"/>
                <a:gridCol w="3108960"/>
              </a:tblGrid>
              <a:tr h="347472">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Step</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Owner question 1: what could be wrong?</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Owner question 2: what is versioned, who owns it?</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r>
              <a:tr h="347472">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Documents</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Is a policy missing or stale? Does it contain personal data?</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Document-set version; the content owner (HR)</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47472">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Chunks, embeddings, index</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Too small: lost context. Too big: wasted tokens. Index rebuilt when the embedding model changed?</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Embedding model version; the ML engineer</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47472">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Retrieval</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How many passages? What happens when nothing relevant is found?</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Retrieval settings; the ML engineer</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47472">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Prompt assembly</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Which prompt version, and who approved it?</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Prompt version and alias; the product owner + HR</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47472">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Generation</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Which model version? At what cost per answer? Deterministic enough?</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Model version, gateway settings; IT/ML engineer</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47472">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Answer</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Are the sources shown? Can the user say it was wrong?</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Feedback log; the product owner</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24" name="Text 20"/>
          <p:cNvSpPr txBox="1"/>
          <p:nvPr/>
        </p:nvSpPr>
        <p:spPr>
          <a:xfrm>
            <a:off x="365760" y="4434840"/>
            <a:ext cx="8412480" cy="274320"/>
          </a:xfrm>
          <a:prstGeom prst="rect">
            <a:avLst/>
          </a:prstGeom>
          <a:noFill/>
          <a:ln/>
        </p:spPr>
        <p:txBody>
          <a:bodyPr wrap="square" lIns="0" tIns="0" rIns="0" bIns="0" rtlCol="0" anchor="t"/>
          <a:lstStyle/>
          <a:p>
            <a:pPr algn="l" indent="0" marL="0">
              <a:buNone/>
            </a:pPr>
            <a:r>
              <a:rPr lang="en-US" sz="1050" b="1" i="1" dirty="0">
                <a:solidFill>
                  <a:srgbClr val="0E7C86"/>
                </a:solidFill>
                <a:latin typeface="Calibri" pitchFamily="34" charset="0"/>
                <a:ea typeface="Calibri" pitchFamily="34" charset="-122"/>
                <a:cs typeface="Calibri" pitchFamily="34" charset="-120"/>
              </a:rPr>
              <a:t>At every step there is a version and a failure. That is why an LLM application needs the whole of Modules 2 and 3, not a chat window.</a:t>
            </a:r>
            <a:endParaRPr lang="en-US" sz="1050" dirty="0"/>
          </a:p>
        </p:txBody>
      </p:sp>
      <p:pic>
        <p:nvPicPr>
          <p:cNvPr id="25" name="IE University logo" descr="IE University, School of Science &amp; Technology"/>
          <p:cNvPicPr>
            <a:picLocks noChangeAspect="1"/>
          </p:cNvPicPr>
          <p:nvPr/>
        </p:nvPicPr>
        <p:blipFill>
          <a:blip r:embed="rId3"/>
          <a:stretch>
            <a:fillRect/>
          </a:stretch>
        </p:blipFill>
        <p:spPr>
          <a:xfrm>
            <a:off x="8013607" y="92634"/>
            <a:ext cx="764633" cy="26278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10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10</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Let's build it together: the operational architecture of the HR assistant</a:t>
            </a:r>
            <a:endParaRPr lang="en-US" sz="2400" dirty="0"/>
          </a:p>
        </p:txBody>
      </p:sp>
      <p:sp>
        <p:nvSpPr>
          <p:cNvPr id="7" name="Shape 4"/>
          <p:cNvSpPr/>
          <p:nvPr/>
        </p:nvSpPr>
        <p:spPr>
          <a:xfrm>
            <a:off x="365760" y="2148840"/>
            <a:ext cx="914400" cy="640080"/>
          </a:xfrm>
          <a:prstGeom prst="roundRect">
            <a:avLst>
              <a:gd name="adj" fmla="val 8571"/>
            </a:avLst>
          </a:prstGeom>
          <a:solidFill>
            <a:srgbClr val="F3F5F8"/>
          </a:solidFill>
          <a:ln w="9525">
            <a:solidFill>
              <a:srgbClr val="F3F5F8"/>
            </a:solidFill>
            <a:prstDash val="solid"/>
          </a:ln>
        </p:spPr>
        <p:txBody>
          <a:bodyPr/>
          <a:p/>
        </p:txBody>
      </p:sp>
      <p:sp>
        <p:nvSpPr>
          <p:cNvPr id="8" name="Text 5"/>
          <p:cNvSpPr txBox="1"/>
          <p:nvPr/>
        </p:nvSpPr>
        <p:spPr>
          <a:xfrm>
            <a:off x="365760" y="2148840"/>
            <a:ext cx="914400" cy="640080"/>
          </a:xfrm>
          <a:prstGeom prst="rect">
            <a:avLst/>
          </a:prstGeom>
          <a:noFill/>
          <a:ln/>
        </p:spPr>
        <p:txBody>
          <a:bodyPr wrap="square" lIns="635" tIns="635" rIns="635" bIns="635" rtlCol="0" anchor="ctr"/>
          <a:lstStyle/>
          <a:p>
            <a:pPr algn="ctr" indent="0" marL="0">
              <a:buNone/>
            </a:pPr>
            <a:r>
              <a:rPr lang="en-US" sz="900" b="1" dirty="0">
                <a:solidFill>
                  <a:srgbClr val="1B2A4A"/>
                </a:solidFill>
                <a:latin typeface="Calibri" pitchFamily="34" charset="0"/>
                <a:ea typeface="Calibri" pitchFamily="34" charset="-122"/>
                <a:cs typeface="Calibri" pitchFamily="34" charset="-120"/>
              </a:rPr>
              <a:t>Employee</a:t>
            </a:r>
            <a:endParaRPr lang="en-US" sz="900" dirty="0"/>
          </a:p>
          <a:p>
            <a:pPr algn="ctr" indent="0" marL="0">
              <a:buNone/>
            </a:pPr>
            <a:r>
              <a:rPr lang="en-US" sz="900" b="1" dirty="0">
                <a:solidFill>
                  <a:srgbClr val="1B2A4A"/>
                </a:solidFill>
                <a:latin typeface="Calibri" pitchFamily="34" charset="0"/>
                <a:ea typeface="Calibri" pitchFamily="34" charset="-122"/>
                <a:cs typeface="Calibri" pitchFamily="34" charset="-120"/>
              </a:rPr>
              <a:t>question</a:t>
            </a:r>
            <a:endParaRPr lang="en-US" sz="900" dirty="0"/>
          </a:p>
        </p:txBody>
      </p:sp>
      <p:sp>
        <p:nvSpPr>
          <p:cNvPr id="9" name="Shape 6"/>
          <p:cNvSpPr/>
          <p:nvPr/>
        </p:nvSpPr>
        <p:spPr>
          <a:xfrm>
            <a:off x="1298448" y="2468880"/>
            <a:ext cx="256032" cy="0"/>
          </a:xfrm>
          <a:prstGeom prst="line">
            <a:avLst/>
          </a:prstGeom>
          <a:noFill/>
          <a:ln w="19050">
            <a:solidFill>
              <a:srgbClr val="0E7C86"/>
            </a:solidFill>
            <a:prstDash val="solid"/>
            <a:tailEnd type="triangle"/>
          </a:ln>
        </p:spPr>
        <p:txBody>
          <a:bodyPr/>
          <a:p/>
        </p:txBody>
      </p:sp>
      <p:sp>
        <p:nvSpPr>
          <p:cNvPr id="10" name="Shape 7"/>
          <p:cNvSpPr/>
          <p:nvPr/>
        </p:nvSpPr>
        <p:spPr>
          <a:xfrm>
            <a:off x="1572768" y="2148840"/>
            <a:ext cx="1051560" cy="640080"/>
          </a:xfrm>
          <a:prstGeom prst="roundRect">
            <a:avLst>
              <a:gd name="adj" fmla="val 8571"/>
            </a:avLst>
          </a:prstGeom>
          <a:solidFill>
            <a:srgbClr val="FBE9DC"/>
          </a:solidFill>
          <a:ln w="9525">
            <a:solidFill>
              <a:srgbClr val="FBE9DC"/>
            </a:solidFill>
            <a:prstDash val="solid"/>
          </a:ln>
        </p:spPr>
        <p:txBody>
          <a:bodyPr/>
          <a:p/>
        </p:txBody>
      </p:sp>
      <p:sp>
        <p:nvSpPr>
          <p:cNvPr id="11" name="Text 8"/>
          <p:cNvSpPr txBox="1"/>
          <p:nvPr/>
        </p:nvSpPr>
        <p:spPr>
          <a:xfrm>
            <a:off x="1572768" y="2148840"/>
            <a:ext cx="1051560" cy="640080"/>
          </a:xfrm>
          <a:prstGeom prst="rect">
            <a:avLst/>
          </a:prstGeom>
          <a:noFill/>
          <a:ln/>
        </p:spPr>
        <p:txBody>
          <a:bodyPr wrap="square" lIns="635" tIns="635" rIns="635" bIns="635" rtlCol="0" anchor="ctr"/>
          <a:lstStyle/>
          <a:p>
            <a:pPr algn="ctr" indent="0" marL="0">
              <a:buNone/>
            </a:pPr>
            <a:r>
              <a:rPr lang="en-US" sz="900" b="1" dirty="0">
                <a:solidFill>
                  <a:srgbClr val="1B2A4A"/>
                </a:solidFill>
                <a:latin typeface="Calibri" pitchFamily="34" charset="0"/>
                <a:ea typeface="Calibri" pitchFamily="34" charset="-122"/>
                <a:cs typeface="Calibri" pitchFamily="34" charset="-120"/>
              </a:rPr>
              <a:t>Input guardrails</a:t>
            </a:r>
            <a:endParaRPr lang="en-US" sz="900" dirty="0"/>
          </a:p>
          <a:p>
            <a:pPr algn="ctr" indent="0" marL="0">
              <a:buNone/>
            </a:pPr>
            <a:r>
              <a:rPr lang="en-US" sz="900" b="1" dirty="0">
                <a:solidFill>
                  <a:srgbClr val="1B2A4A"/>
                </a:solidFill>
                <a:latin typeface="Calibri" pitchFamily="34" charset="0"/>
                <a:ea typeface="Calibri" pitchFamily="34" charset="-122"/>
                <a:cs typeface="Calibri" pitchFamily="34" charset="-120"/>
              </a:rPr>
              <a:t>PII · injection · off-topic</a:t>
            </a:r>
            <a:endParaRPr lang="en-US" sz="900" dirty="0"/>
          </a:p>
        </p:txBody>
      </p:sp>
      <p:sp>
        <p:nvSpPr>
          <p:cNvPr id="12" name="Shape 9"/>
          <p:cNvSpPr/>
          <p:nvPr/>
        </p:nvSpPr>
        <p:spPr>
          <a:xfrm>
            <a:off x="2642616" y="2468880"/>
            <a:ext cx="256032" cy="0"/>
          </a:xfrm>
          <a:prstGeom prst="line">
            <a:avLst/>
          </a:prstGeom>
          <a:noFill/>
          <a:ln w="19050">
            <a:solidFill>
              <a:srgbClr val="0E7C86"/>
            </a:solidFill>
            <a:prstDash val="solid"/>
            <a:tailEnd type="triangle"/>
          </a:ln>
        </p:spPr>
        <p:txBody>
          <a:bodyPr/>
          <a:p/>
        </p:txBody>
      </p:sp>
      <p:sp>
        <p:nvSpPr>
          <p:cNvPr id="13" name="Shape 10"/>
          <p:cNvSpPr/>
          <p:nvPr/>
        </p:nvSpPr>
        <p:spPr>
          <a:xfrm>
            <a:off x="2916936" y="2148840"/>
            <a:ext cx="1005840" cy="640080"/>
          </a:xfrm>
          <a:prstGeom prst="roundRect">
            <a:avLst>
              <a:gd name="adj" fmla="val 8571"/>
            </a:avLst>
          </a:prstGeom>
          <a:solidFill>
            <a:srgbClr val="E3F1F2"/>
          </a:solidFill>
          <a:ln w="9525">
            <a:solidFill>
              <a:srgbClr val="E3F1F2"/>
            </a:solidFill>
            <a:prstDash val="solid"/>
          </a:ln>
        </p:spPr>
        <p:txBody>
          <a:bodyPr/>
          <a:p/>
        </p:txBody>
      </p:sp>
      <p:sp>
        <p:nvSpPr>
          <p:cNvPr id="14" name="Text 11"/>
          <p:cNvSpPr txBox="1"/>
          <p:nvPr/>
        </p:nvSpPr>
        <p:spPr>
          <a:xfrm>
            <a:off x="2916936" y="2148840"/>
            <a:ext cx="1005840" cy="640080"/>
          </a:xfrm>
          <a:prstGeom prst="rect">
            <a:avLst/>
          </a:prstGeom>
          <a:noFill/>
          <a:ln/>
        </p:spPr>
        <p:txBody>
          <a:bodyPr wrap="square" lIns="635" tIns="635" rIns="635" bIns="635" rtlCol="0" anchor="ctr"/>
          <a:lstStyle/>
          <a:p>
            <a:pPr algn="ctr" indent="0" marL="0">
              <a:buNone/>
            </a:pPr>
            <a:r>
              <a:rPr lang="en-US" sz="900" b="1" dirty="0">
                <a:solidFill>
                  <a:srgbClr val="1B2A4A"/>
                </a:solidFill>
                <a:latin typeface="Calibri" pitchFamily="34" charset="0"/>
                <a:ea typeface="Calibri" pitchFamily="34" charset="-122"/>
                <a:cs typeface="Calibri" pitchFamily="34" charset="-120"/>
              </a:rPr>
              <a:t>Retrieval</a:t>
            </a:r>
            <a:endParaRPr lang="en-US" sz="900" dirty="0"/>
          </a:p>
          <a:p>
            <a:pPr algn="ctr" indent="0" marL="0">
              <a:buNone/>
            </a:pPr>
            <a:r>
              <a:rPr lang="en-US" sz="900" b="1" dirty="0">
                <a:solidFill>
                  <a:srgbClr val="1B2A4A"/>
                </a:solidFill>
                <a:latin typeface="Calibri" pitchFamily="34" charset="0"/>
                <a:ea typeface="Calibri" pitchFamily="34" charset="-122"/>
                <a:cs typeface="Calibri" pitchFamily="34" charset="-120"/>
              </a:rPr>
              <a:t>top-k passages</a:t>
            </a:r>
            <a:endParaRPr lang="en-US" sz="900" dirty="0"/>
          </a:p>
        </p:txBody>
      </p:sp>
      <p:sp>
        <p:nvSpPr>
          <p:cNvPr id="15" name="Shape 12"/>
          <p:cNvSpPr/>
          <p:nvPr/>
        </p:nvSpPr>
        <p:spPr>
          <a:xfrm>
            <a:off x="3941064" y="2468880"/>
            <a:ext cx="256032" cy="0"/>
          </a:xfrm>
          <a:prstGeom prst="line">
            <a:avLst/>
          </a:prstGeom>
          <a:noFill/>
          <a:ln w="19050">
            <a:solidFill>
              <a:srgbClr val="0E7C86"/>
            </a:solidFill>
            <a:prstDash val="solid"/>
            <a:tailEnd type="triangle"/>
          </a:ln>
        </p:spPr>
        <p:txBody>
          <a:bodyPr/>
          <a:p/>
        </p:txBody>
      </p:sp>
      <p:sp>
        <p:nvSpPr>
          <p:cNvPr id="16" name="Shape 13"/>
          <p:cNvSpPr/>
          <p:nvPr/>
        </p:nvSpPr>
        <p:spPr>
          <a:xfrm>
            <a:off x="4215384" y="2148840"/>
            <a:ext cx="1097280" cy="640080"/>
          </a:xfrm>
          <a:prstGeom prst="roundRect">
            <a:avLst>
              <a:gd name="adj" fmla="val 8571"/>
            </a:avLst>
          </a:prstGeom>
          <a:solidFill>
            <a:srgbClr val="E3F1F2"/>
          </a:solidFill>
          <a:ln w="9525">
            <a:solidFill>
              <a:srgbClr val="E3F1F2"/>
            </a:solidFill>
            <a:prstDash val="solid"/>
          </a:ln>
        </p:spPr>
        <p:txBody>
          <a:bodyPr/>
          <a:p/>
        </p:txBody>
      </p:sp>
      <p:sp>
        <p:nvSpPr>
          <p:cNvPr id="17" name="Text 14"/>
          <p:cNvSpPr txBox="1"/>
          <p:nvPr/>
        </p:nvSpPr>
        <p:spPr>
          <a:xfrm>
            <a:off x="4215384" y="2148840"/>
            <a:ext cx="1097280" cy="640080"/>
          </a:xfrm>
          <a:prstGeom prst="rect">
            <a:avLst/>
          </a:prstGeom>
          <a:noFill/>
          <a:ln/>
        </p:spPr>
        <p:txBody>
          <a:bodyPr wrap="square" lIns="635" tIns="635" rIns="635" bIns="635" rtlCol="0" anchor="ctr"/>
          <a:lstStyle/>
          <a:p>
            <a:pPr algn="ctr" indent="0" marL="0">
              <a:buNone/>
            </a:pPr>
            <a:r>
              <a:rPr lang="en-US" sz="900" b="1" dirty="0">
                <a:solidFill>
                  <a:srgbClr val="1B2A4A"/>
                </a:solidFill>
                <a:latin typeface="Calibri" pitchFamily="34" charset="0"/>
                <a:ea typeface="Calibri" pitchFamily="34" charset="-122"/>
                <a:cs typeface="Calibri" pitchFamily="34" charset="-120"/>
              </a:rPr>
              <a:t>Prompt assembly</a:t>
            </a:r>
            <a:endParaRPr lang="en-US" sz="900" dirty="0"/>
          </a:p>
          <a:p>
            <a:pPr algn="ctr" indent="0" marL="0">
              <a:buNone/>
            </a:pPr>
            <a:r>
              <a:rPr lang="en-US" sz="900" b="1" dirty="0">
                <a:solidFill>
                  <a:srgbClr val="1B2A4A"/>
                </a:solidFill>
                <a:latin typeface="Calibri" pitchFamily="34" charset="0"/>
                <a:ea typeface="Calibri" pitchFamily="34" charset="-122"/>
                <a:cs typeface="Calibri" pitchFamily="34" charset="-120"/>
              </a:rPr>
              <a:t>registry @production</a:t>
            </a:r>
            <a:endParaRPr lang="en-US" sz="900" dirty="0"/>
          </a:p>
        </p:txBody>
      </p:sp>
      <p:sp>
        <p:nvSpPr>
          <p:cNvPr id="18" name="Shape 15"/>
          <p:cNvSpPr/>
          <p:nvPr/>
        </p:nvSpPr>
        <p:spPr>
          <a:xfrm>
            <a:off x="5330952" y="2468880"/>
            <a:ext cx="256032" cy="0"/>
          </a:xfrm>
          <a:prstGeom prst="line">
            <a:avLst/>
          </a:prstGeom>
          <a:noFill/>
          <a:ln w="19050">
            <a:solidFill>
              <a:srgbClr val="0E7C86"/>
            </a:solidFill>
            <a:prstDash val="solid"/>
            <a:tailEnd type="triangle"/>
          </a:ln>
        </p:spPr>
        <p:txBody>
          <a:bodyPr/>
          <a:p/>
        </p:txBody>
      </p:sp>
      <p:sp>
        <p:nvSpPr>
          <p:cNvPr id="19" name="Shape 16"/>
          <p:cNvSpPr/>
          <p:nvPr/>
        </p:nvSpPr>
        <p:spPr>
          <a:xfrm>
            <a:off x="5605272" y="2148840"/>
            <a:ext cx="1097280" cy="640080"/>
          </a:xfrm>
          <a:prstGeom prst="roundRect">
            <a:avLst>
              <a:gd name="adj" fmla="val 8571"/>
            </a:avLst>
          </a:prstGeom>
          <a:solidFill>
            <a:srgbClr val="1B2A4A"/>
          </a:solidFill>
          <a:ln w="9525">
            <a:solidFill>
              <a:srgbClr val="1B2A4A"/>
            </a:solidFill>
            <a:prstDash val="solid"/>
          </a:ln>
        </p:spPr>
        <p:txBody>
          <a:bodyPr/>
          <a:p/>
        </p:txBody>
      </p:sp>
      <p:sp>
        <p:nvSpPr>
          <p:cNvPr id="20" name="Text 17"/>
          <p:cNvSpPr txBox="1"/>
          <p:nvPr/>
        </p:nvSpPr>
        <p:spPr>
          <a:xfrm>
            <a:off x="5605272" y="2148840"/>
            <a:ext cx="1097280" cy="640080"/>
          </a:xfrm>
          <a:prstGeom prst="rect">
            <a:avLst/>
          </a:prstGeom>
          <a:noFill/>
          <a:ln/>
        </p:spPr>
        <p:txBody>
          <a:bodyPr wrap="square" lIns="635" tIns="635" rIns="635" bIns="635"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LLM via gateway</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model version · cache · meter</a:t>
            </a:r>
            <a:endParaRPr lang="en-US" sz="900" dirty="0"/>
          </a:p>
        </p:txBody>
      </p:sp>
      <p:sp>
        <p:nvSpPr>
          <p:cNvPr id="21" name="Shape 18"/>
          <p:cNvSpPr/>
          <p:nvPr/>
        </p:nvSpPr>
        <p:spPr>
          <a:xfrm>
            <a:off x="6720840" y="2468880"/>
            <a:ext cx="256032" cy="0"/>
          </a:xfrm>
          <a:prstGeom prst="line">
            <a:avLst/>
          </a:prstGeom>
          <a:noFill/>
          <a:ln w="19050">
            <a:solidFill>
              <a:srgbClr val="0E7C86"/>
            </a:solidFill>
            <a:prstDash val="solid"/>
            <a:tailEnd type="triangle"/>
          </a:ln>
        </p:spPr>
        <p:txBody>
          <a:bodyPr/>
          <a:p/>
        </p:txBody>
      </p:sp>
      <p:sp>
        <p:nvSpPr>
          <p:cNvPr id="22" name="Shape 19"/>
          <p:cNvSpPr/>
          <p:nvPr/>
        </p:nvSpPr>
        <p:spPr>
          <a:xfrm>
            <a:off x="6995160" y="2148840"/>
            <a:ext cx="1051560" cy="640080"/>
          </a:xfrm>
          <a:prstGeom prst="roundRect">
            <a:avLst>
              <a:gd name="adj" fmla="val 8571"/>
            </a:avLst>
          </a:prstGeom>
          <a:solidFill>
            <a:srgbClr val="FBE9DC"/>
          </a:solidFill>
          <a:ln w="9525">
            <a:solidFill>
              <a:srgbClr val="FBE9DC"/>
            </a:solidFill>
            <a:prstDash val="solid"/>
          </a:ln>
        </p:spPr>
        <p:txBody>
          <a:bodyPr/>
          <a:p/>
        </p:txBody>
      </p:sp>
      <p:sp>
        <p:nvSpPr>
          <p:cNvPr id="23" name="Text 20"/>
          <p:cNvSpPr txBox="1"/>
          <p:nvPr/>
        </p:nvSpPr>
        <p:spPr>
          <a:xfrm>
            <a:off x="6995160" y="2148840"/>
            <a:ext cx="1051560" cy="640080"/>
          </a:xfrm>
          <a:prstGeom prst="rect">
            <a:avLst/>
          </a:prstGeom>
          <a:noFill/>
          <a:ln/>
        </p:spPr>
        <p:txBody>
          <a:bodyPr wrap="square" lIns="635" tIns="635" rIns="635" bIns="635" rtlCol="0" anchor="ctr"/>
          <a:lstStyle/>
          <a:p>
            <a:pPr algn="ctr" indent="0" marL="0">
              <a:buNone/>
            </a:pPr>
            <a:r>
              <a:rPr lang="en-US" sz="900" b="1" dirty="0">
                <a:solidFill>
                  <a:srgbClr val="1B2A4A"/>
                </a:solidFill>
                <a:latin typeface="Calibri" pitchFamily="34" charset="0"/>
                <a:ea typeface="Calibri" pitchFamily="34" charset="-122"/>
                <a:cs typeface="Calibri" pitchFamily="34" charset="-120"/>
              </a:rPr>
              <a:t>Output guardrails</a:t>
            </a:r>
            <a:endParaRPr lang="en-US" sz="900" dirty="0"/>
          </a:p>
          <a:p>
            <a:pPr algn="ctr" indent="0" marL="0">
              <a:buNone/>
            </a:pPr>
            <a:r>
              <a:rPr lang="en-US" sz="900" b="1" dirty="0">
                <a:solidFill>
                  <a:srgbClr val="1B2A4A"/>
                </a:solidFill>
                <a:latin typeface="Calibri" pitchFamily="34" charset="0"/>
                <a:ea typeface="Calibri" pitchFamily="34" charset="-122"/>
                <a:cs typeface="Calibri" pitchFamily="34" charset="-120"/>
              </a:rPr>
              <a:t>grounded? PII? format</a:t>
            </a:r>
            <a:endParaRPr lang="en-US" sz="900" dirty="0"/>
          </a:p>
        </p:txBody>
      </p:sp>
      <p:sp>
        <p:nvSpPr>
          <p:cNvPr id="24" name="Shape 21"/>
          <p:cNvSpPr/>
          <p:nvPr/>
        </p:nvSpPr>
        <p:spPr>
          <a:xfrm>
            <a:off x="8065008" y="2468880"/>
            <a:ext cx="256032" cy="0"/>
          </a:xfrm>
          <a:prstGeom prst="line">
            <a:avLst/>
          </a:prstGeom>
          <a:noFill/>
          <a:ln w="19050">
            <a:solidFill>
              <a:srgbClr val="0E7C86"/>
            </a:solidFill>
            <a:prstDash val="solid"/>
            <a:tailEnd type="triangle"/>
          </a:ln>
        </p:spPr>
        <p:txBody>
          <a:bodyPr/>
          <a:p/>
        </p:txBody>
      </p:sp>
      <p:sp>
        <p:nvSpPr>
          <p:cNvPr id="25" name="Shape 22"/>
          <p:cNvSpPr/>
          <p:nvPr/>
        </p:nvSpPr>
        <p:spPr>
          <a:xfrm>
            <a:off x="8339328" y="2148840"/>
            <a:ext cx="457200" cy="640080"/>
          </a:xfrm>
          <a:prstGeom prst="roundRect">
            <a:avLst>
              <a:gd name="adj" fmla="val 12000"/>
            </a:avLst>
          </a:prstGeom>
          <a:solidFill>
            <a:srgbClr val="F3F5F8"/>
          </a:solidFill>
          <a:ln w="9525">
            <a:solidFill>
              <a:srgbClr val="F3F5F8"/>
            </a:solidFill>
            <a:prstDash val="solid"/>
          </a:ln>
        </p:spPr>
        <p:txBody>
          <a:bodyPr/>
          <a:p/>
        </p:txBody>
      </p:sp>
      <p:sp>
        <p:nvSpPr>
          <p:cNvPr id="26" name="Text 23"/>
          <p:cNvSpPr txBox="1"/>
          <p:nvPr/>
        </p:nvSpPr>
        <p:spPr>
          <a:xfrm>
            <a:off x="8339328" y="2148840"/>
            <a:ext cx="457200" cy="640080"/>
          </a:xfrm>
          <a:prstGeom prst="rect">
            <a:avLst/>
          </a:prstGeom>
          <a:noFill/>
          <a:ln/>
        </p:spPr>
        <p:txBody>
          <a:bodyPr wrap="square" lIns="635" tIns="635" rIns="635" bIns="635" rtlCol="0" anchor="ctr"/>
          <a:lstStyle/>
          <a:p>
            <a:pPr algn="ctr" indent="0" marL="0">
              <a:buNone/>
            </a:pPr>
            <a:r>
              <a:rPr lang="en-US" sz="900" b="1" dirty="0">
                <a:solidFill>
                  <a:srgbClr val="1B2A4A"/>
                </a:solidFill>
                <a:latin typeface="Calibri" pitchFamily="34" charset="0"/>
                <a:ea typeface="Calibri" pitchFamily="34" charset="-122"/>
                <a:cs typeface="Calibri" pitchFamily="34" charset="-120"/>
              </a:rPr>
              <a:t>Answer</a:t>
            </a:r>
            <a:endParaRPr lang="en-US" sz="900" dirty="0"/>
          </a:p>
          <a:p>
            <a:pPr algn="ctr" indent="0" marL="0">
              <a:buNone/>
            </a:pPr>
            <a:r>
              <a:rPr lang="en-US" sz="900" b="1" dirty="0">
                <a:solidFill>
                  <a:srgbClr val="1B2A4A"/>
                </a:solidFill>
                <a:latin typeface="Calibri" pitchFamily="34" charset="0"/>
                <a:ea typeface="Calibri" pitchFamily="34" charset="-122"/>
                <a:cs typeface="Calibri" pitchFamily="34" charset="-120"/>
              </a:rPr>
              <a:t>+ sources</a:t>
            </a:r>
            <a:endParaRPr lang="en-US" sz="900" dirty="0"/>
          </a:p>
        </p:txBody>
      </p:sp>
      <p:sp>
        <p:nvSpPr>
          <p:cNvPr id="27" name="Shape 24"/>
          <p:cNvSpPr/>
          <p:nvPr/>
        </p:nvSpPr>
        <p:spPr>
          <a:xfrm>
            <a:off x="1828800" y="1188720"/>
            <a:ext cx="1371600" cy="548640"/>
          </a:xfrm>
          <a:prstGeom prst="roundRect">
            <a:avLst>
              <a:gd name="adj" fmla="val 10000"/>
            </a:avLst>
          </a:prstGeom>
          <a:solidFill>
            <a:srgbClr val="F3F5F8"/>
          </a:solidFill>
          <a:ln w="9525">
            <a:solidFill>
              <a:srgbClr val="F3F5F8"/>
            </a:solidFill>
            <a:prstDash val="solid"/>
          </a:ln>
        </p:spPr>
        <p:txBody>
          <a:bodyPr/>
          <a:p/>
        </p:txBody>
      </p:sp>
      <p:sp>
        <p:nvSpPr>
          <p:cNvPr id="28" name="Text 25"/>
          <p:cNvSpPr txBox="1"/>
          <p:nvPr/>
        </p:nvSpPr>
        <p:spPr>
          <a:xfrm>
            <a:off x="1828800" y="1188720"/>
            <a:ext cx="1371600" cy="548640"/>
          </a:xfrm>
          <a:prstGeom prst="rect">
            <a:avLst/>
          </a:prstGeom>
          <a:noFill/>
          <a:ln/>
        </p:spPr>
        <p:txBody>
          <a:bodyPr wrap="square" lIns="635" tIns="635" rIns="635" bIns="635" rtlCol="0" anchor="ctr"/>
          <a:lstStyle/>
          <a:p>
            <a:pPr algn="ctr" indent="0" marL="0">
              <a:buNone/>
            </a:pPr>
            <a:r>
              <a:rPr lang="en-US" sz="900" b="1" dirty="0">
                <a:solidFill>
                  <a:srgbClr val="1B2A4A"/>
                </a:solidFill>
                <a:latin typeface="Calibri" pitchFamily="34" charset="0"/>
                <a:ea typeface="Calibri" pitchFamily="34" charset="-122"/>
                <a:cs typeface="Calibri" pitchFamily="34" charset="-120"/>
              </a:rPr>
              <a:t>HR policy documents</a:t>
            </a:r>
            <a:endParaRPr lang="en-US" sz="900" dirty="0"/>
          </a:p>
          <a:p>
            <a:pPr algn="ctr" indent="0" marL="0">
              <a:buNone/>
            </a:pPr>
            <a:r>
              <a:rPr lang="en-US" sz="900" b="1" dirty="0">
                <a:solidFill>
                  <a:srgbClr val="1B2A4A"/>
                </a:solidFill>
                <a:latin typeface="Calibri" pitchFamily="34" charset="0"/>
                <a:ea typeface="Calibri" pitchFamily="34" charset="-122"/>
                <a:cs typeface="Calibri" pitchFamily="34" charset="-120"/>
              </a:rPr>
              <a:t>versioned set v2026.1</a:t>
            </a:r>
            <a:endParaRPr lang="en-US" sz="900" dirty="0"/>
          </a:p>
        </p:txBody>
      </p:sp>
      <p:sp>
        <p:nvSpPr>
          <p:cNvPr id="29" name="Shape 26"/>
          <p:cNvSpPr/>
          <p:nvPr/>
        </p:nvSpPr>
        <p:spPr>
          <a:xfrm>
            <a:off x="3218688" y="1463040"/>
            <a:ext cx="274320" cy="0"/>
          </a:xfrm>
          <a:prstGeom prst="line">
            <a:avLst/>
          </a:prstGeom>
          <a:noFill/>
          <a:ln w="19050">
            <a:solidFill>
              <a:srgbClr val="0E7C86"/>
            </a:solidFill>
            <a:prstDash val="solid"/>
            <a:tailEnd type="triangle"/>
          </a:ln>
        </p:spPr>
        <p:txBody>
          <a:bodyPr/>
          <a:p/>
        </p:txBody>
      </p:sp>
      <p:sp>
        <p:nvSpPr>
          <p:cNvPr id="30" name="Shape 27"/>
          <p:cNvSpPr/>
          <p:nvPr/>
        </p:nvSpPr>
        <p:spPr>
          <a:xfrm>
            <a:off x="3511296" y="1188720"/>
            <a:ext cx="1463040" cy="548640"/>
          </a:xfrm>
          <a:prstGeom prst="roundRect">
            <a:avLst>
              <a:gd name="adj" fmla="val 10000"/>
            </a:avLst>
          </a:prstGeom>
          <a:solidFill>
            <a:srgbClr val="F3F5F8"/>
          </a:solidFill>
          <a:ln w="9525">
            <a:solidFill>
              <a:srgbClr val="F3F5F8"/>
            </a:solidFill>
            <a:prstDash val="solid"/>
          </a:ln>
        </p:spPr>
        <p:txBody>
          <a:bodyPr/>
          <a:p/>
        </p:txBody>
      </p:sp>
      <p:sp>
        <p:nvSpPr>
          <p:cNvPr id="31" name="Text 28"/>
          <p:cNvSpPr txBox="1"/>
          <p:nvPr/>
        </p:nvSpPr>
        <p:spPr>
          <a:xfrm>
            <a:off x="3511296" y="1188720"/>
            <a:ext cx="1463040" cy="548640"/>
          </a:xfrm>
          <a:prstGeom prst="rect">
            <a:avLst/>
          </a:prstGeom>
          <a:noFill/>
          <a:ln/>
        </p:spPr>
        <p:txBody>
          <a:bodyPr wrap="square" lIns="635" tIns="635" rIns="635" bIns="635" rtlCol="0" anchor="ctr"/>
          <a:lstStyle/>
          <a:p>
            <a:pPr algn="ctr" indent="0" marL="0">
              <a:buNone/>
            </a:pPr>
            <a:r>
              <a:rPr lang="en-US" sz="900" b="1" dirty="0">
                <a:solidFill>
                  <a:srgbClr val="1B2A4A"/>
                </a:solidFill>
                <a:latin typeface="Calibri" pitchFamily="34" charset="0"/>
                <a:ea typeface="Calibri" pitchFamily="34" charset="-122"/>
                <a:cs typeface="Calibri" pitchFamily="34" charset="-120"/>
              </a:rPr>
              <a:t>Ingestion pipeline</a:t>
            </a:r>
            <a:endParaRPr lang="en-US" sz="900" dirty="0"/>
          </a:p>
          <a:p>
            <a:pPr algn="ctr" indent="0" marL="0">
              <a:buNone/>
            </a:pPr>
            <a:r>
              <a:rPr lang="en-US" sz="900" b="1" dirty="0">
                <a:solidFill>
                  <a:srgbClr val="1B2A4A"/>
                </a:solidFill>
                <a:latin typeface="Calibri" pitchFamily="34" charset="0"/>
                <a:ea typeface="Calibri" pitchFamily="34" charset="-122"/>
                <a:cs typeface="Calibri" pitchFamily="34" charset="-120"/>
              </a:rPr>
              <a:t>chunk · embed · index</a:t>
            </a:r>
            <a:endParaRPr lang="en-US" sz="900" dirty="0"/>
          </a:p>
        </p:txBody>
      </p:sp>
      <p:sp>
        <p:nvSpPr>
          <p:cNvPr id="32" name="Shape 29"/>
          <p:cNvSpPr/>
          <p:nvPr/>
        </p:nvSpPr>
        <p:spPr>
          <a:xfrm>
            <a:off x="3419856" y="1755648"/>
            <a:ext cx="0" cy="365760"/>
          </a:xfrm>
          <a:prstGeom prst="line">
            <a:avLst/>
          </a:prstGeom>
          <a:noFill/>
          <a:ln w="19050">
            <a:solidFill>
              <a:srgbClr val="0E7C86"/>
            </a:solidFill>
            <a:prstDash val="solid"/>
            <a:tailEnd type="triangle"/>
          </a:ln>
        </p:spPr>
        <p:txBody>
          <a:bodyPr/>
          <a:p/>
        </p:txBody>
      </p:sp>
      <p:sp>
        <p:nvSpPr>
          <p:cNvPr id="33" name="Shape 30"/>
          <p:cNvSpPr/>
          <p:nvPr/>
        </p:nvSpPr>
        <p:spPr>
          <a:xfrm>
            <a:off x="5120640" y="1188720"/>
            <a:ext cx="1371600" cy="548640"/>
          </a:xfrm>
          <a:prstGeom prst="roundRect">
            <a:avLst>
              <a:gd name="adj" fmla="val 10000"/>
            </a:avLst>
          </a:prstGeom>
          <a:solidFill>
            <a:srgbClr val="F3F5F8"/>
          </a:solidFill>
          <a:ln w="9525">
            <a:solidFill>
              <a:srgbClr val="F3F5F8"/>
            </a:solidFill>
            <a:prstDash val="solid"/>
          </a:ln>
        </p:spPr>
        <p:txBody>
          <a:bodyPr/>
          <a:p/>
        </p:txBody>
      </p:sp>
      <p:sp>
        <p:nvSpPr>
          <p:cNvPr id="34" name="Text 31"/>
          <p:cNvSpPr txBox="1"/>
          <p:nvPr/>
        </p:nvSpPr>
        <p:spPr>
          <a:xfrm>
            <a:off x="5120640" y="1188720"/>
            <a:ext cx="1371600" cy="548640"/>
          </a:xfrm>
          <a:prstGeom prst="rect">
            <a:avLst/>
          </a:prstGeom>
          <a:noFill/>
          <a:ln/>
        </p:spPr>
        <p:txBody>
          <a:bodyPr wrap="square" lIns="635" tIns="635" rIns="635" bIns="635" rtlCol="0" anchor="ctr"/>
          <a:lstStyle/>
          <a:p>
            <a:pPr algn="ctr" indent="0" marL="0">
              <a:buNone/>
            </a:pPr>
            <a:r>
              <a:rPr lang="en-US" sz="900" b="1" dirty="0">
                <a:solidFill>
                  <a:srgbClr val="1B2A4A"/>
                </a:solidFill>
                <a:latin typeface="Calibri" pitchFamily="34" charset="0"/>
                <a:ea typeface="Calibri" pitchFamily="34" charset="-122"/>
                <a:cs typeface="Calibri" pitchFamily="34" charset="-120"/>
              </a:rPr>
              <a:t>Prompt registry</a:t>
            </a:r>
            <a:endParaRPr lang="en-US" sz="900" dirty="0"/>
          </a:p>
          <a:p>
            <a:pPr algn="ctr" indent="0" marL="0">
              <a:buNone/>
            </a:pPr>
            <a:r>
              <a:rPr lang="en-US" sz="900" b="1" dirty="0">
                <a:solidFill>
                  <a:srgbClr val="1B2A4A"/>
                </a:solidFill>
                <a:latin typeface="Calibri" pitchFamily="34" charset="0"/>
                <a:ea typeface="Calibri" pitchFamily="34" charset="-122"/>
                <a:cs typeface="Calibri" pitchFamily="34" charset="-120"/>
              </a:rPr>
              <a:t>v1 @production · v2 @challenger</a:t>
            </a:r>
            <a:endParaRPr lang="en-US" sz="900" dirty="0"/>
          </a:p>
        </p:txBody>
      </p:sp>
      <p:sp>
        <p:nvSpPr>
          <p:cNvPr id="35" name="Shape 32"/>
          <p:cNvSpPr/>
          <p:nvPr/>
        </p:nvSpPr>
        <p:spPr>
          <a:xfrm>
            <a:off x="4754880" y="1755648"/>
            <a:ext cx="0" cy="365760"/>
          </a:xfrm>
          <a:prstGeom prst="line">
            <a:avLst/>
          </a:prstGeom>
          <a:noFill/>
          <a:ln w="19050">
            <a:solidFill>
              <a:srgbClr val="0E7C86"/>
            </a:solidFill>
            <a:prstDash val="solid"/>
            <a:tailEnd type="triangle"/>
          </a:ln>
        </p:spPr>
        <p:txBody>
          <a:bodyPr/>
          <a:p/>
        </p:txBody>
      </p:sp>
      <p:sp>
        <p:nvSpPr>
          <p:cNvPr id="36" name="Shape 33"/>
          <p:cNvSpPr/>
          <p:nvPr/>
        </p:nvSpPr>
        <p:spPr>
          <a:xfrm>
            <a:off x="365760" y="3154680"/>
            <a:ext cx="2651760" cy="685800"/>
          </a:xfrm>
          <a:prstGeom prst="roundRect">
            <a:avLst>
              <a:gd name="adj" fmla="val 8000"/>
            </a:avLst>
          </a:prstGeom>
          <a:solidFill>
            <a:srgbClr val="E3F1F2"/>
          </a:solidFill>
          <a:ln w="9525">
            <a:solidFill>
              <a:srgbClr val="E3F1F2"/>
            </a:solidFill>
            <a:prstDash val="solid"/>
          </a:ln>
        </p:spPr>
        <p:txBody>
          <a:bodyPr/>
          <a:p/>
        </p:txBody>
      </p:sp>
      <p:sp>
        <p:nvSpPr>
          <p:cNvPr id="37" name="Text 34"/>
          <p:cNvSpPr txBox="1"/>
          <p:nvPr/>
        </p:nvSpPr>
        <p:spPr>
          <a:xfrm>
            <a:off x="365760" y="3154680"/>
            <a:ext cx="2651760" cy="685800"/>
          </a:xfrm>
          <a:prstGeom prst="rect">
            <a:avLst/>
          </a:prstGeom>
          <a:noFill/>
          <a:ln/>
        </p:spPr>
        <p:txBody>
          <a:bodyPr wrap="square" lIns="635" tIns="635" rIns="635" bIns="635" rtlCol="0" anchor="ctr"/>
          <a:lstStyle/>
          <a:p>
            <a:pPr algn="ctr" indent="0" marL="0">
              <a:buNone/>
            </a:pPr>
            <a:r>
              <a:rPr lang="en-US" sz="900" b="1" dirty="0">
                <a:solidFill>
                  <a:srgbClr val="1B2A4A"/>
                </a:solidFill>
                <a:latin typeface="Calibri" pitchFamily="34" charset="0"/>
                <a:ea typeface="Calibri" pitchFamily="34" charset="-122"/>
                <a:cs typeface="Calibri" pitchFamily="34" charset="-120"/>
              </a:rPr>
              <a:t>Evaluation</a:t>
            </a:r>
            <a:endParaRPr lang="en-US" sz="900" dirty="0"/>
          </a:p>
          <a:p>
            <a:pPr algn="ctr" indent="0" marL="0">
              <a:buNone/>
            </a:pPr>
            <a:r>
              <a:rPr lang="en-US" sz="900" b="1" dirty="0">
                <a:solidFill>
                  <a:srgbClr val="1B2A4A"/>
                </a:solidFill>
                <a:latin typeface="Calibri" pitchFamily="34" charset="0"/>
                <a:ea typeface="Calibri" pitchFamily="34" charset="-122"/>
                <a:cs typeface="Calibri" pitchFamily="34" charset="-120"/>
              </a:rPr>
              <a:t>golden set on every change · judge daily on a sample · humans weekly</a:t>
            </a:r>
            <a:endParaRPr lang="en-US" sz="900" dirty="0"/>
          </a:p>
        </p:txBody>
      </p:sp>
      <p:sp>
        <p:nvSpPr>
          <p:cNvPr id="38" name="Shape 35"/>
          <p:cNvSpPr/>
          <p:nvPr/>
        </p:nvSpPr>
        <p:spPr>
          <a:xfrm>
            <a:off x="3246120" y="3154680"/>
            <a:ext cx="2651760" cy="685800"/>
          </a:xfrm>
          <a:prstGeom prst="roundRect">
            <a:avLst>
              <a:gd name="adj" fmla="val 8000"/>
            </a:avLst>
          </a:prstGeom>
          <a:solidFill>
            <a:srgbClr val="E3F1F2"/>
          </a:solidFill>
          <a:ln w="9525">
            <a:solidFill>
              <a:srgbClr val="E3F1F2"/>
            </a:solidFill>
            <a:prstDash val="solid"/>
          </a:ln>
        </p:spPr>
        <p:txBody>
          <a:bodyPr/>
          <a:p/>
        </p:txBody>
      </p:sp>
      <p:sp>
        <p:nvSpPr>
          <p:cNvPr id="39" name="Text 36"/>
          <p:cNvSpPr txBox="1"/>
          <p:nvPr/>
        </p:nvSpPr>
        <p:spPr>
          <a:xfrm>
            <a:off x="3246120" y="3154680"/>
            <a:ext cx="2651760" cy="685800"/>
          </a:xfrm>
          <a:prstGeom prst="rect">
            <a:avLst/>
          </a:prstGeom>
          <a:noFill/>
          <a:ln/>
        </p:spPr>
        <p:txBody>
          <a:bodyPr wrap="square" lIns="635" tIns="635" rIns="635" bIns="635" rtlCol="0" anchor="ctr"/>
          <a:lstStyle/>
          <a:p>
            <a:pPr algn="ctr" indent="0" marL="0">
              <a:buNone/>
            </a:pPr>
            <a:r>
              <a:rPr lang="en-US" sz="900" b="1" dirty="0">
                <a:solidFill>
                  <a:srgbClr val="1B2A4A"/>
                </a:solidFill>
                <a:latin typeface="Calibri" pitchFamily="34" charset="0"/>
                <a:ea typeface="Calibri" pitchFamily="34" charset="-122"/>
                <a:cs typeface="Calibri" pitchFamily="34" charset="-120"/>
              </a:rPr>
              <a:t>Monitoring and alerts (Video 1)</a:t>
            </a:r>
            <a:endParaRPr lang="en-US" sz="900" dirty="0"/>
          </a:p>
          <a:p>
            <a:pPr algn="ctr" indent="0" marL="0">
              <a:buNone/>
            </a:pPr>
            <a:r>
              <a:rPr lang="en-US" sz="900" b="1" dirty="0">
                <a:solidFill>
                  <a:srgbClr val="1B2A4A"/>
                </a:solidFill>
                <a:latin typeface="Calibri" pitchFamily="34" charset="0"/>
                <a:ea typeface="Calibri" pitchFamily="34" charset="-122"/>
                <a:cs typeface="Calibri" pitchFamily="34" charset="-120"/>
              </a:rPr>
              <a:t>quality, hallucination, PII, tokens, cost, feedback, drifts</a:t>
            </a:r>
            <a:endParaRPr lang="en-US" sz="900" dirty="0"/>
          </a:p>
        </p:txBody>
      </p:sp>
      <p:sp>
        <p:nvSpPr>
          <p:cNvPr id="40" name="Shape 37"/>
          <p:cNvSpPr/>
          <p:nvPr/>
        </p:nvSpPr>
        <p:spPr>
          <a:xfrm>
            <a:off x="6126480" y="3154680"/>
            <a:ext cx="2651760" cy="685800"/>
          </a:xfrm>
          <a:prstGeom prst="roundRect">
            <a:avLst>
              <a:gd name="adj" fmla="val 8000"/>
            </a:avLst>
          </a:prstGeom>
          <a:solidFill>
            <a:srgbClr val="E3F1F2"/>
          </a:solidFill>
          <a:ln w="9525">
            <a:solidFill>
              <a:srgbClr val="E3F1F2"/>
            </a:solidFill>
            <a:prstDash val="solid"/>
          </a:ln>
        </p:spPr>
        <p:txBody>
          <a:bodyPr/>
          <a:p/>
        </p:txBody>
      </p:sp>
      <p:sp>
        <p:nvSpPr>
          <p:cNvPr id="41" name="Text 38"/>
          <p:cNvSpPr txBox="1"/>
          <p:nvPr/>
        </p:nvSpPr>
        <p:spPr>
          <a:xfrm>
            <a:off x="6126480" y="3154680"/>
            <a:ext cx="2651760" cy="685800"/>
          </a:xfrm>
          <a:prstGeom prst="rect">
            <a:avLst/>
          </a:prstGeom>
          <a:noFill/>
          <a:ln/>
        </p:spPr>
        <p:txBody>
          <a:bodyPr wrap="square" lIns="635" tIns="635" rIns="635" bIns="635" rtlCol="0" anchor="ctr"/>
          <a:lstStyle/>
          <a:p>
            <a:pPr algn="ctr" indent="0" marL="0">
              <a:buNone/>
            </a:pPr>
            <a:r>
              <a:rPr lang="en-US" sz="900" b="1" dirty="0">
                <a:solidFill>
                  <a:srgbClr val="1B2A4A"/>
                </a:solidFill>
                <a:latin typeface="Calibri" pitchFamily="34" charset="0"/>
                <a:ea typeface="Calibri" pitchFamily="34" charset="-122"/>
                <a:cs typeface="Calibri" pitchFamily="34" charset="-120"/>
              </a:rPr>
              <a:t>Log of every answer</a:t>
            </a:r>
            <a:endParaRPr lang="en-US" sz="900" dirty="0"/>
          </a:p>
          <a:p>
            <a:pPr algn="ctr" indent="0" marL="0">
              <a:buNone/>
            </a:pPr>
            <a:r>
              <a:rPr lang="en-US" sz="900" b="1" dirty="0">
                <a:solidFill>
                  <a:srgbClr val="1B2A4A"/>
                </a:solidFill>
                <a:latin typeface="Calibri" pitchFamily="34" charset="0"/>
                <a:ea typeface="Calibri" pitchFamily="34" charset="-122"/>
                <a:cs typeface="Calibri" pitchFamily="34" charset="-120"/>
              </a:rPr>
              <a:t>prompt version · document-set version · model version</a:t>
            </a:r>
            <a:endParaRPr lang="en-US" sz="900" dirty="0"/>
          </a:p>
        </p:txBody>
      </p:sp>
      <p:sp>
        <p:nvSpPr>
          <p:cNvPr id="42" name="Shape 39"/>
          <p:cNvSpPr/>
          <p:nvPr/>
        </p:nvSpPr>
        <p:spPr>
          <a:xfrm>
            <a:off x="365760" y="3977640"/>
            <a:ext cx="8412480" cy="731520"/>
          </a:xfrm>
          <a:prstGeom prst="roundRect">
            <a:avLst>
              <a:gd name="adj" fmla="val 10000"/>
            </a:avLst>
          </a:prstGeom>
          <a:solidFill>
            <a:srgbClr val="FBE9DC"/>
          </a:solidFill>
          <a:ln w="12700">
            <a:solidFill>
              <a:srgbClr val="FBE9DC"/>
            </a:solidFill>
            <a:prstDash val="solid"/>
          </a:ln>
        </p:spPr>
        <p:txBody>
          <a:bodyPr/>
          <a:p/>
        </p:txBody>
      </p:sp>
      <p:pic>
        <p:nvPicPr>
          <p:cNvPr id="43" name="Image 0" descr="preencoded.png">    </p:cNvPr>
          <p:cNvPicPr>
            <a:picLocks noChangeAspect="1"/>
          </p:cNvPicPr>
          <p:nvPr/>
        </p:nvPicPr>
        <p:blipFill>
          <a:blip r:embed="rId1"/>
          <a:stretch>
            <a:fillRect/>
          </a:stretch>
        </p:blipFill>
        <p:spPr>
          <a:xfrm>
            <a:off x="502920" y="4206240"/>
            <a:ext cx="274320" cy="274320"/>
          </a:xfrm>
          <a:prstGeom prst="rect">
            <a:avLst/>
          </a:prstGeom>
        </p:spPr>
      </p:pic>
      <p:sp>
        <p:nvSpPr>
          <p:cNvPr id="44" name="Text 40"/>
          <p:cNvSpPr txBox="1"/>
          <p:nvPr/>
        </p:nvSpPr>
        <p:spPr>
          <a:xfrm>
            <a:off x="896112" y="3977640"/>
            <a:ext cx="7772400" cy="731520"/>
          </a:xfrm>
          <a:prstGeom prst="rect">
            <a:avLst/>
          </a:prstGeom>
          <a:noFill/>
          <a:ln/>
        </p:spPr>
        <p:txBody>
          <a:bodyPr wrap="square" lIns="0" tIns="0" rIns="0" bIns="0" rtlCol="0" anchor="ctr"/>
          <a:lstStyle/>
          <a:p>
            <a:pPr indent="0" marL="0">
              <a:buNone/>
            </a:pPr>
            <a:r>
              <a:rPr lang="en-US" sz="1050" dirty="0">
                <a:solidFill>
                  <a:srgbClr val="1B2A4A"/>
                </a:solidFill>
                <a:latin typeface="Calibri" pitchFamily="34" charset="0"/>
                <a:ea typeface="Calibri" pitchFamily="34" charset="-122"/>
                <a:cs typeface="Calibri" pitchFamily="34" charset="-120"/>
              </a:rPr>
              <a:t>Chat, one gap at a time: "the question arrives; what happens before the model sees it?" Then the Forum 5 Q1 sentence: every box on the path adds latency; the output groundedness check is itself a model call. Which box would you remove to save 800 ms?</a:t>
            </a:r>
            <a:endParaRPr lang="en-US" sz="1050" dirty="0"/>
          </a:p>
        </p:txBody>
      </p:sp>
      <p:pic>
        <p:nvPicPr>
          <p:cNvPr id="45"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10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11</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How do you know it is good? Golden set, judge, humans: why you need all three</a:t>
            </a:r>
            <a:endParaRPr lang="en-US" sz="2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8412480" cy="914400"/>
        </p:xfrm>
        <a:graphic>
          <a:graphicData uri="http://schemas.openxmlformats.org/drawingml/2006/table">
            <a:tbl>
              <a:tblPr/>
              <a:tblGrid>
                <a:gridCol w="1371600"/>
                <a:gridCol w="2468880"/>
                <a:gridCol w="2468880"/>
                <a:gridCol w="2103120"/>
              </a:tblGrid>
              <a:tr h="457200">
                <a:tc>
                  <a:txBody>
                    <a:bodyPr/>
                    <a:lstStyle/>
                    <a:p>
                      <a:pPr algn="l" indent="0" marL="0">
                        <a:buNone/>
                      </a:pP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Golden set</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LLM-as-a-judge</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Human review</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r>
              <a:tr h="457200">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What it is</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12–200 questions with approved answers, written by the content owner</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A model scores answers against a rubric (correct · complete · grounded, 1–5)</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HR scores a sample with the same rubric</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57200">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When it runs</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On every change: prompt, model, documents. Before release</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Daily, on a sample of live traffic</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Weekly, on a smaller sample</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57200">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What it catches</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Regressions on the questions you thought of</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What people really ask; volume</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What the judge gets wrong; the gold standard</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57200">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Its blind spot</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Questions nobody wrote down</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Judges prefer long answers; can be fooled</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Slow, expensive, small</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57200">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Cost</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Tokens for 12–200 calls</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Tokens for a sample, daily</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People's time: the largest line</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8" name="Shape 4"/>
          <p:cNvSpPr/>
          <p:nvPr/>
        </p:nvSpPr>
        <p:spPr>
          <a:xfrm>
            <a:off x="365760" y="4160520"/>
            <a:ext cx="8412480" cy="457200"/>
          </a:xfrm>
          <a:prstGeom prst="roundRect">
            <a:avLst>
              <a:gd name="adj" fmla="val 16000"/>
            </a:avLst>
          </a:prstGeom>
          <a:solidFill>
            <a:srgbClr val="E3F1F2"/>
          </a:solidFill>
          <a:ln w="12700">
            <a:solidFill>
              <a:srgbClr val="E3F1F2"/>
            </a:solidFill>
            <a:prstDash val="solid"/>
          </a:ln>
        </p:spPr>
        <p:txBody>
          <a:bodyPr/>
          <a:p/>
        </p:txBody>
      </p:sp>
      <p:pic>
        <p:nvPicPr>
          <p:cNvPr id="9" name="Image 0" descr="preencoded.png">    </p:cNvPr>
          <p:cNvPicPr>
            <a:picLocks noChangeAspect="1"/>
          </p:cNvPicPr>
          <p:nvPr/>
        </p:nvPicPr>
        <p:blipFill>
          <a:blip r:embed="rId1"/>
          <a:stretch>
            <a:fillRect/>
          </a:stretch>
        </p:blipFill>
        <p:spPr>
          <a:xfrm>
            <a:off x="502920" y="4251960"/>
            <a:ext cx="274320" cy="274320"/>
          </a:xfrm>
          <a:prstGeom prst="rect">
            <a:avLst/>
          </a:prstGeom>
        </p:spPr>
      </p:pic>
      <p:sp>
        <p:nvSpPr>
          <p:cNvPr id="10" name="Text 5"/>
          <p:cNvSpPr txBox="1"/>
          <p:nvPr/>
        </p:nvSpPr>
        <p:spPr>
          <a:xfrm>
            <a:off x="896112" y="4160520"/>
            <a:ext cx="7772400" cy="45720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Remove any one of the three and a class of failure becomes invisible. Next: the first one, live, on two versions of the HR prompt.</a:t>
            </a:r>
            <a:endParaRPr lang="en-US" sz="1100" dirty="0"/>
          </a:p>
        </p:txBody>
      </p:sp>
      <p:pic>
        <p:nvPicPr>
          <p:cNvPr id="13"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10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12</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Demo · Two versions of one prompt, one golden set, one judge you can read</a:t>
            </a:r>
            <a:endParaRPr lang="en-US" sz="2400" dirty="0"/>
          </a:p>
        </p:txBody>
      </p:sp>
      <p:pic>
        <p:nvPicPr>
          <p:cNvPr id="7" name="Image 0" descr="/root/work/s10/demo/ui_prompt_compare.png">    </p:cNvPr>
          <p:cNvPicPr>
            <a:picLocks noChangeAspect="1"/>
          </p:cNvPicPr>
          <p:nvPr/>
        </p:nvPicPr>
        <p:blipFill>
          <a:blip r:embed="rId1"/>
          <a:stretch>
            <a:fillRect/>
          </a:stretch>
        </p:blipFill>
        <p:spPr>
          <a:xfrm>
            <a:off x="365760" y="1188720"/>
            <a:ext cx="5394960" cy="3275511"/>
          </a:xfrm>
          <a:prstGeom prst="rect">
            <a:avLst/>
          </a:prstGeom>
        </p:spPr>
      </p:pic>
      <p:sp>
        <p:nvSpPr>
          <p:cNvPr id="8" name="Shape 4"/>
          <p:cNvSpPr/>
          <p:nvPr/>
        </p:nvSpPr>
        <p:spPr>
          <a:xfrm>
            <a:off x="5943600" y="1188720"/>
            <a:ext cx="2834640" cy="1554480"/>
          </a:xfrm>
          <a:prstGeom prst="roundRect">
            <a:avLst>
              <a:gd name="adj" fmla="val 4706"/>
            </a:avLst>
          </a:prstGeom>
          <a:solidFill>
            <a:srgbClr val="F3F5F8"/>
          </a:solidFill>
          <a:ln w="12700">
            <a:solidFill>
              <a:srgbClr val="F3F5F8"/>
            </a:solidFill>
            <a:prstDash val="solid"/>
          </a:ln>
        </p:spPr>
        <p:txBody>
          <a:bodyPr/>
          <a:p/>
        </p:txBody>
      </p:sp>
      <p:sp>
        <p:nvSpPr>
          <p:cNvPr id="9" name="Shape 5"/>
          <p:cNvSpPr/>
          <p:nvPr/>
        </p:nvSpPr>
        <p:spPr>
          <a:xfrm>
            <a:off x="6080760" y="1307592"/>
            <a:ext cx="347472" cy="347472"/>
          </a:xfrm>
          <a:prstGeom prst="ellipse">
            <a:avLst/>
          </a:prstGeom>
          <a:solidFill>
            <a:srgbClr val="0E7C86"/>
          </a:solidFill>
          <a:ln w="12700">
            <a:solidFill>
              <a:srgbClr val="0E7C86"/>
            </a:solidFill>
            <a:prstDash val="solid"/>
          </a:ln>
        </p:spPr>
        <p:txBody>
          <a:bodyPr/>
          <a:p/>
        </p:txBody>
      </p:sp>
      <p:pic>
        <p:nvPicPr>
          <p:cNvPr id="10" name="Image 1" descr="preencoded.png">    </p:cNvPr>
          <p:cNvPicPr>
            <a:picLocks noChangeAspect="1"/>
          </p:cNvPicPr>
          <p:nvPr/>
        </p:nvPicPr>
        <p:blipFill>
          <a:blip r:embed="rId2"/>
          <a:stretch>
            <a:fillRect/>
          </a:stretch>
        </p:blipFill>
        <p:spPr>
          <a:xfrm>
            <a:off x="6153912" y="1380744"/>
            <a:ext cx="201168" cy="201168"/>
          </a:xfrm>
          <a:prstGeom prst="rect">
            <a:avLst/>
          </a:prstGeom>
        </p:spPr>
      </p:pic>
      <p:sp>
        <p:nvSpPr>
          <p:cNvPr id="11" name="Text 6"/>
          <p:cNvSpPr txBox="1"/>
          <p:nvPr/>
        </p:nvSpPr>
        <p:spPr>
          <a:xfrm>
            <a:off x="6510528" y="1280160"/>
            <a:ext cx="214884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Tab 1 · the prompt registry</a:t>
            </a:r>
            <a:endParaRPr lang="en-US" sz="1300" dirty="0"/>
          </a:p>
        </p:txBody>
      </p:sp>
      <p:sp>
        <p:nvSpPr>
          <p:cNvPr id="12" name="Text 7"/>
          <p:cNvSpPr txBox="1"/>
          <p:nvPr/>
        </p:nvSpPr>
        <p:spPr>
          <a:xfrm>
            <a:off x="6080760" y="1737360"/>
            <a:ext cx="2560320" cy="914400"/>
          </a:xfrm>
          <a:prstGeom prst="rect">
            <a:avLst/>
          </a:prstGeom>
          <a:noFill/>
          <a:ln/>
        </p:spPr>
        <p:txBody>
          <a:bodyPr wrap="square" lIns="0" tIns="0" rIns="0" bIns="0" rtlCol="0" anchor="t"/>
          <a:lstStyle/>
          <a:p>
            <a:pPr marL="177800" indent="-1778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MLflow → Prompts → hr-assistant</a:t>
            </a:r>
            <a:endParaRPr lang="en-US" sz="1000" dirty="0"/>
          </a:p>
          <a:p>
            <a:pPr marL="177800" indent="-1778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v1 @production · v2 @challenger</a:t>
            </a:r>
            <a:endParaRPr lang="en-US" sz="1000" dirty="0"/>
          </a:p>
          <a:p>
            <a:pPr marL="177800" indent="-1778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Compare: the five rules v2 adds</a:t>
            </a:r>
            <a:endParaRPr lang="en-US" sz="1000" dirty="0"/>
          </a:p>
          <a:p>
            <a:pPr marL="177800" indent="-1778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Same registry as Session 3; the artefact is text</a:t>
            </a:r>
            <a:endParaRPr lang="en-US" sz="1000" dirty="0"/>
          </a:p>
        </p:txBody>
      </p:sp>
      <p:sp>
        <p:nvSpPr>
          <p:cNvPr id="13" name="Shape 8"/>
          <p:cNvSpPr/>
          <p:nvPr/>
        </p:nvSpPr>
        <p:spPr>
          <a:xfrm>
            <a:off x="5943600" y="2834640"/>
            <a:ext cx="2834640" cy="1554480"/>
          </a:xfrm>
          <a:prstGeom prst="roundRect">
            <a:avLst>
              <a:gd name="adj" fmla="val 4706"/>
            </a:avLst>
          </a:prstGeom>
          <a:solidFill>
            <a:srgbClr val="F3F5F8"/>
          </a:solidFill>
          <a:ln w="12700">
            <a:solidFill>
              <a:srgbClr val="F3F5F8"/>
            </a:solidFill>
            <a:prstDash val="solid"/>
          </a:ln>
        </p:spPr>
        <p:txBody>
          <a:bodyPr/>
          <a:p/>
        </p:txBody>
      </p:sp>
      <p:sp>
        <p:nvSpPr>
          <p:cNvPr id="14" name="Shape 9"/>
          <p:cNvSpPr/>
          <p:nvPr/>
        </p:nvSpPr>
        <p:spPr>
          <a:xfrm>
            <a:off x="6080760" y="2953512"/>
            <a:ext cx="347472" cy="347472"/>
          </a:xfrm>
          <a:prstGeom prst="ellipse">
            <a:avLst/>
          </a:prstGeom>
          <a:solidFill>
            <a:srgbClr val="E07A2F"/>
          </a:solidFill>
          <a:ln w="12700">
            <a:solidFill>
              <a:srgbClr val="E07A2F"/>
            </a:solidFill>
            <a:prstDash val="solid"/>
          </a:ln>
        </p:spPr>
        <p:txBody>
          <a:bodyPr/>
          <a:p/>
        </p:txBody>
      </p:sp>
      <p:pic>
        <p:nvPicPr>
          <p:cNvPr id="15" name="Image 2" descr="preencoded.png">    </p:cNvPr>
          <p:cNvPicPr>
            <a:picLocks noChangeAspect="1"/>
          </p:cNvPicPr>
          <p:nvPr/>
        </p:nvPicPr>
        <p:blipFill>
          <a:blip r:embed="rId3"/>
          <a:stretch>
            <a:fillRect/>
          </a:stretch>
        </p:blipFill>
        <p:spPr>
          <a:xfrm>
            <a:off x="6153912" y="3026664"/>
            <a:ext cx="201168" cy="201168"/>
          </a:xfrm>
          <a:prstGeom prst="rect">
            <a:avLst/>
          </a:prstGeom>
        </p:spPr>
      </p:pic>
      <p:sp>
        <p:nvSpPr>
          <p:cNvPr id="16" name="Text 10"/>
          <p:cNvSpPr txBox="1"/>
          <p:nvPr/>
        </p:nvSpPr>
        <p:spPr>
          <a:xfrm>
            <a:off x="6510528" y="2926080"/>
            <a:ext cx="214884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Tab 2 · the evaluation page</a:t>
            </a:r>
            <a:endParaRPr lang="en-US" sz="1300" dirty="0"/>
          </a:p>
        </p:txBody>
      </p:sp>
      <p:sp>
        <p:nvSpPr>
          <p:cNvPr id="17" name="Text 11"/>
          <p:cNvSpPr txBox="1"/>
          <p:nvPr/>
        </p:nvSpPr>
        <p:spPr>
          <a:xfrm>
            <a:off x="6080760" y="3383280"/>
            <a:ext cx="2560320" cy="914400"/>
          </a:xfrm>
          <a:prstGeom prst="rect">
            <a:avLst/>
          </a:prstGeom>
          <a:noFill/>
          <a:ln/>
        </p:spPr>
        <p:txBody>
          <a:bodyPr wrap="square" lIns="0" tIns="0" rIns="0" bIns="0" rtlCol="0" anchor="t"/>
          <a:lstStyle/>
          <a:p>
            <a:pPr marL="177800" indent="-1778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12 HR questions, two answers each</a:t>
            </a:r>
            <a:endParaRPr lang="en-US" sz="1000" dirty="0"/>
          </a:p>
          <a:p>
            <a:pPr marL="177800" indent="-1778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Three verdicts per answer: correct · grounded · PII</a:t>
            </a:r>
            <a:endParaRPr lang="en-US" sz="1000" dirty="0"/>
          </a:p>
          <a:p>
            <a:pPr marL="177800" indent="-1778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Look at Q2 (26 vs 25 days), Q5 (45 days, a name), Q12 (an invented salary band)</a:t>
            </a:r>
            <a:endParaRPr lang="en-US" sz="1000" dirty="0"/>
          </a:p>
        </p:txBody>
      </p:sp>
      <p:sp>
        <p:nvSpPr>
          <p:cNvPr id="18" name="Text 12"/>
          <p:cNvSpPr txBox="1"/>
          <p:nvPr/>
        </p:nvSpPr>
        <p:spPr>
          <a:xfrm>
            <a:off x="365760" y="4480560"/>
            <a:ext cx="8412480" cy="274320"/>
          </a:xfrm>
          <a:prstGeom prst="rect">
            <a:avLst/>
          </a:prstGeom>
          <a:noFill/>
          <a:ln/>
        </p:spPr>
        <p:txBody>
          <a:bodyPr wrap="square" lIns="0" tIns="0" rIns="0" bIns="0" rtlCol="0" anchor="t"/>
          <a:lstStyle/>
          <a:p>
            <a:pPr algn="l" indent="0" marL="0">
              <a:buNone/>
            </a:pPr>
            <a:r>
              <a:rPr lang="en-US" sz="950" i="1" dirty="0">
                <a:solidFill>
                  <a:srgbClr val="6B7280"/>
                </a:solidFill>
                <a:latin typeface="Calibri" pitchFamily="34" charset="0"/>
                <a:ea typeface="Calibri" pitchFamily="34" charset="-122"/>
                <a:cs typeface="Calibri" pitchFamily="34" charset="-120"/>
              </a:rPr>
              <a:t>Illustrative transcripts; a rule-based judge so you can read it. In production the judge is a model with a rubric, checked by humans. The pattern is the production pattern.</a:t>
            </a:r>
            <a:endParaRPr lang="en-US" sz="950" dirty="0"/>
          </a:p>
        </p:txBody>
      </p:sp>
      <p:pic>
        <p:nvPicPr>
          <p:cNvPr id="19" name="IE University logo" descr="IE University, School of Science &amp; Technology"/>
          <p:cNvPicPr>
            <a:picLocks noChangeAspect="1"/>
          </p:cNvPicPr>
          <p:nvPr/>
        </p:nvPicPr>
        <p:blipFill>
          <a:blip r:embed="rId6"/>
          <a:stretch>
            <a:fillRect/>
          </a:stretch>
        </p:blipFill>
        <p:spPr>
          <a:xfrm>
            <a:off x="8013607" y="92634"/>
            <a:ext cx="764633" cy="26278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10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13</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What you just saw: v2 answers better and faster, and costs 40% more per question</a:t>
            </a:r>
            <a:endParaRPr lang="en-US" sz="2400" dirty="0"/>
          </a:p>
        </p:txBody>
      </p:sp>
      <p:pic>
        <p:nvPicPr>
          <p:cNvPr id="7" name="Image 0" descr="/root/work/s10/demo/eval_summary.png">    </p:cNvPr>
          <p:cNvPicPr>
            <a:picLocks noChangeAspect="1"/>
          </p:cNvPicPr>
          <p:nvPr/>
        </p:nvPicPr>
        <p:blipFill>
          <a:blip r:embed="rId1"/>
          <a:stretch>
            <a:fillRect/>
          </a:stretch>
        </p:blipFill>
        <p:spPr>
          <a:xfrm>
            <a:off x="365760" y="1188720"/>
            <a:ext cx="5486400" cy="2487168"/>
          </a:xfrm>
          <a:prstGeom prst="rect">
            <a:avLst/>
          </a:prstGeom>
        </p:spPr>
      </p:pic>
      <p:sp>
        <p:nvSpPr>
          <p:cNvPr id="8" name="Shape 4"/>
          <p:cNvSpPr/>
          <p:nvPr/>
        </p:nvSpPr>
        <p:spPr>
          <a:xfrm>
            <a:off x="6035040" y="1188720"/>
            <a:ext cx="2743200" cy="1234440"/>
          </a:xfrm>
          <a:prstGeom prst="roundRect">
            <a:avLst>
              <a:gd name="adj" fmla="val 5926"/>
            </a:avLst>
          </a:prstGeom>
          <a:solidFill>
            <a:srgbClr val="E3F1F2"/>
          </a:solidFill>
          <a:ln w="12700">
            <a:solidFill>
              <a:srgbClr val="E3F1F2"/>
            </a:solidFill>
            <a:prstDash val="solid"/>
          </a:ln>
        </p:spPr>
        <p:txBody>
          <a:bodyPr/>
          <a:p/>
        </p:txBody>
      </p:sp>
      <p:sp>
        <p:nvSpPr>
          <p:cNvPr id="9" name="Text 5"/>
          <p:cNvSpPr txBox="1"/>
          <p:nvPr/>
        </p:nvSpPr>
        <p:spPr>
          <a:xfrm>
            <a:off x="6172200" y="1280160"/>
            <a:ext cx="2468880" cy="329184"/>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Better and faster…</a:t>
            </a:r>
            <a:endParaRPr lang="en-US" sz="1300" dirty="0"/>
          </a:p>
        </p:txBody>
      </p:sp>
      <p:sp>
        <p:nvSpPr>
          <p:cNvPr id="10" name="Text 6"/>
          <p:cNvSpPr txBox="1"/>
          <p:nvPr/>
        </p:nvSpPr>
        <p:spPr>
          <a:xfrm>
            <a:off x="6172200" y="1645920"/>
            <a:ext cx="2468880" cy="685800"/>
          </a:xfrm>
          <a:prstGeom prst="rect">
            <a:avLst/>
          </a:prstGeom>
          <a:noFill/>
          <a:ln/>
        </p:spPr>
        <p:txBody>
          <a:bodyPr wrap="square" lIns="0" tIns="0" rIns="0" bIns="0" rtlCol="0" anchor="t"/>
          <a:lstStyle/>
          <a:p>
            <a:pPr marL="177800" indent="-1778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11/12 correct and grounded vs 6/12 and 7/12</a:t>
            </a:r>
            <a:endParaRPr lang="en-US" sz="1000" dirty="0"/>
          </a:p>
          <a:p>
            <a:pPr marL="177800" indent="-1778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No leaked name; refused the salary question</a:t>
            </a:r>
            <a:endParaRPr lang="en-US" sz="1000" dirty="0"/>
          </a:p>
          <a:p>
            <a:pPr marL="177800" indent="-1778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p95 1.35 s vs 1.84 s: shorter answers</a:t>
            </a:r>
            <a:endParaRPr lang="en-US" sz="1000" dirty="0"/>
          </a:p>
        </p:txBody>
      </p:sp>
      <p:sp>
        <p:nvSpPr>
          <p:cNvPr id="11" name="Shape 7"/>
          <p:cNvSpPr/>
          <p:nvPr/>
        </p:nvSpPr>
        <p:spPr>
          <a:xfrm>
            <a:off x="6035040" y="2514600"/>
            <a:ext cx="2743200" cy="1143000"/>
          </a:xfrm>
          <a:prstGeom prst="roundRect">
            <a:avLst>
              <a:gd name="adj" fmla="val 6400"/>
            </a:avLst>
          </a:prstGeom>
          <a:solidFill>
            <a:srgbClr val="FBE9DC"/>
          </a:solidFill>
          <a:ln w="12700">
            <a:solidFill>
              <a:srgbClr val="FBE9DC"/>
            </a:solidFill>
            <a:prstDash val="solid"/>
          </a:ln>
        </p:spPr>
        <p:txBody>
          <a:bodyPr/>
          <a:p/>
        </p:txBody>
      </p:sp>
      <p:sp>
        <p:nvSpPr>
          <p:cNvPr id="12" name="Text 8"/>
          <p:cNvSpPr txBox="1"/>
          <p:nvPr/>
        </p:nvSpPr>
        <p:spPr>
          <a:xfrm>
            <a:off x="6172200" y="2606040"/>
            <a:ext cx="2468880" cy="329184"/>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…and 40% more expensive</a:t>
            </a:r>
            <a:endParaRPr lang="en-US" sz="1300" dirty="0"/>
          </a:p>
        </p:txBody>
      </p:sp>
      <p:sp>
        <p:nvSpPr>
          <p:cNvPr id="13" name="Text 9"/>
          <p:cNvSpPr txBox="1"/>
          <p:nvPr/>
        </p:nvSpPr>
        <p:spPr>
          <a:xfrm>
            <a:off x="6172200" y="2971800"/>
            <a:ext cx="2468880" cy="594360"/>
          </a:xfrm>
          <a:prstGeom prst="rect">
            <a:avLst/>
          </a:prstGeom>
          <a:noFill/>
          <a:ln/>
        </p:spPr>
        <p:txBody>
          <a:bodyPr wrap="square" lIns="0" tIns="0" rIns="0" bIns="0" rtlCol="0" anchor="t"/>
          <a:lstStyle/>
          <a:p>
            <a:pPr marL="177800" indent="-1778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2.24 vs 1.59 EUR per 1,000 questions</a:t>
            </a:r>
            <a:endParaRPr lang="en-US" sz="1000" dirty="0"/>
          </a:p>
          <a:p>
            <a:pPr marL="177800" indent="-1778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The rules add input tokens; two passages instead of one</a:t>
            </a:r>
            <a:endParaRPr lang="en-US" sz="1000" dirty="0"/>
          </a:p>
          <a:p>
            <a:pPr marL="177800" indent="-177800">
              <a:spcAft>
                <a:spcPts val="300"/>
              </a:spcAft>
              <a:buSzPct val="100000"/>
              <a:buChar char="•"/>
            </a:pPr>
            <a:r>
              <a:rPr lang="en-US" sz="1000" dirty="0">
                <a:solidFill>
                  <a:srgbClr val="222222"/>
                </a:solidFill>
                <a:latin typeface="Calibri" pitchFamily="34" charset="0"/>
                <a:ea typeface="Calibri" pitchFamily="34" charset="-122"/>
                <a:cs typeface="Calibri" pitchFamily="34" charset="-120"/>
              </a:rPr>
              <a:t>Still wrong once (Q11: "8" for "12")</a:t>
            </a:r>
            <a:endParaRPr lang="en-US" sz="1000" dirty="0"/>
          </a:p>
        </p:txBody>
      </p:sp>
      <p:sp>
        <p:nvSpPr>
          <p:cNvPr id="14" name="Shape 10"/>
          <p:cNvSpPr/>
          <p:nvPr/>
        </p:nvSpPr>
        <p:spPr>
          <a:xfrm>
            <a:off x="365760" y="3840480"/>
            <a:ext cx="8412480" cy="594360"/>
          </a:xfrm>
          <a:prstGeom prst="roundRect">
            <a:avLst>
              <a:gd name="adj" fmla="val 12308"/>
            </a:avLst>
          </a:prstGeom>
          <a:solidFill>
            <a:srgbClr val="FBE9DC"/>
          </a:solidFill>
          <a:ln w="12700">
            <a:solidFill>
              <a:srgbClr val="FBE9DC"/>
            </a:solidFill>
            <a:prstDash val="solid"/>
          </a:ln>
        </p:spPr>
        <p:txBody>
          <a:bodyPr/>
          <a:p/>
        </p:txBody>
      </p:sp>
      <p:pic>
        <p:nvPicPr>
          <p:cNvPr id="15" name="Image 1" descr="preencoded.png">    </p:cNvPr>
          <p:cNvPicPr>
            <a:picLocks noChangeAspect="1"/>
          </p:cNvPicPr>
          <p:nvPr/>
        </p:nvPicPr>
        <p:blipFill>
          <a:blip r:embed="rId2"/>
          <a:stretch>
            <a:fillRect/>
          </a:stretch>
        </p:blipFill>
        <p:spPr>
          <a:xfrm>
            <a:off x="502920" y="4000500"/>
            <a:ext cx="274320" cy="274320"/>
          </a:xfrm>
          <a:prstGeom prst="rect">
            <a:avLst/>
          </a:prstGeom>
        </p:spPr>
      </p:pic>
      <p:sp>
        <p:nvSpPr>
          <p:cNvPr id="16" name="Text 11"/>
          <p:cNvSpPr txBox="1"/>
          <p:nvPr/>
        </p:nvSpPr>
        <p:spPr>
          <a:xfrm>
            <a:off x="896112" y="3840480"/>
            <a:ext cx="7772400" cy="59436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Chat poll (2 min): "Promote v2 to production today?"  A: yes · B: no · C: only as a canary for 10% of questions, judge watching. One letter, one line.</a:t>
            </a:r>
            <a:endParaRPr lang="en-US" sz="1100" dirty="0"/>
          </a:p>
        </p:txBody>
      </p:sp>
      <p:sp>
        <p:nvSpPr>
          <p:cNvPr id="17" name="Text 12"/>
          <p:cNvSpPr txBox="1"/>
          <p:nvPr/>
        </p:nvSpPr>
        <p:spPr>
          <a:xfrm>
            <a:off x="365760" y="4480560"/>
            <a:ext cx="8412480" cy="274320"/>
          </a:xfrm>
          <a:prstGeom prst="rect">
            <a:avLst/>
          </a:prstGeom>
          <a:noFill/>
          <a:ln/>
        </p:spPr>
        <p:txBody>
          <a:bodyPr wrap="square" lIns="0" tIns="0" rIns="0" bIns="0" rtlCol="0" anchor="t"/>
          <a:lstStyle/>
          <a:p>
            <a:pPr algn="l" indent="0" marL="0">
              <a:buNone/>
            </a:pPr>
            <a:r>
              <a:rPr lang="en-US" sz="1000" i="1" dirty="0">
                <a:solidFill>
                  <a:srgbClr val="6B7280"/>
                </a:solidFill>
                <a:latin typeface="Calibri" pitchFamily="34" charset="0"/>
                <a:ea typeface="Calibri" pitchFamily="34" charset="-122"/>
                <a:cs typeface="Calibri" pitchFamily="34" charset="-120"/>
              </a:rPr>
              <a:t>Who signs the promotion, HR or the engineer, is Forum 5 Theme B.</a:t>
            </a:r>
            <a:endParaRPr lang="en-US" sz="1000" dirty="0"/>
          </a:p>
        </p:txBody>
      </p:sp>
      <p:pic>
        <p:nvPicPr>
          <p:cNvPr id="18" name="IE University logo" descr="IE University, School of Science &amp; Technology"/>
          <p:cNvPicPr>
            <a:picLocks noChangeAspect="1"/>
          </p:cNvPicPr>
          <p:nvPr/>
        </p:nvPicPr>
        <p:blipFill>
          <a:blip r:embed="rId5"/>
          <a:stretch>
            <a:fillRect/>
          </a:stretch>
        </p:blipFill>
        <p:spPr>
          <a:xfrm>
            <a:off x="8013607" y="92634"/>
            <a:ext cx="764633" cy="26278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B8C4D6"/>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B8C4D6"/>
                </a:solidFill>
                <a:latin typeface="Calibri" pitchFamily="34" charset="0"/>
                <a:ea typeface="Calibri" pitchFamily="34" charset="-122"/>
                <a:cs typeface="Calibri" pitchFamily="34" charset="-120"/>
              </a:rPr>
              <a:t>MLOps · MBDS-PT2026F · Session 10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B8C4D6"/>
                </a:solidFill>
                <a:latin typeface="Calibri" pitchFamily="34" charset="0"/>
                <a:ea typeface="Calibri" pitchFamily="34" charset="-122"/>
                <a:cs typeface="Calibri" pitchFamily="34" charset="-120"/>
              </a:rPr>
              <a:t>14</a:t>
            </a:r>
            <a:endParaRPr lang="en-US" sz="800" dirty="0"/>
          </a:p>
        </p:txBody>
      </p:sp>
      <p:sp>
        <p:nvSpPr>
          <p:cNvPr id="5" name="Text 3"/>
          <p:cNvSpPr txBox="1"/>
          <p:nvPr/>
        </p:nvSpPr>
        <p:spPr>
          <a:xfrm>
            <a:off x="548640" y="1188720"/>
            <a:ext cx="8046720" cy="9144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Guardrails, cost and latency, and what comes next</a:t>
            </a:r>
            <a:endParaRPr lang="en-US" sz="3000" dirty="0"/>
          </a:p>
        </p:txBody>
      </p:sp>
      <p:sp>
        <p:nvSpPr>
          <p:cNvPr id="6" name="Text 4"/>
          <p:cNvSpPr txBox="1"/>
          <p:nvPr/>
        </p:nvSpPr>
        <p:spPr>
          <a:xfrm>
            <a:off x="548640" y="2103120"/>
            <a:ext cx="8046720" cy="54864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What stands between the model and the user, what it costs, and why agents mean more moving parts</a:t>
            </a:r>
            <a:endParaRPr lang="en-US" sz="1600" dirty="0"/>
          </a:p>
        </p:txBody>
      </p:sp>
      <p:sp>
        <p:nvSpPr>
          <p:cNvPr id="7" name="Shape 5"/>
          <p:cNvSpPr/>
          <p:nvPr/>
        </p:nvSpPr>
        <p:spPr>
          <a:xfrm>
            <a:off x="548640"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8" name="Text 6"/>
          <p:cNvSpPr txBox="1"/>
          <p:nvPr/>
        </p:nvSpPr>
        <p:spPr>
          <a:xfrm>
            <a:off x="548640"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ingestion &amp; versioning</a:t>
            </a:r>
            <a:endParaRPr lang="en-US" sz="800" dirty="0"/>
          </a:p>
        </p:txBody>
      </p:sp>
      <p:sp>
        <p:nvSpPr>
          <p:cNvPr id="9" name="Shape 7"/>
          <p:cNvSpPr/>
          <p:nvPr/>
        </p:nvSpPr>
        <p:spPr>
          <a:xfrm>
            <a:off x="1448816"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0" name="Text 8"/>
          <p:cNvSpPr txBox="1"/>
          <p:nvPr/>
        </p:nvSpPr>
        <p:spPr>
          <a:xfrm>
            <a:off x="1448816"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validation</a:t>
            </a:r>
            <a:endParaRPr lang="en-US" sz="800" dirty="0"/>
          </a:p>
        </p:txBody>
      </p:sp>
      <p:sp>
        <p:nvSpPr>
          <p:cNvPr id="11" name="Shape 9"/>
          <p:cNvSpPr/>
          <p:nvPr/>
        </p:nvSpPr>
        <p:spPr>
          <a:xfrm>
            <a:off x="2348992"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2" name="Text 10"/>
          <p:cNvSpPr txBox="1"/>
          <p:nvPr/>
        </p:nvSpPr>
        <p:spPr>
          <a:xfrm>
            <a:off x="2348992"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pre-processing</a:t>
            </a:r>
            <a:endParaRPr lang="en-US" sz="800" dirty="0"/>
          </a:p>
        </p:txBody>
      </p:sp>
      <p:sp>
        <p:nvSpPr>
          <p:cNvPr id="13" name="Shape 11"/>
          <p:cNvSpPr/>
          <p:nvPr/>
        </p:nvSpPr>
        <p:spPr>
          <a:xfrm>
            <a:off x="3249168"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4" name="Text 12"/>
          <p:cNvSpPr txBox="1"/>
          <p:nvPr/>
        </p:nvSpPr>
        <p:spPr>
          <a:xfrm>
            <a:off x="3249168"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training</a:t>
            </a:r>
            <a:endParaRPr lang="en-US" sz="800" dirty="0"/>
          </a:p>
        </p:txBody>
      </p:sp>
      <p:sp>
        <p:nvSpPr>
          <p:cNvPr id="15" name="Shape 13"/>
          <p:cNvSpPr/>
          <p:nvPr/>
        </p:nvSpPr>
        <p:spPr>
          <a:xfrm>
            <a:off x="4149344"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6" name="Text 14"/>
          <p:cNvSpPr txBox="1"/>
          <p:nvPr/>
        </p:nvSpPr>
        <p:spPr>
          <a:xfrm>
            <a:off x="4149344"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tuning</a:t>
            </a:r>
            <a:endParaRPr lang="en-US" sz="800" dirty="0"/>
          </a:p>
        </p:txBody>
      </p:sp>
      <p:sp>
        <p:nvSpPr>
          <p:cNvPr id="17" name="Shape 15"/>
          <p:cNvSpPr/>
          <p:nvPr/>
        </p:nvSpPr>
        <p:spPr>
          <a:xfrm>
            <a:off x="5049520"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8" name="Text 16"/>
          <p:cNvSpPr txBox="1"/>
          <p:nvPr/>
        </p:nvSpPr>
        <p:spPr>
          <a:xfrm>
            <a:off x="5049520"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analysis</a:t>
            </a:r>
            <a:endParaRPr lang="en-US" sz="800" dirty="0"/>
          </a:p>
        </p:txBody>
      </p:sp>
      <p:sp>
        <p:nvSpPr>
          <p:cNvPr id="19" name="Shape 17"/>
          <p:cNvSpPr/>
          <p:nvPr/>
        </p:nvSpPr>
        <p:spPr>
          <a:xfrm>
            <a:off x="5949696"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20" name="Text 18"/>
          <p:cNvSpPr txBox="1"/>
          <p:nvPr/>
        </p:nvSpPr>
        <p:spPr>
          <a:xfrm>
            <a:off x="5949696"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validation</a:t>
            </a:r>
            <a:endParaRPr lang="en-US" sz="800" dirty="0"/>
          </a:p>
        </p:txBody>
      </p:sp>
      <p:sp>
        <p:nvSpPr>
          <p:cNvPr id="21" name="Shape 19"/>
          <p:cNvSpPr/>
          <p:nvPr/>
        </p:nvSpPr>
        <p:spPr>
          <a:xfrm>
            <a:off x="6849872" y="3246120"/>
            <a:ext cx="845312" cy="566928"/>
          </a:xfrm>
          <a:prstGeom prst="roundRect">
            <a:avLst>
              <a:gd name="adj" fmla="val 9677"/>
            </a:avLst>
          </a:prstGeom>
          <a:solidFill>
            <a:srgbClr val="0E7C86"/>
          </a:solidFill>
          <a:ln w="12700">
            <a:solidFill>
              <a:srgbClr val="0E7C86"/>
            </a:solidFill>
            <a:prstDash val="solid"/>
          </a:ln>
        </p:spPr>
        <p:txBody>
          <a:bodyPr/>
          <a:p/>
        </p:txBody>
      </p:sp>
      <p:sp>
        <p:nvSpPr>
          <p:cNvPr id="22" name="Text 20"/>
          <p:cNvSpPr txBox="1"/>
          <p:nvPr/>
        </p:nvSpPr>
        <p:spPr>
          <a:xfrm>
            <a:off x="6849872" y="3246120"/>
            <a:ext cx="845312" cy="566928"/>
          </a:xfrm>
          <a:prstGeom prst="rect">
            <a:avLst/>
          </a:prstGeom>
          <a:noFill/>
          <a:ln/>
        </p:spPr>
        <p:txBody>
          <a:bodyPr wrap="square" lIns="254" tIns="254" rIns="254" bIns="254"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Model deployment</a:t>
            </a:r>
            <a:endParaRPr lang="en-US" sz="800" dirty="0"/>
          </a:p>
        </p:txBody>
      </p:sp>
      <p:sp>
        <p:nvSpPr>
          <p:cNvPr id="23" name="Shape 21"/>
          <p:cNvSpPr/>
          <p:nvPr/>
        </p:nvSpPr>
        <p:spPr>
          <a:xfrm>
            <a:off x="7750048" y="3246120"/>
            <a:ext cx="845312" cy="566928"/>
          </a:xfrm>
          <a:prstGeom prst="roundRect">
            <a:avLst>
              <a:gd name="adj" fmla="val 9677"/>
            </a:avLst>
          </a:prstGeom>
          <a:solidFill>
            <a:srgbClr val="0E7C86"/>
          </a:solidFill>
          <a:ln w="12700">
            <a:solidFill>
              <a:srgbClr val="0E7C86"/>
            </a:solidFill>
            <a:prstDash val="solid"/>
          </a:ln>
        </p:spPr>
        <p:txBody>
          <a:bodyPr/>
          <a:p/>
        </p:txBody>
      </p:sp>
      <p:sp>
        <p:nvSpPr>
          <p:cNvPr id="24" name="Text 22"/>
          <p:cNvSpPr txBox="1"/>
          <p:nvPr/>
        </p:nvSpPr>
        <p:spPr>
          <a:xfrm>
            <a:off x="7750048" y="3246120"/>
            <a:ext cx="845312" cy="566928"/>
          </a:xfrm>
          <a:prstGeom prst="rect">
            <a:avLst/>
          </a:prstGeom>
          <a:noFill/>
          <a:ln/>
        </p:spPr>
        <p:txBody>
          <a:bodyPr wrap="square" lIns="254" tIns="254" rIns="254" bIns="254"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Model feedback</a:t>
            </a:r>
            <a:endParaRPr lang="en-US" sz="800" dirty="0"/>
          </a:p>
        </p:txBody>
      </p:sp>
      <p:sp>
        <p:nvSpPr>
          <p:cNvPr id="25" name="Text 23"/>
          <p:cNvSpPr txBox="1"/>
          <p:nvPr/>
        </p:nvSpPr>
        <p:spPr>
          <a:xfrm>
            <a:off x="548640" y="4160520"/>
            <a:ext cx="8046720" cy="274320"/>
          </a:xfrm>
          <a:prstGeom prst="rect">
            <a:avLst/>
          </a:prstGeom>
          <a:noFill/>
          <a:ln/>
        </p:spPr>
        <p:txBody>
          <a:bodyPr wrap="square" lIns="0" tIns="0" rIns="0" bIns="0" rtlCol="0" anchor="ctr"/>
          <a:lstStyle/>
          <a:p>
            <a:pPr indent="0" marL="0">
              <a:buNone/>
            </a:pPr>
            <a:r>
              <a:rPr lang="en-US" sz="1000" i="1" dirty="0">
                <a:solidFill>
                  <a:srgbClr val="B8C4D6"/>
                </a:solidFill>
                <a:latin typeface="Calibri" pitchFamily="34" charset="0"/>
                <a:ea typeface="Calibri" pitchFamily="34" charset="-122"/>
                <a:cs typeface="Calibri" pitchFamily="34" charset="-120"/>
              </a:rPr>
              <a:t>The lifecycle we follow through the course · highlighted: where this section sits</a:t>
            </a:r>
            <a:endParaRPr lang="en-US" sz="1000" dirty="0"/>
          </a:p>
        </p:txBody>
      </p:sp>
      <p:pic>
        <p:nvPicPr>
          <p:cNvPr id="26" name="IE University logo" descr="IE University, School of Science &amp; Technology"/>
          <p:cNvPicPr>
            <a:picLocks noChangeAspect="1"/>
          </p:cNvPicPr>
          <p:nvPr/>
        </p:nvPicPr>
        <p:blipFill>
          <a:blip r:embed="rId3"/>
          <a:stretch>
            <a:fillRect/>
          </a:stretch>
        </p:blipFill>
        <p:spPr>
          <a:xfrm>
            <a:off x="8252653" y="109728"/>
            <a:ext cx="525587" cy="70439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10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15</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Guardrails: what stands between the model and the user, and what each one costs</a:t>
            </a:r>
            <a:endParaRPr lang="en-US" sz="2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8412480" cy="914400"/>
        </p:xfrm>
        <a:graphic>
          <a:graphicData uri="http://schemas.openxmlformats.org/drawingml/2006/table">
            <a:tbl>
              <a:tblPr/>
              <a:tblGrid>
                <a:gridCol w="731520"/>
                <a:gridCol w="2194560"/>
                <a:gridCol w="3108960"/>
                <a:gridCol w="2377440"/>
              </a:tblGrid>
              <a:tr h="384048">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Side</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Guardrail</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What it stops</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What it costs</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r>
              <a:tr h="384048">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Input</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PII detector</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Sending an employee's salary or ID to a third-party model</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~50 ms; occasional false block</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84048">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Input</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Prompt-injection classifier (Session 3)</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"Ignore your instructions and…" in a question or hidden in a document</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~100 ms; misses novel attacks</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84048">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Input</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Off-topic / abuse filter</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Questions the assistant should not answer at all</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~50 ms; false blocks frustrate users</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84048">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Output</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Groundedness check (a judge call)</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Claims not supported by the retrieved passages</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~900 ms and ~2× tokens: the expensive box</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84048">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Output</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PII and toxicity detectors</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A name from a document; offensive text</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~50 ms each</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84048">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Output</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Format check + refusal path</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No source cited; over 60 words; what the user sees when blocked</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Negligible; needs a designed message</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8" name="Shape 4"/>
          <p:cNvSpPr/>
          <p:nvPr/>
        </p:nvSpPr>
        <p:spPr>
          <a:xfrm>
            <a:off x="365760" y="4069080"/>
            <a:ext cx="8412480" cy="548640"/>
          </a:xfrm>
          <a:prstGeom prst="roundRect">
            <a:avLst>
              <a:gd name="adj" fmla="val 13333"/>
            </a:avLst>
          </a:prstGeom>
          <a:solidFill>
            <a:srgbClr val="E3F1F2"/>
          </a:solidFill>
          <a:ln w="12700">
            <a:solidFill>
              <a:srgbClr val="E3F1F2"/>
            </a:solidFill>
            <a:prstDash val="solid"/>
          </a:ln>
        </p:spPr>
        <p:txBody>
          <a:bodyPr/>
          <a:p/>
        </p:txBody>
      </p:sp>
      <p:pic>
        <p:nvPicPr>
          <p:cNvPr id="9" name="Image 0" descr="preencoded.png">    </p:cNvPr>
          <p:cNvPicPr>
            <a:picLocks noChangeAspect="1"/>
          </p:cNvPicPr>
          <p:nvPr/>
        </p:nvPicPr>
        <p:blipFill>
          <a:blip r:embed="rId1"/>
          <a:stretch>
            <a:fillRect/>
          </a:stretch>
        </p:blipFill>
        <p:spPr>
          <a:xfrm>
            <a:off x="502920" y="4206240"/>
            <a:ext cx="274320" cy="274320"/>
          </a:xfrm>
          <a:prstGeom prst="rect">
            <a:avLst/>
          </a:prstGeom>
        </p:spPr>
      </p:pic>
      <p:sp>
        <p:nvSpPr>
          <p:cNvPr id="10" name="Text 5"/>
          <p:cNvSpPr txBox="1"/>
          <p:nvPr/>
        </p:nvSpPr>
        <p:spPr>
          <a:xfrm>
            <a:off x="896112" y="4069080"/>
            <a:ext cx="7772400" cy="548640"/>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A guardrail is a control with a latency budget and a false-block rate, monitored like anything else. If you could afford only two for the HR assistant, which two? (Forum 5, Theme B)</a:t>
            </a:r>
            <a:endParaRPr lang="en-US" sz="1050" dirty="0"/>
          </a:p>
        </p:txBody>
      </p:sp>
      <p:pic>
        <p:nvPicPr>
          <p:cNvPr id="17"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10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16</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Cost and latency: one worked example, and where the money really goes</a:t>
            </a:r>
            <a:endParaRPr lang="en-US" sz="2400" dirty="0"/>
          </a:p>
        </p:txBody>
      </p:sp>
      <p:sp>
        <p:nvSpPr>
          <p:cNvPr id="7" name="Text 4"/>
          <p:cNvSpPr txBox="1"/>
          <p:nvPr/>
        </p:nvSpPr>
        <p:spPr>
          <a:xfrm>
            <a:off x="365760" y="1188720"/>
            <a:ext cx="8412480" cy="320040"/>
          </a:xfrm>
          <a:prstGeom prst="rect">
            <a:avLst/>
          </a:prstGeom>
          <a:noFill/>
          <a:ln/>
        </p:spPr>
        <p:txBody>
          <a:bodyPr wrap="square" lIns="0" tIns="0" rIns="0" bIns="0" rtlCol="0" anchor="t"/>
          <a:lstStyle/>
          <a:p>
            <a:pPr algn="l" indent="0" marL="0">
              <a:buNone/>
            </a:pPr>
            <a:r>
              <a:rPr lang="en-US" sz="1300" b="1" dirty="0">
                <a:solidFill>
                  <a:srgbClr val="0E7C86"/>
                </a:solidFill>
                <a:latin typeface="Calibri" pitchFamily="34" charset="0"/>
                <a:ea typeface="Calibri" pitchFamily="34" charset="-122"/>
                <a:cs typeface="Calibri" pitchFamily="34" charset="-120"/>
              </a:rPr>
              <a:t>cost per day = questions per day × tokens per question × price per token</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65760" y="1600200"/>
          <a:ext cx="8412480" cy="914400"/>
        </p:xfrm>
        <a:graphic>
          <a:graphicData uri="http://schemas.openxmlformats.org/drawingml/2006/table">
            <a:tbl>
              <a:tblPr/>
              <a:tblGrid>
                <a:gridCol w="2194560"/>
                <a:gridCol w="4754880"/>
                <a:gridCol w="1463040"/>
              </a:tblGrid>
              <a:tr h="365760">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Line</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Arithmetic (illustrative prices: 2.5 EUR / M input tokens, 10 EUR / M output)</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Per year</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r>
              <a:tr h="365760">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Answering (v2)</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3,000 questions/day × (760 in + 34 out tokens) → 2.24 EUR per 1,000 → 6.70 EUR/day</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 2,450 EUR</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65760">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Daily judge, 10% sample</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300 judged/day × ~1,500 tokens → ≈ 1 EUR/day</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 370 EUR</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65760">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Groundedness guardrail on every answer</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One extra model call per answer → roughly doubles the answering line</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 +2,400 EUR</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65760">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Human review, 100 conversations/week</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100 × 3 min = 5 hours of HR time a week</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 12,000 EUR</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65760">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Cache (30% of questions repeat)</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Answered in milliseconds for nothing; invalidate when documents change</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 −700 EUR; −1.3 s</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9" name="Shape 5"/>
          <p:cNvSpPr/>
          <p:nvPr/>
        </p:nvSpPr>
        <p:spPr>
          <a:xfrm>
            <a:off x="365760" y="3840480"/>
            <a:ext cx="4114800" cy="822960"/>
          </a:xfrm>
          <a:prstGeom prst="roundRect">
            <a:avLst>
              <a:gd name="adj" fmla="val 8889"/>
            </a:avLst>
          </a:prstGeom>
          <a:solidFill>
            <a:srgbClr val="FBE9DC"/>
          </a:solidFill>
          <a:ln w="12700">
            <a:solidFill>
              <a:srgbClr val="FBE9DC"/>
            </a:solidFill>
            <a:prstDash val="solid"/>
          </a:ln>
        </p:spPr>
        <p:txBody>
          <a:bodyPr/>
          <a:p/>
        </p:txBody>
      </p:sp>
      <p:sp>
        <p:nvSpPr>
          <p:cNvPr id="10" name="Text 6"/>
          <p:cNvSpPr txBox="1"/>
          <p:nvPr/>
        </p:nvSpPr>
        <p:spPr>
          <a:xfrm>
            <a:off x="502920" y="3931920"/>
            <a:ext cx="3840480" cy="329184"/>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The people are the biggest line</a:t>
            </a:r>
            <a:endParaRPr lang="en-US" sz="1300" dirty="0"/>
          </a:p>
        </p:txBody>
      </p:sp>
      <p:sp>
        <p:nvSpPr>
          <p:cNvPr id="11" name="Text 7"/>
          <p:cNvSpPr txBox="1"/>
          <p:nvPr/>
        </p:nvSpPr>
        <p:spPr>
          <a:xfrm>
            <a:off x="502920" y="4297680"/>
            <a:ext cx="3840480" cy="274320"/>
          </a:xfrm>
          <a:prstGeom prst="rect">
            <a:avLst/>
          </a:prstGeom>
          <a:noFill/>
          <a:ln/>
        </p:spPr>
        <p:txBody>
          <a:bodyPr wrap="square" lIns="0" tIns="0" rIns="0" bIns="0"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And the only line that produces truth (Video 1, segment 3). Budget them first.</a:t>
            </a:r>
            <a:endParaRPr lang="en-US" sz="1000" dirty="0"/>
          </a:p>
        </p:txBody>
      </p:sp>
      <p:sp>
        <p:nvSpPr>
          <p:cNvPr id="12" name="Shape 8"/>
          <p:cNvSpPr/>
          <p:nvPr/>
        </p:nvSpPr>
        <p:spPr>
          <a:xfrm>
            <a:off x="4663440" y="3840480"/>
            <a:ext cx="4114800" cy="822960"/>
          </a:xfrm>
          <a:prstGeom prst="roundRect">
            <a:avLst>
              <a:gd name="adj" fmla="val 8889"/>
            </a:avLst>
          </a:prstGeom>
          <a:solidFill>
            <a:srgbClr val="E3F1F2"/>
          </a:solidFill>
          <a:ln w="12700">
            <a:solidFill>
              <a:srgbClr val="E3F1F2"/>
            </a:solidFill>
            <a:prstDash val="solid"/>
          </a:ln>
        </p:spPr>
        <p:txBody>
          <a:bodyPr/>
          <a:p/>
        </p:txBody>
      </p:sp>
      <p:sp>
        <p:nvSpPr>
          <p:cNvPr id="13" name="Text 9"/>
          <p:cNvSpPr txBox="1"/>
          <p:nvPr/>
        </p:nvSpPr>
        <p:spPr>
          <a:xfrm>
            <a:off x="4800600" y="3931920"/>
            <a:ext cx="3840480" cy="329184"/>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The latency budget: p95 &lt; 3 s</a:t>
            </a:r>
            <a:endParaRPr lang="en-US" sz="1300" dirty="0"/>
          </a:p>
        </p:txBody>
      </p:sp>
      <p:sp>
        <p:nvSpPr>
          <p:cNvPr id="14" name="Text 10"/>
          <p:cNvSpPr txBox="1"/>
          <p:nvPr/>
        </p:nvSpPr>
        <p:spPr>
          <a:xfrm>
            <a:off x="4800600" y="4297680"/>
            <a:ext cx="3840480" cy="274320"/>
          </a:xfrm>
          <a:prstGeom prst="rect">
            <a:avLst/>
          </a:prstGeom>
          <a:noFill/>
          <a:ln/>
        </p:spPr>
        <p:txBody>
          <a:bodyPr wrap="square" lIns="0" tIns="0" rIns="0" bIns="0"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Guardrails 200 ms + retrieval 150 + generation 1,200 + groundedness 900 = 2,450. Something has to give, by decision.</a:t>
            </a:r>
            <a:endParaRPr lang="en-US" sz="1000" dirty="0"/>
          </a:p>
        </p:txBody>
      </p:sp>
      <p:pic>
        <p:nvPicPr>
          <p:cNvPr id="18" name="IE University logo" descr="IE University, School of Science &amp; Technology"/>
          <p:cNvPicPr>
            <a:picLocks noChangeAspect="1"/>
          </p:cNvPicPr>
          <p:nvPr/>
        </p:nvPicPr>
        <p:blipFill>
          <a:blip r:embed="rId3"/>
          <a:stretch>
            <a:fillRect/>
          </a:stretch>
        </p:blipFill>
        <p:spPr>
          <a:xfrm>
            <a:off x="8013607" y="92634"/>
            <a:ext cx="764633" cy="26278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10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17</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You already know how to monitor it: the Video 1 recap in one slide</a:t>
            </a:r>
            <a:endParaRPr lang="en-US" sz="2400" dirty="0"/>
          </a:p>
        </p:txBody>
      </p:sp>
      <p:sp>
        <p:nvSpPr>
          <p:cNvPr id="7" name="Shape 4"/>
          <p:cNvSpPr/>
          <p:nvPr/>
        </p:nvSpPr>
        <p:spPr>
          <a:xfrm>
            <a:off x="365760" y="1234440"/>
            <a:ext cx="2697480" cy="1097280"/>
          </a:xfrm>
          <a:prstGeom prst="roundRect">
            <a:avLst>
              <a:gd name="adj" fmla="val 6667"/>
            </a:avLst>
          </a:prstGeom>
          <a:solidFill>
            <a:srgbClr val="F3F5F8"/>
          </a:solidFill>
          <a:ln w="12700">
            <a:solidFill>
              <a:srgbClr val="F3F5F8"/>
            </a:solidFill>
            <a:prstDash val="solid"/>
          </a:ln>
        </p:spPr>
        <p:txBody>
          <a:bodyPr/>
          <a:p/>
        </p:txBody>
      </p:sp>
      <p:sp>
        <p:nvSpPr>
          <p:cNvPr id="8" name="Shape 5"/>
          <p:cNvSpPr/>
          <p:nvPr/>
        </p:nvSpPr>
        <p:spPr>
          <a:xfrm>
            <a:off x="502920" y="1353312"/>
            <a:ext cx="347472" cy="347472"/>
          </a:xfrm>
          <a:prstGeom prst="ellipse">
            <a:avLst/>
          </a:prstGeom>
          <a:solidFill>
            <a:srgbClr val="0E7C86"/>
          </a:solidFill>
          <a:ln w="12700">
            <a:solidFill>
              <a:srgbClr val="0E7C86"/>
            </a:solidFill>
            <a:prstDash val="solid"/>
          </a:ln>
        </p:spPr>
        <p:txBody>
          <a:bodyPr/>
          <a:p/>
        </p:txBody>
      </p:sp>
      <p:pic>
        <p:nvPicPr>
          <p:cNvPr id="9" name="Image 0" descr="preencoded.png">    </p:cNvPr>
          <p:cNvPicPr>
            <a:picLocks noChangeAspect="1"/>
          </p:cNvPicPr>
          <p:nvPr/>
        </p:nvPicPr>
        <p:blipFill>
          <a:blip r:embed="rId1"/>
          <a:stretch>
            <a:fillRect/>
          </a:stretch>
        </p:blipFill>
        <p:spPr>
          <a:xfrm>
            <a:off x="576072" y="1426464"/>
            <a:ext cx="201168" cy="201168"/>
          </a:xfrm>
          <a:prstGeom prst="rect">
            <a:avLst/>
          </a:prstGeom>
        </p:spPr>
      </p:pic>
      <p:sp>
        <p:nvSpPr>
          <p:cNvPr id="10" name="Text 6"/>
          <p:cNvSpPr txBox="1"/>
          <p:nvPr/>
        </p:nvSpPr>
        <p:spPr>
          <a:xfrm>
            <a:off x="932688" y="1325880"/>
            <a:ext cx="201168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Quality and faithfulness</a:t>
            </a:r>
            <a:endParaRPr lang="en-US" sz="1300" dirty="0"/>
          </a:p>
        </p:txBody>
      </p:sp>
      <p:sp>
        <p:nvSpPr>
          <p:cNvPr id="11" name="Text 7"/>
          <p:cNvSpPr txBox="1"/>
          <p:nvPr/>
        </p:nvSpPr>
        <p:spPr>
          <a:xfrm>
            <a:off x="502920" y="1783080"/>
            <a:ext cx="2423160" cy="457200"/>
          </a:xfrm>
          <a:prstGeom prst="rect">
            <a:avLst/>
          </a:prstGeom>
          <a:noFill/>
          <a:ln/>
        </p:spPr>
        <p:txBody>
          <a:bodyPr wrap="square" lIns="0" tIns="0" rIns="0" bIns="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judge daily · humans weekly</a:t>
            </a:r>
            <a:endParaRPr lang="en-US" sz="1050" dirty="0"/>
          </a:p>
        </p:txBody>
      </p:sp>
      <p:sp>
        <p:nvSpPr>
          <p:cNvPr id="12" name="Shape 8"/>
          <p:cNvSpPr/>
          <p:nvPr/>
        </p:nvSpPr>
        <p:spPr>
          <a:xfrm>
            <a:off x="3218688" y="1234440"/>
            <a:ext cx="2697480" cy="1097280"/>
          </a:xfrm>
          <a:prstGeom prst="roundRect">
            <a:avLst>
              <a:gd name="adj" fmla="val 6667"/>
            </a:avLst>
          </a:prstGeom>
          <a:solidFill>
            <a:srgbClr val="F3F5F8"/>
          </a:solidFill>
          <a:ln w="12700">
            <a:solidFill>
              <a:srgbClr val="F3F5F8"/>
            </a:solidFill>
            <a:prstDash val="solid"/>
          </a:ln>
        </p:spPr>
        <p:txBody>
          <a:bodyPr/>
          <a:p/>
        </p:txBody>
      </p:sp>
      <p:sp>
        <p:nvSpPr>
          <p:cNvPr id="13" name="Shape 9"/>
          <p:cNvSpPr/>
          <p:nvPr/>
        </p:nvSpPr>
        <p:spPr>
          <a:xfrm>
            <a:off x="3355848" y="1353312"/>
            <a:ext cx="347472" cy="347472"/>
          </a:xfrm>
          <a:prstGeom prst="ellipse">
            <a:avLst/>
          </a:prstGeom>
          <a:solidFill>
            <a:srgbClr val="B42318"/>
          </a:solidFill>
          <a:ln w="12700">
            <a:solidFill>
              <a:srgbClr val="B42318"/>
            </a:solidFill>
            <a:prstDash val="solid"/>
          </a:ln>
        </p:spPr>
        <p:txBody>
          <a:bodyPr/>
          <a:p/>
        </p:txBody>
      </p:sp>
      <p:pic>
        <p:nvPicPr>
          <p:cNvPr id="14" name="Image 1" descr="preencoded.png">    </p:cNvPr>
          <p:cNvPicPr>
            <a:picLocks noChangeAspect="1"/>
          </p:cNvPicPr>
          <p:nvPr/>
        </p:nvPicPr>
        <p:blipFill>
          <a:blip r:embed="rId2"/>
          <a:stretch>
            <a:fillRect/>
          </a:stretch>
        </p:blipFill>
        <p:spPr>
          <a:xfrm>
            <a:off x="3429000" y="1426464"/>
            <a:ext cx="201168" cy="201168"/>
          </a:xfrm>
          <a:prstGeom prst="rect">
            <a:avLst/>
          </a:prstGeom>
        </p:spPr>
      </p:pic>
      <p:sp>
        <p:nvSpPr>
          <p:cNvPr id="15" name="Text 10"/>
          <p:cNvSpPr txBox="1"/>
          <p:nvPr/>
        </p:nvSpPr>
        <p:spPr>
          <a:xfrm>
            <a:off x="3785616" y="1325880"/>
            <a:ext cx="201168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Counted failures</a:t>
            </a:r>
            <a:endParaRPr lang="en-US" sz="1300" dirty="0"/>
          </a:p>
        </p:txBody>
      </p:sp>
      <p:sp>
        <p:nvSpPr>
          <p:cNvPr id="16" name="Text 11"/>
          <p:cNvSpPr txBox="1"/>
          <p:nvPr/>
        </p:nvSpPr>
        <p:spPr>
          <a:xfrm>
            <a:off x="3355848" y="1783080"/>
            <a:ext cx="2423160" cy="457200"/>
          </a:xfrm>
          <a:prstGeom prst="rect">
            <a:avLst/>
          </a:prstGeom>
          <a:noFill/>
          <a:ln/>
        </p:spPr>
        <p:txBody>
          <a:bodyPr wrap="square" lIns="0" tIns="0" rIns="0" bIns="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hallucination · HAP · PII (threshold 0)</a:t>
            </a:r>
            <a:endParaRPr lang="en-US" sz="1050" dirty="0"/>
          </a:p>
        </p:txBody>
      </p:sp>
      <p:sp>
        <p:nvSpPr>
          <p:cNvPr id="17" name="Shape 12"/>
          <p:cNvSpPr/>
          <p:nvPr/>
        </p:nvSpPr>
        <p:spPr>
          <a:xfrm>
            <a:off x="6071616" y="1234440"/>
            <a:ext cx="2697480" cy="1097280"/>
          </a:xfrm>
          <a:prstGeom prst="roundRect">
            <a:avLst>
              <a:gd name="adj" fmla="val 6667"/>
            </a:avLst>
          </a:prstGeom>
          <a:solidFill>
            <a:srgbClr val="F3F5F8"/>
          </a:solidFill>
          <a:ln w="12700">
            <a:solidFill>
              <a:srgbClr val="F3F5F8"/>
            </a:solidFill>
            <a:prstDash val="solid"/>
          </a:ln>
        </p:spPr>
        <p:txBody>
          <a:bodyPr/>
          <a:p/>
        </p:txBody>
      </p:sp>
      <p:sp>
        <p:nvSpPr>
          <p:cNvPr id="18" name="Shape 13"/>
          <p:cNvSpPr/>
          <p:nvPr/>
        </p:nvSpPr>
        <p:spPr>
          <a:xfrm>
            <a:off x="6208776" y="1353312"/>
            <a:ext cx="347472" cy="347472"/>
          </a:xfrm>
          <a:prstGeom prst="ellipse">
            <a:avLst/>
          </a:prstGeom>
          <a:solidFill>
            <a:srgbClr val="0E7C86"/>
          </a:solidFill>
          <a:ln w="12700">
            <a:solidFill>
              <a:srgbClr val="0E7C86"/>
            </a:solidFill>
            <a:prstDash val="solid"/>
          </a:ln>
        </p:spPr>
        <p:txBody>
          <a:bodyPr/>
          <a:p/>
        </p:txBody>
      </p:sp>
      <p:pic>
        <p:nvPicPr>
          <p:cNvPr id="19" name="Image 2" descr="preencoded.png">    </p:cNvPr>
          <p:cNvPicPr>
            <a:picLocks noChangeAspect="1"/>
          </p:cNvPicPr>
          <p:nvPr/>
        </p:nvPicPr>
        <p:blipFill>
          <a:blip r:embed="rId3"/>
          <a:stretch>
            <a:fillRect/>
          </a:stretch>
        </p:blipFill>
        <p:spPr>
          <a:xfrm>
            <a:off x="6281928" y="1426464"/>
            <a:ext cx="201168" cy="201168"/>
          </a:xfrm>
          <a:prstGeom prst="rect">
            <a:avLst/>
          </a:prstGeom>
        </p:spPr>
      </p:pic>
      <p:sp>
        <p:nvSpPr>
          <p:cNvPr id="20" name="Text 14"/>
          <p:cNvSpPr txBox="1"/>
          <p:nvPr/>
        </p:nvSpPr>
        <p:spPr>
          <a:xfrm>
            <a:off x="6638544" y="1325880"/>
            <a:ext cx="201168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Groundedness and retrieval</a:t>
            </a:r>
            <a:endParaRPr lang="en-US" sz="1300" dirty="0"/>
          </a:p>
        </p:txBody>
      </p:sp>
      <p:sp>
        <p:nvSpPr>
          <p:cNvPr id="21" name="Text 15"/>
          <p:cNvSpPr txBox="1"/>
          <p:nvPr/>
        </p:nvSpPr>
        <p:spPr>
          <a:xfrm>
            <a:off x="6208776" y="1783080"/>
            <a:ext cx="2423160" cy="457200"/>
          </a:xfrm>
          <a:prstGeom prst="rect">
            <a:avLst/>
          </a:prstGeom>
          <a:noFill/>
          <a:ln/>
        </p:spPr>
        <p:txBody>
          <a:bodyPr wrap="square" lIns="0" tIns="0" rIns="0" bIns="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per answer; after every document change</a:t>
            </a:r>
            <a:endParaRPr lang="en-US" sz="1050" dirty="0"/>
          </a:p>
        </p:txBody>
      </p:sp>
      <p:sp>
        <p:nvSpPr>
          <p:cNvPr id="22" name="Shape 16"/>
          <p:cNvSpPr/>
          <p:nvPr/>
        </p:nvSpPr>
        <p:spPr>
          <a:xfrm>
            <a:off x="365760" y="2468880"/>
            <a:ext cx="2697480" cy="1097280"/>
          </a:xfrm>
          <a:prstGeom prst="roundRect">
            <a:avLst>
              <a:gd name="adj" fmla="val 6667"/>
            </a:avLst>
          </a:prstGeom>
          <a:solidFill>
            <a:srgbClr val="F3F5F8"/>
          </a:solidFill>
          <a:ln w="12700">
            <a:solidFill>
              <a:srgbClr val="F3F5F8"/>
            </a:solidFill>
            <a:prstDash val="solid"/>
          </a:ln>
        </p:spPr>
        <p:txBody>
          <a:bodyPr/>
          <a:p/>
        </p:txBody>
      </p:sp>
      <p:sp>
        <p:nvSpPr>
          <p:cNvPr id="23" name="Shape 17"/>
          <p:cNvSpPr/>
          <p:nvPr/>
        </p:nvSpPr>
        <p:spPr>
          <a:xfrm>
            <a:off x="502920" y="2587752"/>
            <a:ext cx="347472" cy="347472"/>
          </a:xfrm>
          <a:prstGeom prst="ellipse">
            <a:avLst/>
          </a:prstGeom>
          <a:solidFill>
            <a:srgbClr val="0E7C86"/>
          </a:solidFill>
          <a:ln w="12700">
            <a:solidFill>
              <a:srgbClr val="0E7C86"/>
            </a:solidFill>
            <a:prstDash val="solid"/>
          </a:ln>
        </p:spPr>
        <p:txBody>
          <a:bodyPr/>
          <a:p/>
        </p:txBody>
      </p:sp>
      <p:pic>
        <p:nvPicPr>
          <p:cNvPr id="24" name="Image 3" descr="preencoded.png">    </p:cNvPr>
          <p:cNvPicPr>
            <a:picLocks noChangeAspect="1"/>
          </p:cNvPicPr>
          <p:nvPr/>
        </p:nvPicPr>
        <p:blipFill>
          <a:blip r:embed="rId4"/>
          <a:stretch>
            <a:fillRect/>
          </a:stretch>
        </p:blipFill>
        <p:spPr>
          <a:xfrm>
            <a:off x="576072" y="2660904"/>
            <a:ext cx="201168" cy="201168"/>
          </a:xfrm>
          <a:prstGeom prst="rect">
            <a:avLst/>
          </a:prstGeom>
        </p:spPr>
      </p:pic>
      <p:sp>
        <p:nvSpPr>
          <p:cNvPr id="25" name="Text 18"/>
          <p:cNvSpPr txBox="1"/>
          <p:nvPr/>
        </p:nvSpPr>
        <p:spPr>
          <a:xfrm>
            <a:off x="932688" y="2560320"/>
            <a:ext cx="201168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Tokens, cost, latency</a:t>
            </a:r>
            <a:endParaRPr lang="en-US" sz="1300" dirty="0"/>
          </a:p>
        </p:txBody>
      </p:sp>
      <p:sp>
        <p:nvSpPr>
          <p:cNvPr id="26" name="Text 19"/>
          <p:cNvSpPr txBox="1"/>
          <p:nvPr/>
        </p:nvSpPr>
        <p:spPr>
          <a:xfrm>
            <a:off x="502920" y="3017520"/>
            <a:ext cx="2423160" cy="457200"/>
          </a:xfrm>
          <a:prstGeom prst="rect">
            <a:avLst/>
          </a:prstGeom>
          <a:noFill/>
          <a:ln/>
        </p:spPr>
        <p:txBody>
          <a:bodyPr wrap="square" lIns="0" tIns="0" rIns="0" bIns="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per request; a budget line; p95 first token</a:t>
            </a:r>
            <a:endParaRPr lang="en-US" sz="1050" dirty="0"/>
          </a:p>
        </p:txBody>
      </p:sp>
      <p:sp>
        <p:nvSpPr>
          <p:cNvPr id="27" name="Shape 20"/>
          <p:cNvSpPr/>
          <p:nvPr/>
        </p:nvSpPr>
        <p:spPr>
          <a:xfrm>
            <a:off x="3218688" y="2468880"/>
            <a:ext cx="2697480" cy="1097280"/>
          </a:xfrm>
          <a:prstGeom prst="roundRect">
            <a:avLst>
              <a:gd name="adj" fmla="val 6667"/>
            </a:avLst>
          </a:prstGeom>
          <a:solidFill>
            <a:srgbClr val="F3F5F8"/>
          </a:solidFill>
          <a:ln w="12700">
            <a:solidFill>
              <a:srgbClr val="F3F5F8"/>
            </a:solidFill>
            <a:prstDash val="solid"/>
          </a:ln>
        </p:spPr>
        <p:txBody>
          <a:bodyPr/>
          <a:p/>
        </p:txBody>
      </p:sp>
      <p:sp>
        <p:nvSpPr>
          <p:cNvPr id="28" name="Shape 21"/>
          <p:cNvSpPr/>
          <p:nvPr/>
        </p:nvSpPr>
        <p:spPr>
          <a:xfrm>
            <a:off x="3355848" y="2587752"/>
            <a:ext cx="347472" cy="347472"/>
          </a:xfrm>
          <a:prstGeom prst="ellipse">
            <a:avLst/>
          </a:prstGeom>
          <a:solidFill>
            <a:srgbClr val="0E7C86"/>
          </a:solidFill>
          <a:ln w="12700">
            <a:solidFill>
              <a:srgbClr val="0E7C86"/>
            </a:solidFill>
            <a:prstDash val="solid"/>
          </a:ln>
        </p:spPr>
        <p:txBody>
          <a:bodyPr/>
          <a:p/>
        </p:txBody>
      </p:sp>
      <p:pic>
        <p:nvPicPr>
          <p:cNvPr id="29" name="Image 4" descr="preencoded.png">    </p:cNvPr>
          <p:cNvPicPr>
            <a:picLocks noChangeAspect="1"/>
          </p:cNvPicPr>
          <p:nvPr/>
        </p:nvPicPr>
        <p:blipFill>
          <a:blip r:embed="rId5"/>
          <a:stretch>
            <a:fillRect/>
          </a:stretch>
        </p:blipFill>
        <p:spPr>
          <a:xfrm>
            <a:off x="3429000" y="2660904"/>
            <a:ext cx="201168" cy="201168"/>
          </a:xfrm>
          <a:prstGeom prst="rect">
            <a:avLst/>
          </a:prstGeom>
        </p:spPr>
      </p:pic>
      <p:sp>
        <p:nvSpPr>
          <p:cNvPr id="30" name="Text 22"/>
          <p:cNvSpPr txBox="1"/>
          <p:nvPr/>
        </p:nvSpPr>
        <p:spPr>
          <a:xfrm>
            <a:off x="3785616" y="2560320"/>
            <a:ext cx="201168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Feedback</a:t>
            </a:r>
            <a:endParaRPr lang="en-US" sz="1300" dirty="0"/>
          </a:p>
        </p:txBody>
      </p:sp>
      <p:sp>
        <p:nvSpPr>
          <p:cNvPr id="31" name="Text 23"/>
          <p:cNvSpPr txBox="1"/>
          <p:nvPr/>
        </p:nvSpPr>
        <p:spPr>
          <a:xfrm>
            <a:off x="3355848" y="3017520"/>
            <a:ext cx="2423160" cy="457200"/>
          </a:xfrm>
          <a:prstGeom prst="rect">
            <a:avLst/>
          </a:prstGeom>
          <a:noFill/>
          <a:ln/>
        </p:spPr>
        <p:txBody>
          <a:bodyPr wrap="square" lIns="0" tIns="0" rIns="0" bIns="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thumbs · escalation · resolution rate</a:t>
            </a:r>
            <a:endParaRPr lang="en-US" sz="1050" dirty="0"/>
          </a:p>
        </p:txBody>
      </p:sp>
      <p:sp>
        <p:nvSpPr>
          <p:cNvPr id="32" name="Shape 24"/>
          <p:cNvSpPr/>
          <p:nvPr/>
        </p:nvSpPr>
        <p:spPr>
          <a:xfrm>
            <a:off x="6071616" y="2468880"/>
            <a:ext cx="2697480" cy="1097280"/>
          </a:xfrm>
          <a:prstGeom prst="roundRect">
            <a:avLst>
              <a:gd name="adj" fmla="val 6667"/>
            </a:avLst>
          </a:prstGeom>
          <a:solidFill>
            <a:srgbClr val="F3F5F8"/>
          </a:solidFill>
          <a:ln w="12700">
            <a:solidFill>
              <a:srgbClr val="F3F5F8"/>
            </a:solidFill>
            <a:prstDash val="solid"/>
          </a:ln>
        </p:spPr>
        <p:txBody>
          <a:bodyPr/>
          <a:p/>
        </p:txBody>
      </p:sp>
      <p:sp>
        <p:nvSpPr>
          <p:cNvPr id="33" name="Shape 25"/>
          <p:cNvSpPr/>
          <p:nvPr/>
        </p:nvSpPr>
        <p:spPr>
          <a:xfrm>
            <a:off x="6208776" y="2587752"/>
            <a:ext cx="347472" cy="347472"/>
          </a:xfrm>
          <a:prstGeom prst="ellipse">
            <a:avLst/>
          </a:prstGeom>
          <a:solidFill>
            <a:srgbClr val="0E7C86"/>
          </a:solidFill>
          <a:ln w="12700">
            <a:solidFill>
              <a:srgbClr val="0E7C86"/>
            </a:solidFill>
            <a:prstDash val="solid"/>
          </a:ln>
        </p:spPr>
        <p:txBody>
          <a:bodyPr/>
          <a:p/>
        </p:txBody>
      </p:sp>
      <p:pic>
        <p:nvPicPr>
          <p:cNvPr id="34" name="Image 5" descr="preencoded.png">    </p:cNvPr>
          <p:cNvPicPr>
            <a:picLocks noChangeAspect="1"/>
          </p:cNvPicPr>
          <p:nvPr/>
        </p:nvPicPr>
        <p:blipFill>
          <a:blip r:embed="rId6"/>
          <a:stretch>
            <a:fillRect/>
          </a:stretch>
        </p:blipFill>
        <p:spPr>
          <a:xfrm>
            <a:off x="6281928" y="2660904"/>
            <a:ext cx="201168" cy="201168"/>
          </a:xfrm>
          <a:prstGeom prst="rect">
            <a:avLst/>
          </a:prstGeom>
        </p:spPr>
      </p:pic>
      <p:sp>
        <p:nvSpPr>
          <p:cNvPr id="35" name="Text 26"/>
          <p:cNvSpPr txBox="1"/>
          <p:nvPr/>
        </p:nvSpPr>
        <p:spPr>
          <a:xfrm>
            <a:off x="6638544" y="2560320"/>
            <a:ext cx="201168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Three drifts</a:t>
            </a:r>
            <a:endParaRPr lang="en-US" sz="1300" dirty="0"/>
          </a:p>
        </p:txBody>
      </p:sp>
      <p:sp>
        <p:nvSpPr>
          <p:cNvPr id="36" name="Text 27"/>
          <p:cNvSpPr txBox="1"/>
          <p:nvPr/>
        </p:nvSpPr>
        <p:spPr>
          <a:xfrm>
            <a:off x="6208776" y="3017520"/>
            <a:ext cx="2423160" cy="457200"/>
          </a:xfrm>
          <a:prstGeom prst="rect">
            <a:avLst/>
          </a:prstGeom>
          <a:noFill/>
          <a:ln/>
        </p:spPr>
        <p:txBody>
          <a:bodyPr wrap="square" lIns="0" tIns="0" rIns="0" bIns="0" rtlCol="0" anchor="t"/>
          <a:lstStyle/>
          <a:p>
            <a:pPr algn="l" indent="0" marL="0">
              <a:buNone/>
            </a:pPr>
            <a:r>
              <a:rPr lang="en-US" sz="1050" dirty="0">
                <a:solidFill>
                  <a:srgbClr val="222222"/>
                </a:solidFill>
                <a:latin typeface="Calibri" pitchFamily="34" charset="0"/>
                <a:ea typeface="Calibri" pitchFamily="34" charset="-122"/>
                <a:cs typeface="Calibri" pitchFamily="34" charset="-120"/>
              </a:rPr>
              <a:t>questions · documents · answers</a:t>
            </a:r>
            <a:endParaRPr lang="en-US" sz="1050" dirty="0"/>
          </a:p>
        </p:txBody>
      </p:sp>
      <p:sp>
        <p:nvSpPr>
          <p:cNvPr id="37" name="Shape 28"/>
          <p:cNvSpPr/>
          <p:nvPr/>
        </p:nvSpPr>
        <p:spPr>
          <a:xfrm>
            <a:off x="365760" y="3840480"/>
            <a:ext cx="8412480" cy="594360"/>
          </a:xfrm>
          <a:prstGeom prst="roundRect">
            <a:avLst>
              <a:gd name="adj" fmla="val 12308"/>
            </a:avLst>
          </a:prstGeom>
          <a:solidFill>
            <a:srgbClr val="E3F1F2"/>
          </a:solidFill>
          <a:ln w="12700">
            <a:solidFill>
              <a:srgbClr val="E3F1F2"/>
            </a:solidFill>
            <a:prstDash val="solid"/>
          </a:ln>
        </p:spPr>
        <p:txBody>
          <a:bodyPr/>
          <a:p/>
        </p:txBody>
      </p:sp>
      <p:pic>
        <p:nvPicPr>
          <p:cNvPr id="38" name="Image 6" descr="preencoded.png">    </p:cNvPr>
          <p:cNvPicPr>
            <a:picLocks noChangeAspect="1"/>
          </p:cNvPicPr>
          <p:nvPr/>
        </p:nvPicPr>
        <p:blipFill>
          <a:blip r:embed="rId7"/>
          <a:stretch>
            <a:fillRect/>
          </a:stretch>
        </p:blipFill>
        <p:spPr>
          <a:xfrm>
            <a:off x="502920" y="4000500"/>
            <a:ext cx="274320" cy="274320"/>
          </a:xfrm>
          <a:prstGeom prst="rect">
            <a:avLst/>
          </a:prstGeom>
        </p:spPr>
      </p:pic>
      <p:sp>
        <p:nvSpPr>
          <p:cNvPr id="39" name="Text 29"/>
          <p:cNvSpPr txBox="1"/>
          <p:nvPr/>
        </p:nvSpPr>
        <p:spPr>
          <a:xfrm>
            <a:off x="896112" y="3840480"/>
            <a:ext cx="7772400" cy="59436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Every answer logged with prompt version, document-set version and model version, or no change in any tile can be explained. Question: the HR policy changed on Monday; which tile moves first?</a:t>
            </a:r>
            <a:endParaRPr lang="en-US" sz="1100" dirty="0"/>
          </a:p>
        </p:txBody>
      </p:sp>
      <p:pic>
        <p:nvPicPr>
          <p:cNvPr id="40" name="IE University logo" descr="IE University, School of Science &amp; Technology"/>
          <p:cNvPicPr>
            <a:picLocks noChangeAspect="1"/>
          </p:cNvPicPr>
          <p:nvPr/>
        </p:nvPicPr>
        <p:blipFill>
          <a:blip r:embed="rId10"/>
          <a:stretch>
            <a:fillRect/>
          </a:stretch>
        </p:blipFill>
        <p:spPr>
          <a:xfrm>
            <a:off x="8013607" y="92634"/>
            <a:ext cx="764633" cy="26278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10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18</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What comes next: edge deployment and agentic systems mean more moving parts to operate</a:t>
            </a:r>
            <a:endParaRPr lang="en-US" sz="2400" dirty="0"/>
          </a:p>
        </p:txBody>
      </p:sp>
      <p:sp>
        <p:nvSpPr>
          <p:cNvPr id="7" name="Shape 4"/>
          <p:cNvSpPr/>
          <p:nvPr/>
        </p:nvSpPr>
        <p:spPr>
          <a:xfrm>
            <a:off x="365760" y="1234440"/>
            <a:ext cx="4114800" cy="2377440"/>
          </a:xfrm>
          <a:prstGeom prst="roundRect">
            <a:avLst>
              <a:gd name="adj" fmla="val 3077"/>
            </a:avLst>
          </a:prstGeom>
          <a:solidFill>
            <a:srgbClr val="F3F5F8"/>
          </a:solidFill>
          <a:ln w="12700">
            <a:solidFill>
              <a:srgbClr val="F3F5F8"/>
            </a:solidFill>
            <a:prstDash val="solid"/>
          </a:ln>
        </p:spPr>
        <p:txBody>
          <a:bodyPr/>
          <a:p/>
        </p:txBody>
      </p:sp>
      <p:sp>
        <p:nvSpPr>
          <p:cNvPr id="8" name="Shape 5"/>
          <p:cNvSpPr/>
          <p:nvPr/>
        </p:nvSpPr>
        <p:spPr>
          <a:xfrm>
            <a:off x="502920" y="1353312"/>
            <a:ext cx="347472" cy="347472"/>
          </a:xfrm>
          <a:prstGeom prst="ellipse">
            <a:avLst/>
          </a:prstGeom>
          <a:solidFill>
            <a:srgbClr val="0E7C86"/>
          </a:solidFill>
          <a:ln w="12700">
            <a:solidFill>
              <a:srgbClr val="0E7C86"/>
            </a:solidFill>
            <a:prstDash val="solid"/>
          </a:ln>
        </p:spPr>
        <p:txBody>
          <a:bodyPr/>
          <a:p/>
        </p:txBody>
      </p:sp>
      <p:pic>
        <p:nvPicPr>
          <p:cNvPr id="9" name="Image 0" descr="preencoded.png">    </p:cNvPr>
          <p:cNvPicPr>
            <a:picLocks noChangeAspect="1"/>
          </p:cNvPicPr>
          <p:nvPr/>
        </p:nvPicPr>
        <p:blipFill>
          <a:blip r:embed="rId1"/>
          <a:stretch>
            <a:fillRect/>
          </a:stretch>
        </p:blipFill>
        <p:spPr>
          <a:xfrm>
            <a:off x="576072" y="1426464"/>
            <a:ext cx="201168" cy="201168"/>
          </a:xfrm>
          <a:prstGeom prst="rect">
            <a:avLst/>
          </a:prstGeom>
        </p:spPr>
      </p:pic>
      <p:sp>
        <p:nvSpPr>
          <p:cNvPr id="10" name="Text 6"/>
          <p:cNvSpPr txBox="1"/>
          <p:nvPr/>
        </p:nvSpPr>
        <p:spPr>
          <a:xfrm>
            <a:off x="93268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Edge: the model runs on the device</a:t>
            </a:r>
            <a:endParaRPr lang="en-US" sz="1300" dirty="0"/>
          </a:p>
        </p:txBody>
      </p:sp>
      <p:sp>
        <p:nvSpPr>
          <p:cNvPr id="11" name="Text 7"/>
          <p:cNvSpPr txBox="1"/>
          <p:nvPr/>
        </p:nvSpPr>
        <p:spPr>
          <a:xfrm>
            <a:off x="502920" y="1783080"/>
            <a:ext cx="3840480" cy="173736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Why: latency, privacy, connectivity (a phone, a car, a factory sensor)</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Updates are deployments to thousands of devices: Session 5's rollout strategies, literally</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No central logs unless designed: monitoring means sampling telemetry back</a:t>
            </a:r>
            <a:endParaRPr lang="en-US" sz="1100" dirty="0"/>
          </a:p>
        </p:txBody>
      </p:sp>
      <p:sp>
        <p:nvSpPr>
          <p:cNvPr id="12" name="Shape 8"/>
          <p:cNvSpPr/>
          <p:nvPr/>
        </p:nvSpPr>
        <p:spPr>
          <a:xfrm>
            <a:off x="4663440" y="1234440"/>
            <a:ext cx="4114800" cy="2377440"/>
          </a:xfrm>
          <a:prstGeom prst="roundRect">
            <a:avLst>
              <a:gd name="adj" fmla="val 3077"/>
            </a:avLst>
          </a:prstGeom>
          <a:solidFill>
            <a:srgbClr val="F3F5F8"/>
          </a:solidFill>
          <a:ln w="12700">
            <a:solidFill>
              <a:srgbClr val="F3F5F8"/>
            </a:solidFill>
            <a:prstDash val="solid"/>
          </a:ln>
        </p:spPr>
        <p:txBody>
          <a:bodyPr/>
          <a:p/>
        </p:txBody>
      </p:sp>
      <p:sp>
        <p:nvSpPr>
          <p:cNvPr id="13" name="Shape 9"/>
          <p:cNvSpPr/>
          <p:nvPr/>
        </p:nvSpPr>
        <p:spPr>
          <a:xfrm>
            <a:off x="4800600" y="1353312"/>
            <a:ext cx="347472" cy="347472"/>
          </a:xfrm>
          <a:prstGeom prst="ellipse">
            <a:avLst/>
          </a:prstGeom>
          <a:solidFill>
            <a:srgbClr val="E07A2F"/>
          </a:solidFill>
          <a:ln w="12700">
            <a:solidFill>
              <a:srgbClr val="E07A2F"/>
            </a:solidFill>
            <a:prstDash val="solid"/>
          </a:ln>
        </p:spPr>
        <p:txBody>
          <a:bodyPr/>
          <a:p/>
        </p:txBody>
      </p:sp>
      <p:pic>
        <p:nvPicPr>
          <p:cNvPr id="14" name="Image 1" descr="preencoded.png">    </p:cNvPr>
          <p:cNvPicPr>
            <a:picLocks noChangeAspect="1"/>
          </p:cNvPicPr>
          <p:nvPr/>
        </p:nvPicPr>
        <p:blipFill>
          <a:blip r:embed="rId2"/>
          <a:stretch>
            <a:fillRect/>
          </a:stretch>
        </p:blipFill>
        <p:spPr>
          <a:xfrm>
            <a:off x="4873752" y="1426464"/>
            <a:ext cx="201168" cy="201168"/>
          </a:xfrm>
          <a:prstGeom prst="rect">
            <a:avLst/>
          </a:prstGeom>
        </p:spPr>
      </p:pic>
      <p:sp>
        <p:nvSpPr>
          <p:cNvPr id="15" name="Text 10"/>
          <p:cNvSpPr txBox="1"/>
          <p:nvPr/>
        </p:nvSpPr>
        <p:spPr>
          <a:xfrm>
            <a:off x="523036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Agents: the model decides which tools to call, and loops</a:t>
            </a:r>
            <a:endParaRPr lang="en-US" sz="1300" dirty="0"/>
          </a:p>
        </p:txBody>
      </p:sp>
      <p:sp>
        <p:nvSpPr>
          <p:cNvPr id="16" name="Text 11"/>
          <p:cNvSpPr txBox="1"/>
          <p:nvPr/>
        </p:nvSpPr>
        <p:spPr>
          <a:xfrm>
            <a:off x="4800600" y="1783080"/>
            <a:ext cx="3840480" cy="173736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Search the policy, open a ticket, book leave: every tool is a permission</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Every loop needs a step and cost budget: an agent that retries forever is an outage and a bill</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Every run needs a trace, the sequence of decisions and calls, or nobody can explain what it did</a:t>
            </a:r>
            <a:endParaRPr lang="en-US" sz="1100" dirty="0"/>
          </a:p>
        </p:txBody>
      </p:sp>
      <p:sp>
        <p:nvSpPr>
          <p:cNvPr id="17" name="Shape 12"/>
          <p:cNvSpPr/>
          <p:nvPr/>
        </p:nvSpPr>
        <p:spPr>
          <a:xfrm>
            <a:off x="365760" y="3794760"/>
            <a:ext cx="8412480" cy="548640"/>
          </a:xfrm>
          <a:prstGeom prst="roundRect">
            <a:avLst>
              <a:gd name="adj" fmla="val 13333"/>
            </a:avLst>
          </a:prstGeom>
          <a:solidFill>
            <a:srgbClr val="E3F1F2"/>
          </a:solidFill>
          <a:ln w="12700">
            <a:solidFill>
              <a:srgbClr val="E3F1F2"/>
            </a:solidFill>
            <a:prstDash val="solid"/>
          </a:ln>
        </p:spPr>
        <p:txBody>
          <a:bodyPr/>
          <a:p/>
        </p:txBody>
      </p:sp>
      <p:pic>
        <p:nvPicPr>
          <p:cNvPr id="18" name="Image 2" descr="preencoded.png">    </p:cNvPr>
          <p:cNvPicPr>
            <a:picLocks noChangeAspect="1"/>
          </p:cNvPicPr>
          <p:nvPr/>
        </p:nvPicPr>
        <p:blipFill>
          <a:blip r:embed="rId3"/>
          <a:stretch>
            <a:fillRect/>
          </a:stretch>
        </p:blipFill>
        <p:spPr>
          <a:xfrm>
            <a:off x="502920" y="3931920"/>
            <a:ext cx="274320" cy="274320"/>
          </a:xfrm>
          <a:prstGeom prst="rect">
            <a:avLst/>
          </a:prstGeom>
        </p:spPr>
      </p:pic>
      <p:sp>
        <p:nvSpPr>
          <p:cNvPr id="19" name="Text 13"/>
          <p:cNvSpPr txBox="1"/>
          <p:nvPr/>
        </p:nvSpPr>
        <p:spPr>
          <a:xfrm>
            <a:off x="896112" y="3794760"/>
            <a:ext cx="7772400" cy="548640"/>
          </a:xfrm>
          <a:prstGeom prst="rect">
            <a:avLst/>
          </a:prstGeom>
          <a:noFill/>
          <a:ln/>
        </p:spPr>
        <p:txBody>
          <a:bodyPr wrap="square" lIns="0" tIns="0" rIns="0" bIns="0" rtlCol="0" anchor="ctr"/>
          <a:lstStyle/>
          <a:p>
            <a:pPr indent="0" marL="0">
              <a:buNone/>
            </a:pPr>
            <a:r>
              <a:rPr lang="en-US" sz="1150" b="1" dirty="0">
                <a:solidFill>
                  <a:srgbClr val="1B2A4A"/>
                </a:solidFill>
                <a:latin typeface="Calibri" pitchFamily="34" charset="0"/>
                <a:ea typeface="Calibri" pitchFamily="34" charset="-122"/>
                <a:cs typeface="Calibri" pitchFamily="34" charset="-120"/>
              </a:rPr>
              <a:t>Air Canada's chatbot only wrote. Imagine one that also books. Nothing here changes the four modules; each trend multiplies the objects they apply to.</a:t>
            </a:r>
            <a:endParaRPr lang="en-US" sz="1150" dirty="0"/>
          </a:p>
        </p:txBody>
      </p:sp>
      <p:pic>
        <p:nvPicPr>
          <p:cNvPr id="20" name="IE University logo" descr="IE University, School of Science &amp; Technology"/>
          <p:cNvPicPr>
            <a:picLocks noChangeAspect="1"/>
          </p:cNvPicPr>
          <p:nvPr/>
        </p:nvPicPr>
        <p:blipFill>
          <a:blip r:embed="rId6"/>
          <a:stretch>
            <a:fillRect/>
          </a:stretch>
        </p:blipFill>
        <p:spPr>
          <a:xfrm>
            <a:off x="8013607" y="92634"/>
            <a:ext cx="764633" cy="26278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B8C4D6"/>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B8C4D6"/>
                </a:solidFill>
                <a:latin typeface="Calibri" pitchFamily="34" charset="0"/>
                <a:ea typeface="Calibri" pitchFamily="34" charset="-122"/>
                <a:cs typeface="Calibri" pitchFamily="34" charset="-120"/>
              </a:rPr>
              <a:t>MLOps · MBDS-PT2026F · Session 10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B8C4D6"/>
                </a:solidFill>
                <a:latin typeface="Calibri" pitchFamily="34" charset="0"/>
                <a:ea typeface="Calibri" pitchFamily="34" charset="-122"/>
                <a:cs typeface="Calibri" pitchFamily="34" charset="-120"/>
              </a:rPr>
              <a:t>19</a:t>
            </a:r>
            <a:endParaRPr lang="en-US" sz="800" dirty="0"/>
          </a:p>
        </p:txBody>
      </p:sp>
      <p:sp>
        <p:nvSpPr>
          <p:cNvPr id="5" name="Text 3"/>
          <p:cNvSpPr txBox="1"/>
          <p:nvPr/>
        </p:nvSpPr>
        <p:spPr>
          <a:xfrm>
            <a:off x="548640" y="1463040"/>
            <a:ext cx="8046720" cy="73152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Break · 5 minutes</a:t>
            </a:r>
            <a:endParaRPr lang="en-US" sz="3600" dirty="0"/>
          </a:p>
        </p:txBody>
      </p:sp>
      <p:sp>
        <p:nvSpPr>
          <p:cNvPr id="6" name="Text 4"/>
          <p:cNvSpPr txBox="1"/>
          <p:nvPr/>
        </p:nvSpPr>
        <p:spPr>
          <a:xfrm>
            <a:off x="548640" y="2286000"/>
            <a:ext cx="8046720" cy="73152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Back at minute 51. While you wait: re-read the one-page brief your team was allocated. You will need its dates and numbers.</a:t>
            </a:r>
            <a:endParaRPr lang="en-US" sz="1600" dirty="0"/>
          </a:p>
        </p:txBody>
      </p:sp>
      <p:pic>
        <p:nvPicPr>
          <p:cNvPr id="7" name="IE University logo" descr="IE University, School of Science &amp; Technology"/>
          <p:cNvPicPr>
            <a:picLocks noChangeAspect="1"/>
          </p:cNvPicPr>
          <p:nvPr/>
        </p:nvPicPr>
        <p:blipFill>
          <a:blip r:embed="rId3"/>
          <a:stretch>
            <a:fillRect/>
          </a:stretch>
        </p:blipFill>
        <p:spPr>
          <a:xfrm>
            <a:off x="8252653" y="109728"/>
            <a:ext cx="525587" cy="70439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B8C4D6"/>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B8C4D6"/>
                </a:solidFill>
                <a:latin typeface="Calibri" pitchFamily="34" charset="0"/>
                <a:ea typeface="Calibri" pitchFamily="34" charset="-122"/>
                <a:cs typeface="Calibri" pitchFamily="34" charset="-120"/>
              </a:rPr>
              <a:t>MLOps · MBDS-PT2026F · Session 10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B8C4D6"/>
                </a:solidFill>
                <a:latin typeface="Calibri" pitchFamily="34" charset="0"/>
                <a:ea typeface="Calibri" pitchFamily="34" charset="-122"/>
                <a:cs typeface="Calibri" pitchFamily="34" charset="-120"/>
              </a:rPr>
              <a:t>20</a:t>
            </a:r>
            <a:endParaRPr lang="en-US" sz="800" dirty="0"/>
          </a:p>
        </p:txBody>
      </p:sp>
      <p:sp>
        <p:nvSpPr>
          <p:cNvPr id="5" name="Text 3"/>
          <p:cNvSpPr txBox="1"/>
          <p:nvPr/>
        </p:nvSpPr>
        <p:spPr>
          <a:xfrm>
            <a:off x="548640" y="1188720"/>
            <a:ext cx="8046720" cy="91440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Why AI systems fail in production</a:t>
            </a:r>
            <a:endParaRPr lang="en-US" sz="3000" dirty="0"/>
          </a:p>
        </p:txBody>
      </p:sp>
      <p:sp>
        <p:nvSpPr>
          <p:cNvPr id="6" name="Text 4"/>
          <p:cNvSpPr txBox="1"/>
          <p:nvPr/>
        </p:nvSpPr>
        <p:spPr>
          <a:xfrm>
            <a:off x="548640" y="2103120"/>
            <a:ext cx="8046720" cy="54864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Six recurring patterns, one template, six real cases</a:t>
            </a:r>
            <a:endParaRPr lang="en-US" sz="1600" dirty="0"/>
          </a:p>
        </p:txBody>
      </p:sp>
      <p:sp>
        <p:nvSpPr>
          <p:cNvPr id="7" name="Shape 5"/>
          <p:cNvSpPr/>
          <p:nvPr/>
        </p:nvSpPr>
        <p:spPr>
          <a:xfrm>
            <a:off x="548640" y="3246120"/>
            <a:ext cx="845312" cy="566928"/>
          </a:xfrm>
          <a:prstGeom prst="roundRect">
            <a:avLst>
              <a:gd name="adj" fmla="val 9677"/>
            </a:avLst>
          </a:prstGeom>
          <a:solidFill>
            <a:srgbClr val="0E7C86"/>
          </a:solidFill>
          <a:ln w="12700">
            <a:solidFill>
              <a:srgbClr val="0E7C86"/>
            </a:solidFill>
            <a:prstDash val="solid"/>
          </a:ln>
        </p:spPr>
        <p:txBody>
          <a:bodyPr/>
          <a:p/>
        </p:txBody>
      </p:sp>
      <p:sp>
        <p:nvSpPr>
          <p:cNvPr id="8" name="Text 6"/>
          <p:cNvSpPr txBox="1"/>
          <p:nvPr/>
        </p:nvSpPr>
        <p:spPr>
          <a:xfrm>
            <a:off x="548640" y="3246120"/>
            <a:ext cx="845312" cy="566928"/>
          </a:xfrm>
          <a:prstGeom prst="rect">
            <a:avLst/>
          </a:prstGeom>
          <a:noFill/>
          <a:ln/>
        </p:spPr>
        <p:txBody>
          <a:bodyPr wrap="square" lIns="254" tIns="254" rIns="254" bIns="254"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Data ingestion &amp; versioning</a:t>
            </a:r>
            <a:endParaRPr lang="en-US" sz="800" dirty="0"/>
          </a:p>
        </p:txBody>
      </p:sp>
      <p:sp>
        <p:nvSpPr>
          <p:cNvPr id="9" name="Shape 7"/>
          <p:cNvSpPr/>
          <p:nvPr/>
        </p:nvSpPr>
        <p:spPr>
          <a:xfrm>
            <a:off x="1448816"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0" name="Text 8"/>
          <p:cNvSpPr txBox="1"/>
          <p:nvPr/>
        </p:nvSpPr>
        <p:spPr>
          <a:xfrm>
            <a:off x="1448816"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validation</a:t>
            </a:r>
            <a:endParaRPr lang="en-US" sz="800" dirty="0"/>
          </a:p>
        </p:txBody>
      </p:sp>
      <p:sp>
        <p:nvSpPr>
          <p:cNvPr id="11" name="Shape 9"/>
          <p:cNvSpPr/>
          <p:nvPr/>
        </p:nvSpPr>
        <p:spPr>
          <a:xfrm>
            <a:off x="2348992"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2" name="Text 10"/>
          <p:cNvSpPr txBox="1"/>
          <p:nvPr/>
        </p:nvSpPr>
        <p:spPr>
          <a:xfrm>
            <a:off x="2348992"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Data pre-processing</a:t>
            </a:r>
            <a:endParaRPr lang="en-US" sz="800" dirty="0"/>
          </a:p>
        </p:txBody>
      </p:sp>
      <p:sp>
        <p:nvSpPr>
          <p:cNvPr id="13" name="Shape 11"/>
          <p:cNvSpPr/>
          <p:nvPr/>
        </p:nvSpPr>
        <p:spPr>
          <a:xfrm>
            <a:off x="3249168" y="3246120"/>
            <a:ext cx="845312" cy="566928"/>
          </a:xfrm>
          <a:prstGeom prst="roundRect">
            <a:avLst>
              <a:gd name="adj" fmla="val 9677"/>
            </a:avLst>
          </a:prstGeom>
          <a:solidFill>
            <a:srgbClr val="0E7C86"/>
          </a:solidFill>
          <a:ln w="12700">
            <a:solidFill>
              <a:srgbClr val="0E7C86"/>
            </a:solidFill>
            <a:prstDash val="solid"/>
          </a:ln>
        </p:spPr>
        <p:txBody>
          <a:bodyPr/>
          <a:p/>
        </p:txBody>
      </p:sp>
      <p:sp>
        <p:nvSpPr>
          <p:cNvPr id="14" name="Text 12"/>
          <p:cNvSpPr txBox="1"/>
          <p:nvPr/>
        </p:nvSpPr>
        <p:spPr>
          <a:xfrm>
            <a:off x="3249168" y="3246120"/>
            <a:ext cx="845312" cy="566928"/>
          </a:xfrm>
          <a:prstGeom prst="rect">
            <a:avLst/>
          </a:prstGeom>
          <a:noFill/>
          <a:ln/>
        </p:spPr>
        <p:txBody>
          <a:bodyPr wrap="square" lIns="254" tIns="254" rIns="254" bIns="254"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Model training</a:t>
            </a:r>
            <a:endParaRPr lang="en-US" sz="800" dirty="0"/>
          </a:p>
        </p:txBody>
      </p:sp>
      <p:sp>
        <p:nvSpPr>
          <p:cNvPr id="15" name="Shape 13"/>
          <p:cNvSpPr/>
          <p:nvPr/>
        </p:nvSpPr>
        <p:spPr>
          <a:xfrm>
            <a:off x="4149344"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6" name="Text 14"/>
          <p:cNvSpPr txBox="1"/>
          <p:nvPr/>
        </p:nvSpPr>
        <p:spPr>
          <a:xfrm>
            <a:off x="4149344"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tuning</a:t>
            </a:r>
            <a:endParaRPr lang="en-US" sz="800" dirty="0"/>
          </a:p>
        </p:txBody>
      </p:sp>
      <p:sp>
        <p:nvSpPr>
          <p:cNvPr id="17" name="Shape 15"/>
          <p:cNvSpPr/>
          <p:nvPr/>
        </p:nvSpPr>
        <p:spPr>
          <a:xfrm>
            <a:off x="5049520" y="3246120"/>
            <a:ext cx="845312" cy="566928"/>
          </a:xfrm>
          <a:prstGeom prst="roundRect">
            <a:avLst>
              <a:gd name="adj" fmla="val 9677"/>
            </a:avLst>
          </a:prstGeom>
          <a:solidFill>
            <a:srgbClr val="2E3F63"/>
          </a:solidFill>
          <a:ln w="12700">
            <a:solidFill>
              <a:srgbClr val="2E3F63"/>
            </a:solidFill>
            <a:prstDash val="solid"/>
          </a:ln>
        </p:spPr>
        <p:txBody>
          <a:bodyPr/>
          <a:p/>
        </p:txBody>
      </p:sp>
      <p:sp>
        <p:nvSpPr>
          <p:cNvPr id="18" name="Text 16"/>
          <p:cNvSpPr txBox="1"/>
          <p:nvPr/>
        </p:nvSpPr>
        <p:spPr>
          <a:xfrm>
            <a:off x="5049520" y="3246120"/>
            <a:ext cx="845312" cy="566928"/>
          </a:xfrm>
          <a:prstGeom prst="rect">
            <a:avLst/>
          </a:prstGeom>
          <a:noFill/>
          <a:ln/>
        </p:spPr>
        <p:txBody>
          <a:bodyPr wrap="square" lIns="254" tIns="254" rIns="254" bIns="254" rtlCol="0" anchor="ctr"/>
          <a:lstStyle/>
          <a:p>
            <a:pPr algn="ctr" indent="0" marL="0">
              <a:buNone/>
            </a:pPr>
            <a:r>
              <a:rPr lang="en-US" sz="800" dirty="0">
                <a:solidFill>
                  <a:srgbClr val="B8C4D6"/>
                </a:solidFill>
                <a:latin typeface="Calibri" pitchFamily="34" charset="0"/>
                <a:ea typeface="Calibri" pitchFamily="34" charset="-122"/>
                <a:cs typeface="Calibri" pitchFamily="34" charset="-120"/>
              </a:rPr>
              <a:t>Model analysis</a:t>
            </a:r>
            <a:endParaRPr lang="en-US" sz="800" dirty="0"/>
          </a:p>
        </p:txBody>
      </p:sp>
      <p:sp>
        <p:nvSpPr>
          <p:cNvPr id="19" name="Shape 17"/>
          <p:cNvSpPr/>
          <p:nvPr/>
        </p:nvSpPr>
        <p:spPr>
          <a:xfrm>
            <a:off x="5949696" y="3246120"/>
            <a:ext cx="845312" cy="566928"/>
          </a:xfrm>
          <a:prstGeom prst="roundRect">
            <a:avLst>
              <a:gd name="adj" fmla="val 9677"/>
            </a:avLst>
          </a:prstGeom>
          <a:solidFill>
            <a:srgbClr val="0E7C86"/>
          </a:solidFill>
          <a:ln w="12700">
            <a:solidFill>
              <a:srgbClr val="0E7C86"/>
            </a:solidFill>
            <a:prstDash val="solid"/>
          </a:ln>
        </p:spPr>
        <p:txBody>
          <a:bodyPr/>
          <a:p/>
        </p:txBody>
      </p:sp>
      <p:sp>
        <p:nvSpPr>
          <p:cNvPr id="20" name="Text 18"/>
          <p:cNvSpPr txBox="1"/>
          <p:nvPr/>
        </p:nvSpPr>
        <p:spPr>
          <a:xfrm>
            <a:off x="5949696" y="3246120"/>
            <a:ext cx="845312" cy="566928"/>
          </a:xfrm>
          <a:prstGeom prst="rect">
            <a:avLst/>
          </a:prstGeom>
          <a:noFill/>
          <a:ln/>
        </p:spPr>
        <p:txBody>
          <a:bodyPr wrap="square" lIns="254" tIns="254" rIns="254" bIns="254"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Model validation</a:t>
            </a:r>
            <a:endParaRPr lang="en-US" sz="800" dirty="0"/>
          </a:p>
        </p:txBody>
      </p:sp>
      <p:sp>
        <p:nvSpPr>
          <p:cNvPr id="21" name="Shape 19"/>
          <p:cNvSpPr/>
          <p:nvPr/>
        </p:nvSpPr>
        <p:spPr>
          <a:xfrm>
            <a:off x="6849872" y="3246120"/>
            <a:ext cx="845312" cy="566928"/>
          </a:xfrm>
          <a:prstGeom prst="roundRect">
            <a:avLst>
              <a:gd name="adj" fmla="val 9677"/>
            </a:avLst>
          </a:prstGeom>
          <a:solidFill>
            <a:srgbClr val="0E7C86"/>
          </a:solidFill>
          <a:ln w="12700">
            <a:solidFill>
              <a:srgbClr val="0E7C86"/>
            </a:solidFill>
            <a:prstDash val="solid"/>
          </a:ln>
        </p:spPr>
        <p:txBody>
          <a:bodyPr/>
          <a:p/>
        </p:txBody>
      </p:sp>
      <p:sp>
        <p:nvSpPr>
          <p:cNvPr id="22" name="Text 20"/>
          <p:cNvSpPr txBox="1"/>
          <p:nvPr/>
        </p:nvSpPr>
        <p:spPr>
          <a:xfrm>
            <a:off x="6849872" y="3246120"/>
            <a:ext cx="845312" cy="566928"/>
          </a:xfrm>
          <a:prstGeom prst="rect">
            <a:avLst/>
          </a:prstGeom>
          <a:noFill/>
          <a:ln/>
        </p:spPr>
        <p:txBody>
          <a:bodyPr wrap="square" lIns="254" tIns="254" rIns="254" bIns="254"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Model deployment</a:t>
            </a:r>
            <a:endParaRPr lang="en-US" sz="800" dirty="0"/>
          </a:p>
        </p:txBody>
      </p:sp>
      <p:sp>
        <p:nvSpPr>
          <p:cNvPr id="23" name="Shape 21"/>
          <p:cNvSpPr/>
          <p:nvPr/>
        </p:nvSpPr>
        <p:spPr>
          <a:xfrm>
            <a:off x="7750048" y="3246120"/>
            <a:ext cx="845312" cy="566928"/>
          </a:xfrm>
          <a:prstGeom prst="roundRect">
            <a:avLst>
              <a:gd name="adj" fmla="val 9677"/>
            </a:avLst>
          </a:prstGeom>
          <a:solidFill>
            <a:srgbClr val="0E7C86"/>
          </a:solidFill>
          <a:ln w="12700">
            <a:solidFill>
              <a:srgbClr val="0E7C86"/>
            </a:solidFill>
            <a:prstDash val="solid"/>
          </a:ln>
        </p:spPr>
        <p:txBody>
          <a:bodyPr/>
          <a:p/>
        </p:txBody>
      </p:sp>
      <p:sp>
        <p:nvSpPr>
          <p:cNvPr id="24" name="Text 22"/>
          <p:cNvSpPr txBox="1"/>
          <p:nvPr/>
        </p:nvSpPr>
        <p:spPr>
          <a:xfrm>
            <a:off x="7750048" y="3246120"/>
            <a:ext cx="845312" cy="566928"/>
          </a:xfrm>
          <a:prstGeom prst="rect">
            <a:avLst/>
          </a:prstGeom>
          <a:noFill/>
          <a:ln/>
        </p:spPr>
        <p:txBody>
          <a:bodyPr wrap="square" lIns="254" tIns="254" rIns="254" bIns="254"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Model feedback</a:t>
            </a:r>
            <a:endParaRPr lang="en-US" sz="800" dirty="0"/>
          </a:p>
        </p:txBody>
      </p:sp>
      <p:sp>
        <p:nvSpPr>
          <p:cNvPr id="25" name="Text 23"/>
          <p:cNvSpPr txBox="1"/>
          <p:nvPr/>
        </p:nvSpPr>
        <p:spPr>
          <a:xfrm>
            <a:off x="548640" y="4160520"/>
            <a:ext cx="8046720" cy="274320"/>
          </a:xfrm>
          <a:prstGeom prst="rect">
            <a:avLst/>
          </a:prstGeom>
          <a:noFill/>
          <a:ln/>
        </p:spPr>
        <p:txBody>
          <a:bodyPr wrap="square" lIns="0" tIns="0" rIns="0" bIns="0" rtlCol="0" anchor="ctr"/>
          <a:lstStyle/>
          <a:p>
            <a:pPr indent="0" marL="0">
              <a:buNone/>
            </a:pPr>
            <a:r>
              <a:rPr lang="en-US" sz="1000" i="1" dirty="0">
                <a:solidFill>
                  <a:srgbClr val="B8C4D6"/>
                </a:solidFill>
                <a:latin typeface="Calibri" pitchFamily="34" charset="0"/>
                <a:ea typeface="Calibri" pitchFamily="34" charset="-122"/>
                <a:cs typeface="Calibri" pitchFamily="34" charset="-120"/>
              </a:rPr>
              <a:t>The lifecycle we follow through the course · highlighted: where this section sits</a:t>
            </a:r>
            <a:endParaRPr lang="en-US" sz="1000" dirty="0"/>
          </a:p>
        </p:txBody>
      </p:sp>
      <p:pic>
        <p:nvPicPr>
          <p:cNvPr id="26" name="IE University logo" descr="IE University, School of Science &amp; Technology"/>
          <p:cNvPicPr>
            <a:picLocks noChangeAspect="1"/>
          </p:cNvPicPr>
          <p:nvPr/>
        </p:nvPicPr>
        <p:blipFill>
          <a:blip r:embed="rId3"/>
          <a:stretch>
            <a:fillRect/>
          </a:stretch>
        </p:blipFill>
        <p:spPr>
          <a:xfrm>
            <a:off x="8252653" y="109728"/>
            <a:ext cx="525587" cy="70439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10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21</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Six patterns behind most production failures, and where in the course each was covered</a:t>
            </a:r>
            <a:endParaRPr lang="en-US" sz="2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8412480" cy="914400"/>
        </p:xfrm>
        <a:graphic>
          <a:graphicData uri="http://schemas.openxmlformats.org/drawingml/2006/table">
            <a:tbl>
              <a:tblPr/>
              <a:tblGrid>
                <a:gridCol w="365760"/>
                <a:gridCol w="2377440"/>
                <a:gridCol w="3291840"/>
                <a:gridCol w="2377440"/>
              </a:tblGrid>
              <a:tr h="411480">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Pattern</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What it looks like</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Where the course put the control</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r>
              <a:tr h="411480">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High-stakes decision, no human gate</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The output became an action automatically; nobody could stop it in time</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M2 approval and rollback · M4 human oversight</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11480">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The training data encoded the past</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The model learned who was hired or investigated before, and reproduced it</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M1 data provenance · M4 bias audit</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11480">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Performance claim never validated locally</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Good in the vendor's data, poor in yours; nobody checked before go-live</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M2 model validation as a gate</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11480">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No ground-truth loop</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Predictions never compared with outcomes; or the decision hid the truth</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M3 monitoring · Video 1 segment 3</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11480">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Deployment without verification or rollback</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Wrong code ran; alerts unread; the fix made it worse</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M2 CI/CD, rollout strategies, kill switch</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11480">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6</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Generation without grounding or accountability</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It wrote something false; the organisation said it was not responsible</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M4 governance · M3 hallucination monitoring · today's guardrails</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8" name="Shape 4"/>
          <p:cNvSpPr/>
          <p:nvPr/>
        </p:nvSpPr>
        <p:spPr>
          <a:xfrm>
            <a:off x="365760" y="4206240"/>
            <a:ext cx="8412480" cy="411480"/>
          </a:xfrm>
          <a:prstGeom prst="roundRect">
            <a:avLst>
              <a:gd name="adj" fmla="val 17778"/>
            </a:avLst>
          </a:prstGeom>
          <a:solidFill>
            <a:srgbClr val="E3F1F2"/>
          </a:solidFill>
          <a:ln w="12700">
            <a:solidFill>
              <a:srgbClr val="E3F1F2"/>
            </a:solidFill>
            <a:prstDash val="solid"/>
          </a:ln>
        </p:spPr>
        <p:txBody>
          <a:bodyPr/>
          <a:p/>
        </p:txBody>
      </p:sp>
      <p:pic>
        <p:nvPicPr>
          <p:cNvPr id="9" name="Image 0" descr="preencoded.png">    </p:cNvPr>
          <p:cNvPicPr>
            <a:picLocks noChangeAspect="1"/>
          </p:cNvPicPr>
          <p:nvPr/>
        </p:nvPicPr>
        <p:blipFill>
          <a:blip r:embed="rId1"/>
          <a:stretch>
            <a:fillRect/>
          </a:stretch>
        </p:blipFill>
        <p:spPr>
          <a:xfrm>
            <a:off x="502920" y="4274820"/>
            <a:ext cx="274320" cy="274320"/>
          </a:xfrm>
          <a:prstGeom prst="rect">
            <a:avLst/>
          </a:prstGeom>
        </p:spPr>
      </p:pic>
      <p:sp>
        <p:nvSpPr>
          <p:cNvPr id="10" name="Text 5"/>
          <p:cNvSpPr txBox="1"/>
          <p:nvPr/>
        </p:nvSpPr>
        <p:spPr>
          <a:xfrm>
            <a:off x="896112" y="4206240"/>
            <a:ext cx="7772400" cy="41148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Most real incidents are two of these at once: one technical, one organisational. Your case will be too.</a:t>
            </a:r>
            <a:endParaRPr lang="en-US" sz="1100" dirty="0"/>
          </a:p>
        </p:txBody>
      </p:sp>
      <p:pic>
        <p:nvPicPr>
          <p:cNvPr id="23"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10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22</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The root-cause template: five rows, and a roadmap across the four modules</a:t>
            </a:r>
            <a:endParaRPr lang="en-US" sz="24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8412480" cy="914400"/>
        </p:xfrm>
        <a:graphic>
          <a:graphicData uri="http://schemas.openxmlformats.org/drawingml/2006/table">
            <a:tbl>
              <a:tblPr/>
              <a:tblGrid>
                <a:gridCol w="1554480"/>
                <a:gridCol w="3200400"/>
                <a:gridCol w="3657600"/>
              </a:tblGrid>
              <a:tr h="502920">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Row</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Question</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NorthRetail (Session 1), as an example</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r>
              <a:tr h="502920">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Symptom</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What was observed, by whom, when? Facts only.</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Forecast error doubled over four months; noticed by store managers overriding orders; nobody looked at the dashboard</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502920">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Stage where it originated</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Where in the lifecycle was the problem created? (Usually earlier than where it was noticed)</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Data ingestion: a supplier feed changed format in February; the features went silently empty</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502920">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Missing control</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Which check, gate, metric or rule did not exist or was not applied? Course vocabulary.</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Data validation at ingestion (S3); a freshness metric "share of features updated this week" with a threshold and an owner (S7)</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502920">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Accountable persona</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Who should have owned that control?</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ML engineer for the check; product owner for reading the number monthly</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502920">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Corrective roadmap</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One action per module, ten words each: foundations · pipelines and deployment · monitoring · governance</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Model card with retrain trigger · validation step that fails the pipeline · freshness + KPI alerts routed to a person · monthly review signed by the owner</a:t>
                      </a:r>
                      <a:endParaRPr lang="en-US" sz="950" dirty="0">
                        <a:latin typeface="Calibri" charset="0"/>
                        <a:ea typeface="Calibri" charset="0"/>
                        <a:cs typeface="Calibri" charset="0"/>
                      </a:endParaRPr>
                    </a:p>
                  </a:txBody>
                  <a:tcPr marL="45720" marR="45720" marT="45720" marB="45720" anchor="t">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8" name="Shape 4"/>
          <p:cNvSpPr/>
          <p:nvPr/>
        </p:nvSpPr>
        <p:spPr>
          <a:xfrm>
            <a:off x="365760" y="4297680"/>
            <a:ext cx="8412480" cy="384048"/>
          </a:xfrm>
          <a:prstGeom prst="roundRect">
            <a:avLst>
              <a:gd name="adj" fmla="val 19048"/>
            </a:avLst>
          </a:prstGeom>
          <a:solidFill>
            <a:srgbClr val="E3F1F2"/>
          </a:solidFill>
          <a:ln w="12700">
            <a:solidFill>
              <a:srgbClr val="E3F1F2"/>
            </a:solidFill>
            <a:prstDash val="solid"/>
          </a:ln>
        </p:spPr>
        <p:txBody>
          <a:bodyPr/>
          <a:p/>
        </p:txBody>
      </p:sp>
      <p:pic>
        <p:nvPicPr>
          <p:cNvPr id="9" name="Image 0" descr="preencoded.png">    </p:cNvPr>
          <p:cNvPicPr>
            <a:picLocks noChangeAspect="1"/>
          </p:cNvPicPr>
          <p:nvPr/>
        </p:nvPicPr>
        <p:blipFill>
          <a:blip r:embed="rId1"/>
          <a:stretch>
            <a:fillRect/>
          </a:stretch>
        </p:blipFill>
        <p:spPr>
          <a:xfrm>
            <a:off x="502920" y="4352544"/>
            <a:ext cx="274320" cy="274320"/>
          </a:xfrm>
          <a:prstGeom prst="rect">
            <a:avLst/>
          </a:prstGeom>
        </p:spPr>
      </p:pic>
      <p:sp>
        <p:nvSpPr>
          <p:cNvPr id="10" name="Text 5"/>
          <p:cNvSpPr txBox="1"/>
          <p:nvPr/>
        </p:nvSpPr>
        <p:spPr>
          <a:xfrm>
            <a:off x="896112" y="4297680"/>
            <a:ext cx="7772400" cy="384048"/>
          </a:xfrm>
          <a:prstGeom prst="rect">
            <a:avLst/>
          </a:prstGeom>
          <a:noFill/>
          <a:ln/>
        </p:spPr>
        <p:txBody>
          <a:bodyPr wrap="square" lIns="0" tIns="0" rIns="0" bIns="0" rtlCol="0" anchor="ctr"/>
          <a:lstStyle/>
          <a:p>
            <a:pPr indent="0" marL="0">
              <a:buNone/>
            </a:pPr>
            <a:r>
              <a:rPr lang="en-US" sz="1050" b="1" dirty="0">
                <a:solidFill>
                  <a:srgbClr val="1B2A4A"/>
                </a:solidFill>
                <a:latin typeface="Calibri" pitchFamily="34" charset="0"/>
                <a:ea typeface="Calibri" pitchFamily="34" charset="-122"/>
                <a:cs typeface="Calibri" pitchFamily="34" charset="-120"/>
              </a:rPr>
              <a:t>Level of specificity expected: not "better monitoring" but "which metric, which threshold, which person". The roadmap row is Forum 5, Q3.</a:t>
            </a:r>
            <a:endParaRPr lang="en-US" sz="1050" dirty="0"/>
          </a:p>
        </p:txBody>
      </p:sp>
      <p:pic>
        <p:nvPicPr>
          <p:cNvPr id="24"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10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23</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The six cases at a glance (facts only), and who has which</a:t>
            </a:r>
            <a:endParaRPr lang="en-US" sz="2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8412480" cy="914400"/>
        </p:xfrm>
        <a:graphic>
          <a:graphicData uri="http://schemas.openxmlformats.org/drawingml/2006/table">
            <a:tbl>
              <a:tblPr/>
              <a:tblGrid>
                <a:gridCol w="548640"/>
                <a:gridCol w="2194560"/>
                <a:gridCol w="5669280"/>
              </a:tblGrid>
              <a:tr h="402336">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Room</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Case</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The facts in one line</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r>
              <a:tr h="402336">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Zillow Offers (2021)</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Price-forecasting model drove home purchases; business closed, &gt;$500M write-downs, 2,000 layoffs</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02336">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Amazon recruiting tool (2014–17)</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CV-scoring models penalised "women's" and two women's colleges; disbanded; never sole basis for a decision</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02336">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Air Canada chatbot (2022–24)</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Chatbot gave a bereavement-fare answer the linked policy contradicted; tribunal: the company is liable, the bot is not a separate entity</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02336">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Dutch childcare benefits (2013–21)</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Risk-scoring used nationality; ~26,000 parents wrongly accused and made to repay; the cabinet resigned</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02336">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Epic sepsis model (2021)</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External validation: AUC 0.63 vs vendor 0.76–0.83; missed 67% of cases; alerted on 18% of all patients</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02336">
                <a:tc>
                  <a:txBody>
                    <a:bodyPr/>
                    <a:lstStyle/>
                    <a:p>
                      <a:pPr algn="l" indent="0" marL="0">
                        <a:buNone/>
                      </a:pPr>
                      <a:r>
                        <a:rPr lang="en-US" sz="1000" b="1" dirty="0">
                          <a:solidFill>
                            <a:srgbClr val="222222"/>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Knight Capital (2012)</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1000" dirty="0">
                          <a:solidFill>
                            <a:srgbClr val="222222"/>
                          </a:solidFill>
                          <a:latin typeface="Calibri" pitchFamily="34" charset="0"/>
                          <a:ea typeface="Calibri" pitchFamily="34" charset="-122"/>
                          <a:cs typeface="Calibri" pitchFamily="34" charset="-120"/>
                        </a:rPr>
                        <a:t>Deployment to 8 servers missed one; dead code reactivated; 45 min, 4M executions, $460M loss; 97 unread emails</a:t>
                      </a:r>
                      <a:endParaRPr lang="en-US" sz="10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8" name="Text 4"/>
          <p:cNvSpPr txBox="1"/>
          <p:nvPr/>
        </p:nvSpPr>
        <p:spPr>
          <a:xfrm>
            <a:off x="365760" y="4370832"/>
            <a:ext cx="8412480" cy="411480"/>
          </a:xfrm>
          <a:prstGeom prst="rect">
            <a:avLst/>
          </a:prstGeom>
          <a:noFill/>
          <a:ln/>
        </p:spPr>
        <p:txBody>
          <a:bodyPr wrap="square" lIns="0" tIns="0" rIns="0" bIns="0" rtlCol="0" anchor="t"/>
          <a:lstStyle/>
          <a:p>
            <a:pPr algn="l" indent="0" marL="0">
              <a:buNone/>
            </a:pPr>
            <a:r>
              <a:rPr lang="en-US" sz="1050" b="1" i="1" dirty="0">
                <a:solidFill>
                  <a:srgbClr val="0E7C86"/>
                </a:solidFill>
                <a:latin typeface="Calibri" pitchFamily="34" charset="0"/>
                <a:ea typeface="Calibri" pitchFamily="34" charset="-122"/>
                <a:cs typeface="Calibri" pitchFamily="34" charset="-120"/>
              </a:rPr>
              <a:t>Case cards with the full facts and sources: slides 32–37 and the one-page briefs on campus. Four classical models, one GenAI assistant, one deployment failure that is not ML at all: the same patterns.</a:t>
            </a:r>
            <a:endParaRPr lang="en-US" sz="1050" dirty="0"/>
          </a:p>
        </p:txBody>
      </p:sp>
      <p:pic>
        <p:nvPicPr>
          <p:cNvPr id="25" name="IE University logo" descr="IE University, School of Science &amp; Technology"/>
          <p:cNvPicPr>
            <a:picLocks noChangeAspect="1"/>
          </p:cNvPicPr>
          <p:nvPr/>
        </p:nvPicPr>
        <p:blipFill>
          <a:blip r:embed="rId3"/>
          <a:stretch>
            <a:fillRect/>
          </a:stretch>
        </p:blipFill>
        <p:spPr>
          <a:xfrm>
            <a:off x="8013607" y="92634"/>
            <a:ext cx="764633" cy="26278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10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24</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Activity · 15 minutes in breakout rooms: diagnose your case</a:t>
            </a:r>
            <a:endParaRPr lang="en-US" sz="2400" dirty="0"/>
          </a:p>
        </p:txBody>
      </p:sp>
      <p:sp>
        <p:nvSpPr>
          <p:cNvPr id="7" name="Shape 4"/>
          <p:cNvSpPr/>
          <p:nvPr/>
        </p:nvSpPr>
        <p:spPr>
          <a:xfrm>
            <a:off x="365760" y="1234440"/>
            <a:ext cx="4114800" cy="3017520"/>
          </a:xfrm>
          <a:prstGeom prst="roundRect">
            <a:avLst>
              <a:gd name="adj" fmla="val 2424"/>
            </a:avLst>
          </a:prstGeom>
          <a:solidFill>
            <a:srgbClr val="F3F5F8"/>
          </a:solidFill>
          <a:ln w="12700">
            <a:solidFill>
              <a:srgbClr val="F3F5F8"/>
            </a:solidFill>
            <a:prstDash val="solid"/>
          </a:ln>
        </p:spPr>
        <p:txBody>
          <a:bodyPr/>
          <a:p/>
        </p:txBody>
      </p:sp>
      <p:sp>
        <p:nvSpPr>
          <p:cNvPr id="8" name="Shape 5"/>
          <p:cNvSpPr/>
          <p:nvPr/>
        </p:nvSpPr>
        <p:spPr>
          <a:xfrm>
            <a:off x="502920" y="1353312"/>
            <a:ext cx="347472" cy="347472"/>
          </a:xfrm>
          <a:prstGeom prst="ellipse">
            <a:avLst/>
          </a:prstGeom>
          <a:solidFill>
            <a:srgbClr val="E07A2F"/>
          </a:solidFill>
          <a:ln w="12700">
            <a:solidFill>
              <a:srgbClr val="E07A2F"/>
            </a:solidFill>
            <a:prstDash val="solid"/>
          </a:ln>
        </p:spPr>
        <p:txBody>
          <a:bodyPr/>
          <a:p/>
        </p:txBody>
      </p:sp>
      <p:pic>
        <p:nvPicPr>
          <p:cNvPr id="9" name="Image 0" descr="preencoded.png">    </p:cNvPr>
          <p:cNvPicPr>
            <a:picLocks noChangeAspect="1"/>
          </p:cNvPicPr>
          <p:nvPr/>
        </p:nvPicPr>
        <p:blipFill>
          <a:blip r:embed="rId1"/>
          <a:stretch>
            <a:fillRect/>
          </a:stretch>
        </p:blipFill>
        <p:spPr>
          <a:xfrm>
            <a:off x="576072" y="1426464"/>
            <a:ext cx="201168" cy="201168"/>
          </a:xfrm>
          <a:prstGeom prst="rect">
            <a:avLst/>
          </a:prstGeom>
        </p:spPr>
      </p:pic>
      <p:sp>
        <p:nvSpPr>
          <p:cNvPr id="10" name="Text 6"/>
          <p:cNvSpPr txBox="1"/>
          <p:nvPr/>
        </p:nvSpPr>
        <p:spPr>
          <a:xfrm>
            <a:off x="93268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Your task (15 min)</a:t>
            </a:r>
            <a:endParaRPr lang="en-US" sz="1300" dirty="0"/>
          </a:p>
        </p:txBody>
      </p:sp>
      <p:sp>
        <p:nvSpPr>
          <p:cNvPr id="11" name="Text 7"/>
          <p:cNvSpPr txBox="1"/>
          <p:nvPr/>
        </p:nvSpPr>
        <p:spPr>
          <a:xfrm>
            <a:off x="502920" y="1783080"/>
            <a:ext cx="3840480" cy="237744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Fill the five rows of the root-cause template for your case: symptom · stage where it originated · missing control · accountable persona · corrective roadmap</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The roadmap: one action per module, each with a metric, a gate, a person or a document in it</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Then one sentence: the single control that would most likely have prevented or contained it, and who should have owned it</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Map your case onto one or two of the six patterns</a:t>
            </a:r>
            <a:endParaRPr lang="en-US" sz="1100" dirty="0"/>
          </a:p>
        </p:txBody>
      </p:sp>
      <p:sp>
        <p:nvSpPr>
          <p:cNvPr id="12" name="Shape 8"/>
          <p:cNvSpPr/>
          <p:nvPr/>
        </p:nvSpPr>
        <p:spPr>
          <a:xfrm>
            <a:off x="4663440" y="1234440"/>
            <a:ext cx="4114800" cy="3017520"/>
          </a:xfrm>
          <a:prstGeom prst="roundRect">
            <a:avLst>
              <a:gd name="adj" fmla="val 2424"/>
            </a:avLst>
          </a:prstGeom>
          <a:solidFill>
            <a:srgbClr val="F3F5F8"/>
          </a:solidFill>
          <a:ln w="12700">
            <a:solidFill>
              <a:srgbClr val="F3F5F8"/>
            </a:solidFill>
            <a:prstDash val="solid"/>
          </a:ln>
        </p:spPr>
        <p:txBody>
          <a:bodyPr/>
          <a:p/>
        </p:txBody>
      </p:sp>
      <p:sp>
        <p:nvSpPr>
          <p:cNvPr id="13" name="Shape 9"/>
          <p:cNvSpPr/>
          <p:nvPr/>
        </p:nvSpPr>
        <p:spPr>
          <a:xfrm>
            <a:off x="4800600" y="1353312"/>
            <a:ext cx="347472" cy="347472"/>
          </a:xfrm>
          <a:prstGeom prst="ellipse">
            <a:avLst/>
          </a:prstGeom>
          <a:solidFill>
            <a:srgbClr val="0E7C86"/>
          </a:solidFill>
          <a:ln w="12700">
            <a:solidFill>
              <a:srgbClr val="0E7C86"/>
            </a:solidFill>
            <a:prstDash val="solid"/>
          </a:ln>
        </p:spPr>
        <p:txBody>
          <a:bodyPr/>
          <a:p/>
        </p:txBody>
      </p:sp>
      <p:pic>
        <p:nvPicPr>
          <p:cNvPr id="14" name="Image 1" descr="preencoded.png">    </p:cNvPr>
          <p:cNvPicPr>
            <a:picLocks noChangeAspect="1"/>
          </p:cNvPicPr>
          <p:nvPr/>
        </p:nvPicPr>
        <p:blipFill>
          <a:blip r:embed="rId2"/>
          <a:stretch>
            <a:fillRect/>
          </a:stretch>
        </p:blipFill>
        <p:spPr>
          <a:xfrm>
            <a:off x="4873752" y="1426464"/>
            <a:ext cx="201168" cy="201168"/>
          </a:xfrm>
          <a:prstGeom prst="rect">
            <a:avLst/>
          </a:prstGeom>
        </p:spPr>
      </p:pic>
      <p:sp>
        <p:nvSpPr>
          <p:cNvPr id="15" name="Text 10"/>
          <p:cNvSpPr txBox="1"/>
          <p:nvPr/>
        </p:nvSpPr>
        <p:spPr>
          <a:xfrm>
            <a:off x="523036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How to work</a:t>
            </a:r>
            <a:endParaRPr lang="en-US" sz="1300" dirty="0"/>
          </a:p>
        </p:txBody>
      </p:sp>
      <p:sp>
        <p:nvSpPr>
          <p:cNvPr id="16" name="Text 11"/>
          <p:cNvSpPr txBox="1"/>
          <p:nvPr/>
        </p:nvSpPr>
        <p:spPr>
          <a:xfrm>
            <a:off x="4800600" y="1783080"/>
            <a:ext cx="3840480" cy="2377440"/>
          </a:xfrm>
          <a:prstGeom prst="rect">
            <a:avLst/>
          </a:prstGeom>
          <a:noFill/>
          <a:ln/>
        </p:spPr>
        <p:txBody>
          <a:bodyPr wrap="square" lIns="0" tIns="0" rIns="0" bIns="0" rtlCol="0" anchor="t"/>
          <a:lstStyle/>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Rooms of 4–5: your project team; you all read the same brief</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Template on campus (or a whiteboard); facts from the brief, vocabulary from the course</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Distinguish where it was noticed from where it was created</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If you disagree about the single control, keep both and say why</a:t>
            </a:r>
            <a:endParaRPr lang="en-US" sz="1100" dirty="0"/>
          </a:p>
          <a:p>
            <a:pPr marL="177800" indent="-177800">
              <a:spcAft>
                <a:spcPts val="300"/>
              </a:spcAft>
              <a:buSzPct val="100000"/>
              <a:buChar char="•"/>
            </a:pPr>
            <a:r>
              <a:rPr lang="en-US" sz="1100" dirty="0">
                <a:solidFill>
                  <a:srgbClr val="222222"/>
                </a:solidFill>
                <a:latin typeface="Calibri" pitchFamily="34" charset="0"/>
                <a:ea typeface="Calibri" pitchFamily="34" charset="-122"/>
                <a:cs typeface="Calibri" pitchFamily="34" charset="-120"/>
              </a:rPr>
              <a:t>Nominate a spokesperson: 2 minutes</a:t>
            </a:r>
            <a:endParaRPr lang="en-US" sz="1100" dirty="0"/>
          </a:p>
        </p:txBody>
      </p:sp>
      <p:sp>
        <p:nvSpPr>
          <p:cNvPr id="17" name="Shape 12"/>
          <p:cNvSpPr/>
          <p:nvPr/>
        </p:nvSpPr>
        <p:spPr>
          <a:xfrm>
            <a:off x="365760" y="4389120"/>
            <a:ext cx="8412480" cy="365760"/>
          </a:xfrm>
          <a:prstGeom prst="roundRect">
            <a:avLst>
              <a:gd name="adj" fmla="val 20000"/>
            </a:avLst>
          </a:prstGeom>
          <a:solidFill>
            <a:srgbClr val="E3F1F2"/>
          </a:solidFill>
          <a:ln w="12700">
            <a:solidFill>
              <a:srgbClr val="E3F1F2"/>
            </a:solidFill>
            <a:prstDash val="solid"/>
          </a:ln>
        </p:spPr>
        <p:txBody>
          <a:bodyPr/>
          <a:p/>
        </p:txBody>
      </p:sp>
      <p:pic>
        <p:nvPicPr>
          <p:cNvPr id="18" name="Image 2" descr="preencoded.png">    </p:cNvPr>
          <p:cNvPicPr>
            <a:picLocks noChangeAspect="1"/>
          </p:cNvPicPr>
          <p:nvPr/>
        </p:nvPicPr>
        <p:blipFill>
          <a:blip r:embed="rId3"/>
          <a:stretch>
            <a:fillRect/>
          </a:stretch>
        </p:blipFill>
        <p:spPr>
          <a:xfrm>
            <a:off x="502920" y="4434840"/>
            <a:ext cx="274320" cy="274320"/>
          </a:xfrm>
          <a:prstGeom prst="rect">
            <a:avLst/>
          </a:prstGeom>
        </p:spPr>
      </p:pic>
      <p:sp>
        <p:nvSpPr>
          <p:cNvPr id="19" name="Text 13"/>
          <p:cNvSpPr txBox="1"/>
          <p:nvPr/>
        </p:nvSpPr>
        <p:spPr>
          <a:xfrm>
            <a:off x="896112" y="4389120"/>
            <a:ext cx="7772400" cy="365760"/>
          </a:xfrm>
          <a:prstGeom prst="rect">
            <a:avLst/>
          </a:prstGeom>
          <a:noFill/>
          <a:ln/>
        </p:spPr>
        <p:txBody>
          <a:bodyPr wrap="square" lIns="0" tIns="0" rIns="0" bIns="0" rtlCol="0" anchor="ctr"/>
          <a:lstStyle/>
          <a:p>
            <a:pPr indent="0" marL="0">
              <a:buNone/>
            </a:pPr>
            <a:r>
              <a:rPr lang="en-US" sz="1050" dirty="0">
                <a:solidFill>
                  <a:srgbClr val="1B2A4A"/>
                </a:solidFill>
                <a:latin typeface="Calibri" pitchFamily="34" charset="0"/>
                <a:ea typeface="Calibri" pitchFamily="34" charset="-122"/>
                <a:cs typeface="Calibri" pitchFamily="34" charset="-120"/>
              </a:rPr>
              <a:t>Output per room: the filled template on one slide or whiteboard. Two rooms present (one classical, one GenAI); the others post their one sentence in chat. Everyone posts the template in Forum 5 (Q3).</a:t>
            </a:r>
            <a:endParaRPr lang="en-US" sz="1050" dirty="0"/>
          </a:p>
        </p:txBody>
      </p:sp>
      <p:pic>
        <p:nvPicPr>
          <p:cNvPr id="20" name="IE University logo" descr="IE University, School of Science &amp; Technology"/>
          <p:cNvPicPr>
            <a:picLocks noChangeAspect="1"/>
          </p:cNvPicPr>
          <p:nvPr/>
        </p:nvPicPr>
        <p:blipFill>
          <a:blip r:embed="rId6"/>
          <a:stretch>
            <a:fillRect/>
          </a:stretch>
        </p:blipFill>
        <p:spPr>
          <a:xfrm>
            <a:off x="8013607" y="92634"/>
            <a:ext cx="764633" cy="26278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B8C4D6"/>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B8C4D6"/>
                </a:solidFill>
                <a:latin typeface="Calibri" pitchFamily="34" charset="0"/>
                <a:ea typeface="Calibri" pitchFamily="34" charset="-122"/>
                <a:cs typeface="Calibri" pitchFamily="34" charset="-120"/>
              </a:rPr>
              <a:t>MLOps · MBDS-PT2026F · Session 10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B8C4D6"/>
                </a:solidFill>
                <a:latin typeface="Calibri" pitchFamily="34" charset="0"/>
                <a:ea typeface="Calibri" pitchFamily="34" charset="-122"/>
                <a:cs typeface="Calibri" pitchFamily="34" charset="-120"/>
              </a:rPr>
              <a:t>25</a:t>
            </a:r>
            <a:endParaRPr lang="en-US" sz="800" dirty="0"/>
          </a:p>
        </p:txBody>
      </p:sp>
      <p:sp>
        <p:nvSpPr>
          <p:cNvPr id="5" name="Text 3"/>
          <p:cNvSpPr txBox="1"/>
          <p:nvPr/>
        </p:nvSpPr>
        <p:spPr>
          <a:xfrm>
            <a:off x="548640" y="822960"/>
            <a:ext cx="8046720" cy="54864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In your rooms · 15 minutes · back at minute 76</a:t>
            </a:r>
            <a:endParaRPr lang="en-US" sz="2800" dirty="0"/>
          </a:p>
        </p:txBody>
      </p:sp>
      <p:sp>
        <p:nvSpPr>
          <p:cNvPr id="6" name="Shape 4"/>
          <p:cNvSpPr/>
          <p:nvPr/>
        </p:nvSpPr>
        <p:spPr>
          <a:xfrm>
            <a:off x="548640" y="1554480"/>
            <a:ext cx="8046720" cy="438912"/>
          </a:xfrm>
          <a:prstGeom prst="roundRect">
            <a:avLst>
              <a:gd name="adj" fmla="val 12500"/>
            </a:avLst>
          </a:prstGeom>
          <a:solidFill>
            <a:srgbClr val="2E3F63"/>
          </a:solidFill>
          <a:ln w="12700">
            <a:solidFill>
              <a:srgbClr val="2E3F63"/>
            </a:solidFill>
            <a:prstDash val="solid"/>
          </a:ln>
        </p:spPr>
        <p:txBody>
          <a:bodyPr/>
          <a:p/>
        </p:txBody>
      </p:sp>
      <p:sp>
        <p:nvSpPr>
          <p:cNvPr id="7" name="Text 5"/>
          <p:cNvSpPr txBox="1"/>
          <p:nvPr/>
        </p:nvSpPr>
        <p:spPr>
          <a:xfrm>
            <a:off x="685800" y="1554480"/>
            <a:ext cx="2377440" cy="43891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Symptom</a:t>
            </a:r>
            <a:endParaRPr lang="en-US" sz="1300" dirty="0"/>
          </a:p>
        </p:txBody>
      </p:sp>
      <p:sp>
        <p:nvSpPr>
          <p:cNvPr id="8" name="Text 6"/>
          <p:cNvSpPr txBox="1"/>
          <p:nvPr/>
        </p:nvSpPr>
        <p:spPr>
          <a:xfrm>
            <a:off x="3108960" y="1554480"/>
            <a:ext cx="5394960" cy="438912"/>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what was observed, by whom, when (facts only)</a:t>
            </a:r>
            <a:endParaRPr lang="en-US" sz="1150" dirty="0"/>
          </a:p>
        </p:txBody>
      </p:sp>
      <p:sp>
        <p:nvSpPr>
          <p:cNvPr id="9" name="Shape 7"/>
          <p:cNvSpPr/>
          <p:nvPr/>
        </p:nvSpPr>
        <p:spPr>
          <a:xfrm>
            <a:off x="548640" y="2057400"/>
            <a:ext cx="8046720" cy="438912"/>
          </a:xfrm>
          <a:prstGeom prst="roundRect">
            <a:avLst>
              <a:gd name="adj" fmla="val 12500"/>
            </a:avLst>
          </a:prstGeom>
          <a:solidFill>
            <a:srgbClr val="2E3F63"/>
          </a:solidFill>
          <a:ln w="12700">
            <a:solidFill>
              <a:srgbClr val="2E3F63"/>
            </a:solidFill>
            <a:prstDash val="solid"/>
          </a:ln>
        </p:spPr>
        <p:txBody>
          <a:bodyPr/>
          <a:p/>
        </p:txBody>
      </p:sp>
      <p:sp>
        <p:nvSpPr>
          <p:cNvPr id="10" name="Text 8"/>
          <p:cNvSpPr txBox="1"/>
          <p:nvPr/>
        </p:nvSpPr>
        <p:spPr>
          <a:xfrm>
            <a:off x="685800" y="2057400"/>
            <a:ext cx="2377440" cy="43891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Stage where it originated</a:t>
            </a:r>
            <a:endParaRPr lang="en-US" sz="1300" dirty="0"/>
          </a:p>
        </p:txBody>
      </p:sp>
      <p:sp>
        <p:nvSpPr>
          <p:cNvPr id="11" name="Text 9"/>
          <p:cNvSpPr txBox="1"/>
          <p:nvPr/>
        </p:nvSpPr>
        <p:spPr>
          <a:xfrm>
            <a:off x="3108960" y="2057400"/>
            <a:ext cx="5394960" cy="438912"/>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usually earlier than where it was noticed</a:t>
            </a:r>
            <a:endParaRPr lang="en-US" sz="1150" dirty="0"/>
          </a:p>
        </p:txBody>
      </p:sp>
      <p:sp>
        <p:nvSpPr>
          <p:cNvPr id="12" name="Shape 10"/>
          <p:cNvSpPr/>
          <p:nvPr/>
        </p:nvSpPr>
        <p:spPr>
          <a:xfrm>
            <a:off x="548640" y="2560320"/>
            <a:ext cx="8046720" cy="438912"/>
          </a:xfrm>
          <a:prstGeom prst="roundRect">
            <a:avLst>
              <a:gd name="adj" fmla="val 12500"/>
            </a:avLst>
          </a:prstGeom>
          <a:solidFill>
            <a:srgbClr val="2E3F63"/>
          </a:solidFill>
          <a:ln w="12700">
            <a:solidFill>
              <a:srgbClr val="2E3F63"/>
            </a:solidFill>
            <a:prstDash val="solid"/>
          </a:ln>
        </p:spPr>
        <p:txBody>
          <a:bodyPr/>
          <a:p/>
        </p:txBody>
      </p:sp>
      <p:sp>
        <p:nvSpPr>
          <p:cNvPr id="13" name="Text 11"/>
          <p:cNvSpPr txBox="1"/>
          <p:nvPr/>
        </p:nvSpPr>
        <p:spPr>
          <a:xfrm>
            <a:off x="685800" y="2560320"/>
            <a:ext cx="2377440" cy="43891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Missing control</a:t>
            </a:r>
            <a:endParaRPr lang="en-US" sz="1300" dirty="0"/>
          </a:p>
        </p:txBody>
      </p:sp>
      <p:sp>
        <p:nvSpPr>
          <p:cNvPr id="14" name="Text 12"/>
          <p:cNvSpPr txBox="1"/>
          <p:nvPr/>
        </p:nvSpPr>
        <p:spPr>
          <a:xfrm>
            <a:off x="3108960" y="2560320"/>
            <a:ext cx="5394960" cy="438912"/>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a check, gate, metric or rule, in course vocabulary</a:t>
            </a:r>
            <a:endParaRPr lang="en-US" sz="1150" dirty="0"/>
          </a:p>
        </p:txBody>
      </p:sp>
      <p:sp>
        <p:nvSpPr>
          <p:cNvPr id="15" name="Shape 13"/>
          <p:cNvSpPr/>
          <p:nvPr/>
        </p:nvSpPr>
        <p:spPr>
          <a:xfrm>
            <a:off x="548640" y="3063240"/>
            <a:ext cx="8046720" cy="438912"/>
          </a:xfrm>
          <a:prstGeom prst="roundRect">
            <a:avLst>
              <a:gd name="adj" fmla="val 12500"/>
            </a:avLst>
          </a:prstGeom>
          <a:solidFill>
            <a:srgbClr val="2E3F63"/>
          </a:solidFill>
          <a:ln w="12700">
            <a:solidFill>
              <a:srgbClr val="2E3F63"/>
            </a:solidFill>
            <a:prstDash val="solid"/>
          </a:ln>
        </p:spPr>
        <p:txBody>
          <a:bodyPr/>
          <a:p/>
        </p:txBody>
      </p:sp>
      <p:sp>
        <p:nvSpPr>
          <p:cNvPr id="16" name="Text 14"/>
          <p:cNvSpPr txBox="1"/>
          <p:nvPr/>
        </p:nvSpPr>
        <p:spPr>
          <a:xfrm>
            <a:off x="685800" y="3063240"/>
            <a:ext cx="2377440" cy="43891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Accountable persona</a:t>
            </a:r>
            <a:endParaRPr lang="en-US" sz="1300" dirty="0"/>
          </a:p>
        </p:txBody>
      </p:sp>
      <p:sp>
        <p:nvSpPr>
          <p:cNvPr id="17" name="Text 15"/>
          <p:cNvSpPr txBox="1"/>
          <p:nvPr/>
        </p:nvSpPr>
        <p:spPr>
          <a:xfrm>
            <a:off x="3108960" y="3063240"/>
            <a:ext cx="5394960" cy="438912"/>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who should have owned that control</a:t>
            </a:r>
            <a:endParaRPr lang="en-US" sz="1150" dirty="0"/>
          </a:p>
        </p:txBody>
      </p:sp>
      <p:sp>
        <p:nvSpPr>
          <p:cNvPr id="18" name="Shape 16"/>
          <p:cNvSpPr/>
          <p:nvPr/>
        </p:nvSpPr>
        <p:spPr>
          <a:xfrm>
            <a:off x="548640" y="3566160"/>
            <a:ext cx="8046720" cy="438912"/>
          </a:xfrm>
          <a:prstGeom prst="roundRect">
            <a:avLst>
              <a:gd name="adj" fmla="val 12500"/>
            </a:avLst>
          </a:prstGeom>
          <a:solidFill>
            <a:srgbClr val="2E3F63"/>
          </a:solidFill>
          <a:ln w="12700">
            <a:solidFill>
              <a:srgbClr val="2E3F63"/>
            </a:solidFill>
            <a:prstDash val="solid"/>
          </a:ln>
        </p:spPr>
        <p:txBody>
          <a:bodyPr/>
          <a:p/>
        </p:txBody>
      </p:sp>
      <p:sp>
        <p:nvSpPr>
          <p:cNvPr id="19" name="Text 17"/>
          <p:cNvSpPr txBox="1"/>
          <p:nvPr/>
        </p:nvSpPr>
        <p:spPr>
          <a:xfrm>
            <a:off x="685800" y="3566160"/>
            <a:ext cx="2377440" cy="43891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Corrective roadmap</a:t>
            </a:r>
            <a:endParaRPr lang="en-US" sz="1300" dirty="0"/>
          </a:p>
        </p:txBody>
      </p:sp>
      <p:sp>
        <p:nvSpPr>
          <p:cNvPr id="20" name="Text 18"/>
          <p:cNvSpPr txBox="1"/>
          <p:nvPr/>
        </p:nvSpPr>
        <p:spPr>
          <a:xfrm>
            <a:off x="3108960" y="3566160"/>
            <a:ext cx="5394960" cy="438912"/>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one action per module: foundations · pipelines and deployment · monitoring · governance</a:t>
            </a:r>
            <a:endParaRPr lang="en-US" sz="1150" dirty="0"/>
          </a:p>
        </p:txBody>
      </p:sp>
      <p:sp>
        <p:nvSpPr>
          <p:cNvPr id="21" name="Text 19"/>
          <p:cNvSpPr txBox="1"/>
          <p:nvPr/>
        </p:nvSpPr>
        <p:spPr>
          <a:xfrm>
            <a:off x="548640" y="4160520"/>
            <a:ext cx="8046720" cy="457200"/>
          </a:xfrm>
          <a:prstGeom prst="rect">
            <a:avLst/>
          </a:prstGeom>
          <a:noFill/>
          <a:ln/>
        </p:spPr>
        <p:txBody>
          <a:bodyPr wrap="square" lIns="0" tIns="0" rIns="0" bIns="0" rtlCol="0" anchor="ctr"/>
          <a:lstStyle/>
          <a:p>
            <a:pPr indent="0" marL="0">
              <a:buNone/>
            </a:pPr>
            <a:r>
              <a:rPr lang="en-US" sz="1300" b="1" dirty="0">
                <a:solidFill>
                  <a:srgbClr val="F4A26B"/>
                </a:solidFill>
                <a:latin typeface="Calibri" pitchFamily="34" charset="0"/>
                <a:ea typeface="Calibri" pitchFamily="34" charset="-122"/>
                <a:cs typeface="Calibri" pitchFamily="34" charset="-120"/>
              </a:rPr>
              <a:t>+ one sentence: the single control that would most likely have prevented or contained it, and who should have owned it.</a:t>
            </a:r>
            <a:endParaRPr lang="en-US" sz="1300" dirty="0"/>
          </a:p>
        </p:txBody>
      </p:sp>
      <p:pic>
        <p:nvPicPr>
          <p:cNvPr id="22" name="IE University logo" descr="IE University, School of Science &amp; Technology"/>
          <p:cNvPicPr>
            <a:picLocks noChangeAspect="1"/>
          </p:cNvPicPr>
          <p:nvPr/>
        </p:nvPicPr>
        <p:blipFill>
          <a:blip r:embed="rId3"/>
          <a:stretch>
            <a:fillRect/>
          </a:stretch>
        </p:blipFill>
        <p:spPr>
          <a:xfrm>
            <a:off x="8252653" y="109728"/>
            <a:ext cx="525587" cy="70439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10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26</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Debrief: two presentations, six sentences, and the controls that were missing</a:t>
            </a:r>
            <a:endParaRPr lang="en-US" sz="24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8412480" cy="914400"/>
        </p:xfrm>
        <a:graphic>
          <a:graphicData uri="http://schemas.openxmlformats.org/drawingml/2006/table">
            <a:tbl>
              <a:tblPr/>
              <a:tblGrid>
                <a:gridCol w="1463040"/>
                <a:gridCol w="4206240"/>
                <a:gridCol w="1920240"/>
                <a:gridCol w="822960"/>
              </a:tblGrid>
              <a:tr h="438912">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Case</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The missing control (short form)</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Who should have owned it</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Module</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r>
              <a:tr h="438912">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Zillow Offers</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A human gate and exposure limit on forecasts turned into offers; forecast-vs-resale monitoring routed to a person</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Product owner</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M2 · M3</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38912">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Amazon recruiting</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A bias audit of the training data and of outcomes by group before use; proxy features prohibited and documented</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Data scientist + Risk &amp; Compliance</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M1 · M4</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38912">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Air Canada chatbot</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A groundedness guardrail with refusal-and-handoff for policy questions; an owner who signs for the output</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Product owner + Legal</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M4 · M3</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38912">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Dutch benefits</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Feature review against the law; an explanation per decision; a human review before enforcement</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Risk &amp; Compliance; the political owner</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M4 · M1</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38912">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Epic sepsis</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External validation on local data as a go-live gate; calibration per site; alert-burden monitoring</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Clinical product owner + ML engineer</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M2 · M3</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38912">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Knight Capital</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Automated deployment with verification and rollback; a kill switch; alerts that page a person</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IT / ML engineer</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M2 · M3</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8" name="Shape 4"/>
          <p:cNvSpPr/>
          <p:nvPr/>
        </p:nvSpPr>
        <p:spPr>
          <a:xfrm>
            <a:off x="365760" y="4343400"/>
            <a:ext cx="8412480" cy="365760"/>
          </a:xfrm>
          <a:prstGeom prst="roundRect">
            <a:avLst>
              <a:gd name="adj" fmla="val 20000"/>
            </a:avLst>
          </a:prstGeom>
          <a:solidFill>
            <a:srgbClr val="E3F1F2"/>
          </a:solidFill>
          <a:ln w="12700">
            <a:solidFill>
              <a:srgbClr val="E3F1F2"/>
            </a:solidFill>
            <a:prstDash val="solid"/>
          </a:ln>
        </p:spPr>
        <p:txBody>
          <a:bodyPr/>
          <a:p/>
        </p:txBody>
      </p:sp>
      <p:pic>
        <p:nvPicPr>
          <p:cNvPr id="9" name="Image 0" descr="preencoded.png">    </p:cNvPr>
          <p:cNvPicPr>
            <a:picLocks noChangeAspect="1"/>
          </p:cNvPicPr>
          <p:nvPr/>
        </p:nvPicPr>
        <p:blipFill>
          <a:blip r:embed="rId1"/>
          <a:stretch>
            <a:fillRect/>
          </a:stretch>
        </p:blipFill>
        <p:spPr>
          <a:xfrm>
            <a:off x="502920" y="4389120"/>
            <a:ext cx="274320" cy="274320"/>
          </a:xfrm>
          <a:prstGeom prst="rect">
            <a:avLst/>
          </a:prstGeom>
        </p:spPr>
      </p:pic>
      <p:sp>
        <p:nvSpPr>
          <p:cNvPr id="10" name="Text 5"/>
          <p:cNvSpPr txBox="1"/>
          <p:nvPr/>
        </p:nvSpPr>
        <p:spPr>
          <a:xfrm>
            <a:off x="896112" y="4343400"/>
            <a:ext cx="7772400" cy="36576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In every case somebody could have said no, and the system was not built to let them.</a:t>
            </a:r>
            <a:endParaRPr lang="en-US" sz="1200" dirty="0"/>
          </a:p>
        </p:txBody>
      </p:sp>
      <p:pic>
        <p:nvPicPr>
          <p:cNvPr id="28"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10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27</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The course in one picture: four modules, one question each</a:t>
            </a:r>
            <a:endParaRPr lang="en-US" sz="2400" dirty="0"/>
          </a:p>
        </p:txBody>
      </p:sp>
      <p:sp>
        <p:nvSpPr>
          <p:cNvPr id="7" name="Shape 4"/>
          <p:cNvSpPr/>
          <p:nvPr/>
        </p:nvSpPr>
        <p:spPr>
          <a:xfrm>
            <a:off x="365760" y="1234440"/>
            <a:ext cx="2011680" cy="502920"/>
          </a:xfrm>
          <a:prstGeom prst="roundRect">
            <a:avLst>
              <a:gd name="adj" fmla="val 10909"/>
            </a:avLst>
          </a:prstGeom>
          <a:solidFill>
            <a:srgbClr val="0E7C86"/>
          </a:solidFill>
          <a:ln w="12700">
            <a:solidFill>
              <a:srgbClr val="0E7C86"/>
            </a:solidFill>
            <a:prstDash val="solid"/>
          </a:ln>
        </p:spPr>
        <p:txBody>
          <a:bodyPr/>
          <a:p/>
        </p:txBody>
      </p:sp>
      <p:sp>
        <p:nvSpPr>
          <p:cNvPr id="8" name="Text 5"/>
          <p:cNvSpPr txBox="1"/>
          <p:nvPr/>
        </p:nvSpPr>
        <p:spPr>
          <a:xfrm>
            <a:off x="365760" y="1234440"/>
            <a:ext cx="201168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 · Foundations</a:t>
            </a:r>
            <a:endParaRPr lang="en-US" sz="1200" dirty="0"/>
          </a:p>
        </p:txBody>
      </p:sp>
      <p:sp>
        <p:nvSpPr>
          <p:cNvPr id="9" name="Shape 6"/>
          <p:cNvSpPr/>
          <p:nvPr/>
        </p:nvSpPr>
        <p:spPr>
          <a:xfrm>
            <a:off x="365760" y="1783080"/>
            <a:ext cx="2011680" cy="2103120"/>
          </a:xfrm>
          <a:prstGeom prst="roundRect">
            <a:avLst>
              <a:gd name="adj" fmla="val 2727"/>
            </a:avLst>
          </a:prstGeom>
          <a:solidFill>
            <a:srgbClr val="F3F5F8"/>
          </a:solidFill>
          <a:ln w="12700">
            <a:solidFill>
              <a:srgbClr val="F3F5F8"/>
            </a:solidFill>
            <a:prstDash val="solid"/>
          </a:ln>
        </p:spPr>
        <p:txBody>
          <a:bodyPr/>
          <a:p/>
        </p:txBody>
      </p:sp>
      <p:sp>
        <p:nvSpPr>
          <p:cNvPr id="10" name="Text 7"/>
          <p:cNvSpPr txBox="1"/>
          <p:nvPr/>
        </p:nvSpPr>
        <p:spPr>
          <a:xfrm>
            <a:off x="457200" y="1828800"/>
            <a:ext cx="1828800" cy="731520"/>
          </a:xfrm>
          <a:prstGeom prst="rect">
            <a:avLst/>
          </a:prstGeom>
          <a:noFill/>
          <a:ln/>
        </p:spPr>
        <p:txBody>
          <a:bodyPr wrap="square" lIns="0" tIns="0" rIns="0" bIns="0" rtlCol="0" anchor="t"/>
          <a:lstStyle/>
          <a:p>
            <a:pPr indent="0" marL="0">
              <a:buNone/>
            </a:pPr>
            <a:r>
              <a:rPr lang="en-US" sz="1050" b="1" dirty="0">
                <a:solidFill>
                  <a:srgbClr val="1B2A4A"/>
                </a:solidFill>
                <a:latin typeface="Calibri" pitchFamily="34" charset="0"/>
                <a:ea typeface="Calibri" pitchFamily="34" charset="-122"/>
                <a:cs typeface="Calibri" pitchFamily="34" charset="-120"/>
              </a:rPr>
              <a:t>What is the model for, who owns it, what would "worse" mean?</a:t>
            </a:r>
            <a:endParaRPr lang="en-US" sz="1050" dirty="0"/>
          </a:p>
        </p:txBody>
      </p:sp>
      <p:sp>
        <p:nvSpPr>
          <p:cNvPr id="11" name="Text 8"/>
          <p:cNvSpPr txBox="1"/>
          <p:nvPr/>
        </p:nvSpPr>
        <p:spPr>
          <a:xfrm>
            <a:off x="457200" y="2606040"/>
            <a:ext cx="1828800" cy="1005840"/>
          </a:xfrm>
          <a:prstGeom prst="rect">
            <a:avLst/>
          </a:prstGeom>
          <a:noFill/>
          <a:ln/>
        </p:spPr>
        <p:txBody>
          <a:bodyPr wrap="square" lIns="0" tIns="0" rIns="0" bIns="0" rtlCol="0" anchor="t"/>
          <a:lstStyle/>
          <a:p>
            <a:pPr indent="0" marL="0">
              <a:buNone/>
            </a:pPr>
            <a:r>
              <a:rPr lang="en-US" sz="950" dirty="0">
                <a:solidFill>
                  <a:srgbClr val="222222"/>
                </a:solidFill>
                <a:latin typeface="Calibri" pitchFamily="34" charset="0"/>
                <a:ea typeface="Calibri" pitchFamily="34" charset="-122"/>
                <a:cs typeface="Calibri" pitchFamily="34" charset="-120"/>
              </a:rPr>
              <a:t>Model card · personas · KPI before the model · lifecycle</a:t>
            </a:r>
            <a:endParaRPr lang="en-US" sz="950" dirty="0"/>
          </a:p>
        </p:txBody>
      </p:sp>
      <p:sp>
        <p:nvSpPr>
          <p:cNvPr id="12" name="Text 9"/>
          <p:cNvSpPr txBox="1"/>
          <p:nvPr/>
        </p:nvSpPr>
        <p:spPr>
          <a:xfrm>
            <a:off x="457200" y="3611880"/>
            <a:ext cx="1828800" cy="22860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S1–S2</a:t>
            </a:r>
            <a:endParaRPr lang="en-US" sz="900" dirty="0"/>
          </a:p>
        </p:txBody>
      </p:sp>
      <p:sp>
        <p:nvSpPr>
          <p:cNvPr id="13" name="Shape 10"/>
          <p:cNvSpPr/>
          <p:nvPr/>
        </p:nvSpPr>
        <p:spPr>
          <a:xfrm>
            <a:off x="2487168" y="1234440"/>
            <a:ext cx="2011680" cy="502920"/>
          </a:xfrm>
          <a:prstGeom prst="roundRect">
            <a:avLst>
              <a:gd name="adj" fmla="val 10909"/>
            </a:avLst>
          </a:prstGeom>
          <a:solidFill>
            <a:srgbClr val="1B2A4A"/>
          </a:solidFill>
          <a:ln w="12700">
            <a:solidFill>
              <a:srgbClr val="1B2A4A"/>
            </a:solidFill>
            <a:prstDash val="solid"/>
          </a:ln>
        </p:spPr>
        <p:txBody>
          <a:bodyPr/>
          <a:p/>
        </p:txBody>
      </p:sp>
      <p:sp>
        <p:nvSpPr>
          <p:cNvPr id="14" name="Text 11"/>
          <p:cNvSpPr txBox="1"/>
          <p:nvPr/>
        </p:nvSpPr>
        <p:spPr>
          <a:xfrm>
            <a:off x="2487168" y="1234440"/>
            <a:ext cx="201168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 · Pipelines &amp; deployment</a:t>
            </a:r>
            <a:endParaRPr lang="en-US" sz="1200" dirty="0"/>
          </a:p>
        </p:txBody>
      </p:sp>
      <p:sp>
        <p:nvSpPr>
          <p:cNvPr id="15" name="Shape 12"/>
          <p:cNvSpPr/>
          <p:nvPr/>
        </p:nvSpPr>
        <p:spPr>
          <a:xfrm>
            <a:off x="2487168" y="1783080"/>
            <a:ext cx="2011680" cy="2103120"/>
          </a:xfrm>
          <a:prstGeom prst="roundRect">
            <a:avLst>
              <a:gd name="adj" fmla="val 2727"/>
            </a:avLst>
          </a:prstGeom>
          <a:solidFill>
            <a:srgbClr val="F3F5F8"/>
          </a:solidFill>
          <a:ln w="12700">
            <a:solidFill>
              <a:srgbClr val="F3F5F8"/>
            </a:solidFill>
            <a:prstDash val="solid"/>
          </a:ln>
        </p:spPr>
        <p:txBody>
          <a:bodyPr/>
          <a:p/>
        </p:txBody>
      </p:sp>
      <p:sp>
        <p:nvSpPr>
          <p:cNvPr id="16" name="Text 13"/>
          <p:cNvSpPr txBox="1"/>
          <p:nvPr/>
        </p:nvSpPr>
        <p:spPr>
          <a:xfrm>
            <a:off x="2578608" y="1828800"/>
            <a:ext cx="1828800" cy="731520"/>
          </a:xfrm>
          <a:prstGeom prst="rect">
            <a:avLst/>
          </a:prstGeom>
          <a:noFill/>
          <a:ln/>
        </p:spPr>
        <p:txBody>
          <a:bodyPr wrap="square" lIns="0" tIns="0" rIns="0" bIns="0" rtlCol="0" anchor="t"/>
          <a:lstStyle/>
          <a:p>
            <a:pPr indent="0" marL="0">
              <a:buNone/>
            </a:pPr>
            <a:r>
              <a:rPr lang="en-US" sz="1050" b="1" dirty="0">
                <a:solidFill>
                  <a:srgbClr val="1B2A4A"/>
                </a:solidFill>
                <a:latin typeface="Calibri" pitchFamily="34" charset="0"/>
                <a:ea typeface="Calibri" pitchFamily="34" charset="-122"/>
                <a:cs typeface="Calibri" pitchFamily="34" charset="-120"/>
              </a:rPr>
              <a:t>How does a change reach production safely?</a:t>
            </a:r>
            <a:endParaRPr lang="en-US" sz="1050" dirty="0"/>
          </a:p>
        </p:txBody>
      </p:sp>
      <p:sp>
        <p:nvSpPr>
          <p:cNvPr id="17" name="Text 14"/>
          <p:cNvSpPr txBox="1"/>
          <p:nvPr/>
        </p:nvSpPr>
        <p:spPr>
          <a:xfrm>
            <a:off x="2578608" y="2606040"/>
            <a:ext cx="1828800" cy="1005840"/>
          </a:xfrm>
          <a:prstGeom prst="rect">
            <a:avLst/>
          </a:prstGeom>
          <a:noFill/>
          <a:ln/>
        </p:spPr>
        <p:txBody>
          <a:bodyPr wrap="square" lIns="0" tIns="0" rIns="0" bIns="0" rtlCol="0" anchor="t"/>
          <a:lstStyle/>
          <a:p>
            <a:pPr indent="0" marL="0">
              <a:buNone/>
            </a:pPr>
            <a:r>
              <a:rPr lang="en-US" sz="950" dirty="0">
                <a:solidFill>
                  <a:srgbClr val="222222"/>
                </a:solidFill>
                <a:latin typeface="Calibri" pitchFamily="34" charset="0"/>
                <a:ea typeface="Calibri" pitchFamily="34" charset="-122"/>
                <a:cs typeface="Calibri" pitchFamily="34" charset="-120"/>
              </a:rPr>
              <a:t>Versioning · tests for code and data · CI/CD/CT · canary · rollback</a:t>
            </a:r>
            <a:endParaRPr lang="en-US" sz="950" dirty="0"/>
          </a:p>
        </p:txBody>
      </p:sp>
      <p:sp>
        <p:nvSpPr>
          <p:cNvPr id="18" name="Text 15"/>
          <p:cNvSpPr txBox="1"/>
          <p:nvPr/>
        </p:nvSpPr>
        <p:spPr>
          <a:xfrm>
            <a:off x="2578608" y="3611880"/>
            <a:ext cx="1828800" cy="22860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S3–S6</a:t>
            </a:r>
            <a:endParaRPr lang="en-US" sz="900" dirty="0"/>
          </a:p>
        </p:txBody>
      </p:sp>
      <p:sp>
        <p:nvSpPr>
          <p:cNvPr id="19" name="Shape 16"/>
          <p:cNvSpPr/>
          <p:nvPr/>
        </p:nvSpPr>
        <p:spPr>
          <a:xfrm>
            <a:off x="4608576" y="1234440"/>
            <a:ext cx="2011680" cy="502920"/>
          </a:xfrm>
          <a:prstGeom prst="roundRect">
            <a:avLst>
              <a:gd name="adj" fmla="val 10909"/>
            </a:avLst>
          </a:prstGeom>
          <a:solidFill>
            <a:srgbClr val="0E7C86"/>
          </a:solidFill>
          <a:ln w="12700">
            <a:solidFill>
              <a:srgbClr val="0E7C86"/>
            </a:solidFill>
            <a:prstDash val="solid"/>
          </a:ln>
        </p:spPr>
        <p:txBody>
          <a:bodyPr/>
          <a:p/>
        </p:txBody>
      </p:sp>
      <p:sp>
        <p:nvSpPr>
          <p:cNvPr id="20" name="Text 17"/>
          <p:cNvSpPr txBox="1"/>
          <p:nvPr/>
        </p:nvSpPr>
        <p:spPr>
          <a:xfrm>
            <a:off x="4608576" y="1234440"/>
            <a:ext cx="201168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 · Monitoring</a:t>
            </a:r>
            <a:endParaRPr lang="en-US" sz="1200" dirty="0"/>
          </a:p>
        </p:txBody>
      </p:sp>
      <p:sp>
        <p:nvSpPr>
          <p:cNvPr id="21" name="Shape 18"/>
          <p:cNvSpPr/>
          <p:nvPr/>
        </p:nvSpPr>
        <p:spPr>
          <a:xfrm>
            <a:off x="4608576" y="1783080"/>
            <a:ext cx="2011680" cy="2103120"/>
          </a:xfrm>
          <a:prstGeom prst="roundRect">
            <a:avLst>
              <a:gd name="adj" fmla="val 2727"/>
            </a:avLst>
          </a:prstGeom>
          <a:solidFill>
            <a:srgbClr val="F3F5F8"/>
          </a:solidFill>
          <a:ln w="12700">
            <a:solidFill>
              <a:srgbClr val="F3F5F8"/>
            </a:solidFill>
            <a:prstDash val="solid"/>
          </a:ln>
        </p:spPr>
        <p:txBody>
          <a:bodyPr/>
          <a:p/>
        </p:txBody>
      </p:sp>
      <p:sp>
        <p:nvSpPr>
          <p:cNvPr id="22" name="Text 19"/>
          <p:cNvSpPr txBox="1"/>
          <p:nvPr/>
        </p:nvSpPr>
        <p:spPr>
          <a:xfrm>
            <a:off x="4700016" y="1828800"/>
            <a:ext cx="1828800" cy="731520"/>
          </a:xfrm>
          <a:prstGeom prst="rect">
            <a:avLst/>
          </a:prstGeom>
          <a:noFill/>
          <a:ln/>
        </p:spPr>
        <p:txBody>
          <a:bodyPr wrap="square" lIns="0" tIns="0" rIns="0" bIns="0" rtlCol="0" anchor="t"/>
          <a:lstStyle/>
          <a:p>
            <a:pPr indent="0" marL="0">
              <a:buNone/>
            </a:pPr>
            <a:r>
              <a:rPr lang="en-US" sz="1050" b="1" dirty="0">
                <a:solidFill>
                  <a:srgbClr val="1B2A4A"/>
                </a:solidFill>
                <a:latin typeface="Calibri" pitchFamily="34" charset="0"/>
                <a:ea typeface="Calibri" pitchFamily="34" charset="-122"/>
                <a:cs typeface="Calibri" pitchFamily="34" charset="-120"/>
              </a:rPr>
              <a:t>How do we know it is still right, and who is told?</a:t>
            </a:r>
            <a:endParaRPr lang="en-US" sz="1050" dirty="0"/>
          </a:p>
        </p:txBody>
      </p:sp>
      <p:sp>
        <p:nvSpPr>
          <p:cNvPr id="23" name="Text 20"/>
          <p:cNvSpPr txBox="1"/>
          <p:nvPr/>
        </p:nvSpPr>
        <p:spPr>
          <a:xfrm>
            <a:off x="4700016" y="2606040"/>
            <a:ext cx="1828800" cy="1005840"/>
          </a:xfrm>
          <a:prstGeom prst="rect">
            <a:avLst/>
          </a:prstGeom>
          <a:noFill/>
          <a:ln/>
        </p:spPr>
        <p:txBody>
          <a:bodyPr wrap="square" lIns="0" tIns="0" rIns="0" bIns="0" rtlCol="0" anchor="t"/>
          <a:lstStyle/>
          <a:p>
            <a:pPr indent="0" marL="0">
              <a:buNone/>
            </a:pPr>
            <a:r>
              <a:rPr lang="en-US" sz="950" dirty="0">
                <a:solidFill>
                  <a:srgbClr val="222222"/>
                </a:solidFill>
                <a:latin typeface="Calibri" pitchFamily="34" charset="0"/>
                <a:ea typeface="Calibri" pitchFamily="34" charset="-122"/>
                <a:cs typeface="Calibri" pitchFamily="34" charset="-120"/>
              </a:rPr>
              <a:t>Drifts · performance by segment · ground truth · alerts: threshold, window, person</a:t>
            </a:r>
            <a:endParaRPr lang="en-US" sz="950" dirty="0"/>
          </a:p>
        </p:txBody>
      </p:sp>
      <p:sp>
        <p:nvSpPr>
          <p:cNvPr id="24" name="Text 21"/>
          <p:cNvSpPr txBox="1"/>
          <p:nvPr/>
        </p:nvSpPr>
        <p:spPr>
          <a:xfrm>
            <a:off x="4700016" y="3611880"/>
            <a:ext cx="1828800" cy="22860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S7–S9</a:t>
            </a:r>
            <a:endParaRPr lang="en-US" sz="900" dirty="0"/>
          </a:p>
        </p:txBody>
      </p:sp>
      <p:sp>
        <p:nvSpPr>
          <p:cNvPr id="25" name="Shape 22"/>
          <p:cNvSpPr/>
          <p:nvPr/>
        </p:nvSpPr>
        <p:spPr>
          <a:xfrm>
            <a:off x="6729984" y="1234440"/>
            <a:ext cx="2011680" cy="502920"/>
          </a:xfrm>
          <a:prstGeom prst="roundRect">
            <a:avLst>
              <a:gd name="adj" fmla="val 10909"/>
            </a:avLst>
          </a:prstGeom>
          <a:solidFill>
            <a:srgbClr val="E07A2F"/>
          </a:solidFill>
          <a:ln w="12700">
            <a:solidFill>
              <a:srgbClr val="E07A2F"/>
            </a:solidFill>
            <a:prstDash val="solid"/>
          </a:ln>
        </p:spPr>
        <p:txBody>
          <a:bodyPr/>
          <a:p/>
        </p:txBody>
      </p:sp>
      <p:sp>
        <p:nvSpPr>
          <p:cNvPr id="26" name="Text 23"/>
          <p:cNvSpPr txBox="1"/>
          <p:nvPr/>
        </p:nvSpPr>
        <p:spPr>
          <a:xfrm>
            <a:off x="6729984" y="1234440"/>
            <a:ext cx="201168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 · GenAI &amp; governance</a:t>
            </a:r>
            <a:endParaRPr lang="en-US" sz="1200" dirty="0"/>
          </a:p>
        </p:txBody>
      </p:sp>
      <p:sp>
        <p:nvSpPr>
          <p:cNvPr id="27" name="Shape 24"/>
          <p:cNvSpPr/>
          <p:nvPr/>
        </p:nvSpPr>
        <p:spPr>
          <a:xfrm>
            <a:off x="6729984" y="1783080"/>
            <a:ext cx="2011680" cy="2103120"/>
          </a:xfrm>
          <a:prstGeom prst="roundRect">
            <a:avLst>
              <a:gd name="adj" fmla="val 2727"/>
            </a:avLst>
          </a:prstGeom>
          <a:solidFill>
            <a:srgbClr val="F3F5F8"/>
          </a:solidFill>
          <a:ln w="12700">
            <a:solidFill>
              <a:srgbClr val="F3F5F8"/>
            </a:solidFill>
            <a:prstDash val="solid"/>
          </a:ln>
        </p:spPr>
        <p:txBody>
          <a:bodyPr/>
          <a:p/>
        </p:txBody>
      </p:sp>
      <p:sp>
        <p:nvSpPr>
          <p:cNvPr id="28" name="Text 25"/>
          <p:cNvSpPr txBox="1"/>
          <p:nvPr/>
        </p:nvSpPr>
        <p:spPr>
          <a:xfrm>
            <a:off x="6821424" y="1828800"/>
            <a:ext cx="1828800" cy="731520"/>
          </a:xfrm>
          <a:prstGeom prst="rect">
            <a:avLst/>
          </a:prstGeom>
          <a:noFill/>
          <a:ln/>
        </p:spPr>
        <p:txBody>
          <a:bodyPr wrap="square" lIns="0" tIns="0" rIns="0" bIns="0" rtlCol="0" anchor="t"/>
          <a:lstStyle/>
          <a:p>
            <a:pPr indent="0" marL="0">
              <a:buNone/>
            </a:pPr>
            <a:r>
              <a:rPr lang="en-US" sz="1050" b="1" dirty="0">
                <a:solidFill>
                  <a:srgbClr val="1B2A4A"/>
                </a:solidFill>
                <a:latin typeface="Calibri" pitchFamily="34" charset="0"/>
                <a:ea typeface="Calibri" pitchFamily="34" charset="-122"/>
                <a:cs typeface="Calibri" pitchFamily="34" charset="-120"/>
              </a:rPr>
              <a:t>What changes when the model writes, and who is accountable?</a:t>
            </a:r>
            <a:endParaRPr lang="en-US" sz="1050" dirty="0"/>
          </a:p>
        </p:txBody>
      </p:sp>
      <p:sp>
        <p:nvSpPr>
          <p:cNvPr id="29" name="Text 26"/>
          <p:cNvSpPr txBox="1"/>
          <p:nvPr/>
        </p:nvSpPr>
        <p:spPr>
          <a:xfrm>
            <a:off x="6821424" y="2606040"/>
            <a:ext cx="1828800" cy="1005840"/>
          </a:xfrm>
          <a:prstGeom prst="rect">
            <a:avLst/>
          </a:prstGeom>
          <a:noFill/>
          <a:ln/>
        </p:spPr>
        <p:txBody>
          <a:bodyPr wrap="square" lIns="0" tIns="0" rIns="0" bIns="0" rtlCol="0" anchor="t"/>
          <a:lstStyle/>
          <a:p>
            <a:pPr indent="0" marL="0">
              <a:buNone/>
            </a:pPr>
            <a:r>
              <a:rPr lang="en-US" sz="950" dirty="0">
                <a:solidFill>
                  <a:srgbClr val="222222"/>
                </a:solidFill>
                <a:latin typeface="Calibri" pitchFamily="34" charset="0"/>
                <a:ea typeface="Calibri" pitchFamily="34" charset="-122"/>
                <a:cs typeface="Calibri" pitchFamily="34" charset="-120"/>
              </a:rPr>
              <a:t>Prompts · RAG · judges · guardrails · cost · EU AI Act · NIST (Video 2)</a:t>
            </a:r>
            <a:endParaRPr lang="en-US" sz="950" dirty="0"/>
          </a:p>
        </p:txBody>
      </p:sp>
      <p:sp>
        <p:nvSpPr>
          <p:cNvPr id="30" name="Text 27"/>
          <p:cNvSpPr txBox="1"/>
          <p:nvPr/>
        </p:nvSpPr>
        <p:spPr>
          <a:xfrm>
            <a:off x="6821424" y="3611880"/>
            <a:ext cx="1828800" cy="22860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S10–S12</a:t>
            </a:r>
            <a:endParaRPr lang="en-US" sz="900" dirty="0"/>
          </a:p>
        </p:txBody>
      </p:sp>
      <p:sp>
        <p:nvSpPr>
          <p:cNvPr id="31" name="Shape 28"/>
          <p:cNvSpPr/>
          <p:nvPr/>
        </p:nvSpPr>
        <p:spPr>
          <a:xfrm>
            <a:off x="365760" y="4023360"/>
            <a:ext cx="8412480" cy="548640"/>
          </a:xfrm>
          <a:prstGeom prst="roundRect">
            <a:avLst>
              <a:gd name="adj" fmla="val 13333"/>
            </a:avLst>
          </a:prstGeom>
          <a:solidFill>
            <a:srgbClr val="E3F1F2"/>
          </a:solidFill>
          <a:ln w="12700">
            <a:solidFill>
              <a:srgbClr val="E3F1F2"/>
            </a:solidFill>
            <a:prstDash val="solid"/>
          </a:ln>
        </p:spPr>
        <p:txBody>
          <a:bodyPr/>
          <a:p/>
        </p:txBody>
      </p:sp>
      <p:pic>
        <p:nvPicPr>
          <p:cNvPr id="32" name="Image 0" descr="preencoded.png">    </p:cNvPr>
          <p:cNvPicPr>
            <a:picLocks noChangeAspect="1"/>
          </p:cNvPicPr>
          <p:nvPr/>
        </p:nvPicPr>
        <p:blipFill>
          <a:blip r:embed="rId1"/>
          <a:stretch>
            <a:fillRect/>
          </a:stretch>
        </p:blipFill>
        <p:spPr>
          <a:xfrm>
            <a:off x="502920" y="4160520"/>
            <a:ext cx="274320" cy="274320"/>
          </a:xfrm>
          <a:prstGeom prst="rect">
            <a:avLst/>
          </a:prstGeom>
        </p:spPr>
      </p:pic>
      <p:sp>
        <p:nvSpPr>
          <p:cNvPr id="33" name="Text 29"/>
          <p:cNvSpPr txBox="1"/>
          <p:nvPr/>
        </p:nvSpPr>
        <p:spPr>
          <a:xfrm>
            <a:off x="896112" y="4023360"/>
            <a:ext cx="7772400" cy="54864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Each of the six cases failed on a question one of these modules answers. The exam asks the questions; the group project asks you to answer all four for one company.</a:t>
            </a:r>
            <a:endParaRPr lang="en-US" sz="1100" dirty="0"/>
          </a:p>
        </p:txBody>
      </p:sp>
      <p:pic>
        <p:nvPicPr>
          <p:cNvPr id="34"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10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28</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Three things to remember</a:t>
            </a:r>
            <a:endParaRPr lang="en-US" sz="2400" dirty="0"/>
          </a:p>
        </p:txBody>
      </p:sp>
      <p:sp>
        <p:nvSpPr>
          <p:cNvPr id="7" name="Shape 4"/>
          <p:cNvSpPr/>
          <p:nvPr/>
        </p:nvSpPr>
        <p:spPr>
          <a:xfrm>
            <a:off x="365760" y="1325880"/>
            <a:ext cx="640080" cy="640080"/>
          </a:xfrm>
          <a:prstGeom prst="ellipse">
            <a:avLst/>
          </a:prstGeom>
          <a:solidFill>
            <a:srgbClr val="0E7C86"/>
          </a:solidFill>
          <a:ln w="12700">
            <a:solidFill>
              <a:srgbClr val="0E7C86"/>
            </a:solidFill>
            <a:prstDash val="solid"/>
          </a:ln>
        </p:spPr>
        <p:txBody>
          <a:bodyPr/>
          <a:p/>
        </p:txBody>
      </p:sp>
      <p:sp>
        <p:nvSpPr>
          <p:cNvPr id="8" name="Text 5"/>
          <p:cNvSpPr txBox="1"/>
          <p:nvPr/>
        </p:nvSpPr>
        <p:spPr>
          <a:xfrm>
            <a:off x="365760" y="132588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9" name="Text 6"/>
          <p:cNvSpPr txBox="1"/>
          <p:nvPr/>
        </p:nvSpPr>
        <p:spPr>
          <a:xfrm>
            <a:off x="1188720" y="1234440"/>
            <a:ext cx="758952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The prompt is code and the documents are data: version, test, promote, roll back.</a:t>
            </a:r>
            <a:endParaRPr lang="en-US" sz="1600" dirty="0"/>
          </a:p>
        </p:txBody>
      </p:sp>
      <p:sp>
        <p:nvSpPr>
          <p:cNvPr id="10" name="Text 7"/>
          <p:cNvSpPr txBox="1"/>
          <p:nvPr/>
        </p:nvSpPr>
        <p:spPr>
          <a:xfrm>
            <a:off x="1188720" y="1645920"/>
            <a:ext cx="758952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You configure rather than train; a content owner can change behaviour without touching code, so the registry, the golden set and the sign-off are the controls.</a:t>
            </a:r>
            <a:endParaRPr lang="en-US" sz="1200" dirty="0"/>
          </a:p>
        </p:txBody>
      </p:sp>
      <p:sp>
        <p:nvSpPr>
          <p:cNvPr id="11" name="Shape 8"/>
          <p:cNvSpPr/>
          <p:nvPr/>
        </p:nvSpPr>
        <p:spPr>
          <a:xfrm>
            <a:off x="365760" y="2377440"/>
            <a:ext cx="640080" cy="640080"/>
          </a:xfrm>
          <a:prstGeom prst="ellipse">
            <a:avLst/>
          </a:prstGeom>
          <a:solidFill>
            <a:srgbClr val="0E7C86"/>
          </a:solidFill>
          <a:ln w="12700">
            <a:solidFill>
              <a:srgbClr val="0E7C86"/>
            </a:solidFill>
            <a:prstDash val="solid"/>
          </a:ln>
        </p:spPr>
        <p:txBody>
          <a:bodyPr/>
          <a:p/>
        </p:txBody>
      </p:sp>
      <p:sp>
        <p:nvSpPr>
          <p:cNvPr id="12" name="Text 9"/>
          <p:cNvSpPr txBox="1"/>
          <p:nvPr/>
        </p:nvSpPr>
        <p:spPr>
          <a:xfrm>
            <a:off x="365760" y="237744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3" name="Text 10"/>
          <p:cNvSpPr txBox="1"/>
          <p:nvPr/>
        </p:nvSpPr>
        <p:spPr>
          <a:xfrm>
            <a:off x="1188720" y="2286000"/>
            <a:ext cx="758952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Quality is judged, then the judge is measured; every check costs latency and tokens.</a:t>
            </a:r>
            <a:endParaRPr lang="en-US" sz="1600" dirty="0"/>
          </a:p>
        </p:txBody>
      </p:sp>
      <p:sp>
        <p:nvSpPr>
          <p:cNvPr id="14" name="Text 11"/>
          <p:cNvSpPr txBox="1"/>
          <p:nvPr/>
        </p:nvSpPr>
        <p:spPr>
          <a:xfrm>
            <a:off x="1188720" y="2697480"/>
            <a:ext cx="758952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Golden set on every change, judge daily, humans weekly. Guardrails are controls with a latency budget. Do the arithmetic: requests × tokens × price, plus people.</a:t>
            </a:r>
            <a:endParaRPr lang="en-US" sz="1200" dirty="0"/>
          </a:p>
        </p:txBody>
      </p:sp>
      <p:sp>
        <p:nvSpPr>
          <p:cNvPr id="15" name="Shape 12"/>
          <p:cNvSpPr/>
          <p:nvPr/>
        </p:nvSpPr>
        <p:spPr>
          <a:xfrm>
            <a:off x="365760" y="3429000"/>
            <a:ext cx="640080" cy="640080"/>
          </a:xfrm>
          <a:prstGeom prst="ellipse">
            <a:avLst/>
          </a:prstGeom>
          <a:solidFill>
            <a:srgbClr val="0E7C86"/>
          </a:solidFill>
          <a:ln w="12700">
            <a:solidFill>
              <a:srgbClr val="0E7C86"/>
            </a:solidFill>
            <a:prstDash val="solid"/>
          </a:ln>
        </p:spPr>
        <p:txBody>
          <a:bodyPr/>
          <a:p/>
        </p:txBody>
      </p:sp>
      <p:sp>
        <p:nvSpPr>
          <p:cNvPr id="16" name="Text 13"/>
          <p:cNvSpPr txBox="1"/>
          <p:nvPr/>
        </p:nvSpPr>
        <p:spPr>
          <a:xfrm>
            <a:off x="365760" y="342900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7" name="Text 14"/>
          <p:cNvSpPr txBox="1"/>
          <p:nvPr/>
        </p:nvSpPr>
        <p:spPr>
          <a:xfrm>
            <a:off x="1188720" y="3337560"/>
            <a:ext cx="7589520" cy="411480"/>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Every failure we studied was a missing control with a missing owner.</a:t>
            </a:r>
            <a:endParaRPr lang="en-US" sz="1600" dirty="0"/>
          </a:p>
        </p:txBody>
      </p:sp>
      <p:sp>
        <p:nvSpPr>
          <p:cNvPr id="18" name="Text 15"/>
          <p:cNvSpPr txBox="1"/>
          <p:nvPr/>
        </p:nvSpPr>
        <p:spPr>
          <a:xfrm>
            <a:off x="1188720" y="3749040"/>
            <a:ext cx="7589520" cy="548640"/>
          </a:xfrm>
          <a:prstGeom prst="rect">
            <a:avLst/>
          </a:prstGeom>
          <a:noFill/>
          <a:ln/>
        </p:spPr>
        <p:txBody>
          <a:bodyPr wrap="square" lIns="0" tIns="0" rIns="0" bIns="0" rtlCol="0" anchor="t"/>
          <a:lstStyle/>
          <a:p>
            <a:pPr indent="0" marL="0">
              <a:buNone/>
            </a:pPr>
            <a:r>
              <a:rPr lang="en-US" sz="1200" dirty="0">
                <a:solidFill>
                  <a:srgbClr val="222222"/>
                </a:solidFill>
                <a:latin typeface="Calibri" pitchFamily="34" charset="0"/>
                <a:ea typeface="Calibri" pitchFamily="34" charset="-122"/>
                <a:cs typeface="Calibri" pitchFamily="34" charset="-120"/>
              </a:rPr>
              <a:t>Symptom → stage → control → persona → roadmap. In every case somebody could have said no, and the system was not built to let them.</a:t>
            </a:r>
            <a:endParaRPr lang="en-US" sz="1200" dirty="0"/>
          </a:p>
        </p:txBody>
      </p:sp>
      <p:pic>
        <p:nvPicPr>
          <p:cNvPr id="19" name="IE University logo" descr="IE University, School of Science &amp; Technology"/>
          <p:cNvPicPr>
            <a:picLocks noChangeAspect="1"/>
          </p:cNvPicPr>
          <p:nvPr/>
        </p:nvPicPr>
        <p:blipFill>
          <a:blip r:embed="rId3"/>
          <a:stretch>
            <a:fillRect/>
          </a:stretch>
        </p:blipFill>
        <p:spPr>
          <a:xfrm>
            <a:off x="8013607" y="92634"/>
            <a:ext cx="764633" cy="262789"/>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10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29</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Your forum this week: Session 11 · 31 October–6 November (the capstone), and Video 2</a:t>
            </a:r>
            <a:endParaRPr lang="en-US" sz="2400" dirty="0"/>
          </a:p>
        </p:txBody>
      </p:sp>
      <p:sp>
        <p:nvSpPr>
          <p:cNvPr id="7" name="Shape 4"/>
          <p:cNvSpPr/>
          <p:nvPr/>
        </p:nvSpPr>
        <p:spPr>
          <a:xfrm>
            <a:off x="365760" y="1280160"/>
            <a:ext cx="502920" cy="502920"/>
          </a:xfrm>
          <a:prstGeom prst="ellipse">
            <a:avLst/>
          </a:prstGeom>
          <a:solidFill>
            <a:srgbClr val="1B2A4A"/>
          </a:solidFill>
          <a:ln w="12700">
            <a:solidFill>
              <a:srgbClr val="1B2A4A"/>
            </a:solidFill>
            <a:prstDash val="solid"/>
          </a:ln>
        </p:spPr>
        <p:txBody>
          <a:bodyPr/>
          <a:p/>
        </p:txBody>
      </p:sp>
      <p:sp>
        <p:nvSpPr>
          <p:cNvPr id="8" name="Text 5"/>
          <p:cNvSpPr txBox="1"/>
          <p:nvPr/>
        </p:nvSpPr>
        <p:spPr>
          <a:xfrm>
            <a:off x="365760" y="128016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Q1</a:t>
            </a:r>
            <a:endParaRPr lang="en-US" sz="1300" dirty="0"/>
          </a:p>
        </p:txBody>
      </p:sp>
      <p:sp>
        <p:nvSpPr>
          <p:cNvPr id="9" name="Text 6"/>
          <p:cNvSpPr txBox="1"/>
          <p:nvPr/>
        </p:nvSpPr>
        <p:spPr>
          <a:xfrm>
            <a:off x="1051560" y="1234440"/>
            <a:ext cx="7726680" cy="822960"/>
          </a:xfrm>
          <a:prstGeom prst="rect">
            <a:avLst/>
          </a:prstGeom>
          <a:noFill/>
          <a:ln/>
        </p:spPr>
        <p:txBody>
          <a:bodyPr wrap="square" lIns="0" tIns="0" rIns="0" bIns="0" rtlCol="0" anchor="t"/>
          <a:lstStyle/>
          <a:p>
            <a:pPr indent="0" marL="0">
              <a:buNone/>
            </a:pPr>
            <a:r>
              <a:rPr lang="en-US" sz="1150" dirty="0">
                <a:solidFill>
                  <a:srgbClr val="222222"/>
                </a:solidFill>
                <a:latin typeface="Calibri" pitchFamily="34" charset="0"/>
                <a:ea typeface="Calibri" pitchFamily="34" charset="-122"/>
                <a:cs typeface="Calibri" pitchFamily="34" charset="-120"/>
              </a:rPr>
              <a:t>Design the operational architecture for a RAG-based internal assistant. Show the components (retrieval, prompt management, evaluation, guardrails, monitoring) and note one cost or latency trade-off.</a:t>
            </a:r>
            <a:endParaRPr lang="en-US" sz="1150" dirty="0"/>
          </a:p>
        </p:txBody>
      </p:sp>
      <p:sp>
        <p:nvSpPr>
          <p:cNvPr id="10" name="Shape 7"/>
          <p:cNvSpPr/>
          <p:nvPr/>
        </p:nvSpPr>
        <p:spPr>
          <a:xfrm>
            <a:off x="365760" y="2148840"/>
            <a:ext cx="502920" cy="502920"/>
          </a:xfrm>
          <a:prstGeom prst="ellipse">
            <a:avLst/>
          </a:prstGeom>
          <a:solidFill>
            <a:srgbClr val="1B2A4A"/>
          </a:solidFill>
          <a:ln w="12700">
            <a:solidFill>
              <a:srgbClr val="1B2A4A"/>
            </a:solidFill>
            <a:prstDash val="solid"/>
          </a:ln>
        </p:spPr>
        <p:txBody>
          <a:bodyPr/>
          <a:p/>
        </p:txBody>
      </p:sp>
      <p:sp>
        <p:nvSpPr>
          <p:cNvPr id="11" name="Text 8"/>
          <p:cNvSpPr txBox="1"/>
          <p:nvPr/>
        </p:nvSpPr>
        <p:spPr>
          <a:xfrm>
            <a:off x="365760" y="214884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Q2</a:t>
            </a:r>
            <a:endParaRPr lang="en-US" sz="1300" dirty="0"/>
          </a:p>
        </p:txBody>
      </p:sp>
      <p:sp>
        <p:nvSpPr>
          <p:cNvPr id="12" name="Text 9"/>
          <p:cNvSpPr txBox="1"/>
          <p:nvPr/>
        </p:nvSpPr>
        <p:spPr>
          <a:xfrm>
            <a:off x="1051560" y="2103120"/>
            <a:ext cx="7726680" cy="822960"/>
          </a:xfrm>
          <a:prstGeom prst="rect">
            <a:avLst/>
          </a:prstGeom>
          <a:noFill/>
          <a:ln/>
        </p:spPr>
        <p:txBody>
          <a:bodyPr wrap="square" lIns="0" tIns="0" rIns="0" bIns="0" rtlCol="0" anchor="t"/>
          <a:lstStyle/>
          <a:p>
            <a:pPr indent="0" marL="0">
              <a:buNone/>
            </a:pPr>
            <a:r>
              <a:rPr lang="en-US" sz="1150" dirty="0">
                <a:solidFill>
                  <a:srgbClr val="222222"/>
                </a:solidFill>
                <a:latin typeface="Calibri" pitchFamily="34" charset="0"/>
                <a:ea typeface="Calibri" pitchFamily="34" charset="-122"/>
                <a:cs typeface="Calibri" pitchFamily="34" charset="-120"/>
              </a:rPr>
              <a:t>Compare classical MLOps and LLMOps: give two concrete ways in which operating an LLM in production differs from operating a traditional ML model.</a:t>
            </a:r>
            <a:endParaRPr lang="en-US" sz="1150" dirty="0"/>
          </a:p>
        </p:txBody>
      </p:sp>
      <p:sp>
        <p:nvSpPr>
          <p:cNvPr id="13" name="Shape 10"/>
          <p:cNvSpPr/>
          <p:nvPr/>
        </p:nvSpPr>
        <p:spPr>
          <a:xfrm>
            <a:off x="365760" y="3017520"/>
            <a:ext cx="502920" cy="502920"/>
          </a:xfrm>
          <a:prstGeom prst="ellipse">
            <a:avLst/>
          </a:prstGeom>
          <a:solidFill>
            <a:srgbClr val="1B2A4A"/>
          </a:solidFill>
          <a:ln w="12700">
            <a:solidFill>
              <a:srgbClr val="1B2A4A"/>
            </a:solidFill>
            <a:prstDash val="solid"/>
          </a:ln>
        </p:spPr>
        <p:txBody>
          <a:bodyPr/>
          <a:p/>
        </p:txBody>
      </p:sp>
      <p:sp>
        <p:nvSpPr>
          <p:cNvPr id="14" name="Text 11"/>
          <p:cNvSpPr txBox="1"/>
          <p:nvPr/>
        </p:nvSpPr>
        <p:spPr>
          <a:xfrm>
            <a:off x="365760" y="301752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Q3</a:t>
            </a:r>
            <a:endParaRPr lang="en-US" sz="1300" dirty="0"/>
          </a:p>
        </p:txBody>
      </p:sp>
      <p:sp>
        <p:nvSpPr>
          <p:cNvPr id="15" name="Text 12"/>
          <p:cNvSpPr txBox="1"/>
          <p:nvPr/>
        </p:nvSpPr>
        <p:spPr>
          <a:xfrm>
            <a:off x="1051560" y="2971800"/>
            <a:ext cx="7726680" cy="822960"/>
          </a:xfrm>
          <a:prstGeom prst="rect">
            <a:avLst/>
          </a:prstGeom>
          <a:noFill/>
          <a:ln/>
        </p:spPr>
        <p:txBody>
          <a:bodyPr wrap="square" lIns="0" tIns="0" rIns="0" bIns="0" rtlCol="0" anchor="t"/>
          <a:lstStyle/>
          <a:p>
            <a:pPr indent="0" marL="0">
              <a:buNone/>
            </a:pPr>
            <a:r>
              <a:rPr lang="en-US" sz="1150" dirty="0">
                <a:solidFill>
                  <a:srgbClr val="222222"/>
                </a:solidFill>
                <a:latin typeface="Calibri" pitchFamily="34" charset="0"/>
                <a:ea typeface="Calibri" pitchFamily="34" charset="-122"/>
                <a:cs typeface="Calibri" pitchFamily="34" charset="-120"/>
              </a:rPr>
              <a:t>Capstone synthesis: take one enterprise failure case discussed in Session 10 and outline a corrective MLOps roadmap that spans the four course modules: foundations, pipelines and deployment, monitoring, and governance.</a:t>
            </a:r>
            <a:endParaRPr lang="en-US" sz="1150" dirty="0"/>
          </a:p>
        </p:txBody>
      </p:sp>
      <p:sp>
        <p:nvSpPr>
          <p:cNvPr id="16" name="Shape 13"/>
          <p:cNvSpPr/>
          <p:nvPr/>
        </p:nvSpPr>
        <p:spPr>
          <a:xfrm>
            <a:off x="365760" y="3840480"/>
            <a:ext cx="8412480" cy="822960"/>
          </a:xfrm>
          <a:prstGeom prst="roundRect">
            <a:avLst>
              <a:gd name="adj" fmla="val 8889"/>
            </a:avLst>
          </a:prstGeom>
          <a:solidFill>
            <a:srgbClr val="1B2A4A"/>
          </a:solidFill>
          <a:ln w="12700">
            <a:solidFill>
              <a:srgbClr val="1B2A4A"/>
            </a:solidFill>
            <a:prstDash val="solid"/>
          </a:ln>
        </p:spPr>
        <p:txBody>
          <a:bodyPr/>
          <a:p/>
        </p:txBody>
      </p:sp>
      <p:pic>
        <p:nvPicPr>
          <p:cNvPr id="17" name="Image 0" descr="preencoded.png">    </p:cNvPr>
          <p:cNvPicPr>
            <a:picLocks noChangeAspect="1"/>
          </p:cNvPicPr>
          <p:nvPr/>
        </p:nvPicPr>
        <p:blipFill>
          <a:blip r:embed="rId1"/>
          <a:stretch>
            <a:fillRect/>
          </a:stretch>
        </p:blipFill>
        <p:spPr>
          <a:xfrm>
            <a:off x="548640" y="4069080"/>
            <a:ext cx="365760" cy="365760"/>
          </a:xfrm>
          <a:prstGeom prst="rect">
            <a:avLst/>
          </a:prstGeom>
        </p:spPr>
      </p:pic>
      <p:sp>
        <p:nvSpPr>
          <p:cNvPr id="18" name="Text 14"/>
          <p:cNvSpPr txBox="1"/>
          <p:nvPr/>
        </p:nvSpPr>
        <p:spPr>
          <a:xfrm>
            <a:off x="1051560" y="3886200"/>
            <a:ext cx="7589520" cy="73152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Video 2 opens today: AI Governance &amp; Regulatory Readiness (60 min, self-paced) · </a:t>
            </a:r>
            <a:pPr indent="0" marL="0">
              <a:buNone/>
            </a:pPr>
            <a:r>
              <a:rPr lang="en-US" sz="1150" dirty="0">
                <a:solidFill>
                  <a:srgbClr val="FFFFFF"/>
                </a:solidFill>
                <a:latin typeface="Calibri" pitchFamily="34" charset="0"/>
                <a:ea typeface="Calibri" pitchFamily="34" charset="-122"/>
                <a:cs typeface="Calibri" pitchFamily="34" charset="-120"/>
              </a:rPr>
              <a:t>a 10-question knowledge check that counts towards continuous assessment (classify use cases by EU AI Act risk tier and required controls). Watch it before writing Q3's governance row.</a:t>
            </a:r>
            <a:endParaRPr lang="en-US" sz="1150" dirty="0"/>
          </a:p>
        </p:txBody>
      </p:sp>
      <p:pic>
        <p:nvPicPr>
          <p:cNvPr id="19"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10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30</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After Session 10: the group project, the exam, and what to keep</a:t>
            </a:r>
            <a:endParaRPr lang="en-US" sz="2400" dirty="0"/>
          </a:p>
        </p:txBody>
      </p:sp>
      <p:sp>
        <p:nvSpPr>
          <p:cNvPr id="7" name="Shape 4"/>
          <p:cNvSpPr/>
          <p:nvPr/>
        </p:nvSpPr>
        <p:spPr>
          <a:xfrm>
            <a:off x="365760" y="1234440"/>
            <a:ext cx="4114800" cy="2194560"/>
          </a:xfrm>
          <a:prstGeom prst="roundRect">
            <a:avLst>
              <a:gd name="adj" fmla="val 3333"/>
            </a:avLst>
          </a:prstGeom>
          <a:solidFill>
            <a:srgbClr val="F3F5F8"/>
          </a:solidFill>
          <a:ln w="12700">
            <a:solidFill>
              <a:srgbClr val="F3F5F8"/>
            </a:solidFill>
            <a:prstDash val="solid"/>
          </a:ln>
        </p:spPr>
        <p:txBody>
          <a:bodyPr/>
          <a:p/>
        </p:txBody>
      </p:sp>
      <p:sp>
        <p:nvSpPr>
          <p:cNvPr id="8" name="Shape 5"/>
          <p:cNvSpPr/>
          <p:nvPr/>
        </p:nvSpPr>
        <p:spPr>
          <a:xfrm>
            <a:off x="502920" y="1353312"/>
            <a:ext cx="347472" cy="347472"/>
          </a:xfrm>
          <a:prstGeom prst="ellipse">
            <a:avLst/>
          </a:prstGeom>
          <a:solidFill>
            <a:srgbClr val="0E7C86"/>
          </a:solidFill>
          <a:ln w="12700">
            <a:solidFill>
              <a:srgbClr val="0E7C86"/>
            </a:solidFill>
            <a:prstDash val="solid"/>
          </a:ln>
        </p:spPr>
        <p:txBody>
          <a:bodyPr/>
          <a:p/>
        </p:txBody>
      </p:sp>
      <p:pic>
        <p:nvPicPr>
          <p:cNvPr id="9" name="Image 0" descr="preencoded.png">    </p:cNvPr>
          <p:cNvPicPr>
            <a:picLocks noChangeAspect="1"/>
          </p:cNvPicPr>
          <p:nvPr/>
        </p:nvPicPr>
        <p:blipFill>
          <a:blip r:embed="rId1"/>
          <a:stretch>
            <a:fillRect/>
          </a:stretch>
        </p:blipFill>
        <p:spPr>
          <a:xfrm>
            <a:off x="576072" y="1426464"/>
            <a:ext cx="201168" cy="201168"/>
          </a:xfrm>
          <a:prstGeom prst="rect">
            <a:avLst/>
          </a:prstGeom>
        </p:spPr>
      </p:pic>
      <p:sp>
        <p:nvSpPr>
          <p:cNvPr id="10" name="Text 6"/>
          <p:cNvSpPr txBox="1"/>
          <p:nvPr/>
        </p:nvSpPr>
        <p:spPr>
          <a:xfrm>
            <a:off x="93268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Group project (35%)</a:t>
            </a:r>
            <a:endParaRPr lang="en-US" sz="1300" dirty="0"/>
          </a:p>
        </p:txBody>
      </p:sp>
      <p:sp>
        <p:nvSpPr>
          <p:cNvPr id="11" name="Text 7"/>
          <p:cNvSpPr txBox="1"/>
          <p:nvPr/>
        </p:nvSpPr>
        <p:spPr>
          <a:xfrm>
            <a:off x="502920" y="1783080"/>
            <a:ext cx="3840480" cy="1554480"/>
          </a:xfrm>
          <a:prstGeom prst="rect">
            <a:avLst/>
          </a:prstGeom>
          <a:noFill/>
          <a:ln/>
        </p:spPr>
        <p:txBody>
          <a:bodyPr wrap="square" lIns="0" tIns="0" rIns="0" bIns="0" rtlCol="0" anchor="t"/>
          <a:lstStyle/>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Deliverables: MLOps roadmap · persona responsibilities · CI/CD schematic · monitoring-and-retraining policy (classical + LLM metrics where relevant) · governance framework</a:t>
            </a:r>
            <a:endParaRPr lang="en-US" sz="1050" dirty="0"/>
          </a:p>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Rubric: architecture · documentation · monitoring and governance design · your defence, equally weighted</a:t>
            </a:r>
            <a:endParaRPr lang="en-US" sz="1050" dirty="0"/>
          </a:p>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Dates: as posted on campus [fill in]</a:t>
            </a:r>
            <a:endParaRPr lang="en-US" sz="1050" dirty="0"/>
          </a:p>
        </p:txBody>
      </p:sp>
      <p:sp>
        <p:nvSpPr>
          <p:cNvPr id="12" name="Shape 8"/>
          <p:cNvSpPr/>
          <p:nvPr/>
        </p:nvSpPr>
        <p:spPr>
          <a:xfrm>
            <a:off x="4663440" y="1234440"/>
            <a:ext cx="4114800" cy="2194560"/>
          </a:xfrm>
          <a:prstGeom prst="roundRect">
            <a:avLst>
              <a:gd name="adj" fmla="val 3333"/>
            </a:avLst>
          </a:prstGeom>
          <a:solidFill>
            <a:srgbClr val="F3F5F8"/>
          </a:solidFill>
          <a:ln w="12700">
            <a:solidFill>
              <a:srgbClr val="F3F5F8"/>
            </a:solidFill>
            <a:prstDash val="solid"/>
          </a:ln>
        </p:spPr>
        <p:txBody>
          <a:bodyPr/>
          <a:p/>
        </p:txBody>
      </p:sp>
      <p:sp>
        <p:nvSpPr>
          <p:cNvPr id="13" name="Shape 9"/>
          <p:cNvSpPr/>
          <p:nvPr/>
        </p:nvSpPr>
        <p:spPr>
          <a:xfrm>
            <a:off x="4800600" y="1353312"/>
            <a:ext cx="347472" cy="347472"/>
          </a:xfrm>
          <a:prstGeom prst="ellipse">
            <a:avLst/>
          </a:prstGeom>
          <a:solidFill>
            <a:srgbClr val="E07A2F"/>
          </a:solidFill>
          <a:ln w="12700">
            <a:solidFill>
              <a:srgbClr val="E07A2F"/>
            </a:solidFill>
            <a:prstDash val="solid"/>
          </a:ln>
        </p:spPr>
        <p:txBody>
          <a:bodyPr/>
          <a:p/>
        </p:txBody>
      </p:sp>
      <p:pic>
        <p:nvPicPr>
          <p:cNvPr id="14" name="Image 1" descr="preencoded.png">    </p:cNvPr>
          <p:cNvPicPr>
            <a:picLocks noChangeAspect="1"/>
          </p:cNvPicPr>
          <p:nvPr/>
        </p:nvPicPr>
        <p:blipFill>
          <a:blip r:embed="rId2"/>
          <a:stretch>
            <a:fillRect/>
          </a:stretch>
        </p:blipFill>
        <p:spPr>
          <a:xfrm>
            <a:off x="4873752" y="1426464"/>
            <a:ext cx="201168" cy="201168"/>
          </a:xfrm>
          <a:prstGeom prst="rect">
            <a:avLst/>
          </a:prstGeom>
        </p:spPr>
      </p:pic>
      <p:sp>
        <p:nvSpPr>
          <p:cNvPr id="15" name="Text 10"/>
          <p:cNvSpPr txBox="1"/>
          <p:nvPr/>
        </p:nvSpPr>
        <p:spPr>
          <a:xfrm>
            <a:off x="5230368" y="1325880"/>
            <a:ext cx="342900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Final exam (35%)</a:t>
            </a:r>
            <a:endParaRPr lang="en-US" sz="1300" dirty="0"/>
          </a:p>
        </p:txBody>
      </p:sp>
      <p:sp>
        <p:nvSpPr>
          <p:cNvPr id="16" name="Text 11"/>
          <p:cNvSpPr txBox="1"/>
          <p:nvPr/>
        </p:nvSpPr>
        <p:spPr>
          <a:xfrm>
            <a:off x="4800600" y="1783080"/>
            <a:ext cx="3840480" cy="1554480"/>
          </a:xfrm>
          <a:prstGeom prst="rect">
            <a:avLst/>
          </a:prstGeom>
          <a:noFill/>
          <a:ln/>
        </p:spPr>
        <p:txBody>
          <a:bodyPr wrap="square" lIns="0" tIns="0" rIns="0" bIns="0" rtlCol="0" anchor="t"/>
          <a:lstStyle/>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Individual: lifecycle logic, pipelines and CI/CD, monitoring and drift metrics, governance frameworks</a:t>
            </a:r>
            <a:endParaRPr lang="en-US" sz="1050" dirty="0"/>
          </a:p>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One single-sided handwritten A4 sheet: formulas, architecture diagrams, alert-threshold logic</a:t>
            </a:r>
            <a:endParaRPr lang="en-US" sz="1050" dirty="0"/>
          </a:p>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Minimum 3.5 / 10 to pass the course</a:t>
            </a:r>
            <a:endParaRPr lang="en-US" sz="1050" dirty="0"/>
          </a:p>
        </p:txBody>
      </p:sp>
      <p:sp>
        <p:nvSpPr>
          <p:cNvPr id="17" name="Shape 12"/>
          <p:cNvSpPr/>
          <p:nvPr/>
        </p:nvSpPr>
        <p:spPr>
          <a:xfrm>
            <a:off x="365760" y="3611880"/>
            <a:ext cx="8412480" cy="1005840"/>
          </a:xfrm>
          <a:prstGeom prst="roundRect">
            <a:avLst>
              <a:gd name="adj" fmla="val 7273"/>
            </a:avLst>
          </a:prstGeom>
          <a:solidFill>
            <a:srgbClr val="1B2A4A"/>
          </a:solidFill>
          <a:ln w="12700">
            <a:solidFill>
              <a:srgbClr val="1B2A4A"/>
            </a:solidFill>
            <a:prstDash val="solid"/>
          </a:ln>
        </p:spPr>
        <p:txBody>
          <a:bodyPr/>
          <a:p/>
        </p:txBody>
      </p:sp>
      <p:sp>
        <p:nvSpPr>
          <p:cNvPr id="18" name="Text 13"/>
          <p:cNvSpPr txBox="1"/>
          <p:nvPr/>
        </p:nvSpPr>
        <p:spPr>
          <a:xfrm>
            <a:off x="548640" y="3657600"/>
            <a:ext cx="804672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What to keep for the A4 sheet</a:t>
            </a:r>
            <a:endParaRPr lang="en-US" sz="1300" dirty="0"/>
          </a:p>
        </p:txBody>
      </p:sp>
      <p:sp>
        <p:nvSpPr>
          <p:cNvPr id="19" name="Text 14"/>
          <p:cNvSpPr txBox="1"/>
          <p:nvPr/>
        </p:nvSpPr>
        <p:spPr>
          <a:xfrm>
            <a:off x="548640" y="3977640"/>
            <a:ext cx="8046720" cy="59436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The five "three things" slides · the three-drifts table and the metric-decision table (Video 1) · the monitoring plan template (S7) · today's architecture and root-cause template · the EU AI Act risk tiers (Video 2)</a:t>
            </a:r>
            <a:endParaRPr lang="en-US" sz="1100" dirty="0"/>
          </a:p>
        </p:txBody>
      </p:sp>
      <p:pic>
        <p:nvPicPr>
          <p:cNvPr id="20" name="IE University logo" descr="IE University, School of Science &amp; Technology"/>
          <p:cNvPicPr>
            <a:picLocks noChangeAspect="1"/>
          </p:cNvPicPr>
          <p:nvPr/>
        </p:nvPicPr>
        <p:blipFill>
          <a:blip r:embed="rId5"/>
          <a:stretch>
            <a:fillRect/>
          </a:stretch>
        </p:blipFill>
        <p:spPr>
          <a:xfrm>
            <a:off x="8013607" y="92634"/>
            <a:ext cx="764633" cy="262789"/>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2E3F63"/>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B8C4D6"/>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B8C4D6"/>
                </a:solidFill>
                <a:latin typeface="Calibri" pitchFamily="34" charset="0"/>
                <a:ea typeface="Calibri" pitchFamily="34" charset="-122"/>
                <a:cs typeface="Calibri" pitchFamily="34" charset="-120"/>
              </a:rPr>
              <a:t>MLOps · MBDS-PT2026F · Session 10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B8C4D6"/>
                </a:solidFill>
                <a:latin typeface="Calibri" pitchFamily="34" charset="0"/>
                <a:ea typeface="Calibri" pitchFamily="34" charset="-122"/>
                <a:cs typeface="Calibri" pitchFamily="34" charset="-120"/>
              </a:rPr>
              <a:t>31</a:t>
            </a:r>
            <a:endParaRPr lang="en-US" sz="800" dirty="0"/>
          </a:p>
        </p:txBody>
      </p:sp>
      <p:sp>
        <p:nvSpPr>
          <p:cNvPr id="5" name="Text 3"/>
          <p:cNvSpPr txBox="1"/>
          <p:nvPr/>
        </p:nvSpPr>
        <p:spPr>
          <a:xfrm>
            <a:off x="548640" y="1463040"/>
            <a:ext cx="804672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Case cards · the six failure cases, facts only</a:t>
            </a:r>
            <a:endParaRPr lang="en-US" sz="2600" dirty="0"/>
          </a:p>
        </p:txBody>
      </p:sp>
      <p:sp>
        <p:nvSpPr>
          <p:cNvPr id="6" name="Text 4"/>
          <p:cNvSpPr txBox="1"/>
          <p:nvPr/>
        </p:nvSpPr>
        <p:spPr>
          <a:xfrm>
            <a:off x="548640" y="2286000"/>
            <a:ext cx="8046720" cy="82296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One slide per case, the same facts as the one-page briefs on campus, for the debrief. The diagnosis is the rooms' job, not the slide's.</a:t>
            </a:r>
            <a:endParaRPr lang="en-US" sz="1600" dirty="0"/>
          </a:p>
        </p:txBody>
      </p:sp>
      <p:pic>
        <p:nvPicPr>
          <p:cNvPr id="7" name="IE University logo" descr="IE University, School of Science &amp; Technology"/>
          <p:cNvPicPr>
            <a:picLocks noChangeAspect="1"/>
          </p:cNvPicPr>
          <p:nvPr/>
        </p:nvPicPr>
        <p:blipFill>
          <a:blip r:embed="rId3"/>
          <a:stretch>
            <a:fillRect/>
          </a:stretch>
        </p:blipFill>
        <p:spPr>
          <a:xfrm>
            <a:off x="8252653" y="109728"/>
            <a:ext cx="525587" cy="70439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10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32</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Case 1 · Zillow Offers (2018–2021): when a forecast becomes a purchase</a:t>
            </a:r>
            <a:endParaRPr lang="en-US" sz="2400" dirty="0"/>
          </a:p>
        </p:txBody>
      </p:sp>
      <p:sp>
        <p:nvSpPr>
          <p:cNvPr id="7" name="Text 4"/>
          <p:cNvSpPr txBox="1"/>
          <p:nvPr/>
        </p:nvSpPr>
        <p:spPr>
          <a:xfrm>
            <a:off x="365760" y="1143000"/>
            <a:ext cx="8412480" cy="274320"/>
          </a:xfrm>
          <a:prstGeom prst="rect">
            <a:avLst/>
          </a:prstGeom>
          <a:noFill/>
          <a:ln/>
        </p:spPr>
        <p:txBody>
          <a:bodyPr wrap="square" lIns="0" tIns="0" rIns="0" bIns="0" rtlCol="0" anchor="t"/>
          <a:lstStyle/>
          <a:p>
            <a:pPr algn="l" indent="0" marL="0">
              <a:buNone/>
            </a:pPr>
            <a:r>
              <a:rPr lang="en-US" sz="1150" b="1" dirty="0">
                <a:solidFill>
                  <a:srgbClr val="E07A2F"/>
                </a:solidFill>
                <a:latin typeface="Calibri" pitchFamily="34" charset="0"/>
                <a:ea typeface="Calibri" pitchFamily="34" charset="-122"/>
                <a:cs typeface="Calibri" pitchFamily="34" charset="-120"/>
              </a:rPr>
              <a:t>Classical ML · forecasting · consumer real estate · USA</a:t>
            </a:r>
            <a:endParaRPr lang="en-US" sz="1150" dirty="0"/>
          </a:p>
        </p:txBody>
      </p:sp>
      <p:sp>
        <p:nvSpPr>
          <p:cNvPr id="8" name="Text 5"/>
          <p:cNvSpPr txBox="1"/>
          <p:nvPr/>
        </p:nvSpPr>
        <p:spPr>
          <a:xfrm>
            <a:off x="365760" y="1463040"/>
            <a:ext cx="5486400" cy="2834640"/>
          </a:xfrm>
          <a:prstGeom prst="rect">
            <a:avLst/>
          </a:prstGeom>
          <a:noFill/>
          <a:ln/>
        </p:spPr>
        <p:txBody>
          <a:bodyPr wrap="square" lIns="0" tIns="0" rIns="0" bIns="0" rtlCol="0" anchor="t"/>
          <a:lstStyle/>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Zillow Offers bought homes directly from owners at prices set with the help of Zillow's home-value forecasting (the "Zestimate" family of models), renovated them and resold them.</a:t>
            </a:r>
            <a:endParaRPr lang="en-US" sz="1050" dirty="0"/>
          </a:p>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Launched in 2018; scaled aggressively in 2021, when US home prices rose and then cooled unevenly across cities.</a:t>
            </a:r>
            <a:endParaRPr lang="en-US" sz="1050" dirty="0"/>
          </a:p>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On 18 October 2021 Zillow paused new purchases, citing a backlog of homes to renovate and sell; on 2 November 2021 it announced it would close the business entirely.</a:t>
            </a:r>
            <a:endParaRPr lang="en-US" sz="1050" dirty="0"/>
          </a:p>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CEO Rich Barton: "We've determined the unpredictability in forecasting home prices far exceeds what we anticipated."</a:t>
            </a:r>
            <a:endParaRPr lang="en-US" sz="1050" dirty="0"/>
          </a:p>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Analysts reported that a large share of the homes Zillow held were listed for less than it had paid.</a:t>
            </a:r>
            <a:endParaRPr lang="en-US" sz="1050" dirty="0"/>
          </a:p>
        </p:txBody>
      </p:sp>
      <p:sp>
        <p:nvSpPr>
          <p:cNvPr id="9" name="Shape 6"/>
          <p:cNvSpPr/>
          <p:nvPr/>
        </p:nvSpPr>
        <p:spPr>
          <a:xfrm>
            <a:off x="6035040" y="1463040"/>
            <a:ext cx="2743200" cy="2834640"/>
          </a:xfrm>
          <a:prstGeom prst="roundRect">
            <a:avLst>
              <a:gd name="adj" fmla="val 2667"/>
            </a:avLst>
          </a:prstGeom>
          <a:solidFill>
            <a:srgbClr val="F3F5F8"/>
          </a:solidFill>
          <a:ln w="12700">
            <a:solidFill>
              <a:srgbClr val="F3F5F8"/>
            </a:solidFill>
            <a:prstDash val="solid"/>
          </a:ln>
        </p:spPr>
        <p:txBody>
          <a:bodyPr/>
          <a:p/>
        </p:txBody>
      </p:sp>
      <p:sp>
        <p:nvSpPr>
          <p:cNvPr id="10" name="Text 7"/>
          <p:cNvSpPr txBox="1"/>
          <p:nvPr/>
        </p:nvSpPr>
        <p:spPr>
          <a:xfrm>
            <a:off x="6172200" y="1536192"/>
            <a:ext cx="2468880" cy="27432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The numbers</a:t>
            </a:r>
            <a:endParaRPr lang="en-US" sz="1200" dirty="0"/>
          </a:p>
        </p:txBody>
      </p:sp>
      <p:sp>
        <p:nvSpPr>
          <p:cNvPr id="11" name="Text 8"/>
          <p:cNvSpPr txBox="1"/>
          <p:nvPr/>
        </p:nvSpPr>
        <p:spPr>
          <a:xfrm>
            <a:off x="6172200" y="1828800"/>
            <a:ext cx="2468880" cy="2423160"/>
          </a:xfrm>
          <a:prstGeom prst="rect">
            <a:avLst/>
          </a:prstGeom>
          <a:noFill/>
          <a:ln/>
        </p:spPr>
        <p:txBody>
          <a:bodyPr wrap="square" lIns="0" tIns="0" rIns="0" bIns="0" rtlCol="0" anchor="t"/>
          <a:lstStyle/>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Inventory at end of Q3 2021: 9,790 homes (3,142 a quarter earlier)</a:t>
            </a:r>
            <a:endParaRPr lang="en-US" sz="1050" dirty="0"/>
          </a:p>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Write-downs announced: more than $500 million</a:t>
            </a:r>
            <a:endParaRPr lang="en-US" sz="1050" dirty="0"/>
          </a:p>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Layoffs: about 2,000 people, 25% of the workforce</a:t>
            </a:r>
            <a:endParaRPr lang="en-US" sz="1050" dirty="0"/>
          </a:p>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Business lifetime: about three years</a:t>
            </a:r>
            <a:endParaRPr lang="en-US" sz="1050" dirty="0"/>
          </a:p>
        </p:txBody>
      </p:sp>
      <p:sp>
        <p:nvSpPr>
          <p:cNvPr id="12" name="Text 9"/>
          <p:cNvSpPr txBox="1"/>
          <p:nvPr/>
        </p:nvSpPr>
        <p:spPr>
          <a:xfrm>
            <a:off x="365760" y="4389120"/>
            <a:ext cx="8412480" cy="365760"/>
          </a:xfrm>
          <a:prstGeom prst="rect">
            <a:avLst/>
          </a:prstGeom>
          <a:noFill/>
          <a:ln/>
        </p:spPr>
        <p:txBody>
          <a:bodyPr wrap="square" lIns="0" tIns="0" rIns="0" bIns="0" rtlCol="0" anchor="t"/>
          <a:lstStyle/>
          <a:p>
            <a:pPr algn="l" indent="0" marL="0">
              <a:buNone/>
            </a:pPr>
            <a:r>
              <a:rPr lang="en-US" sz="850" i="1" dirty="0">
                <a:solidFill>
                  <a:srgbClr val="6B7280"/>
                </a:solidFill>
                <a:latin typeface="Calibri" pitchFamily="34" charset="0"/>
                <a:ea typeface="Calibri" pitchFamily="34" charset="-122"/>
                <a:cs typeface="Calibri" pitchFamily="34" charset="-120"/>
              </a:rPr>
              <a:t>Sources: GeekWire, 2 Nov 2021; AI Incident Database #149; Zillow Q3 2021 shareholder letter.</a:t>
            </a:r>
            <a:endParaRPr lang="en-US" sz="850" dirty="0"/>
          </a:p>
        </p:txBody>
      </p:sp>
      <p:pic>
        <p:nvPicPr>
          <p:cNvPr id="13" name="IE University logo" descr="IE University, School of Science &amp; Technology"/>
          <p:cNvPicPr>
            <a:picLocks noChangeAspect="1"/>
          </p:cNvPicPr>
          <p:nvPr/>
        </p:nvPicPr>
        <p:blipFill>
          <a:blip r:embed="rId3"/>
          <a:stretch>
            <a:fillRect/>
          </a:stretch>
        </p:blipFill>
        <p:spPr>
          <a:xfrm>
            <a:off x="8013607" y="92634"/>
            <a:ext cx="764633" cy="262789"/>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10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33</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Case 2 · Amazon's recruiting tool (2014–2017): a model that learned who used to be hired</a:t>
            </a:r>
            <a:endParaRPr lang="en-US" sz="2400" dirty="0"/>
          </a:p>
        </p:txBody>
      </p:sp>
      <p:sp>
        <p:nvSpPr>
          <p:cNvPr id="7" name="Text 4"/>
          <p:cNvSpPr txBox="1"/>
          <p:nvPr/>
        </p:nvSpPr>
        <p:spPr>
          <a:xfrm>
            <a:off x="365760" y="1143000"/>
            <a:ext cx="8412480" cy="274320"/>
          </a:xfrm>
          <a:prstGeom prst="rect">
            <a:avLst/>
          </a:prstGeom>
          <a:noFill/>
          <a:ln/>
        </p:spPr>
        <p:txBody>
          <a:bodyPr wrap="square" lIns="0" tIns="0" rIns="0" bIns="0" rtlCol="0" anchor="t"/>
          <a:lstStyle/>
          <a:p>
            <a:pPr algn="l" indent="0" marL="0">
              <a:buNone/>
            </a:pPr>
            <a:r>
              <a:rPr lang="en-US" sz="1150" b="1" dirty="0">
                <a:solidFill>
                  <a:srgbClr val="E07A2F"/>
                </a:solidFill>
                <a:latin typeface="Calibri" pitchFamily="34" charset="0"/>
                <a:ea typeface="Calibri" pitchFamily="34" charset="-122"/>
                <a:cs typeface="Calibri" pitchFamily="34" charset="-120"/>
              </a:rPr>
              <a:t>Classical ML · classification · HR / hiring · USA (reported by Reuters, October 2018)</a:t>
            </a:r>
            <a:endParaRPr lang="en-US" sz="1150" dirty="0"/>
          </a:p>
        </p:txBody>
      </p:sp>
      <p:sp>
        <p:nvSpPr>
          <p:cNvPr id="8" name="Text 5"/>
          <p:cNvSpPr txBox="1"/>
          <p:nvPr/>
        </p:nvSpPr>
        <p:spPr>
          <a:xfrm>
            <a:off x="365760" y="1463040"/>
            <a:ext cx="5486400" cy="2834640"/>
          </a:xfrm>
          <a:prstGeom prst="rect">
            <a:avLst/>
          </a:prstGeom>
          <a:noFill/>
          <a:ln/>
        </p:spPr>
        <p:txBody>
          <a:bodyPr wrap="square" lIns="0" tIns="0" rIns="0" bIns="0" rtlCol="0" anchor="t"/>
          <a:lstStyle/>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From 2014 a team in Amazon's Edinburgh engineering hub built about 500 models to score job applicants' CVs from one to five stars, one model per job function and location, recognising some 50,000 terms from past CVs.</a:t>
            </a:r>
            <a:endParaRPr lang="en-US" sz="1050" dirty="0"/>
          </a:p>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The models were trained on ten years of CVs submitted to the company, most of them from men, reflecting the industry's gender imbalance.</a:t>
            </a:r>
            <a:endParaRPr lang="en-US" sz="1050" dirty="0"/>
          </a:p>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By 2015 the team found the system rated technical candidates in a gender-biased way: it penalised CVs containing the word "women's" (as in "women's chess club captain") and downgraded graduates of two all-women's colleges; it favoured verbs more common in male candidates' CVs.</a:t>
            </a:r>
            <a:endParaRPr lang="en-US" sz="1050" dirty="0"/>
          </a:p>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Amazon edited the models to neutralise those terms, but could not guarantee they would not find other ways to discriminate. The team was disbanded by the start of 2017.</a:t>
            </a:r>
            <a:endParaRPr lang="en-US" sz="1050" dirty="0"/>
          </a:p>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Amazon said recruiters looked at the tool's recommendations but never relied solely on them, and that it was never used to evaluate candidates.</a:t>
            </a:r>
            <a:endParaRPr lang="en-US" sz="1050" dirty="0"/>
          </a:p>
        </p:txBody>
      </p:sp>
      <p:sp>
        <p:nvSpPr>
          <p:cNvPr id="9" name="Shape 6"/>
          <p:cNvSpPr/>
          <p:nvPr/>
        </p:nvSpPr>
        <p:spPr>
          <a:xfrm>
            <a:off x="6035040" y="1463040"/>
            <a:ext cx="2743200" cy="2834640"/>
          </a:xfrm>
          <a:prstGeom prst="roundRect">
            <a:avLst>
              <a:gd name="adj" fmla="val 2667"/>
            </a:avLst>
          </a:prstGeom>
          <a:solidFill>
            <a:srgbClr val="F3F5F8"/>
          </a:solidFill>
          <a:ln w="12700">
            <a:solidFill>
              <a:srgbClr val="F3F5F8"/>
            </a:solidFill>
            <a:prstDash val="solid"/>
          </a:ln>
        </p:spPr>
        <p:txBody>
          <a:bodyPr/>
          <a:p/>
        </p:txBody>
      </p:sp>
      <p:sp>
        <p:nvSpPr>
          <p:cNvPr id="10" name="Text 7"/>
          <p:cNvSpPr txBox="1"/>
          <p:nvPr/>
        </p:nvSpPr>
        <p:spPr>
          <a:xfrm>
            <a:off x="6172200" y="1536192"/>
            <a:ext cx="2468880" cy="27432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The numbers</a:t>
            </a:r>
            <a:endParaRPr lang="en-US" sz="1200" dirty="0"/>
          </a:p>
        </p:txBody>
      </p:sp>
      <p:sp>
        <p:nvSpPr>
          <p:cNvPr id="11" name="Text 8"/>
          <p:cNvSpPr txBox="1"/>
          <p:nvPr/>
        </p:nvSpPr>
        <p:spPr>
          <a:xfrm>
            <a:off x="6172200" y="1828800"/>
            <a:ext cx="2468880" cy="2423160"/>
          </a:xfrm>
          <a:prstGeom prst="rect">
            <a:avLst/>
          </a:prstGeom>
          <a:noFill/>
          <a:ln/>
        </p:spPr>
        <p:txBody>
          <a:bodyPr wrap="square" lIns="0" tIns="0" rIns="0" bIns="0" rtlCol="0" anchor="t"/>
          <a:lstStyle/>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500 models; ~50,000 terms</a:t>
            </a:r>
            <a:endParaRPr lang="en-US" sz="1050" dirty="0"/>
          </a:p>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Training data: 10 years of CVs, mostly men</a:t>
            </a:r>
            <a:endParaRPr lang="en-US" sz="1050" dirty="0"/>
          </a:p>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Rating scale: 1–5 stars</a:t>
            </a:r>
            <a:endParaRPr lang="en-US" sz="1050" dirty="0"/>
          </a:p>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Lifetime: 2014 to early 2017; never sole basis for a hire</a:t>
            </a:r>
            <a:endParaRPr lang="en-US" sz="1050" dirty="0"/>
          </a:p>
        </p:txBody>
      </p:sp>
      <p:sp>
        <p:nvSpPr>
          <p:cNvPr id="12" name="Text 9"/>
          <p:cNvSpPr txBox="1"/>
          <p:nvPr/>
        </p:nvSpPr>
        <p:spPr>
          <a:xfrm>
            <a:off x="365760" y="4389120"/>
            <a:ext cx="8412480" cy="365760"/>
          </a:xfrm>
          <a:prstGeom prst="rect">
            <a:avLst/>
          </a:prstGeom>
          <a:noFill/>
          <a:ln/>
        </p:spPr>
        <p:txBody>
          <a:bodyPr wrap="square" lIns="0" tIns="0" rIns="0" bIns="0" rtlCol="0" anchor="t"/>
          <a:lstStyle/>
          <a:p>
            <a:pPr algn="l" indent="0" marL="0">
              <a:buNone/>
            </a:pPr>
            <a:r>
              <a:rPr lang="en-US" sz="850" i="1" dirty="0">
                <a:solidFill>
                  <a:srgbClr val="6B7280"/>
                </a:solidFill>
                <a:latin typeface="Calibri" pitchFamily="34" charset="0"/>
                <a:ea typeface="Calibri" pitchFamily="34" charset="-122"/>
                <a:cs typeface="Calibri" pitchFamily="34" charset="-120"/>
              </a:rPr>
              <a:t>Sources: Reuters / CNBC, 10 Oct 2018 ("Amazon scraps secret AI recruiting tool that showed bias against women").</a:t>
            </a:r>
            <a:endParaRPr lang="en-US" sz="850" dirty="0"/>
          </a:p>
        </p:txBody>
      </p:sp>
      <p:pic>
        <p:nvPicPr>
          <p:cNvPr id="13" name="IE University logo" descr="IE University, School of Science &amp; Technology"/>
          <p:cNvPicPr>
            <a:picLocks noChangeAspect="1"/>
          </p:cNvPicPr>
          <p:nvPr/>
        </p:nvPicPr>
        <p:blipFill>
          <a:blip r:embed="rId3"/>
          <a:stretch>
            <a:fillRect/>
          </a:stretch>
        </p:blipFill>
        <p:spPr>
          <a:xfrm>
            <a:off x="8013607" y="92634"/>
            <a:ext cx="764633" cy="262789"/>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10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34</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Case 3 · Air Canada's chatbot (2022–2024): "the chatbot is a separate legal entity"</a:t>
            </a:r>
            <a:endParaRPr lang="en-US" sz="2400" dirty="0"/>
          </a:p>
        </p:txBody>
      </p:sp>
      <p:sp>
        <p:nvSpPr>
          <p:cNvPr id="7" name="Text 4"/>
          <p:cNvSpPr txBox="1"/>
          <p:nvPr/>
        </p:nvSpPr>
        <p:spPr>
          <a:xfrm>
            <a:off x="365760" y="1143000"/>
            <a:ext cx="8412480" cy="274320"/>
          </a:xfrm>
          <a:prstGeom prst="rect">
            <a:avLst/>
          </a:prstGeom>
          <a:noFill/>
          <a:ln/>
        </p:spPr>
        <p:txBody>
          <a:bodyPr wrap="square" lIns="0" tIns="0" rIns="0" bIns="0" rtlCol="0" anchor="t"/>
          <a:lstStyle/>
          <a:p>
            <a:pPr algn="l" indent="0" marL="0">
              <a:buNone/>
            </a:pPr>
            <a:r>
              <a:rPr lang="en-US" sz="1150" b="1" dirty="0">
                <a:solidFill>
                  <a:srgbClr val="E07A2F"/>
                </a:solidFill>
                <a:latin typeface="Calibri" pitchFamily="34" charset="0"/>
                <a:ea typeface="Calibri" pitchFamily="34" charset="-122"/>
                <a:cs typeface="Calibri" pitchFamily="34" charset="-120"/>
              </a:rPr>
              <a:t>Generative AI · customer-service assistant · airline · Canada</a:t>
            </a:r>
            <a:endParaRPr lang="en-US" sz="1150" dirty="0"/>
          </a:p>
        </p:txBody>
      </p:sp>
      <p:sp>
        <p:nvSpPr>
          <p:cNvPr id="8" name="Text 5"/>
          <p:cNvSpPr txBox="1"/>
          <p:nvPr/>
        </p:nvSpPr>
        <p:spPr>
          <a:xfrm>
            <a:off x="365760" y="1463040"/>
            <a:ext cx="5486400" cy="2834640"/>
          </a:xfrm>
          <a:prstGeom prst="rect">
            <a:avLst/>
          </a:prstGeom>
          <a:noFill/>
          <a:ln/>
        </p:spPr>
        <p:txBody>
          <a:bodyPr wrap="square" lIns="0" tIns="0" rIns="0" bIns="0" rtlCol="0" anchor="t"/>
          <a:lstStyle/>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In November 2022 Jake Moffatt asked Air Canada's website chatbot about bereavement fares after his grandmother died. The chatbot told him he could book at full price and apply for the reduced bereavement fare within 90 days of the ticket being issued.</a:t>
            </a:r>
            <a:endParaRPr lang="en-US" sz="1050" dirty="0"/>
          </a:p>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The chatbot's answer linked to Air Canada's bereavement policy page, which said the opposite: the policy does not apply to requests made after travel.</a:t>
            </a:r>
            <a:endParaRPr lang="en-US" sz="1050" dirty="0"/>
          </a:p>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He flew, then applied for the partial refund; Air Canada refused, pointing to the policy page, and offered a coupon.</a:t>
            </a:r>
            <a:endParaRPr lang="en-US" sz="1050" dirty="0"/>
          </a:p>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He took the airline to the British Columbia Civil Resolution Tribunal. Air Canada argued the chatbot was "a separate legal entity that is responsible for its own actions".</a:t>
            </a:r>
            <a:endParaRPr lang="en-US" sz="1050" dirty="0"/>
          </a:p>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On 14 February 2024 the tribunal (member Christopher Rivers) rejected that argument as "a remarkable submission", found negligent misrepresentation, and ordered Air Canada to pay. The airline had not taken reasonable care to ensure its chatbot was accurate. The chatbot was subsequently removed from the website.</a:t>
            </a:r>
            <a:endParaRPr lang="en-US" sz="1050" dirty="0"/>
          </a:p>
        </p:txBody>
      </p:sp>
      <p:sp>
        <p:nvSpPr>
          <p:cNvPr id="9" name="Shape 6"/>
          <p:cNvSpPr/>
          <p:nvPr/>
        </p:nvSpPr>
        <p:spPr>
          <a:xfrm>
            <a:off x="6035040" y="1463040"/>
            <a:ext cx="2743200" cy="2834640"/>
          </a:xfrm>
          <a:prstGeom prst="roundRect">
            <a:avLst>
              <a:gd name="adj" fmla="val 2667"/>
            </a:avLst>
          </a:prstGeom>
          <a:solidFill>
            <a:srgbClr val="F3F5F8"/>
          </a:solidFill>
          <a:ln w="12700">
            <a:solidFill>
              <a:srgbClr val="F3F5F8"/>
            </a:solidFill>
            <a:prstDash val="solid"/>
          </a:ln>
        </p:spPr>
        <p:txBody>
          <a:bodyPr/>
          <a:p/>
        </p:txBody>
      </p:sp>
      <p:sp>
        <p:nvSpPr>
          <p:cNvPr id="10" name="Text 7"/>
          <p:cNvSpPr txBox="1"/>
          <p:nvPr/>
        </p:nvSpPr>
        <p:spPr>
          <a:xfrm>
            <a:off x="6172200" y="1536192"/>
            <a:ext cx="2468880" cy="27432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The numbers</a:t>
            </a:r>
            <a:endParaRPr lang="en-US" sz="1200" dirty="0"/>
          </a:p>
        </p:txBody>
      </p:sp>
      <p:sp>
        <p:nvSpPr>
          <p:cNvPr id="11" name="Text 8"/>
          <p:cNvSpPr txBox="1"/>
          <p:nvPr/>
        </p:nvSpPr>
        <p:spPr>
          <a:xfrm>
            <a:off x="6172200" y="1828800"/>
            <a:ext cx="2468880" cy="2423160"/>
          </a:xfrm>
          <a:prstGeom prst="rect">
            <a:avLst/>
          </a:prstGeom>
          <a:noFill/>
          <a:ln/>
        </p:spPr>
        <p:txBody>
          <a:bodyPr wrap="square" lIns="0" tIns="0" rIns="0" bIns="0" rtlCol="0" anchor="t"/>
          <a:lstStyle/>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Paid: about CAD 1,640 for the round trip; bereavement fare about CAD 760</a:t>
            </a:r>
            <a:endParaRPr lang="en-US" sz="1050" dirty="0"/>
          </a:p>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Awarded: CAD 650.88 in damages, plus interest and fees (≈ CAD 812)</a:t>
            </a:r>
            <a:endParaRPr lang="en-US" sz="1050" dirty="0"/>
          </a:p>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Decision: 14 Feb 2024, Moffatt v. Air Canada, BC CRT</a:t>
            </a:r>
            <a:endParaRPr lang="en-US" sz="1050" dirty="0"/>
          </a:p>
        </p:txBody>
      </p:sp>
      <p:sp>
        <p:nvSpPr>
          <p:cNvPr id="12" name="Text 9"/>
          <p:cNvSpPr txBox="1"/>
          <p:nvPr/>
        </p:nvSpPr>
        <p:spPr>
          <a:xfrm>
            <a:off x="365760" y="4389120"/>
            <a:ext cx="8412480" cy="365760"/>
          </a:xfrm>
          <a:prstGeom prst="rect">
            <a:avLst/>
          </a:prstGeom>
          <a:noFill/>
          <a:ln/>
        </p:spPr>
        <p:txBody>
          <a:bodyPr wrap="square" lIns="0" tIns="0" rIns="0" bIns="0" rtlCol="0" anchor="t"/>
          <a:lstStyle/>
          <a:p>
            <a:pPr algn="l" indent="0" marL="0">
              <a:buNone/>
            </a:pPr>
            <a:r>
              <a:rPr lang="en-US" sz="850" i="1" dirty="0">
                <a:solidFill>
                  <a:srgbClr val="6B7280"/>
                </a:solidFill>
                <a:latin typeface="Calibri" pitchFamily="34" charset="0"/>
                <a:ea typeface="Calibri" pitchFamily="34" charset="-122"/>
                <a:cs typeface="Calibri" pitchFamily="34" charset="-120"/>
              </a:rPr>
              <a:t>Sources: BC Civil Resolution Tribunal, Moffatt v. Air Canada (2024 BCCRT 149); American Bar Association Business Law Today, Feb 2024; AI Incident Database #639.</a:t>
            </a:r>
            <a:endParaRPr lang="en-US" sz="850" dirty="0"/>
          </a:p>
        </p:txBody>
      </p:sp>
      <p:pic>
        <p:nvPicPr>
          <p:cNvPr id="13" name="IE University logo" descr="IE University, School of Science &amp; Technology"/>
          <p:cNvPicPr>
            <a:picLocks noChangeAspect="1"/>
          </p:cNvPicPr>
          <p:nvPr/>
        </p:nvPicPr>
        <p:blipFill>
          <a:blip r:embed="rId3"/>
          <a:stretch>
            <a:fillRect/>
          </a:stretch>
        </p:blipFill>
        <p:spPr>
          <a:xfrm>
            <a:off x="8013607" y="92634"/>
            <a:ext cx="764633" cy="262789"/>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10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35</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Case 4 · The Dutch childcare-benefits algorithm (2013–2021): a risk score treated as proof</a:t>
            </a:r>
            <a:endParaRPr lang="en-US" sz="2400" dirty="0"/>
          </a:p>
        </p:txBody>
      </p:sp>
      <p:sp>
        <p:nvSpPr>
          <p:cNvPr id="7" name="Text 4"/>
          <p:cNvSpPr txBox="1"/>
          <p:nvPr/>
        </p:nvSpPr>
        <p:spPr>
          <a:xfrm>
            <a:off x="365760" y="1143000"/>
            <a:ext cx="8412480" cy="274320"/>
          </a:xfrm>
          <a:prstGeom prst="rect">
            <a:avLst/>
          </a:prstGeom>
          <a:noFill/>
          <a:ln/>
        </p:spPr>
        <p:txBody>
          <a:bodyPr wrap="square" lIns="0" tIns="0" rIns="0" bIns="0" rtlCol="0" anchor="t"/>
          <a:lstStyle/>
          <a:p>
            <a:pPr algn="l" indent="0" marL="0">
              <a:buNone/>
            </a:pPr>
            <a:r>
              <a:rPr lang="en-US" sz="1150" b="1" dirty="0">
                <a:solidFill>
                  <a:srgbClr val="E07A2F"/>
                </a:solidFill>
                <a:latin typeface="Calibri" pitchFamily="34" charset="0"/>
                <a:ea typeface="Calibri" pitchFamily="34" charset="-122"/>
                <a:cs typeface="Calibri" pitchFamily="34" charset="-120"/>
              </a:rPr>
              <a:t>Classical ML / rules · risk scoring · public administration · Netherlands</a:t>
            </a:r>
            <a:endParaRPr lang="en-US" sz="1150" dirty="0"/>
          </a:p>
        </p:txBody>
      </p:sp>
      <p:sp>
        <p:nvSpPr>
          <p:cNvPr id="8" name="Text 5"/>
          <p:cNvSpPr txBox="1"/>
          <p:nvPr/>
        </p:nvSpPr>
        <p:spPr>
          <a:xfrm>
            <a:off x="365760" y="1463040"/>
            <a:ext cx="5486400" cy="2834640"/>
          </a:xfrm>
          <a:prstGeom prst="rect">
            <a:avLst/>
          </a:prstGeom>
          <a:noFill/>
          <a:ln/>
        </p:spPr>
        <p:txBody>
          <a:bodyPr wrap="square" lIns="0" tIns="0" rIns="0" bIns="0" rtlCol="0" anchor="t"/>
          <a:lstStyle/>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The Dutch Tax and Customs Administration used a risk-classification system to select childcare-benefit claims for fraud investigation. Nationality, including dual nationality, was among the risk indicators; officials could not explain why a family had been flagged.</a:t>
            </a:r>
            <a:endParaRPr lang="en-US" sz="1050" dirty="0"/>
          </a:p>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Flagged parents were treated as fraudsters, often on the basis of small administrative errors, and ordered to repay the full benefit, sometimes tens of thousands of euros, with no effective way to contest the decision.</a:t>
            </a:r>
            <a:endParaRPr lang="en-US" sz="1050" dirty="0"/>
          </a:p>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Reporting by RTL Nieuws and Trouw brought the practice to light in 2018–2019. A parliamentary inquiry published "Ongekend onrecht" (Unprecedented Injustice) on 17 December 2020.</a:t>
            </a:r>
            <a:endParaRPr lang="en-US" sz="1050" dirty="0"/>
          </a:p>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On 15 January 2021 the Rutte III cabinet resigned over the scandal.</a:t>
            </a:r>
            <a:endParaRPr lang="en-US" sz="1050" dirty="0"/>
          </a:p>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The Dutch Data Protection Authority found the processing of nationality "unlawful, discriminatory and improper" and fined the tax authority; compensation of EUR 30,000 per wrongly accused parent was announced in December 2020, with further schemes since.</a:t>
            </a:r>
            <a:endParaRPr lang="en-US" sz="1050" dirty="0"/>
          </a:p>
        </p:txBody>
      </p:sp>
      <p:sp>
        <p:nvSpPr>
          <p:cNvPr id="9" name="Shape 6"/>
          <p:cNvSpPr/>
          <p:nvPr/>
        </p:nvSpPr>
        <p:spPr>
          <a:xfrm>
            <a:off x="6035040" y="1463040"/>
            <a:ext cx="2743200" cy="2834640"/>
          </a:xfrm>
          <a:prstGeom prst="roundRect">
            <a:avLst>
              <a:gd name="adj" fmla="val 2667"/>
            </a:avLst>
          </a:prstGeom>
          <a:solidFill>
            <a:srgbClr val="F3F5F8"/>
          </a:solidFill>
          <a:ln w="12700">
            <a:solidFill>
              <a:srgbClr val="F3F5F8"/>
            </a:solidFill>
            <a:prstDash val="solid"/>
          </a:ln>
        </p:spPr>
        <p:txBody>
          <a:bodyPr/>
          <a:p/>
        </p:txBody>
      </p:sp>
      <p:sp>
        <p:nvSpPr>
          <p:cNvPr id="10" name="Text 7"/>
          <p:cNvSpPr txBox="1"/>
          <p:nvPr/>
        </p:nvSpPr>
        <p:spPr>
          <a:xfrm>
            <a:off x="6172200" y="1536192"/>
            <a:ext cx="2468880" cy="27432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The numbers</a:t>
            </a:r>
            <a:endParaRPr lang="en-US" sz="1200" dirty="0"/>
          </a:p>
        </p:txBody>
      </p:sp>
      <p:sp>
        <p:nvSpPr>
          <p:cNvPr id="11" name="Text 8"/>
          <p:cNvSpPr txBox="1"/>
          <p:nvPr/>
        </p:nvSpPr>
        <p:spPr>
          <a:xfrm>
            <a:off x="6172200" y="1828800"/>
            <a:ext cx="2468880" cy="2423160"/>
          </a:xfrm>
          <a:prstGeom prst="rect">
            <a:avLst/>
          </a:prstGeom>
          <a:noFill/>
          <a:ln/>
        </p:spPr>
        <p:txBody>
          <a:bodyPr wrap="square" lIns="0" tIns="0" rIns="0" bIns="0" rtlCol="0" anchor="t"/>
          <a:lstStyle/>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About 26,000 parents wrongly accused</a:t>
            </a:r>
            <a:endParaRPr lang="en-US" sz="1050" dirty="0"/>
          </a:p>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Repayment demands up to tens of thousands of euros per family</a:t>
            </a:r>
            <a:endParaRPr lang="en-US" sz="1050" dirty="0"/>
          </a:p>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DPA fine: EUR 2.75 million (Dec 2021); a further EUR 3.7 million (2022) for a blacklist</a:t>
            </a:r>
            <a:endParaRPr lang="en-US" sz="1050" dirty="0"/>
          </a:p>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EUR 30,000 compensation per parent (initial scheme)</a:t>
            </a:r>
            <a:endParaRPr lang="en-US" sz="1050" dirty="0"/>
          </a:p>
        </p:txBody>
      </p:sp>
      <p:sp>
        <p:nvSpPr>
          <p:cNvPr id="12" name="Text 9"/>
          <p:cNvSpPr txBox="1"/>
          <p:nvPr/>
        </p:nvSpPr>
        <p:spPr>
          <a:xfrm>
            <a:off x="365760" y="4389120"/>
            <a:ext cx="8412480" cy="365760"/>
          </a:xfrm>
          <a:prstGeom prst="rect">
            <a:avLst/>
          </a:prstGeom>
          <a:noFill/>
          <a:ln/>
        </p:spPr>
        <p:txBody>
          <a:bodyPr wrap="square" lIns="0" tIns="0" rIns="0" bIns="0" rtlCol="0" anchor="t"/>
          <a:lstStyle/>
          <a:p>
            <a:pPr algn="l" indent="0" marL="0">
              <a:buNone/>
            </a:pPr>
            <a:r>
              <a:rPr lang="en-US" sz="850" i="1" dirty="0">
                <a:solidFill>
                  <a:srgbClr val="6B7280"/>
                </a:solidFill>
                <a:latin typeface="Calibri" pitchFamily="34" charset="0"/>
                <a:ea typeface="Calibri" pitchFamily="34" charset="-122"/>
                <a:cs typeface="Calibri" pitchFamily="34" charset="-120"/>
              </a:rPr>
              <a:t>Sources: Dutch parliamentary inquiry report "Ongekend onrecht" (Dec 2020); Autoriteit Persoonsgegevens decisions (2021, 2022); Amnesty International, "Xenophobic Machines" (2021).</a:t>
            </a:r>
            <a:endParaRPr lang="en-US" sz="850" dirty="0"/>
          </a:p>
        </p:txBody>
      </p:sp>
      <p:pic>
        <p:nvPicPr>
          <p:cNvPr id="13" name="IE University logo" descr="IE University, School of Science &amp; Technology"/>
          <p:cNvPicPr>
            <a:picLocks noChangeAspect="1"/>
          </p:cNvPicPr>
          <p:nvPr/>
        </p:nvPicPr>
        <p:blipFill>
          <a:blip r:embed="rId3"/>
          <a:stretch>
            <a:fillRect/>
          </a:stretch>
        </p:blipFill>
        <p:spPr>
          <a:xfrm>
            <a:off x="8013607" y="92634"/>
            <a:ext cx="764633" cy="262789"/>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10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36</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Case 5 · The Epic sepsis model (2021): good in the vendor's data, poor in the hospital's</a:t>
            </a:r>
            <a:endParaRPr lang="en-US" sz="2400" dirty="0"/>
          </a:p>
        </p:txBody>
      </p:sp>
      <p:sp>
        <p:nvSpPr>
          <p:cNvPr id="7" name="Text 4"/>
          <p:cNvSpPr txBox="1"/>
          <p:nvPr/>
        </p:nvSpPr>
        <p:spPr>
          <a:xfrm>
            <a:off x="365760" y="1143000"/>
            <a:ext cx="8412480" cy="274320"/>
          </a:xfrm>
          <a:prstGeom prst="rect">
            <a:avLst/>
          </a:prstGeom>
          <a:noFill/>
          <a:ln/>
        </p:spPr>
        <p:txBody>
          <a:bodyPr wrap="square" lIns="0" tIns="0" rIns="0" bIns="0" rtlCol="0" anchor="t"/>
          <a:lstStyle/>
          <a:p>
            <a:pPr algn="l" indent="0" marL="0">
              <a:buNone/>
            </a:pPr>
            <a:r>
              <a:rPr lang="en-US" sz="1150" b="1" dirty="0">
                <a:solidFill>
                  <a:srgbClr val="E07A2F"/>
                </a:solidFill>
                <a:latin typeface="Calibri" pitchFamily="34" charset="0"/>
                <a:ea typeface="Calibri" pitchFamily="34" charset="-122"/>
                <a:cs typeface="Calibri" pitchFamily="34" charset="-120"/>
              </a:rPr>
              <a:t>Classical ML · clinical prediction · healthcare · USA</a:t>
            </a:r>
            <a:endParaRPr lang="en-US" sz="1150" dirty="0"/>
          </a:p>
        </p:txBody>
      </p:sp>
      <p:sp>
        <p:nvSpPr>
          <p:cNvPr id="8" name="Text 5"/>
          <p:cNvSpPr txBox="1"/>
          <p:nvPr/>
        </p:nvSpPr>
        <p:spPr>
          <a:xfrm>
            <a:off x="365760" y="1463040"/>
            <a:ext cx="5486400" cy="2834640"/>
          </a:xfrm>
          <a:prstGeom prst="rect">
            <a:avLst/>
          </a:prstGeom>
          <a:noFill/>
          <a:ln/>
        </p:spPr>
        <p:txBody>
          <a:bodyPr wrap="square" lIns="0" tIns="0" rIns="0" bIns="0" rtlCol="0" anchor="t"/>
          <a:lstStyle/>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Epic, the largest electronic-health-record vendor in the US, shipped a proprietary sepsis-prediction model used by about 170 customers representing hundreds of hospitals. Epic reported an AUC of 0.76–0.83.</a:t>
            </a:r>
            <a:endParaRPr lang="en-US" sz="1050" dirty="0"/>
          </a:p>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In June 2021 researchers at Michigan Medicine published an external validation in JAMA Internal Medicine on 38,455 hospitalisations (Dec 2018–Oct 2019; 2,552 sepsis cases, 7%).</a:t>
            </a:r>
            <a:endParaRPr lang="en-US" sz="1050" dirty="0"/>
          </a:p>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At the vendor-recommended alert threshold the model identified 33% of sepsis cases (sensitivity) and missed 67%; its positive predictive value was 12%; it generated alerts on 18% of all hospitalised patients.</a:t>
            </a:r>
            <a:endParaRPr lang="en-US" sz="1050" dirty="0"/>
          </a:p>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It identified only 7% of the sepsis cases that clinicians had not already recognised; the authors described substantial alert fatigue.</a:t>
            </a:r>
            <a:endParaRPr lang="en-US" sz="1050" dirty="0"/>
          </a:p>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Epic disputed the findings, saying the threshold chosen was too low for clinical staff and that the model's inputs and formula were available to administrators; it later revised the model and its guidance.</a:t>
            </a:r>
            <a:endParaRPr lang="en-US" sz="1050" dirty="0"/>
          </a:p>
        </p:txBody>
      </p:sp>
      <p:sp>
        <p:nvSpPr>
          <p:cNvPr id="9" name="Shape 6"/>
          <p:cNvSpPr/>
          <p:nvPr/>
        </p:nvSpPr>
        <p:spPr>
          <a:xfrm>
            <a:off x="6035040" y="1463040"/>
            <a:ext cx="2743200" cy="2834640"/>
          </a:xfrm>
          <a:prstGeom prst="roundRect">
            <a:avLst>
              <a:gd name="adj" fmla="val 2667"/>
            </a:avLst>
          </a:prstGeom>
          <a:solidFill>
            <a:srgbClr val="F3F5F8"/>
          </a:solidFill>
          <a:ln w="12700">
            <a:solidFill>
              <a:srgbClr val="F3F5F8"/>
            </a:solidFill>
            <a:prstDash val="solid"/>
          </a:ln>
        </p:spPr>
        <p:txBody>
          <a:bodyPr/>
          <a:p/>
        </p:txBody>
      </p:sp>
      <p:sp>
        <p:nvSpPr>
          <p:cNvPr id="10" name="Text 7"/>
          <p:cNvSpPr txBox="1"/>
          <p:nvPr/>
        </p:nvSpPr>
        <p:spPr>
          <a:xfrm>
            <a:off x="6172200" y="1536192"/>
            <a:ext cx="2468880" cy="27432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The numbers</a:t>
            </a:r>
            <a:endParaRPr lang="en-US" sz="1200" dirty="0"/>
          </a:p>
        </p:txBody>
      </p:sp>
      <p:sp>
        <p:nvSpPr>
          <p:cNvPr id="11" name="Text 8"/>
          <p:cNvSpPr txBox="1"/>
          <p:nvPr/>
        </p:nvSpPr>
        <p:spPr>
          <a:xfrm>
            <a:off x="6172200" y="1828800"/>
            <a:ext cx="2468880" cy="2423160"/>
          </a:xfrm>
          <a:prstGeom prst="rect">
            <a:avLst/>
          </a:prstGeom>
          <a:noFill/>
          <a:ln/>
        </p:spPr>
        <p:txBody>
          <a:bodyPr wrap="square" lIns="0" tIns="0" rIns="0" bIns="0" rtlCol="0" anchor="t"/>
          <a:lstStyle/>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AUC found: 0.63 (vendor: 0.76–0.83)</a:t>
            </a:r>
            <a:endParaRPr lang="en-US" sz="1050" dirty="0"/>
          </a:p>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Sensitivity 33% · specificity 83% · PPV 12%</a:t>
            </a:r>
            <a:endParaRPr lang="en-US" sz="1050" dirty="0"/>
          </a:p>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Alerts on 18% of all hospitalised patients</a:t>
            </a:r>
            <a:endParaRPr lang="en-US" sz="1050" dirty="0"/>
          </a:p>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Hundreds of hospitals; validated locally by very few</a:t>
            </a:r>
            <a:endParaRPr lang="en-US" sz="1050" dirty="0"/>
          </a:p>
        </p:txBody>
      </p:sp>
      <p:sp>
        <p:nvSpPr>
          <p:cNvPr id="12" name="Text 9"/>
          <p:cNvSpPr txBox="1"/>
          <p:nvPr/>
        </p:nvSpPr>
        <p:spPr>
          <a:xfrm>
            <a:off x="365760" y="4389120"/>
            <a:ext cx="8412480" cy="365760"/>
          </a:xfrm>
          <a:prstGeom prst="rect">
            <a:avLst/>
          </a:prstGeom>
          <a:noFill/>
          <a:ln/>
        </p:spPr>
        <p:txBody>
          <a:bodyPr wrap="square" lIns="0" tIns="0" rIns="0" bIns="0" rtlCol="0" anchor="t"/>
          <a:lstStyle/>
          <a:p>
            <a:pPr algn="l" indent="0" marL="0">
              <a:buNone/>
            </a:pPr>
            <a:r>
              <a:rPr lang="en-US" sz="850" i="1" dirty="0">
                <a:solidFill>
                  <a:srgbClr val="6B7280"/>
                </a:solidFill>
                <a:latin typeface="Calibri" pitchFamily="34" charset="0"/>
                <a:ea typeface="Calibri" pitchFamily="34" charset="-122"/>
                <a:cs typeface="Calibri" pitchFamily="34" charset="-120"/>
              </a:rPr>
              <a:t>Sources: Wong et al., JAMA Internal Medicine, 21 June 2021; Fierce Healthcare, 22 June 2021.</a:t>
            </a:r>
            <a:endParaRPr lang="en-US" sz="850" dirty="0"/>
          </a:p>
        </p:txBody>
      </p:sp>
      <p:pic>
        <p:nvPicPr>
          <p:cNvPr id="13" name="IE University logo" descr="IE University, School of Science &amp; Technology"/>
          <p:cNvPicPr>
            <a:picLocks noChangeAspect="1"/>
          </p:cNvPicPr>
          <p:nvPr/>
        </p:nvPicPr>
        <p:blipFill>
          <a:blip r:embed="rId3"/>
          <a:stretch>
            <a:fillRect/>
          </a:stretch>
        </p:blipFill>
        <p:spPr>
          <a:xfrm>
            <a:off x="8013607" y="92634"/>
            <a:ext cx="764633" cy="262789"/>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10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37</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Case 6 · Knight Capital (1 August 2012): 45 minutes, eight servers, one missed</a:t>
            </a:r>
            <a:endParaRPr lang="en-US" sz="2400" dirty="0"/>
          </a:p>
        </p:txBody>
      </p:sp>
      <p:sp>
        <p:nvSpPr>
          <p:cNvPr id="7" name="Text 4"/>
          <p:cNvSpPr txBox="1"/>
          <p:nvPr/>
        </p:nvSpPr>
        <p:spPr>
          <a:xfrm>
            <a:off x="365760" y="1143000"/>
            <a:ext cx="8412480" cy="274320"/>
          </a:xfrm>
          <a:prstGeom prst="rect">
            <a:avLst/>
          </a:prstGeom>
          <a:noFill/>
          <a:ln/>
        </p:spPr>
        <p:txBody>
          <a:bodyPr wrap="square" lIns="0" tIns="0" rIns="0" bIns="0" rtlCol="0" anchor="t"/>
          <a:lstStyle/>
          <a:p>
            <a:pPr algn="l" indent="0" marL="0">
              <a:buNone/>
            </a:pPr>
            <a:r>
              <a:rPr lang="en-US" sz="1150" b="1" dirty="0">
                <a:solidFill>
                  <a:srgbClr val="E07A2F"/>
                </a:solidFill>
                <a:latin typeface="Calibri" pitchFamily="34" charset="0"/>
                <a:ea typeface="Calibri" pitchFamily="34" charset="-122"/>
                <a:cs typeface="Calibri" pitchFamily="34" charset="-120"/>
              </a:rPr>
              <a:t>Not machine learning: a software deployment failure. The cleanest illustration of why Module 2 exists</a:t>
            </a:r>
            <a:endParaRPr lang="en-US" sz="1150" dirty="0"/>
          </a:p>
        </p:txBody>
      </p:sp>
      <p:sp>
        <p:nvSpPr>
          <p:cNvPr id="8" name="Text 5"/>
          <p:cNvSpPr txBox="1"/>
          <p:nvPr/>
        </p:nvSpPr>
        <p:spPr>
          <a:xfrm>
            <a:off x="365760" y="1463040"/>
            <a:ext cx="5486400" cy="2834640"/>
          </a:xfrm>
          <a:prstGeom prst="rect">
            <a:avLst/>
          </a:prstGeom>
          <a:noFill/>
          <a:ln/>
        </p:spPr>
        <p:txBody>
          <a:bodyPr wrap="square" lIns="0" tIns="0" rIns="0" bIns="0" rtlCol="0" anchor="t"/>
          <a:lstStyle/>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Knight Capital, a leading US market maker, deployed new trading code to eight servers for the New York Stock Exchange's Retail Liquidity Program, which started on 1 August 2012. A technician missed one of the eight servers.</a:t>
            </a:r>
            <a:endParaRPr lang="en-US" sz="1050" dirty="0"/>
          </a:p>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The new code reused a flag that, on the unpatched server, reactivated an old, disabled function ("Power Peg") that had been left in the codebase since 2003. That server began sending millions of orders.</a:t>
            </a:r>
            <a:endParaRPr lang="en-US" sz="1050" dirty="0"/>
          </a:p>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Before the market opened, Knight's systems sent 97 automated emails referencing "Power Peg disabled" to a group of staff; they were not designed as alerts and nobody reviewed them.</a:t>
            </a:r>
            <a:endParaRPr lang="en-US" sz="1050" dirty="0"/>
          </a:p>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Once trading began, staff tried to fix the problem by uninstalling the new code from the seven correct servers, which made it worse: all eight now ran the defective path. There was no kill switch; the system was stopped after about 45 minutes.</a:t>
            </a:r>
            <a:endParaRPr lang="en-US" sz="1050" dirty="0"/>
          </a:p>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The SEC later fined Knight for violating the Market Access Rule; Knight was rescued by an emergency investment and merged with Getco within a year.</a:t>
            </a:r>
            <a:endParaRPr lang="en-US" sz="1050" dirty="0"/>
          </a:p>
        </p:txBody>
      </p:sp>
      <p:sp>
        <p:nvSpPr>
          <p:cNvPr id="9" name="Shape 6"/>
          <p:cNvSpPr/>
          <p:nvPr/>
        </p:nvSpPr>
        <p:spPr>
          <a:xfrm>
            <a:off x="6035040" y="1463040"/>
            <a:ext cx="2743200" cy="2834640"/>
          </a:xfrm>
          <a:prstGeom prst="roundRect">
            <a:avLst>
              <a:gd name="adj" fmla="val 2667"/>
            </a:avLst>
          </a:prstGeom>
          <a:solidFill>
            <a:srgbClr val="F3F5F8"/>
          </a:solidFill>
          <a:ln w="12700">
            <a:solidFill>
              <a:srgbClr val="F3F5F8"/>
            </a:solidFill>
            <a:prstDash val="solid"/>
          </a:ln>
        </p:spPr>
        <p:txBody>
          <a:bodyPr/>
          <a:p/>
        </p:txBody>
      </p:sp>
      <p:sp>
        <p:nvSpPr>
          <p:cNvPr id="10" name="Text 7"/>
          <p:cNvSpPr txBox="1"/>
          <p:nvPr/>
        </p:nvSpPr>
        <p:spPr>
          <a:xfrm>
            <a:off x="6172200" y="1536192"/>
            <a:ext cx="2468880" cy="274320"/>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The numbers</a:t>
            </a:r>
            <a:endParaRPr lang="en-US" sz="1200" dirty="0"/>
          </a:p>
        </p:txBody>
      </p:sp>
      <p:sp>
        <p:nvSpPr>
          <p:cNvPr id="11" name="Text 8"/>
          <p:cNvSpPr txBox="1"/>
          <p:nvPr/>
        </p:nvSpPr>
        <p:spPr>
          <a:xfrm>
            <a:off x="6172200" y="1828800"/>
            <a:ext cx="2468880" cy="2423160"/>
          </a:xfrm>
          <a:prstGeom prst="rect">
            <a:avLst/>
          </a:prstGeom>
          <a:noFill/>
          <a:ln/>
        </p:spPr>
        <p:txBody>
          <a:bodyPr wrap="square" lIns="0" tIns="0" rIns="0" bIns="0" rtlCol="0" anchor="t"/>
          <a:lstStyle/>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45 minutes · 4 million executions · 154 stocks · 397 million shares</a:t>
            </a:r>
            <a:endParaRPr lang="en-US" sz="1050" dirty="0"/>
          </a:p>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Positions: ≈ $3.5 billion long and $3.15 billion short</a:t>
            </a:r>
            <a:endParaRPr lang="en-US" sz="1050" dirty="0"/>
          </a:p>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Loss: about $460 million</a:t>
            </a:r>
            <a:endParaRPr lang="en-US" sz="1050" dirty="0"/>
          </a:p>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SEC penalty: $12 million (October 2013)</a:t>
            </a:r>
            <a:endParaRPr lang="en-US" sz="1050" dirty="0"/>
          </a:p>
          <a:p>
            <a:pPr marL="177800" indent="-177800">
              <a:spcAft>
                <a:spcPts val="500"/>
              </a:spcAft>
              <a:buSzPct val="100000"/>
              <a:buChar char="•"/>
            </a:pPr>
            <a:r>
              <a:rPr lang="en-US" sz="1050" dirty="0">
                <a:solidFill>
                  <a:srgbClr val="222222"/>
                </a:solidFill>
                <a:latin typeface="Calibri" pitchFamily="34" charset="0"/>
                <a:ea typeface="Calibri" pitchFamily="34" charset="-122"/>
                <a:cs typeface="Calibri" pitchFamily="34" charset="-120"/>
              </a:rPr>
              <a:t>97 unread warning emails</a:t>
            </a:r>
            <a:endParaRPr lang="en-US" sz="1050" dirty="0"/>
          </a:p>
        </p:txBody>
      </p:sp>
      <p:sp>
        <p:nvSpPr>
          <p:cNvPr id="12" name="Text 9"/>
          <p:cNvSpPr txBox="1"/>
          <p:nvPr/>
        </p:nvSpPr>
        <p:spPr>
          <a:xfrm>
            <a:off x="365760" y="4389120"/>
            <a:ext cx="8412480" cy="365760"/>
          </a:xfrm>
          <a:prstGeom prst="rect">
            <a:avLst/>
          </a:prstGeom>
          <a:noFill/>
          <a:ln/>
        </p:spPr>
        <p:txBody>
          <a:bodyPr wrap="square" lIns="0" tIns="0" rIns="0" bIns="0" rtlCol="0" anchor="t"/>
          <a:lstStyle/>
          <a:p>
            <a:pPr algn="l" indent="0" marL="0">
              <a:buNone/>
            </a:pPr>
            <a:r>
              <a:rPr lang="en-US" sz="850" i="1" dirty="0">
                <a:solidFill>
                  <a:srgbClr val="6B7280"/>
                </a:solidFill>
                <a:latin typeface="Calibri" pitchFamily="34" charset="0"/>
                <a:ea typeface="Calibri" pitchFamily="34" charset="-122"/>
                <a:cs typeface="Calibri" pitchFamily="34" charset="-120"/>
              </a:rPr>
              <a:t>Sources: US SEC, Order in the Matter of Knight Capital Americas LLC, Release No. 34-70694, 16 Oct 2013.</a:t>
            </a:r>
            <a:endParaRPr lang="en-US" sz="850" dirty="0"/>
          </a:p>
        </p:txBody>
      </p:sp>
      <p:pic>
        <p:nvPicPr>
          <p:cNvPr id="13" name="IE University logo" descr="IE University, School of Science &amp; Technology"/>
          <p:cNvPicPr>
            <a:picLocks noChangeAspect="1"/>
          </p:cNvPicPr>
          <p:nvPr/>
        </p:nvPicPr>
        <p:blipFill>
          <a:blip r:embed="rId3"/>
          <a:stretch>
            <a:fillRect/>
          </a:stretch>
        </p:blipFill>
        <p:spPr>
          <a:xfrm>
            <a:off x="8013607" y="92634"/>
            <a:ext cx="764633" cy="262789"/>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2E3F63"/>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B8C4D6"/>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B8C4D6"/>
                </a:solidFill>
                <a:latin typeface="Calibri" pitchFamily="34" charset="0"/>
                <a:ea typeface="Calibri" pitchFamily="34" charset="-122"/>
                <a:cs typeface="Calibri" pitchFamily="34" charset="-120"/>
              </a:rPr>
              <a:t>MLOps · MBDS-PT2026F · Session 10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B8C4D6"/>
                </a:solidFill>
                <a:latin typeface="Calibri" pitchFamily="34" charset="0"/>
                <a:ea typeface="Calibri" pitchFamily="34" charset="-122"/>
                <a:cs typeface="Calibri" pitchFamily="34" charset="-120"/>
              </a:rPr>
              <a:t>38</a:t>
            </a:r>
            <a:endParaRPr lang="en-US" sz="800" dirty="0"/>
          </a:p>
        </p:txBody>
      </p:sp>
      <p:sp>
        <p:nvSpPr>
          <p:cNvPr id="5" name="Text 3"/>
          <p:cNvSpPr txBox="1"/>
          <p:nvPr/>
        </p:nvSpPr>
        <p:spPr>
          <a:xfrm>
            <a:off x="548640" y="1463040"/>
            <a:ext cx="8046720" cy="7315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Appendix · Tools, the judge's code, and agents (not examinable)</a:t>
            </a:r>
            <a:endParaRPr lang="en-US" sz="2600" dirty="0"/>
          </a:p>
        </p:txBody>
      </p:sp>
      <p:sp>
        <p:nvSpPr>
          <p:cNvPr id="6" name="Text 4"/>
          <p:cNvSpPr txBox="1"/>
          <p:nvPr/>
        </p:nvSpPr>
        <p:spPr>
          <a:xfrm>
            <a:off x="548640" y="2286000"/>
            <a:ext cx="8046720" cy="82296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Three slides for the curious: the LLMOps tool landscape, the dozen lines behind the demo's judge, and what an agent trace looks like. Not covered live; not in the exam.</a:t>
            </a:r>
            <a:endParaRPr lang="en-US" sz="1600" dirty="0"/>
          </a:p>
        </p:txBody>
      </p:sp>
      <p:pic>
        <p:nvPicPr>
          <p:cNvPr id="7" name="IE University logo" descr="IE University, School of Science &amp; Technology"/>
          <p:cNvPicPr>
            <a:picLocks noChangeAspect="1"/>
          </p:cNvPicPr>
          <p:nvPr/>
        </p:nvPicPr>
        <p:blipFill>
          <a:blip r:embed="rId3"/>
          <a:stretch>
            <a:fillRect/>
          </a:stretch>
        </p:blipFill>
        <p:spPr>
          <a:xfrm>
            <a:off x="8252653" y="109728"/>
            <a:ext cx="525587" cy="70439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10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39</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Appendix · The LLMOps tool landscape, by function</a:t>
            </a:r>
            <a:endParaRPr lang="en-US" sz="24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365760" y="1234440"/>
          <a:ext cx="8412480" cy="914400"/>
        </p:xfrm>
        <a:graphic>
          <a:graphicData uri="http://schemas.openxmlformats.org/drawingml/2006/table">
            <a:tbl>
              <a:tblPr/>
              <a:tblGrid>
                <a:gridCol w="1463040"/>
                <a:gridCol w="3291840"/>
                <a:gridCol w="3657600"/>
              </a:tblGrid>
              <a:tr h="438912">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Function</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What it does for you</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Examples (2026; names change, functions do not)</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r>
              <a:tr h="438912">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Prompt registry</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Versions, aliases, commit messages, review before promotion</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MLflow prompt registry · LangSmith · W&amp;B · vendor prompt studios</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38912">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Evaluation</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Golden sets, judges, rubric scoring, regression on every change</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MLflow GenAI eval · LangSmith · Ragas · DeepEval · Promptfoo · watsonx.governance</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38912">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Guardrails</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Input and output checks: PII, injection, toxicity, groundedness, format</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NeMo Guardrails · Guardrails AI · Llama Guard · cloud content filters · Presidio (PII)</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38912">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Gateway</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One door to many models: routing, model pinning, caching, token metering, budgets</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LiteLLM · cloud AI gateways · vendor gateways</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38912">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Observability</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Traces of every request: retrieval, prompt, model, guardrails, cost, latency</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Langfuse · Arize Phoenix · OpenTelemetry · LangSmith</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438912">
                <a:tc>
                  <a:txBody>
                    <a:bodyPr/>
                    <a:lstStyle/>
                    <a:p>
                      <a:pPr algn="l" indent="0" marL="0">
                        <a:buNone/>
                      </a:pPr>
                      <a:r>
                        <a:rPr lang="en-US" sz="950" b="1" dirty="0">
                          <a:solidFill>
                            <a:srgbClr val="222222"/>
                          </a:solidFill>
                          <a:latin typeface="Calibri" pitchFamily="34" charset="0"/>
                          <a:ea typeface="Calibri" pitchFamily="34" charset="-122"/>
                          <a:cs typeface="Calibri" pitchFamily="34" charset="-120"/>
                        </a:rPr>
                        <a:t>Vector store / index</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Stores embeddings; nearest-neighbour search for retrieval</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50" dirty="0">
                          <a:solidFill>
                            <a:srgbClr val="222222"/>
                          </a:solidFill>
                          <a:latin typeface="Calibri" pitchFamily="34" charset="0"/>
                          <a:ea typeface="Calibri" pitchFamily="34" charset="-122"/>
                          <a:cs typeface="Calibri" pitchFamily="34" charset="-120"/>
                        </a:rPr>
                        <a:t>pgvector · Elasticsearch / OpenSearch · Pinecone · Weaviate · Chroma</a:t>
                      </a:r>
                      <a:endParaRPr lang="en-US" sz="95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8" name="Shape 4"/>
          <p:cNvSpPr/>
          <p:nvPr/>
        </p:nvSpPr>
        <p:spPr>
          <a:xfrm>
            <a:off x="365760" y="4343400"/>
            <a:ext cx="8412480" cy="365760"/>
          </a:xfrm>
          <a:prstGeom prst="roundRect">
            <a:avLst>
              <a:gd name="adj" fmla="val 20000"/>
            </a:avLst>
          </a:prstGeom>
          <a:solidFill>
            <a:srgbClr val="E3F1F2"/>
          </a:solidFill>
          <a:ln w="12700">
            <a:solidFill>
              <a:srgbClr val="E3F1F2"/>
            </a:solidFill>
            <a:prstDash val="solid"/>
          </a:ln>
        </p:spPr>
        <p:txBody>
          <a:bodyPr/>
          <a:p/>
        </p:txBody>
      </p:sp>
      <p:pic>
        <p:nvPicPr>
          <p:cNvPr id="9" name="Image 0" descr="preencoded.png">    </p:cNvPr>
          <p:cNvPicPr>
            <a:picLocks noChangeAspect="1"/>
          </p:cNvPicPr>
          <p:nvPr/>
        </p:nvPicPr>
        <p:blipFill>
          <a:blip r:embed="rId1"/>
          <a:stretch>
            <a:fillRect/>
          </a:stretch>
        </p:blipFill>
        <p:spPr>
          <a:xfrm>
            <a:off x="502920" y="4389120"/>
            <a:ext cx="274320" cy="274320"/>
          </a:xfrm>
          <a:prstGeom prst="rect">
            <a:avLst/>
          </a:prstGeom>
        </p:spPr>
      </p:pic>
      <p:sp>
        <p:nvSpPr>
          <p:cNvPr id="10" name="Text 5"/>
          <p:cNvSpPr txBox="1"/>
          <p:nvPr/>
        </p:nvSpPr>
        <p:spPr>
          <a:xfrm>
            <a:off x="896112" y="4343400"/>
            <a:ext cx="7772400" cy="365760"/>
          </a:xfrm>
          <a:prstGeom prst="rect">
            <a:avLst/>
          </a:prstGeom>
          <a:noFill/>
          <a:ln/>
        </p:spPr>
        <p:txBody>
          <a:bodyPr wrap="square" lIns="0" tIns="0" rIns="0" bIns="0" rtlCol="0" anchor="ctr"/>
          <a:lstStyle/>
          <a:p>
            <a:pPr indent="0" marL="0">
              <a:buNone/>
            </a:pPr>
            <a:r>
              <a:rPr lang="en-US" sz="1050" dirty="0">
                <a:solidFill>
                  <a:srgbClr val="1B2A4A"/>
                </a:solidFill>
                <a:latin typeface="Calibri" pitchFamily="34" charset="0"/>
                <a:ea typeface="Calibri" pitchFamily="34" charset="-122"/>
                <a:cs typeface="Calibri" pitchFamily="34" charset="-120"/>
              </a:rPr>
              <a:t>Pick by function and by the platform you already run (Session 3's rule). The exam asks for functions, not product names.</a:t>
            </a:r>
            <a:endParaRPr lang="en-US" sz="1050" dirty="0"/>
          </a:p>
        </p:txBody>
      </p:sp>
      <p:pic>
        <p:nvPicPr>
          <p:cNvPr id="41"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10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40</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Appendix · The dozen lines behind the demo: register, evaluate, log</a:t>
            </a:r>
            <a:endParaRPr lang="en-US" sz="2400" dirty="0"/>
          </a:p>
        </p:txBody>
      </p:sp>
      <p:sp>
        <p:nvSpPr>
          <p:cNvPr id="7" name="Text 4"/>
          <p:cNvSpPr txBox="1"/>
          <p:nvPr/>
        </p:nvSpPr>
        <p:spPr>
          <a:xfrm>
            <a:off x="365760" y="1188720"/>
            <a:ext cx="4023360" cy="274320"/>
          </a:xfrm>
          <a:prstGeom prst="rect">
            <a:avLst/>
          </a:prstGeom>
          <a:noFill/>
          <a:ln/>
        </p:spPr>
        <p:txBody>
          <a:bodyPr wrap="square" lIns="0" tIns="0" rIns="0" bIns="0" rtlCol="0" anchor="t"/>
          <a:lstStyle/>
          <a:p>
            <a:pPr algn="l" indent="0" marL="0">
              <a:buNone/>
            </a:pPr>
            <a:r>
              <a:rPr lang="en-US" sz="1250" b="1" dirty="0">
                <a:solidFill>
                  <a:srgbClr val="0E7C86"/>
                </a:solidFill>
                <a:latin typeface="Calibri" pitchFamily="34" charset="0"/>
                <a:ea typeface="Calibri" pitchFamily="34" charset="-122"/>
                <a:cs typeface="Calibri" pitchFamily="34" charset="-120"/>
              </a:rPr>
              <a:t>Register and promote (the registry)</a:t>
            </a:r>
            <a:endParaRPr lang="en-US" sz="1250" dirty="0"/>
          </a:p>
        </p:txBody>
      </p:sp>
      <p:sp>
        <p:nvSpPr>
          <p:cNvPr id="8" name="Shape 5"/>
          <p:cNvSpPr/>
          <p:nvPr/>
        </p:nvSpPr>
        <p:spPr>
          <a:xfrm>
            <a:off x="365760" y="1508760"/>
            <a:ext cx="4023360" cy="2743200"/>
          </a:xfrm>
          <a:prstGeom prst="roundRect">
            <a:avLst>
              <a:gd name="adj" fmla="val 2667"/>
            </a:avLst>
          </a:prstGeom>
          <a:solidFill>
            <a:srgbClr val="E3F1F2"/>
          </a:solidFill>
          <a:ln w="12700">
            <a:solidFill>
              <a:srgbClr val="E3F1F2"/>
            </a:solidFill>
            <a:prstDash val="solid"/>
          </a:ln>
        </p:spPr>
        <p:txBody>
          <a:bodyPr/>
          <a:p/>
        </p:txBody>
      </p:sp>
      <p:sp>
        <p:nvSpPr>
          <p:cNvPr id="9" name="Text 6"/>
          <p:cNvSpPr txBox="1"/>
          <p:nvPr/>
        </p:nvSpPr>
        <p:spPr>
          <a:xfrm>
            <a:off x="502920" y="1600200"/>
            <a:ext cx="3794760" cy="2606040"/>
          </a:xfrm>
          <a:prstGeom prst="rect">
            <a:avLst/>
          </a:prstGeom>
          <a:noFill/>
          <a:ln/>
        </p:spPr>
        <p:txBody>
          <a:bodyPr wrap="square" lIns="0" tIns="0" rIns="0" bIns="0" rtlCol="0" anchor="t"/>
          <a:lstStyle/>
          <a:p>
            <a:pPr indent="0" marL="0">
              <a:buNone/>
            </a:pPr>
            <a:r>
              <a:rPr lang="en-US" sz="850" b="1" dirty="0">
                <a:solidFill>
                  <a:srgbClr val="0E7C86"/>
                </a:solidFill>
                <a:latin typeface="Courier New" pitchFamily="34" charset="0"/>
                <a:ea typeface="Courier New" pitchFamily="34" charset="-122"/>
                <a:cs typeface="Courier New" pitchFamily="34" charset="-120"/>
              </a:rPr>
              <a:t>import mlflow</a:t>
            </a: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mlflow.set_tracking_uri("sqlite:///mlflow.db")</a:t>
            </a:r>
            <a:endParaRPr lang="en-US" sz="850" dirty="0"/>
          </a:p>
          <a:p>
            <a:pPr indent="0" marL="0">
              <a:buNone/>
            </a:pPr>
            <a:endParaRPr lang="en-US" sz="850" dirty="0"/>
          </a:p>
          <a:p>
            <a:pPr indent="0" marL="0">
              <a:buNone/>
            </a:pPr>
            <a:r>
              <a:rPr lang="en-US" sz="850" b="1" dirty="0">
                <a:solidFill>
                  <a:srgbClr val="0E7C86"/>
                </a:solidFill>
                <a:latin typeface="Courier New" pitchFamily="34" charset="0"/>
                <a:ea typeface="Courier New" pitchFamily="34" charset="-122"/>
                <a:cs typeface="Courier New" pitchFamily="34" charset="-120"/>
              </a:rPr>
              <a:t>v2 = mlflow.genai.register_prompt(</a:t>
            </a: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    name="hr-assistant", template=PROMPT_V2,</a:t>
            </a: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    commit_message="v2: answer only from context; …",</a:t>
            </a: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    tags={"owner": "HR Digital", "docs": "v2026.1"})</a:t>
            </a:r>
            <a:endParaRPr lang="en-US" sz="850" dirty="0"/>
          </a:p>
          <a:p>
            <a:pPr indent="0" marL="0">
              <a:buNone/>
            </a:pPr>
            <a:endParaRPr lang="en-US" sz="850" dirty="0"/>
          </a:p>
          <a:p>
            <a:pPr indent="0" marL="0">
              <a:buNone/>
            </a:pPr>
            <a:r>
              <a:rPr lang="en-US" sz="850" b="1" dirty="0">
                <a:solidFill>
                  <a:srgbClr val="0E7C86"/>
                </a:solidFill>
                <a:latin typeface="Courier New" pitchFamily="34" charset="0"/>
                <a:ea typeface="Courier New" pitchFamily="34" charset="-122"/>
                <a:cs typeface="Courier New" pitchFamily="34" charset="-120"/>
              </a:rPr>
              <a:t>mlflow.genai.set_prompt_alias("hr-assistant",</a:t>
            </a: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    alias="challenger", version=v2.version)</a:t>
            </a:r>
            <a:endParaRPr lang="en-US" sz="850" dirty="0"/>
          </a:p>
          <a:p>
            <a:pPr indent="0" marL="0">
              <a:buNone/>
            </a:pP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 in the application:</a:t>
            </a:r>
            <a:endParaRPr lang="en-US" sz="850" dirty="0"/>
          </a:p>
          <a:p>
            <a:pPr indent="0" marL="0">
              <a:buNone/>
            </a:pPr>
            <a:r>
              <a:rPr lang="en-US" sz="850" b="1" dirty="0">
                <a:solidFill>
                  <a:srgbClr val="0E7C86"/>
                </a:solidFill>
                <a:latin typeface="Courier New" pitchFamily="34" charset="0"/>
                <a:ea typeface="Courier New" pitchFamily="34" charset="-122"/>
                <a:cs typeface="Courier New" pitchFamily="34" charset="-120"/>
              </a:rPr>
              <a:t>p = mlflow.genai.load_prompt(</a:t>
            </a: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    "prompts:/hr-assistant@production")</a:t>
            </a:r>
            <a:endParaRPr lang="en-US" sz="850" dirty="0"/>
          </a:p>
          <a:p>
            <a:pPr indent="0" marL="0">
              <a:buNone/>
            </a:pPr>
            <a:r>
              <a:rPr lang="en-US" sz="850" b="1" dirty="0">
                <a:solidFill>
                  <a:srgbClr val="0E7C86"/>
                </a:solidFill>
                <a:latin typeface="Courier New" pitchFamily="34" charset="0"/>
                <a:ea typeface="Courier New" pitchFamily="34" charset="-122"/>
                <a:cs typeface="Courier New" pitchFamily="34" charset="-120"/>
              </a:rPr>
              <a:t>text = p.format(question=q, context=passages)</a:t>
            </a:r>
            <a:endParaRPr lang="en-US" sz="850" dirty="0"/>
          </a:p>
        </p:txBody>
      </p:sp>
      <p:sp>
        <p:nvSpPr>
          <p:cNvPr id="10" name="Text 7"/>
          <p:cNvSpPr txBox="1"/>
          <p:nvPr/>
        </p:nvSpPr>
        <p:spPr>
          <a:xfrm>
            <a:off x="4754880" y="1188720"/>
            <a:ext cx="4023360" cy="274320"/>
          </a:xfrm>
          <a:prstGeom prst="rect">
            <a:avLst/>
          </a:prstGeom>
          <a:noFill/>
          <a:ln/>
        </p:spPr>
        <p:txBody>
          <a:bodyPr wrap="square" lIns="0" tIns="0" rIns="0" bIns="0" rtlCol="0" anchor="t"/>
          <a:lstStyle/>
          <a:p>
            <a:pPr algn="l" indent="0" marL="0">
              <a:buNone/>
            </a:pPr>
            <a:r>
              <a:rPr lang="en-US" sz="1250" b="1" dirty="0">
                <a:solidFill>
                  <a:srgbClr val="E07A2F"/>
                </a:solidFill>
                <a:latin typeface="Calibri" pitchFamily="34" charset="0"/>
                <a:ea typeface="Calibri" pitchFamily="34" charset="-122"/>
                <a:cs typeface="Calibri" pitchFamily="34" charset="-120"/>
              </a:rPr>
              <a:t>Evaluate and log (golden set → judge → run)</a:t>
            </a:r>
            <a:endParaRPr lang="en-US" sz="1250" dirty="0"/>
          </a:p>
        </p:txBody>
      </p:sp>
      <p:sp>
        <p:nvSpPr>
          <p:cNvPr id="11" name="Shape 8"/>
          <p:cNvSpPr/>
          <p:nvPr/>
        </p:nvSpPr>
        <p:spPr>
          <a:xfrm>
            <a:off x="4754880" y="1508760"/>
            <a:ext cx="4023360" cy="2743200"/>
          </a:xfrm>
          <a:prstGeom prst="roundRect">
            <a:avLst>
              <a:gd name="adj" fmla="val 2667"/>
            </a:avLst>
          </a:prstGeom>
          <a:solidFill>
            <a:srgbClr val="FBE9DC"/>
          </a:solidFill>
          <a:ln w="12700">
            <a:solidFill>
              <a:srgbClr val="FBE9DC"/>
            </a:solidFill>
            <a:prstDash val="solid"/>
          </a:ln>
        </p:spPr>
        <p:txBody>
          <a:bodyPr/>
          <a:p/>
        </p:txBody>
      </p:sp>
      <p:sp>
        <p:nvSpPr>
          <p:cNvPr id="12" name="Text 9"/>
          <p:cNvSpPr txBox="1"/>
          <p:nvPr/>
        </p:nvSpPr>
        <p:spPr>
          <a:xfrm>
            <a:off x="4892040" y="1600200"/>
            <a:ext cx="3794760" cy="2606040"/>
          </a:xfrm>
          <a:prstGeom prst="rect">
            <a:avLst/>
          </a:prstGeom>
          <a:noFill/>
          <a:ln/>
        </p:spPr>
        <p:txBody>
          <a:bodyPr wrap="square" lIns="0" tIns="0" rIns="0" bIns="0" rtlCol="0" anchor="t"/>
          <a:lstStyle/>
          <a:p>
            <a:pPr indent="0" marL="0">
              <a:buNone/>
            </a:pPr>
            <a:r>
              <a:rPr lang="en-US" sz="850" b="1" dirty="0">
                <a:solidFill>
                  <a:srgbClr val="8A3F0C"/>
                </a:solidFill>
                <a:latin typeface="Courier New" pitchFamily="34" charset="0"/>
                <a:ea typeface="Courier New" pitchFamily="34" charset="-122"/>
                <a:cs typeface="Courier New" pitchFamily="34" charset="-120"/>
              </a:rPr>
              <a:t>def judge(row, answer):        # stand-in for an LLM judge</a:t>
            </a: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    facts = row.key_facts.split(";")</a:t>
            </a: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    correct  = all(f in answer for f in facts)</a:t>
            </a: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    grounded = all(n in policy_nums for n in nums(answer))</a:t>
            </a: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    pii      = any(name in answer for name in NAMES)</a:t>
            </a: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    return correct, grounded, pii</a:t>
            </a:r>
            <a:endParaRPr lang="en-US" sz="850" dirty="0"/>
          </a:p>
          <a:p>
            <a:pPr indent="0" marL="0">
              <a:buNone/>
            </a:pP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for ver in (1, 2):</a:t>
            </a: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    v = [judge(r, answers[ver][r.id]) for r in gold]</a:t>
            </a:r>
            <a:endParaRPr lang="en-US" sz="850" dirty="0"/>
          </a:p>
          <a:p>
            <a:pPr indent="0" marL="0">
              <a:buNone/>
            </a:pPr>
            <a:r>
              <a:rPr lang="en-US" sz="850" b="1" dirty="0">
                <a:solidFill>
                  <a:srgbClr val="8A3F0C"/>
                </a:solidFill>
                <a:latin typeface="Courier New" pitchFamily="34" charset="0"/>
                <a:ea typeface="Courier New" pitchFamily="34" charset="-122"/>
                <a:cs typeface="Courier New" pitchFamily="34" charset="-120"/>
              </a:rPr>
              <a:t>    with mlflow.start_run(run_name=f"eval v{ver}"):</a:t>
            </a: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        mlflow.log_param("prompt",</a:t>
            </a: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            f"prompts:/hr-assistant/{ver}")</a:t>
            </a:r>
            <a:endParaRPr lang="en-US" sz="850" dirty="0"/>
          </a:p>
          <a:p>
            <a:pPr indent="0" marL="0">
              <a:buNone/>
            </a:pPr>
            <a:r>
              <a:rPr lang="en-US" sz="850" b="1" dirty="0">
                <a:solidFill>
                  <a:srgbClr val="8A3F0C"/>
                </a:solidFill>
                <a:latin typeface="Courier New" pitchFamily="34" charset="0"/>
                <a:ea typeface="Courier New" pitchFamily="34" charset="-122"/>
                <a:cs typeface="Courier New" pitchFamily="34" charset="-120"/>
              </a:rPr>
              <a:t>        mlflow.log_metrics({</a:t>
            </a: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            "correctness": mean(correct),</a:t>
            </a:r>
            <a:endParaRPr lang="en-US" sz="850" dirty="0"/>
          </a:p>
          <a:p>
            <a:pPr indent="0" marL="0">
              <a:buNone/>
            </a:pPr>
            <a:r>
              <a:rPr lang="en-US" sz="850" dirty="0">
                <a:solidFill>
                  <a:srgbClr val="222222"/>
                </a:solidFill>
                <a:latin typeface="Courier New" pitchFamily="34" charset="0"/>
                <a:ea typeface="Courier New" pitchFamily="34" charset="-122"/>
                <a:cs typeface="Courier New" pitchFamily="34" charset="-120"/>
              </a:rPr>
              <a:t>            "groundedness": mean(grounded),</a:t>
            </a:r>
            <a:endParaRPr lang="en-US" sz="850" dirty="0"/>
          </a:p>
          <a:p>
            <a:pPr indent="0" marL="0">
              <a:buNone/>
            </a:pPr>
            <a:r>
              <a:rPr lang="en-US" sz="850" b="1" dirty="0">
                <a:solidFill>
                  <a:srgbClr val="8A3F0C"/>
                </a:solidFill>
                <a:latin typeface="Courier New" pitchFamily="34" charset="0"/>
                <a:ea typeface="Courier New" pitchFamily="34" charset="-122"/>
                <a:cs typeface="Courier New" pitchFamily="34" charset="-120"/>
              </a:rPr>
              <a:t>            "cost_per_1000_questions_eur": cost})</a:t>
            </a:r>
            <a:endParaRPr lang="en-US" sz="850" dirty="0"/>
          </a:p>
        </p:txBody>
      </p:sp>
      <p:sp>
        <p:nvSpPr>
          <p:cNvPr id="13" name="Shape 10"/>
          <p:cNvSpPr/>
          <p:nvPr/>
        </p:nvSpPr>
        <p:spPr>
          <a:xfrm>
            <a:off x="365760" y="4343400"/>
            <a:ext cx="8412480" cy="411480"/>
          </a:xfrm>
          <a:prstGeom prst="roundRect">
            <a:avLst>
              <a:gd name="adj" fmla="val 17778"/>
            </a:avLst>
          </a:prstGeom>
          <a:solidFill>
            <a:srgbClr val="E3F1F2"/>
          </a:solidFill>
          <a:ln w="12700">
            <a:solidFill>
              <a:srgbClr val="E3F1F2"/>
            </a:solidFill>
            <a:prstDash val="solid"/>
          </a:ln>
        </p:spPr>
        <p:txBody>
          <a:bodyPr/>
          <a:p/>
        </p:txBody>
      </p:sp>
      <p:pic>
        <p:nvPicPr>
          <p:cNvPr id="14" name="Image 0" descr="preencoded.png">    </p:cNvPr>
          <p:cNvPicPr>
            <a:picLocks noChangeAspect="1"/>
          </p:cNvPicPr>
          <p:nvPr/>
        </p:nvPicPr>
        <p:blipFill>
          <a:blip r:embed="rId1"/>
          <a:stretch>
            <a:fillRect/>
          </a:stretch>
        </p:blipFill>
        <p:spPr>
          <a:xfrm>
            <a:off x="502920" y="4411980"/>
            <a:ext cx="274320" cy="274320"/>
          </a:xfrm>
          <a:prstGeom prst="rect">
            <a:avLst/>
          </a:prstGeom>
        </p:spPr>
      </p:pic>
      <p:sp>
        <p:nvSpPr>
          <p:cNvPr id="15" name="Text 11"/>
          <p:cNvSpPr txBox="1"/>
          <p:nvPr/>
        </p:nvSpPr>
        <p:spPr>
          <a:xfrm>
            <a:off x="896112" y="4343400"/>
            <a:ext cx="7772400" cy="411480"/>
          </a:xfrm>
          <a:prstGeom prst="rect">
            <a:avLst/>
          </a:prstGeom>
          <a:noFill/>
          <a:ln/>
        </p:spPr>
        <p:txBody>
          <a:bodyPr wrap="square" lIns="0" tIns="0" rIns="0" bIns="0" rtlCol="0" anchor="ctr"/>
          <a:lstStyle/>
          <a:p>
            <a:pPr indent="0" marL="0">
              <a:buNone/>
            </a:pPr>
            <a:r>
              <a:rPr lang="en-US" sz="1050" dirty="0">
                <a:solidFill>
                  <a:srgbClr val="1B2A4A"/>
                </a:solidFill>
                <a:latin typeface="Calibri" pitchFamily="34" charset="0"/>
                <a:ea typeface="Calibri" pitchFamily="34" charset="-122"/>
                <a:cs typeface="Calibri" pitchFamily="34" charset="-120"/>
              </a:rPr>
              <a:t>Registry and scores in the same place as the churn model's runs (Session 3). Replace judge() with a model call and a rubric; keep everything else. Full script: S10/demo/s10_demo_setup.py.</a:t>
            </a:r>
            <a:endParaRPr lang="en-US" sz="1050" dirty="0"/>
          </a:p>
        </p:txBody>
      </p:sp>
      <p:pic>
        <p:nvPicPr>
          <p:cNvPr id="16"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365760" y="109728"/>
            <a:ext cx="54864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Master in Business Analytics and Data Science</a:t>
            </a:r>
            <a:endParaRPr lang="en-US" sz="900" dirty="0"/>
          </a:p>
        </p:txBody>
      </p:sp>
      <p:sp>
        <p:nvSpPr>
          <p:cNvPr id="3" name="Text 1"/>
          <p:cNvSpPr txBox="1"/>
          <p:nvPr/>
        </p:nvSpPr>
        <p:spPr>
          <a:xfrm>
            <a:off x="365760" y="4828032"/>
            <a:ext cx="6400800" cy="201168"/>
          </a:xfrm>
          <a:prstGeom prst="rect">
            <a:avLst/>
          </a:prstGeom>
          <a:noFill/>
          <a:ln/>
        </p:spPr>
        <p:txBody>
          <a:bodyPr wrap="square" lIns="0" tIns="0" rIns="0" bIns="0" rtlCol="0" anchor="ctr"/>
          <a:lstStyle/>
          <a:p>
            <a:pPr indent="0" marL="0">
              <a:buNone/>
            </a:pPr>
            <a:r>
              <a:rPr lang="en-US" sz="800" dirty="0">
                <a:solidFill>
                  <a:srgbClr val="6B7280"/>
                </a:solidFill>
                <a:latin typeface="Calibri" pitchFamily="34" charset="0"/>
                <a:ea typeface="Calibri" pitchFamily="34" charset="-122"/>
                <a:cs typeface="Calibri" pitchFamily="34" charset="-120"/>
              </a:rPr>
              <a:t>MLOps · MBDS-PT2026F · Session 10 · Juan Ramírez</a:t>
            </a:r>
            <a:endParaRPr lang="en-US" sz="800" dirty="0"/>
          </a:p>
        </p:txBody>
      </p:sp>
      <p:sp>
        <p:nvSpPr>
          <p:cNvPr id="4" name="Text 2"/>
          <p:cNvSpPr txBox="1"/>
          <p:nvPr/>
        </p:nvSpPr>
        <p:spPr>
          <a:xfrm>
            <a:off x="8229600" y="4828032"/>
            <a:ext cx="548640" cy="201168"/>
          </a:xfrm>
          <a:prstGeom prst="rect">
            <a:avLst/>
          </a:prstGeom>
          <a:noFill/>
          <a:ln/>
        </p:spPr>
        <p:txBody>
          <a:bodyPr wrap="square" lIns="0" tIns="0" rIns="0" bIns="0" rtlCol="0" anchor="ctr"/>
          <a:lstStyle/>
          <a:p>
            <a:pPr algn="r" indent="0" marL="0">
              <a:buNone/>
            </a:pPr>
            <a:r>
              <a:rPr lang="en-US" sz="800" dirty="0">
                <a:solidFill>
                  <a:srgbClr val="6B7280"/>
                </a:solidFill>
                <a:latin typeface="Calibri" pitchFamily="34" charset="0"/>
                <a:ea typeface="Calibri" pitchFamily="34" charset="-122"/>
                <a:cs typeface="Calibri" pitchFamily="34" charset="-120"/>
              </a:rPr>
              <a:t>41</a:t>
            </a:r>
            <a:endParaRPr lang="en-US" sz="800" dirty="0"/>
          </a:p>
        </p:txBody>
      </p:sp>
      <p:sp>
        <p:nvSpPr>
          <p:cNvPr id="5" name="Text 3"/>
          <p:cNvSpPr txBox="1"/>
          <p:nvPr/>
        </p:nvSpPr>
        <p:spPr>
          <a:xfrm>
            <a:off x="365760" y="384048"/>
            <a:ext cx="8412480" cy="685800"/>
          </a:xfrm>
          <a:prstGeom prst="rect">
            <a:avLst/>
          </a:prstGeom>
          <a:noFill/>
          <a:ln/>
        </p:spPr>
        <p:txBody>
          <a:bodyPr wrap="square" lIns="0" tIns="0" rIns="0" bIns="0" rtlCol="0" anchor="ctr"/>
          <a:lstStyle/>
          <a:p>
            <a:pPr indent="0" marL="0">
              <a:buNone/>
            </a:pPr>
            <a:r>
              <a:rPr lang="en-US" sz="2400" b="1" dirty="0">
                <a:solidFill>
                  <a:srgbClr val="1B2A4A"/>
                </a:solidFill>
                <a:latin typeface="Calibri" pitchFamily="34" charset="0"/>
                <a:ea typeface="Calibri" pitchFamily="34" charset="-122"/>
                <a:cs typeface="Calibri" pitchFamily="34" charset="-120"/>
              </a:rPr>
              <a:t>Appendix · What an agent run looks like, and what you operate</a:t>
            </a:r>
            <a:endParaRPr lang="en-US" sz="2400" dirty="0"/>
          </a:p>
        </p:txBody>
      </p:sp>
      <p:sp>
        <p:nvSpPr>
          <p:cNvPr id="7" name="Text 4"/>
          <p:cNvSpPr txBox="1"/>
          <p:nvPr/>
        </p:nvSpPr>
        <p:spPr>
          <a:xfrm>
            <a:off x="365760" y="1188720"/>
            <a:ext cx="4206240" cy="274320"/>
          </a:xfrm>
          <a:prstGeom prst="rect">
            <a:avLst/>
          </a:prstGeom>
          <a:noFill/>
          <a:ln/>
        </p:spPr>
        <p:txBody>
          <a:bodyPr wrap="square" lIns="0" tIns="0" rIns="0" bIns="0" rtlCol="0" anchor="t"/>
          <a:lstStyle/>
          <a:p>
            <a:pPr algn="l" indent="0" marL="0">
              <a:buNone/>
            </a:pPr>
            <a:r>
              <a:rPr lang="en-US" sz="1250" b="1" dirty="0">
                <a:solidFill>
                  <a:srgbClr val="0E7C86"/>
                </a:solidFill>
                <a:latin typeface="Calibri" pitchFamily="34" charset="0"/>
                <a:ea typeface="Calibri" pitchFamily="34" charset="-122"/>
                <a:cs typeface="Calibri" pitchFamily="34" charset="-120"/>
              </a:rPr>
              <a:t>A trace: "book me two days off next week"</a:t>
            </a:r>
            <a:endParaRPr lang="en-US" sz="125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365760" y="1508760"/>
          <a:ext cx="4206240" cy="914400"/>
        </p:xfrm>
        <a:graphic>
          <a:graphicData uri="http://schemas.openxmlformats.org/drawingml/2006/table">
            <a:tbl>
              <a:tblPr/>
              <a:tblGrid>
                <a:gridCol w="457200"/>
                <a:gridCol w="1737360"/>
                <a:gridCol w="1371600"/>
                <a:gridCol w="640080"/>
              </a:tblGrid>
              <a:tr h="329184">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Step</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Tool call</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Result</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ms · tokens</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B2A4A"/>
                    </a:solidFill>
                  </a:tcPr>
                </a:tc>
              </a:tr>
              <a:tr h="329184">
                <a:tc>
                  <a:txBody>
                    <a:bodyPr/>
                    <a:lstStyle/>
                    <a:p>
                      <a:pPr algn="l" indent="0" marL="0">
                        <a:buNone/>
                      </a:pPr>
                      <a:r>
                        <a:rPr lang="en-US" sz="900" b="1" dirty="0">
                          <a:solidFill>
                            <a:srgbClr val="222222"/>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retrieve_policy("annual leave")</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3 passages (HR-POL-03)</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140 · 620</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algn="l" indent="0" marL="0">
                        <a:buNone/>
                      </a:pPr>
                      <a:r>
                        <a:rPr lang="en-US" sz="900" b="1" dirty="0">
                          <a:solidFill>
                            <a:srgbClr val="222222"/>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get_balance(employee=10482)</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11 days left</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90 · 40</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algn="l" indent="0" marL="0">
                        <a:buNone/>
                      </a:pPr>
                      <a:r>
                        <a:rPr lang="en-US" sz="900" b="1" dirty="0">
                          <a:solidFill>
                            <a:srgbClr val="222222"/>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check_team_calendar(week=45)</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2 of 6 already off</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120 · 80</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algn="l" indent="0" marL="0">
                        <a:buNone/>
                      </a:pPr>
                      <a:r>
                        <a:rPr lang="en-US" sz="900" b="1" dirty="0">
                          <a:solidFill>
                            <a:srgbClr val="222222"/>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ask_user("Tue–Wed or Thu–Fri?")</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"Thu–Fri"</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 · 30</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algn="l" indent="0" marL="0">
                        <a:buNone/>
                      </a:pPr>
                      <a:r>
                        <a:rPr lang="en-US" sz="900" b="1" dirty="0">
                          <a:solidFill>
                            <a:srgbClr val="222222"/>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request_leave(Thu, Fri) → needs approval</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held for manager</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60 · 50</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r h="329184">
                <a:tc>
                  <a:txBody>
                    <a:bodyPr/>
                    <a:lstStyle/>
                    <a:p>
                      <a:pPr algn="l" indent="0" marL="0">
                        <a:buNone/>
                      </a:pPr>
                      <a:r>
                        <a:rPr lang="en-US" sz="900" b="1" dirty="0">
                          <a:solidFill>
                            <a:srgbClr val="222222"/>
                          </a:solidFill>
                          <a:latin typeface="Calibri" pitchFamily="34" charset="0"/>
                          <a:ea typeface="Calibri" pitchFamily="34" charset="-122"/>
                          <a:cs typeface="Calibri" pitchFamily="34" charset="-120"/>
                        </a:rPr>
                        <a:t>6</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answer</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"Requested Thu–Fri; your manager will confirm"</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c>
                  <a:txBody>
                    <a:bodyPr/>
                    <a:lstStyle/>
                    <a:p>
                      <a:pPr algn="l" indent="0" marL="0">
                        <a:buNone/>
                      </a:pPr>
                      <a:r>
                        <a:rPr lang="en-US" sz="900" dirty="0">
                          <a:solidFill>
                            <a:srgbClr val="222222"/>
                          </a:solidFill>
                          <a:latin typeface="Calibri" pitchFamily="34" charset="0"/>
                          <a:ea typeface="Calibri" pitchFamily="34" charset="-122"/>
                          <a:cs typeface="Calibri" pitchFamily="34" charset="-120"/>
                        </a:rPr>
                        <a:t>900 · 210</a:t>
                      </a:r>
                      <a:endParaRPr lang="en-US" sz="900" dirty="0">
                        <a:latin typeface="Calibri" charset="0"/>
                        <a:ea typeface="Calibri" charset="0"/>
                        <a:cs typeface="Calibri" charset="0"/>
                      </a:endParaRPr>
                    </a:p>
                  </a:txBody>
                  <a:tcPr marL="45720" marR="45720" marT="45720" marB="45720"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tcPr>
                </a:tc>
              </a:tr>
            </a:tbl>
          </a:graphicData>
        </a:graphic>
      </p:graphicFrame>
      <p:sp>
        <p:nvSpPr>
          <p:cNvPr id="9" name="Shape 5"/>
          <p:cNvSpPr/>
          <p:nvPr/>
        </p:nvSpPr>
        <p:spPr>
          <a:xfrm>
            <a:off x="4754880" y="1188720"/>
            <a:ext cx="4023360" cy="3063240"/>
          </a:xfrm>
          <a:prstGeom prst="roundRect">
            <a:avLst>
              <a:gd name="adj" fmla="val 2388"/>
            </a:avLst>
          </a:prstGeom>
          <a:solidFill>
            <a:srgbClr val="F3F5F8"/>
          </a:solidFill>
          <a:ln w="12700">
            <a:solidFill>
              <a:srgbClr val="F3F5F8"/>
            </a:solidFill>
            <a:prstDash val="solid"/>
          </a:ln>
        </p:spPr>
        <p:txBody>
          <a:bodyPr/>
          <a:p/>
        </p:txBody>
      </p:sp>
      <p:sp>
        <p:nvSpPr>
          <p:cNvPr id="10" name="Shape 6"/>
          <p:cNvSpPr/>
          <p:nvPr/>
        </p:nvSpPr>
        <p:spPr>
          <a:xfrm>
            <a:off x="4892040" y="1307592"/>
            <a:ext cx="347472" cy="347472"/>
          </a:xfrm>
          <a:prstGeom prst="ellipse">
            <a:avLst/>
          </a:prstGeom>
          <a:solidFill>
            <a:srgbClr val="E07A2F"/>
          </a:solidFill>
          <a:ln w="12700">
            <a:solidFill>
              <a:srgbClr val="E07A2F"/>
            </a:solidFill>
            <a:prstDash val="solid"/>
          </a:ln>
        </p:spPr>
        <p:txBody>
          <a:bodyPr/>
          <a:p/>
        </p:txBody>
      </p:sp>
      <p:pic>
        <p:nvPicPr>
          <p:cNvPr id="11" name="Image 0" descr="preencoded.png">    </p:cNvPr>
          <p:cNvPicPr>
            <a:picLocks noChangeAspect="1"/>
          </p:cNvPicPr>
          <p:nvPr/>
        </p:nvPicPr>
        <p:blipFill>
          <a:blip r:embed="rId1"/>
          <a:stretch>
            <a:fillRect/>
          </a:stretch>
        </p:blipFill>
        <p:spPr>
          <a:xfrm>
            <a:off x="4965192" y="1380744"/>
            <a:ext cx="201168" cy="201168"/>
          </a:xfrm>
          <a:prstGeom prst="rect">
            <a:avLst/>
          </a:prstGeom>
        </p:spPr>
      </p:pic>
      <p:sp>
        <p:nvSpPr>
          <p:cNvPr id="12" name="Text 7"/>
          <p:cNvSpPr txBox="1"/>
          <p:nvPr/>
        </p:nvSpPr>
        <p:spPr>
          <a:xfrm>
            <a:off x="5321808" y="1280160"/>
            <a:ext cx="3337560" cy="40233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What you operate</a:t>
            </a:r>
            <a:endParaRPr lang="en-US" sz="1300" dirty="0"/>
          </a:p>
        </p:txBody>
      </p:sp>
      <p:sp>
        <p:nvSpPr>
          <p:cNvPr id="13" name="Text 8"/>
          <p:cNvSpPr txBox="1"/>
          <p:nvPr/>
        </p:nvSpPr>
        <p:spPr>
          <a:xfrm>
            <a:off x="4892040" y="1737360"/>
            <a:ext cx="3749040" cy="2423160"/>
          </a:xfrm>
          <a:prstGeom prst="rect">
            <a:avLst/>
          </a:prstGeom>
          <a:noFill/>
          <a:ln/>
        </p:spPr>
        <p:txBody>
          <a:bodyPr wrap="square" lIns="0" tIns="0" rIns="0" bIns="0" rtlCol="0" anchor="t"/>
          <a:lstStyle/>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Permissions per tool: read the policy, yes; book leave on the employee's behalf, only with approval</a:t>
            </a:r>
            <a:endParaRPr lang="en-US" sz="1050" dirty="0"/>
          </a:p>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Budgets per run: max steps, max tokens, max euros; a loop that never ends is an outage and a bill</a:t>
            </a:r>
            <a:endParaRPr lang="en-US" sz="1050" dirty="0"/>
          </a:p>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Approval points before irreversible actions: the Session 5 gate, again</a:t>
            </a:r>
            <a:endParaRPr lang="en-US" sz="1050" dirty="0"/>
          </a:p>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Trace retention: the sequence of decisions is the only explanation you will have</a:t>
            </a:r>
            <a:endParaRPr lang="en-US" sz="1050" dirty="0"/>
          </a:p>
          <a:p>
            <a:pPr marL="177800" indent="-177800">
              <a:spcAft>
                <a:spcPts val="300"/>
              </a:spcAft>
              <a:buSzPct val="100000"/>
              <a:buChar char="•"/>
            </a:pPr>
            <a:r>
              <a:rPr lang="en-US" sz="1050" dirty="0">
                <a:solidFill>
                  <a:srgbClr val="222222"/>
                </a:solidFill>
                <a:latin typeface="Calibri" pitchFamily="34" charset="0"/>
                <a:ea typeface="Calibri" pitchFamily="34" charset="-122"/>
                <a:cs typeface="Calibri" pitchFamily="34" charset="-120"/>
              </a:rPr>
              <a:t>Evaluation of outcomes ("was the leave booked correctly?"), not of one answer</a:t>
            </a:r>
            <a:endParaRPr lang="en-US" sz="1050" dirty="0"/>
          </a:p>
        </p:txBody>
      </p:sp>
      <p:sp>
        <p:nvSpPr>
          <p:cNvPr id="14" name="Text 9"/>
          <p:cNvSpPr txBox="1"/>
          <p:nvPr/>
        </p:nvSpPr>
        <p:spPr>
          <a:xfrm>
            <a:off x="365760" y="4389120"/>
            <a:ext cx="8412480" cy="274320"/>
          </a:xfrm>
          <a:prstGeom prst="rect">
            <a:avLst/>
          </a:prstGeom>
          <a:noFill/>
          <a:ln/>
        </p:spPr>
        <p:txBody>
          <a:bodyPr wrap="square" lIns="0" tIns="0" rIns="0" bIns="0" rtlCol="0" anchor="t"/>
          <a:lstStyle/>
          <a:p>
            <a:pPr algn="l" indent="0" marL="0">
              <a:buNone/>
            </a:pPr>
            <a:r>
              <a:rPr lang="en-US" sz="1050" b="1" i="1" dirty="0">
                <a:solidFill>
                  <a:srgbClr val="0E7C86"/>
                </a:solidFill>
                <a:latin typeface="Calibri" pitchFamily="34" charset="0"/>
                <a:ea typeface="Calibri" pitchFamily="34" charset="-122"/>
                <a:cs typeface="Calibri" pitchFamily="34" charset="-120"/>
              </a:rPr>
              <a:t>Every failure pattern from today applies, multiplied by the number of tools.</a:t>
            </a:r>
            <a:endParaRPr lang="en-US" sz="1050" dirty="0"/>
          </a:p>
        </p:txBody>
      </p:sp>
      <p:pic>
        <p:nvPicPr>
          <p:cNvPr id="43" name="IE University logo" descr="IE University, School of Science &amp; Technology"/>
          <p:cNvPicPr>
            <a:picLocks noChangeAspect="1"/>
          </p:cNvPicPr>
          <p:nvPr/>
        </p:nvPicPr>
        <p:blipFill>
          <a:blip r:embed="rId4"/>
          <a:stretch>
            <a:fillRect/>
          </a:stretch>
        </p:blipFill>
        <p:spPr>
          <a:xfrm>
            <a:off x="8013607" y="92634"/>
            <a:ext cx="764633" cy="26278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MLOps Session 10 – LLMOps &amp; Enterprise Scenario Diagnostics</dc:title>
  <dc:subject>PptxGenJS Presentation</dc:subject>
  <dc:creator>Juan Manuel Ramírez García</dc:creator>
  <cp:lastModifiedBy>Juan Manuel Ramírez García</cp:lastModifiedBy>
  <cp:revision>1</cp:revision>
  <dcterms:created xsi:type="dcterms:W3CDTF">2026-09-01T14:37:38Z</dcterms:created>
  <dcterms:modified xsi:type="dcterms:W3CDTF">2026-09-01T14:37:38Z</dcterms:modified>
</cp:coreProperties>
</file>
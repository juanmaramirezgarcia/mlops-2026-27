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880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5 minutes before. As people join, ask in chat: "did you look at the Actions tab? what did you think the green tick was checking?"
Opening line (1 min): "Two weeks ago we built the pipeline. Last week we put gates between environments. Today the pipeline starts running itself, and we decide how a new model reaches customers without anyone noticing."
Same rhythm: concept blocks, a 6-minute demo, one poll, break at 46, one breakout, debrief, the closing trio. Leave this slide by minute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two or three quotes from the Forum 2 synthesis on Friday night. Read one, name the author. The misconception of the week from Forum 2 was "a validation step that prints statistics": say that today they will see a validation step that stops a pipeline, for real.
Then outcomes and agenda. Timing: minute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Harvest the preparation task (90 seconds): "what did you think the tick was checking?". Typical answers: "that the code works", "that the model is good", "that nothing broke". Then reveal the four steps as they appear on GitHub today: tests on code, validate data, train and evaluate, model card present. Say: "That is a pipeline. Nobody ran it; it ran because someone pushed a change. Today is about that sentence."
Timing: minute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differences from ordinary software, from the Google Cloud whitepaper they read. Team: data scientists are not production engineers. Development: experimental by nature; the challenge is tracking what worked. Testing: beyond unit and integration tests, you need data validation, model quality evaluation and model validation. Deployment: not one service but a multi-step pipeline that retrains and redeploys. Production: models decay because data profiles change, so you must monitor and roll back.
Keep it to two minutes; it motivates the next block. Timing: minute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8. The story of the block: software has CI and CD; machine learning adds CT, continuous training, because the thing being delivered is not a program but a pipeline that produces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defined CI and CD for software. For ML each one grows. CI is no longer only testing code: it tests data, data schemas and models. CD is no longer delivering one package: it delivers a pipeline (a training system) that itself deploys another service (the prediction service). CT is new: automatically retraining and serving the model when new data arrives or performance drops.
Callback: the demo repository's pipeline is CI (tests on code and data) plus the beginning of CD (a training dry-run). CT would be a schedule or a trigger that runs it on new data and registers the result.
Timing: minute 8–10.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Google's three levels, simplified. Level 0: everything manual; the data scientist hands a model to engineers; releases are rare; no monitoring. Most companies start here. Level 1: the pipeline is automated, so continuous training is possible: new data triggers validation, training, evaluation and deployment of the model; but the pipeline itself is still deployed by hand. Level 2: the pipeline is under CI/CD too, so data scientists can change features, architecture or settings and have the new pipeline built, tested and deployed automatically.
Ask: "Where was NorthRetail?" (Level 0.) "Where is IberBank after the Friday hotfix?" (Level 0 with a laptop.) Timing: minute 10–13.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stages from last year's slide as a flow: development and experimentation (orchestrated experiment steps); pipeline CI (source code pushed, built, tested); pipeline CD (artefacts deployed to the target environment); continuous training (the pipeline runs automatically in production and produces a trained model into the registry); model CD (the model is served as a prediction service); monitoring (statistics on performance, which can trigger the next run).
Bottom: the four triggers that matter (from last year's five): a git push (someone changed code), a schedule (every night at 2 a.m.), new data (a new extract landed), and a performance signal (accuracy fell below a threshold, Session 7). Skip artefact and API triggers.
Timing: minute 13–16.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16. This block answers Forum 3 question 1 and contains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slide of the session. Three layers, cheapest and most frequent at the bottom. Code tests: unit tests (does this function do what it says?) and integration tests (do the steps fit together?); they run in seconds, on every push. Data tests: schema (columns, types), ranges and allowed values, freshness (is the extract from this week?), volume (roughly the expected number of rows), leakage (no target-derived columns); they run on every new extract. Model tests: a minimum metric on a fixed evaluation set, no worse than the model in production, fairness by segment, latency and memory within budget; they run on every candidate.
For Forum 3 Q1 they draw a CI/CD flow for a fraud model and must place tests in these three layers. Timing: minute 16–19.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demo (6 minutes): GitHub Actions on the demo repository. Two runs are already there: a green one on main (tests on code → validate data → train and evaluate → model card present) and a red one on the branch "extract-2026-10-12", where the new extract has tenure_months empty for 70% of customers and the pipeline stopped at "Validate data". Script in MLOps_S05_Demo_Script.md. Optional: push a one-line change live and watch a run start.
Timing: minute 19–26 including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The pipeline ran without anyone clicking: a push is the trigger. The red run stopped exactly where the slide said it would: at the data test, before training, with a message a human can read. And each run is a record: commit, author, time, logs. Bridge: "The pipeline decided the change was safe. Now: what exactly gets shipped, and how does it reach customers?"
Timing: minute 26–27.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last year's slide. The artefact that goes to production bundles: the code for the model and its pre-processing; the hyperparameters and configuration; a reference to the training and validation data (version, hash); the trained model in runnable form; the environment: libraries with exact versions, system dependencies, environment variables; the documentation (model card); and the code and data for testing scenarios. Some of it goes to long-term storage, some to the test pipeline, some to the fairness check.
Say: "Shipping only the .pkl file is how the laptop-to-production failures from Session 3 happen." Timing: minute 27–29.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last year's two slides. Real-time: one or a few records scored on request through an endpoint; the fraud model. Batch: whole datasets scored on a schedule; the churn list every Monday. Stream: an application continuously scoring events from a data stream and returning them to another stream; the velocity features. Edge: the model embedded on the user's device or a local server, for the smallest latency or disconnected use; a camera in a factory. Each has its own scaling and rollout questions; the activity is about real-time.
Timing: minute 29–31.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containers: the version of a model is more than its code; it is an exact description of its environment (libraries and versions, system dependencies), and deploying should rebuild that environment automatically and reliably on the target machine. The target machine runs several models that may need incompatible versions and compete for resources. A container bundles the application with everything it needs and runs the same anywhere; unlike a virtual machine it does not carry a whole operating system, so it is light. Docker builds them; Kubernetes runs many of them (next block).
Then the chat poll (2 min): "A model that passed all automated tests can be released to 100% of customers at once." AGREE/DISAGREE plus one line. Read two answers; do not resolve; it is Theme A of Forum 3 (the rollback drill). Timing: minute 31–35.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35. Five strategies in eleven minutes, each with the same three-part picture: before, during, after; then the scorecard. This block answers Forum 3 questions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zero downtime: at no moment is the service unavailable or answering wrongly because of the release; customers never notice. For a card-payment model this is not optional. Then the basic strategy: all instances are replaced by the new version at once; if something goes wrong, roll back to the previous version. Simple, fast, cheap, risky: there is a moment with no service or with the new, untested behaviour for everyone. Acceptable for non-critical services, lower environments, off-hours.
Rollback defined here once: returning to the previous artefact (model + code + configuration), which must still exist and be deployable in minutes. Timing: minute 35–37.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identical environments: "green" is live with v1, "blue" is a full copy where v2 is installed and tested (QA and user acceptance) with no customers. When accepted, traffic is switched from green to blue in one move; green stays as the rollback. Pros: simple, well understood, rollback is flipping the switch back. Cons: two full production environments cost money; generating realistic test traffic for blue is not always easy; keeping both infrastructures truly identical is a challenge. Meets zero downtime: yes, if the switch is instant and blue was tested under load.
Timing: minute 37–39.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version is deployed alongside the old one in production. Every live request is answered by v1, then scored again by v2 and the result logged, never returned to the customer. After enough requests the two are compared statistically. Pros: v2 sees real production data with no customer risk; rollback is trivial (switch off the shadow). Cons: two production environments working at once; all traffic goes to both, so twice the compute; you learn what v2 would have said, not what would have happened (no customer reaction). Meets zero downtime: yes, by construction. IberBank's regulator would like this one: proof of equivalence on real traffic before any customer is affected.
Timing: minute 39–41.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after the canary in the coal mine. The stable version stays in production; a small percentage of traffic (1%, 5%, 10%) goes to the new version and its results are monitored; if healthy, the share grows in phases until the old version is retired. Pros: cheaper than blue-green (no second full environment); the risk is bounded by the slice; the lowest-risk strategy overall. Cons: for a while two versions answer customers, so behaviour differs by customer; the slice must be big enough to see problems but small enough to limit damage; you need monitoring good enough to decide (Session 7). Meets zero downtime: yes.
Timing: minute 41–43.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confuse the two because the picture is the same (traffic split). The difference is the purpose. A canary asks "is v2 safe?": it watches for errors and latency and grows the slice. An A/B test asks "is v2 better?": it splits traffic randomly into two comparable groups, defines one decision metric in advance, and decides after enough traffic whether the difference is real. Three ingredients: a metric (fraud recall at a fixed false-positive rate; conversion; revenue per user), a threshold (v2 wins if recall is at least 2 points higher with the same false positives), and enough traffic that the difference is not luck (in plain words: more transactions than a busy afternoon; the statisticians decide the number). Forum 3 Q3 asks for exactly these three.
Timing: minute 43–45.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row by row and let them fill the gaps: zero downtime (basic no; the others yes), cost (blue-green and shadow need a second environment; canary and A/B do not), customer risk during rollout (basic all; blue-green all after the switch; shadow none; canary a slice; A/B half), what you learn (basic nothing until it breaks; blue-green what QA found; shadow what v2 would have said; canary whether v2 is safe; A/B whether v2 is better), rollback (basic redeploy; blue-green flip back; shadow switch off; canary shrink to 0%; A/B stop the test). Strategies combine: shadow first for the regulator, then canary, with an A/B decision inside the canary. That combination is the activity.
Timing: minute 45–46. Then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Five-minute break at minute 46. The question primes the scaling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51. Seven minutes: scaling, Kubernetes in one slide, serverless. Then the activity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deployment story from last year. First decision: own servers or a cloud provider; the cloud gives ready-to-use scaling. Vertical scaling: add CPU, memory, GPU to the existing machine; the first reflex; it hits a ceiling. Horizontal scaling: add machines and share the load through a load balancer; no ceiling, more complexity. Autoscaling: the number of machines changes with the load; scheduled (we know the Black Friday peak is coming) or dynamic (a metric such as CPU, request count or response time crosses a limit, machines are added; when it falls, removed).
Timing: minute 51–53.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many containers on many machines, with different loads by day and night. Doing it by hand (start the right containers at the right time, connect them, handle storage, replace failed ones) is a full-time job. Kubernetes automates deployment, scaling and management of containerised applications: load balancing, self-monitoring and restart, storage orchestration. Docker makes the box; Kubernetes runs thousands of boxes in harmony. OpenShift is Red Hat's enterprise packaging of it; managed versions exist in every cloud. Scalable vs elastic: scalable means you can add machines; elastic means the system adds and removes them by itself.
Timing: minute 53–55.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host a prediction endpoint, from last year: a web server framework you run yourself (Flask, application servers); a cloud ML platform (SageMaker, Vertex, Azure ML, watsonx.ai) that hosts the model for you; serverless compute (AWS Lambda, Cloud Functions, Azure Functions), where you upload a function and the provider runs it on demand. How serverless works: the model is saved to cloud storage; a function is built that loads it and scores a request; the function is exposed as an endpoint; it is triggered by an event (an HTTP request), the platform allocates resources, runs it, releases them. You pay per invocation and second. Fits: irregular or low traffic, simple models, no infrastructure team. Does not fit: strict latency (cold starts), heavy models, constant high traffic (cost).
Timing: minute 55–58. Then the activity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before the rooms. Every room gets the same case: IberBank has a validated v2 of the card-fraud model and must decide how it reaches customers. Constraints: strict zero downtime; the regulator wants proof of equivalence on real traffic before any customer is affected; the infrastructure budget allows a second production copy for at most four weeks; three channels. They deliver: the rollout plan (which strategies, in which order, with what slices), the A/B decision rule (metric, threshold, how much traffic), the rollback trigger (what number, watched by whom, makes them stop), and who signs each step. Bonus: which of the four CI steps from the demo they would add for this model.
Timing: brief 58–60; case 60–61; rooms 61–76; debrief 76–86.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facts once, aloud. The constraints are designed to force a combination: the regulator's demand points to shadow; the four-week budget limits how long; zero downtime rules out basic; the "is it better" question needs an A/B rule; the three channels invite a channel-by-channel canary. Full text on campus. Send them to rooms at minute 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rooms present (76–82), then synthesis (82–86).
Expected plan: shadow for two to three weeks (the regulator's proof on real traffic, within the four-week budget), comparing v2's would-be decisions with v1's and with the confirmed fraud that arrives; then a canary by channel, e-commerce first (most fraud, least in-person friction), 5% → 25% → 100%, with an A/B decision rule inside the canary. A/B rule: metric = confirmed fraud caught per 1,000 flagged, at a false-positive rate no higher than v1's; threshold = at least 5% better with the false-positive rate not worse; traffic = enough transactions that the difference is not luck (the statisticians decide; in practice at least a full week including a weekend). Rollback trigger: false-positive rate above v1's by more than 10% for an hour, or flagged volume above 300 a day, or latency above 150 ms at the 95th percentile; watched by an automated monitor with the on-call ML engineer paged; action = shrink the canary to 0%. Signatures: the product owner signs the go from shadow to canary and the full rollout; Risk &amp; Compliance signs the regulator's evidence; the ML engineer is responsible for each step.
Bonus CI step: a latency test (score 1,000 transactions, 95th percentile under 150 ms) or a fairness-by-region test.
Correct: rooms that chose blue-green alone (no proof on real traffic, everyone switched at once), and rooms that gave a metric without a threshold. Close: "Every strategy you named is a way to make a mistake small. The pipeline decided the change was safe; the rollout decides how many customers find out if it wasn't."
Timing: minute 76–86.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Cheat-sheet material. Timing: minute 86–87.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Verbatim from the syllabus. Q1 = the test pyramid, the pipeline stages, the demo; Q2 = the strategy slides and the scorecard; Q3 = the A/B slide. The poll is Theme A. Timing: minute 87–89.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Treveil chapter 7 (Monitoring and feedback loop) and, for those who want more, Huyen chapter 8 (Data distribution shifts and monitoring). Look at one thing: the model card in the demo repository has a line "Retrain trigger: accuracy below 0.85 on the monthly labelled sample"; write down what you would need to measure every month to know whether that line has been crossed. Session 7 starts there. Also remind them that Video 1 (monitoring metrics) is released the same day as Session 7 and carries a quiz.
Preview: drift, decay, retraining loops, explainability, bias. Thank them; stop on time. Minute 89–90.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Not covered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A Dockerfile lists the instructions to build a container image: start from a base image (a slim Python), copy the requirements file and install the exact library versions, copy the model and the code, declare the port, and say which command starts the service. "docker build" turns the recipe into an image; "docker run" starts a container from it; a registry (Docker Hub, a cloud container registry) stores images with versions. The image is the ML artefact in shippable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the hands-on lab in S05/deploy_lab does this end to end. To ship a model you turn it into a service that answers HTTP requests. Four files, and nothing more. The model itself, churn_model.pkl, saved by the training script. A small web app, app.py, that loads the model and exposes a /predict endpoint; this year it uses FastAPI, which gives automatic input validation and an interactive docs page at /docs for free (last year we used bare Flask; the idea is identical). The exact library versions, requirements.txt, so the container is reproducible. And the Dockerfile from the previous slide, which packages the four together. The right-hand code is the whole of app.py that matters: define what one request looks like (six features), load the model once, and return a probability. A request with a missing or wrong-typed field is rejected automatically with a clear error, which is the Session 3 "check what comes in" idea,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the lab (S05/deploy_lab, and deploy_to_cloud_run.md) walks it. Two moves. First, on your laptop: docker build turns the four files into an image; docker run starts it and maps port 8080; curl (or the browser at /docs) tests it. If it answers on your machine, it will answer anywhere, because the container carries its whole environment. Second, to the cloud: Google Cloud Run takes the same image and gives back an HTTPS URL, scaling to zero when idle so you pay only for the seconds it runs. One command, gcloud run deploy --source ., reads the Dockerfile, builds the image and deploys it. This is the modern, simplest path; last year we used a full Kubernetes cluster (GKE), which is the right tool when one service becomes many, needs GPUs, or must be managed with dozens of others. The lesson is the Session 5 trade-off itself: Cloud Run gives you less to operate, GKE gives you more control; start on Cloud Run and move to GKE when you have outgrown it. The public URL is where Session 3's endpoint protections belong: who may call it, how often, what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The demo repository's .github/workflows/ci.yml: it says when to run (on every push and pull request), on what (a fresh Linux machine), and the steps in order. Each step is a named command; if one fails, the run stops and turns red. The same idea exists in GitLab CI, Jenkins, Azure Pipelines and the cloud vendors' tools; the file format differs, the concept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the runnable file is S05/deploy_lab/pipeline.yml, and the lab guide walks it. The CI file on the previous slide stopped after "test and train". This is the whole pipeline: the same file, extended so that after the tests pass and the model is trained, it builds the container and deploys it to Cloud Run automatically. This is the modern equivalent of last year's Jenkins trigger demo, and it maps exactly onto the "stage by stage" slide from the live session: a trigger starts Pipeline CI (test and validate), continuous training (train the model on the latest data), then Model CD (build the image and deploy it). No one clicks run.
Two things make it "complete" rather than just CI. First, three triggers, on the left: a push (code or data changed), a weekly schedule (continuous training on fresh data), and a manual button. Second, a deploy job, on the right, that runs only from main and only when the cloud credentials are configured, so the file is safe to commit and the CI half runs for everyone. The pipeline ends in a live, updated prediction service; monitoring (Session 7, Video 1) watches it and can raise the next trigger, closing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A CI tool (GitHub Actions, GitLab CI, Jenkins) is enough to automate a single, linear pipeline like ours: a handful of steps in order on one machine. When the pipeline becomes a graph of many steps with dependencies — fan out over data, run steps on different machines or GPUs, retry a failed branch, backfill last month, pass large datasets between steps — teams reach for an orchestrator. The idea is the same as a CI file, one level up: you write the pipeline as a DAG, a directed graph of tasks, and a scheduler runs it, on a schedule or an event, and shows you which tasks ran, which failed, and how long each took.
Three names to recognise. Apache Airflow: the general-purpose workhorse; you write the DAG in Python; used for data and ML pipelines everywhere. Kubeflow Pipelines: ML-specific, runs each step as a container on Kubernetes; strong when you already run Kubernetes. The cloud vendors' managed pipelines (Vertex AI Pipelines, SageMaker Pipelines, Azure ML Pipelines): the same idea without running the orchestrator yourself. You do not need to use one for this course; you need to know the category exists and when a CI file is no longer enough. The rule: a CI tool automates the pipeline; an orchestrator manages a pipeline that has become a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The AWS Lambda walkthrough from last year, reduced to its shape; the same shape applies to Google Cloud Functions and Azure Functions. Build a container image that loads the model and answers a request; push it to the cloud's container registry; create the function from the image; test it with a sample request; put an API gateway in front so the function has a public URL with authentication and rate limits. The last step is where the endpoint protections from Session 3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 Id="rId7"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 Id="rId8"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 Id="rId7"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 Id="rId7"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 Id="rId10"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 Id="rId7"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 Id="rId5"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 Id="rId5"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 Id="rId8"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 Id="rId6"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 Id="rId6"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 Id="rId6"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 Id="rId6"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 Id="rId5"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 Id="rId6"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 Id="rId7"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1</a:t>
            </a:r>
            <a:endParaRPr lang="en-US" sz="800" dirty="0"/>
          </a:p>
        </p:txBody>
      </p:sp>
      <p:sp>
        <p:nvSpPr>
          <p:cNvPr id="5" name="Text 3"/>
          <p:cNvSpPr txBox="1"/>
          <p:nvPr/>
        </p:nvSpPr>
        <p:spPr>
          <a:xfrm>
            <a:off x="548640" y="822960"/>
            <a:ext cx="804672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MLOps: Machine Learning Operations</a:t>
            </a:r>
            <a:endParaRPr lang="en-US" sz="1600" dirty="0"/>
          </a:p>
        </p:txBody>
      </p:sp>
      <p:sp>
        <p:nvSpPr>
          <p:cNvPr id="6" name="Text 4"/>
          <p:cNvSpPr txBox="1"/>
          <p:nvPr/>
        </p:nvSpPr>
        <p:spPr>
          <a:xfrm>
            <a:off x="548640" y="1280160"/>
            <a:ext cx="8046720" cy="457200"/>
          </a:xfrm>
          <a:prstGeom prst="rect">
            <a:avLst/>
          </a:prstGeom>
          <a:noFill/>
          <a:ln/>
        </p:spPr>
        <p:txBody>
          <a:bodyPr wrap="square" lIns="0" tIns="0" rIns="0" bIns="0" rtlCol="0" anchor="ctr"/>
          <a:lstStyle/>
          <a:p>
            <a:pPr indent="0" marL="0">
              <a:buNone/>
            </a:pPr>
            <a:r>
              <a:rPr lang="en-US" sz="2000" b="1" dirty="0">
                <a:solidFill>
                  <a:srgbClr val="CADCFC"/>
                </a:solidFill>
                <a:latin typeface="Calibri" pitchFamily="34" charset="0"/>
                <a:ea typeface="Calibri" pitchFamily="34" charset="-122"/>
                <a:cs typeface="Calibri" pitchFamily="34" charset="-120"/>
              </a:rPr>
              <a:t>Session 5</a:t>
            </a:r>
            <a:endParaRPr lang="en-US" sz="2000" dirty="0"/>
          </a:p>
        </p:txBody>
      </p:sp>
      <p:sp>
        <p:nvSpPr>
          <p:cNvPr id="7" name="Text 5"/>
          <p:cNvSpPr txBox="1"/>
          <p:nvPr/>
        </p:nvSpPr>
        <p:spPr>
          <a:xfrm>
            <a:off x="548640" y="1737360"/>
            <a:ext cx="804672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CI/CD &amp; Deployment Strategies</a:t>
            </a:r>
            <a:endParaRPr lang="en-US" sz="3600" dirty="0"/>
          </a:p>
        </p:txBody>
      </p:sp>
      <p:sp>
        <p:nvSpPr>
          <p:cNvPr id="8" name="Text 6"/>
          <p:cNvSpPr txBox="1"/>
          <p:nvPr/>
        </p:nvSpPr>
        <p:spPr>
          <a:xfrm>
            <a:off x="548640" y="3017520"/>
            <a:ext cx="80467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Juan Manuel Ramírez García · jramirezg@faculty.ie.edu</a:t>
            </a:r>
            <a:endParaRPr lang="en-US" sz="1400" dirty="0"/>
          </a:p>
        </p:txBody>
      </p:sp>
      <p:sp>
        <p:nvSpPr>
          <p:cNvPr id="9" name="Text 7"/>
          <p:cNvSpPr txBox="1"/>
          <p:nvPr/>
        </p:nvSpPr>
        <p:spPr>
          <a:xfrm>
            <a:off x="548640" y="3383280"/>
            <a:ext cx="8046720" cy="365760"/>
          </a:xfrm>
          <a:prstGeom prst="rect">
            <a:avLst/>
          </a:prstGeom>
          <a:noFill/>
          <a:ln/>
        </p:spPr>
        <p:txBody>
          <a:bodyPr wrap="square" lIns="0" tIns="0" rIns="0" bIns="0" rtlCol="0" anchor="ctr"/>
          <a:lstStyle/>
          <a:p>
            <a:pPr indent="0" marL="0">
              <a:buNone/>
            </a:pPr>
            <a:r>
              <a:rPr lang="en-US" sz="1200" dirty="0">
                <a:solidFill>
                  <a:srgbClr val="B8C4D6"/>
                </a:solidFill>
                <a:latin typeface="Calibri" pitchFamily="34" charset="0"/>
                <a:ea typeface="Calibri" pitchFamily="34" charset="-122"/>
                <a:cs typeface="Calibri" pitchFamily="34" charset="-120"/>
              </a:rPr>
              <a:t>Live online session · Saturday 17 October 2026 · 90 minutes</a:t>
            </a:r>
            <a:endParaRPr lang="en-US" sz="1200" dirty="0"/>
          </a:p>
        </p:txBody>
      </p:sp>
      <p:sp>
        <p:nvSpPr>
          <p:cNvPr id="10" name="Shape 8"/>
          <p:cNvSpPr/>
          <p:nvPr/>
        </p:nvSpPr>
        <p:spPr>
          <a:xfrm>
            <a:off x="548640"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1" name="Text 9"/>
          <p:cNvSpPr txBox="1"/>
          <p:nvPr/>
        </p:nvSpPr>
        <p:spPr>
          <a:xfrm>
            <a:off x="548640"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12" name="Shape 10"/>
          <p:cNvSpPr/>
          <p:nvPr/>
        </p:nvSpPr>
        <p:spPr>
          <a:xfrm>
            <a:off x="1448816"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3" name="Text 11"/>
          <p:cNvSpPr txBox="1"/>
          <p:nvPr/>
        </p:nvSpPr>
        <p:spPr>
          <a:xfrm>
            <a:off x="1448816"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4" name="Shape 12"/>
          <p:cNvSpPr/>
          <p:nvPr/>
        </p:nvSpPr>
        <p:spPr>
          <a:xfrm>
            <a:off x="2348992"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5" name="Text 13"/>
          <p:cNvSpPr txBox="1"/>
          <p:nvPr/>
        </p:nvSpPr>
        <p:spPr>
          <a:xfrm>
            <a:off x="2348992"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6" name="Shape 14"/>
          <p:cNvSpPr/>
          <p:nvPr/>
        </p:nvSpPr>
        <p:spPr>
          <a:xfrm>
            <a:off x="3249168"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7" name="Text 15"/>
          <p:cNvSpPr txBox="1"/>
          <p:nvPr/>
        </p:nvSpPr>
        <p:spPr>
          <a:xfrm>
            <a:off x="3249168"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8" name="Shape 16"/>
          <p:cNvSpPr/>
          <p:nvPr/>
        </p:nvSpPr>
        <p:spPr>
          <a:xfrm>
            <a:off x="4149344"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9" name="Text 17"/>
          <p:cNvSpPr txBox="1"/>
          <p:nvPr/>
        </p:nvSpPr>
        <p:spPr>
          <a:xfrm>
            <a:off x="4149344"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20" name="Shape 18"/>
          <p:cNvSpPr/>
          <p:nvPr/>
        </p:nvSpPr>
        <p:spPr>
          <a:xfrm>
            <a:off x="5049520"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1" name="Text 19"/>
          <p:cNvSpPr txBox="1"/>
          <p:nvPr/>
        </p:nvSpPr>
        <p:spPr>
          <a:xfrm>
            <a:off x="5049520"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22" name="Shape 20"/>
          <p:cNvSpPr/>
          <p:nvPr/>
        </p:nvSpPr>
        <p:spPr>
          <a:xfrm>
            <a:off x="5949696"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3" name="Text 21"/>
          <p:cNvSpPr txBox="1"/>
          <p:nvPr/>
        </p:nvSpPr>
        <p:spPr>
          <a:xfrm>
            <a:off x="5949696"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4" name="Shape 22"/>
          <p:cNvSpPr/>
          <p:nvPr/>
        </p:nvSpPr>
        <p:spPr>
          <a:xfrm>
            <a:off x="6849872"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5" name="Text 23"/>
          <p:cNvSpPr txBox="1"/>
          <p:nvPr/>
        </p:nvSpPr>
        <p:spPr>
          <a:xfrm>
            <a:off x="6849872"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6" name="Shape 24"/>
          <p:cNvSpPr/>
          <p:nvPr/>
        </p:nvSpPr>
        <p:spPr>
          <a:xfrm>
            <a:off x="7750048"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7" name="Text 25"/>
          <p:cNvSpPr txBox="1"/>
          <p:nvPr/>
        </p:nvSpPr>
        <p:spPr>
          <a:xfrm>
            <a:off x="7750048"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pic>
        <p:nvPicPr>
          <p:cNvPr id="28"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Where we are: what Forum 2 said, and what today adds</a:t>
            </a:r>
            <a:endParaRPr lang="en-US" sz="2400" dirty="0"/>
          </a:p>
        </p:txBody>
      </p:sp>
      <p:sp>
        <p:nvSpPr>
          <p:cNvPr id="7" name="Text 4"/>
          <p:cNvSpPr txBox="1"/>
          <p:nvPr/>
        </p:nvSpPr>
        <p:spPr>
          <a:xfrm>
            <a:off x="365760" y="1143000"/>
            <a:ext cx="4023360" cy="274320"/>
          </a:xfrm>
          <a:prstGeom prst="rect">
            <a:avLst/>
          </a:prstGeom>
          <a:noFill/>
          <a:ln/>
        </p:spPr>
        <p:txBody>
          <a:bodyPr wrap="square" lIns="0" tIns="0" rIns="0" bIns="0" rtlCol="0" anchor="t"/>
          <a:lstStyle/>
          <a:p>
            <a:pPr algn="l" indent="0" marL="0">
              <a:buNone/>
            </a:pPr>
            <a:r>
              <a:rPr lang="en-US" sz="1300" b="1" dirty="0">
                <a:solidFill>
                  <a:srgbClr val="0E7C86"/>
                </a:solidFill>
                <a:latin typeface="Calibri" pitchFamily="34" charset="0"/>
                <a:ea typeface="Calibri" pitchFamily="34" charset="-122"/>
                <a:cs typeface="Calibri" pitchFamily="34" charset="-120"/>
              </a:rPr>
              <a:t>From Forum 2 (paste 2–3 quotes on Friday)</a:t>
            </a:r>
            <a:endParaRPr lang="en-US" sz="1300" dirty="0"/>
          </a:p>
        </p:txBody>
      </p:sp>
      <p:sp>
        <p:nvSpPr>
          <p:cNvPr id="8" name="Shape 5"/>
          <p:cNvSpPr/>
          <p:nvPr/>
        </p:nvSpPr>
        <p:spPr>
          <a:xfrm>
            <a:off x="365760" y="1463040"/>
            <a:ext cx="4023360" cy="1417320"/>
          </a:xfrm>
          <a:prstGeom prst="roundRect">
            <a:avLst>
              <a:gd name="adj" fmla="val 5161"/>
            </a:avLst>
          </a:prstGeom>
          <a:solidFill>
            <a:srgbClr val="F3F5F8"/>
          </a:solidFill>
          <a:ln w="12700">
            <a:solidFill>
              <a:srgbClr val="F3F5F8"/>
            </a:solidFill>
            <a:prstDash val="solid"/>
          </a:ln>
        </p:spPr>
        <p:txBody>
          <a:bodyPr/>
          <a:p/>
        </p:txBody>
      </p:sp>
      <p:sp>
        <p:nvSpPr>
          <p:cNvPr id="9" name="Text 6"/>
          <p:cNvSpPr txBox="1"/>
          <p:nvPr/>
        </p:nvSpPr>
        <p:spPr>
          <a:xfrm>
            <a:off x="502920" y="1554480"/>
            <a:ext cx="374904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What you said</a:t>
            </a:r>
            <a:endParaRPr lang="en-US" sz="1300" dirty="0"/>
          </a:p>
        </p:txBody>
      </p:sp>
      <p:sp>
        <p:nvSpPr>
          <p:cNvPr id="10" name="Text 7"/>
          <p:cNvSpPr txBox="1"/>
          <p:nvPr/>
        </p:nvSpPr>
        <p:spPr>
          <a:xfrm>
            <a:off x="502920" y="1920240"/>
            <a:ext cx="3749040" cy="8686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 — [student]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 — [student]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Misconception of the week: validation that only prints is a comment, not a control</a:t>
            </a:r>
            <a:endParaRPr lang="en-US" sz="1100" dirty="0"/>
          </a:p>
        </p:txBody>
      </p:sp>
      <p:sp>
        <p:nvSpPr>
          <p:cNvPr id="11" name="Text 8"/>
          <p:cNvSpPr txBox="1"/>
          <p:nvPr/>
        </p:nvSpPr>
        <p:spPr>
          <a:xfrm>
            <a:off x="365760" y="3017520"/>
            <a:ext cx="4023360" cy="274320"/>
          </a:xfrm>
          <a:prstGeom prst="rect">
            <a:avLst/>
          </a:prstGeom>
          <a:noFill/>
          <a:ln/>
        </p:spPr>
        <p:txBody>
          <a:bodyPr wrap="square" lIns="0" tIns="0" rIns="0" bIns="0" rtlCol="0" anchor="t"/>
          <a:lstStyle/>
          <a:p>
            <a:pPr algn="l" indent="0" marL="0">
              <a:buNone/>
            </a:pPr>
            <a:r>
              <a:rPr lang="en-US" sz="1300" b="1" dirty="0">
                <a:solidFill>
                  <a:srgbClr val="0E7C86"/>
                </a:solidFill>
                <a:latin typeface="Calibri" pitchFamily="34" charset="0"/>
                <a:ea typeface="Calibri" pitchFamily="34" charset="-122"/>
                <a:cs typeface="Calibri" pitchFamily="34" charset="-120"/>
              </a:rPr>
              <a:t>By the end of this session you can…</a:t>
            </a:r>
            <a:endParaRPr lang="en-US" sz="1300" dirty="0"/>
          </a:p>
        </p:txBody>
      </p:sp>
      <p:sp>
        <p:nvSpPr>
          <p:cNvPr id="12" name="Shape 9"/>
          <p:cNvSpPr/>
          <p:nvPr/>
        </p:nvSpPr>
        <p:spPr>
          <a:xfrm>
            <a:off x="365760" y="3337560"/>
            <a:ext cx="420624" cy="420624"/>
          </a:xfrm>
          <a:prstGeom prst="ellipse">
            <a:avLst/>
          </a:prstGeom>
          <a:solidFill>
            <a:srgbClr val="0E7C86"/>
          </a:solidFill>
          <a:ln w="12700">
            <a:solidFill>
              <a:srgbClr val="0E7C86"/>
            </a:solidFill>
            <a:prstDash val="solid"/>
          </a:ln>
        </p:spPr>
        <p:txBody>
          <a:bodyPr/>
          <a:p/>
        </p:txBody>
      </p:sp>
      <p:pic>
        <p:nvPicPr>
          <p:cNvPr id="13" name="Image 0" descr="preencoded.png">    </p:cNvPr>
          <p:cNvPicPr>
            <a:picLocks noChangeAspect="1"/>
          </p:cNvPicPr>
          <p:nvPr/>
        </p:nvPicPr>
        <p:blipFill>
          <a:blip r:embed="rId1"/>
          <a:stretch>
            <a:fillRect/>
          </a:stretch>
        </p:blipFill>
        <p:spPr>
          <a:xfrm>
            <a:off x="457200" y="3429000"/>
            <a:ext cx="237744" cy="237744"/>
          </a:xfrm>
          <a:prstGeom prst="rect">
            <a:avLst/>
          </a:prstGeom>
        </p:spPr>
      </p:pic>
      <p:sp>
        <p:nvSpPr>
          <p:cNvPr id="14" name="Text 10"/>
          <p:cNvSpPr txBox="1"/>
          <p:nvPr/>
        </p:nvSpPr>
        <p:spPr>
          <a:xfrm>
            <a:off x="914400" y="33192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Draw a CI/CD flow for a model</a:t>
            </a:r>
            <a:endParaRPr lang="en-US" sz="1300" dirty="0"/>
          </a:p>
        </p:txBody>
      </p:sp>
      <p:sp>
        <p:nvSpPr>
          <p:cNvPr id="15" name="Text 11"/>
          <p:cNvSpPr txBox="1"/>
          <p:nvPr/>
        </p:nvSpPr>
        <p:spPr>
          <a:xfrm>
            <a:off x="914400" y="3575304"/>
            <a:ext cx="347472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And say which tests run on code and which on data.</a:t>
            </a:r>
            <a:endParaRPr lang="en-US" sz="1100" dirty="0"/>
          </a:p>
        </p:txBody>
      </p:sp>
      <p:sp>
        <p:nvSpPr>
          <p:cNvPr id="16" name="Shape 12"/>
          <p:cNvSpPr/>
          <p:nvPr/>
        </p:nvSpPr>
        <p:spPr>
          <a:xfrm>
            <a:off x="365760" y="3977640"/>
            <a:ext cx="420624" cy="420624"/>
          </a:xfrm>
          <a:prstGeom prst="ellipse">
            <a:avLst/>
          </a:prstGeom>
          <a:solidFill>
            <a:srgbClr val="0E7C86"/>
          </a:solidFill>
          <a:ln w="12700">
            <a:solidFill>
              <a:srgbClr val="0E7C86"/>
            </a:solidFill>
            <a:prstDash val="solid"/>
          </a:ln>
        </p:spPr>
        <p:txBody>
          <a:bodyPr/>
          <a:p/>
        </p:txBody>
      </p:sp>
      <p:pic>
        <p:nvPicPr>
          <p:cNvPr id="17" name="Image 1" descr="preencoded.png">    </p:cNvPr>
          <p:cNvPicPr>
            <a:picLocks noChangeAspect="1"/>
          </p:cNvPicPr>
          <p:nvPr/>
        </p:nvPicPr>
        <p:blipFill>
          <a:blip r:embed="rId2"/>
          <a:stretch>
            <a:fillRect/>
          </a:stretch>
        </p:blipFill>
        <p:spPr>
          <a:xfrm>
            <a:off x="457200" y="4069080"/>
            <a:ext cx="237744" cy="237744"/>
          </a:xfrm>
          <a:prstGeom prst="rect">
            <a:avLst/>
          </a:prstGeom>
        </p:spPr>
      </p:pic>
      <p:sp>
        <p:nvSpPr>
          <p:cNvPr id="18" name="Text 13"/>
          <p:cNvSpPr txBox="1"/>
          <p:nvPr/>
        </p:nvSpPr>
        <p:spPr>
          <a:xfrm>
            <a:off x="914400" y="395935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Choose a rollout strategy</a:t>
            </a:r>
            <a:endParaRPr lang="en-US" sz="1300" dirty="0"/>
          </a:p>
        </p:txBody>
      </p:sp>
      <p:sp>
        <p:nvSpPr>
          <p:cNvPr id="19" name="Text 14"/>
          <p:cNvSpPr txBox="1"/>
          <p:nvPr/>
        </p:nvSpPr>
        <p:spPr>
          <a:xfrm>
            <a:off x="914400" y="4215384"/>
            <a:ext cx="347472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Canary, blue-green, shadow or A/B, for a given business constraint.</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754880" y="1143000"/>
          <a:ext cx="4023360" cy="914400"/>
        </p:xfrm>
        <a:graphic>
          <a:graphicData uri="http://schemas.openxmlformats.org/drawingml/2006/table">
            <a:tbl>
              <a:tblPr/>
              <a:tblGrid>
                <a:gridCol w="822960"/>
                <a:gridCol w="3200400"/>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Minute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Block</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Recap, outcomes, "what did the tick check?", ML vs software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8–16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CI, CD and the third letter: CT; the three levels</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16–35</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Tests for code and data (+ 6-min demo) · the artefact · serving modes · containers (+ poll)</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35–46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Rollout strategies: basic, blue-green, shadow, canary, A/B</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46–51</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Break</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51–58</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Serving at scale: scaling, Kubernetes, serverless</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58–76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Activity: choose a rollout for a bank</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76–86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Debrief</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86–90</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Three things, your forum, your reading</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pic>
        <p:nvPicPr>
          <p:cNvPr id="20"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What did the green tick check?</a:t>
            </a:r>
            <a:endParaRPr lang="en-US" sz="2400" dirty="0"/>
          </a:p>
        </p:txBody>
      </p:sp>
      <p:sp>
        <p:nvSpPr>
          <p:cNvPr id="7" name="Text 4"/>
          <p:cNvSpPr txBox="1"/>
          <p:nvPr/>
        </p:nvSpPr>
        <p:spPr>
          <a:xfrm>
            <a:off x="365760" y="1188720"/>
            <a:ext cx="4023360" cy="274320"/>
          </a:xfrm>
          <a:prstGeom prst="rect">
            <a:avLst/>
          </a:prstGeom>
          <a:noFill/>
          <a:ln/>
        </p:spPr>
        <p:txBody>
          <a:bodyPr wrap="square" lIns="0" tIns="0" rIns="0" bIns="0" rtlCol="0" anchor="t"/>
          <a:lstStyle/>
          <a:p>
            <a:pPr algn="l" indent="0" marL="0">
              <a:buNone/>
            </a:pPr>
            <a:r>
              <a:rPr lang="en-US" sz="1300" b="1" dirty="0">
                <a:solidFill>
                  <a:srgbClr val="E07A2F"/>
                </a:solidFill>
                <a:latin typeface="Calibri" pitchFamily="34" charset="0"/>
                <a:ea typeface="Calibri" pitchFamily="34" charset="-122"/>
                <a:cs typeface="Calibri" pitchFamily="34" charset="-120"/>
              </a:rPr>
              <a:t>What students usually guess</a:t>
            </a:r>
            <a:endParaRPr lang="en-US" sz="1300" dirty="0"/>
          </a:p>
        </p:txBody>
      </p:sp>
      <p:sp>
        <p:nvSpPr>
          <p:cNvPr id="8" name="Text 5"/>
          <p:cNvSpPr txBox="1"/>
          <p:nvPr/>
        </p:nvSpPr>
        <p:spPr>
          <a:xfrm>
            <a:off x="365760" y="1554480"/>
            <a:ext cx="4023360" cy="16459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"That the code works"</a:t>
            </a:r>
            <a:endParaRPr lang="en-US" sz="1300" dirty="0"/>
          </a:p>
          <a:p>
            <a:pPr marL="177800" indent="-1778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"That the model is accurate"</a:t>
            </a:r>
            <a:endParaRPr lang="en-US" sz="1300" dirty="0"/>
          </a:p>
          <a:p>
            <a:pPr marL="177800" indent="-1778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"That nothing broke"</a:t>
            </a:r>
            <a:endParaRPr lang="en-US" sz="1300" dirty="0"/>
          </a:p>
          <a:p>
            <a:pPr marL="177800" indent="-1778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"That someone reviewed it"</a:t>
            </a:r>
            <a:endParaRPr lang="en-US" sz="1300" dirty="0"/>
          </a:p>
        </p:txBody>
      </p:sp>
      <p:sp>
        <p:nvSpPr>
          <p:cNvPr id="9" name="Text 6"/>
          <p:cNvSpPr txBox="1"/>
          <p:nvPr/>
        </p:nvSpPr>
        <p:spPr>
          <a:xfrm>
            <a:off x="4754880" y="1188720"/>
            <a:ext cx="4023360" cy="274320"/>
          </a:xfrm>
          <a:prstGeom prst="rect">
            <a:avLst/>
          </a:prstGeom>
          <a:noFill/>
          <a:ln/>
        </p:spPr>
        <p:txBody>
          <a:bodyPr wrap="square" lIns="0" tIns="0" rIns="0" bIns="0" rtlCol="0" anchor="t"/>
          <a:lstStyle/>
          <a:p>
            <a:pPr algn="l" indent="0" marL="0">
              <a:buNone/>
            </a:pPr>
            <a:r>
              <a:rPr lang="en-US" sz="1300" b="1" dirty="0">
                <a:solidFill>
                  <a:srgbClr val="0E7C86"/>
                </a:solidFill>
                <a:latin typeface="Calibri" pitchFamily="34" charset="0"/>
                <a:ea typeface="Calibri" pitchFamily="34" charset="-122"/>
                <a:cs typeface="Calibri" pitchFamily="34" charset="-120"/>
              </a:rPr>
              <a:t>What actually runs on every push</a:t>
            </a:r>
            <a:endParaRPr lang="en-US" sz="1300" dirty="0"/>
          </a:p>
        </p:txBody>
      </p:sp>
      <p:sp>
        <p:nvSpPr>
          <p:cNvPr id="10" name="Shape 7"/>
          <p:cNvSpPr/>
          <p:nvPr/>
        </p:nvSpPr>
        <p:spPr>
          <a:xfrm>
            <a:off x="4754880" y="1554480"/>
            <a:ext cx="1737360" cy="502920"/>
          </a:xfrm>
          <a:prstGeom prst="roundRect">
            <a:avLst>
              <a:gd name="adj" fmla="val 10909"/>
            </a:avLst>
          </a:prstGeom>
          <a:solidFill>
            <a:srgbClr val="0E7C86"/>
          </a:solidFill>
          <a:ln w="9525">
            <a:solidFill>
              <a:srgbClr val="0E7C86"/>
            </a:solidFill>
            <a:prstDash val="solid"/>
          </a:ln>
        </p:spPr>
        <p:txBody>
          <a:bodyPr/>
          <a:p/>
        </p:txBody>
      </p:sp>
      <p:sp>
        <p:nvSpPr>
          <p:cNvPr id="11" name="Text 8"/>
          <p:cNvSpPr txBox="1"/>
          <p:nvPr/>
        </p:nvSpPr>
        <p:spPr>
          <a:xfrm>
            <a:off x="4754880" y="1554480"/>
            <a:ext cx="1737360" cy="50292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Tests on code</a:t>
            </a:r>
            <a:endParaRPr lang="en-US" sz="1050" dirty="0"/>
          </a:p>
        </p:txBody>
      </p:sp>
      <p:sp>
        <p:nvSpPr>
          <p:cNvPr id="12" name="Text 9"/>
          <p:cNvSpPr txBox="1"/>
          <p:nvPr/>
        </p:nvSpPr>
        <p:spPr>
          <a:xfrm>
            <a:off x="6583680" y="1600200"/>
            <a:ext cx="2194560" cy="457200"/>
          </a:xfrm>
          <a:prstGeom prst="rect">
            <a:avLst/>
          </a:prstGeom>
          <a:noFill/>
          <a:ln/>
        </p:spPr>
        <p:txBody>
          <a:bodyPr wrap="square" lIns="0" tIns="0" rIns="0" bIns="0" rtlCol="0" anchor="ctr"/>
          <a:lstStyle/>
          <a:p>
            <a:pPr algn="l" indent="0" marL="0">
              <a:buNone/>
            </a:pPr>
            <a:r>
              <a:rPr lang="en-US" sz="1050" dirty="0">
                <a:solidFill>
                  <a:srgbClr val="222222"/>
                </a:solidFill>
                <a:latin typeface="Calibri" pitchFamily="34" charset="0"/>
                <a:ea typeface="Calibri" pitchFamily="34" charset="-122"/>
                <a:cs typeface="Calibri" pitchFamily="34" charset="-120"/>
              </a:rPr>
              <a:t>the validation rules behave as specified</a:t>
            </a:r>
            <a:endParaRPr lang="en-US" sz="1050" dirty="0"/>
          </a:p>
        </p:txBody>
      </p:sp>
      <p:sp>
        <p:nvSpPr>
          <p:cNvPr id="13" name="Shape 10"/>
          <p:cNvSpPr/>
          <p:nvPr/>
        </p:nvSpPr>
        <p:spPr>
          <a:xfrm>
            <a:off x="5623560" y="2057400"/>
            <a:ext cx="0" cy="118872"/>
          </a:xfrm>
          <a:prstGeom prst="line">
            <a:avLst/>
          </a:prstGeom>
          <a:noFill/>
          <a:ln w="19050">
            <a:solidFill>
              <a:srgbClr val="0E7C86"/>
            </a:solidFill>
            <a:prstDash val="solid"/>
            <a:tailEnd type="triangle"/>
          </a:ln>
        </p:spPr>
        <p:txBody>
          <a:bodyPr/>
          <a:p/>
        </p:txBody>
      </p:sp>
      <p:sp>
        <p:nvSpPr>
          <p:cNvPr id="14" name="Shape 11"/>
          <p:cNvSpPr/>
          <p:nvPr/>
        </p:nvSpPr>
        <p:spPr>
          <a:xfrm>
            <a:off x="4754880" y="2176272"/>
            <a:ext cx="1737360" cy="502920"/>
          </a:xfrm>
          <a:prstGeom prst="roundRect">
            <a:avLst>
              <a:gd name="adj" fmla="val 10909"/>
            </a:avLst>
          </a:prstGeom>
          <a:solidFill>
            <a:srgbClr val="0E7C86"/>
          </a:solidFill>
          <a:ln w="9525">
            <a:solidFill>
              <a:srgbClr val="0E7C86"/>
            </a:solidFill>
            <a:prstDash val="solid"/>
          </a:ln>
        </p:spPr>
        <p:txBody>
          <a:bodyPr/>
          <a:p/>
        </p:txBody>
      </p:sp>
      <p:sp>
        <p:nvSpPr>
          <p:cNvPr id="15" name="Text 12"/>
          <p:cNvSpPr txBox="1"/>
          <p:nvPr/>
        </p:nvSpPr>
        <p:spPr>
          <a:xfrm>
            <a:off x="4754880" y="2176272"/>
            <a:ext cx="1737360" cy="50292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Validate data</a:t>
            </a:r>
            <a:endParaRPr lang="en-US" sz="1050" dirty="0"/>
          </a:p>
        </p:txBody>
      </p:sp>
      <p:sp>
        <p:nvSpPr>
          <p:cNvPr id="16" name="Text 13"/>
          <p:cNvSpPr txBox="1"/>
          <p:nvPr/>
        </p:nvSpPr>
        <p:spPr>
          <a:xfrm>
            <a:off x="6583680" y="2221992"/>
            <a:ext cx="2194560" cy="457200"/>
          </a:xfrm>
          <a:prstGeom prst="rect">
            <a:avLst/>
          </a:prstGeom>
          <a:noFill/>
          <a:ln/>
        </p:spPr>
        <p:txBody>
          <a:bodyPr wrap="square" lIns="0" tIns="0" rIns="0" bIns="0" rtlCol="0" anchor="ctr"/>
          <a:lstStyle/>
          <a:p>
            <a:pPr algn="l" indent="0" marL="0">
              <a:buNone/>
            </a:pPr>
            <a:r>
              <a:rPr lang="en-US" sz="1050" dirty="0">
                <a:solidFill>
                  <a:srgbClr val="222222"/>
                </a:solidFill>
                <a:latin typeface="Calibri" pitchFamily="34" charset="0"/>
                <a:ea typeface="Calibri" pitchFamily="34" charset="-122"/>
                <a:cs typeface="Calibri" pitchFamily="34" charset="-120"/>
              </a:rPr>
              <a:t>the training extract passes the checks</a:t>
            </a:r>
            <a:endParaRPr lang="en-US" sz="1050" dirty="0"/>
          </a:p>
        </p:txBody>
      </p:sp>
      <p:sp>
        <p:nvSpPr>
          <p:cNvPr id="17" name="Shape 14"/>
          <p:cNvSpPr/>
          <p:nvPr/>
        </p:nvSpPr>
        <p:spPr>
          <a:xfrm>
            <a:off x="5623560" y="2679192"/>
            <a:ext cx="0" cy="118872"/>
          </a:xfrm>
          <a:prstGeom prst="line">
            <a:avLst/>
          </a:prstGeom>
          <a:noFill/>
          <a:ln w="19050">
            <a:solidFill>
              <a:srgbClr val="0E7C86"/>
            </a:solidFill>
            <a:prstDash val="solid"/>
            <a:tailEnd type="triangle"/>
          </a:ln>
        </p:spPr>
        <p:txBody>
          <a:bodyPr/>
          <a:p/>
        </p:txBody>
      </p:sp>
      <p:sp>
        <p:nvSpPr>
          <p:cNvPr id="18" name="Shape 15"/>
          <p:cNvSpPr/>
          <p:nvPr/>
        </p:nvSpPr>
        <p:spPr>
          <a:xfrm>
            <a:off x="4754880" y="2798064"/>
            <a:ext cx="1737360" cy="502920"/>
          </a:xfrm>
          <a:prstGeom prst="roundRect">
            <a:avLst>
              <a:gd name="adj" fmla="val 10909"/>
            </a:avLst>
          </a:prstGeom>
          <a:solidFill>
            <a:srgbClr val="0E7C86"/>
          </a:solidFill>
          <a:ln w="9525">
            <a:solidFill>
              <a:srgbClr val="0E7C86"/>
            </a:solidFill>
            <a:prstDash val="solid"/>
          </a:ln>
        </p:spPr>
        <p:txBody>
          <a:bodyPr/>
          <a:p/>
        </p:txBody>
      </p:sp>
      <p:sp>
        <p:nvSpPr>
          <p:cNvPr id="19" name="Text 16"/>
          <p:cNvSpPr txBox="1"/>
          <p:nvPr/>
        </p:nvSpPr>
        <p:spPr>
          <a:xfrm>
            <a:off x="4754880" y="2798064"/>
            <a:ext cx="1737360" cy="50292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Train and evaluate</a:t>
            </a:r>
            <a:endParaRPr lang="en-US" sz="1050" dirty="0"/>
          </a:p>
        </p:txBody>
      </p:sp>
      <p:sp>
        <p:nvSpPr>
          <p:cNvPr id="20" name="Text 17"/>
          <p:cNvSpPr txBox="1"/>
          <p:nvPr/>
        </p:nvSpPr>
        <p:spPr>
          <a:xfrm>
            <a:off x="6583680" y="2843784"/>
            <a:ext cx="2194560" cy="457200"/>
          </a:xfrm>
          <a:prstGeom prst="rect">
            <a:avLst/>
          </a:prstGeom>
          <a:noFill/>
          <a:ln/>
        </p:spPr>
        <p:txBody>
          <a:bodyPr wrap="square" lIns="0" tIns="0" rIns="0" bIns="0" rtlCol="0" anchor="ctr"/>
          <a:lstStyle/>
          <a:p>
            <a:pPr algn="l" indent="0" marL="0">
              <a:buNone/>
            </a:pPr>
            <a:r>
              <a:rPr lang="en-US" sz="1050" dirty="0">
                <a:solidFill>
                  <a:srgbClr val="222222"/>
                </a:solidFill>
                <a:latin typeface="Calibri" pitchFamily="34" charset="0"/>
                <a:ea typeface="Calibri" pitchFamily="34" charset="-122"/>
                <a:cs typeface="Calibri" pitchFamily="34" charset="-120"/>
              </a:rPr>
              <a:t>the model trains end to end on the extract</a:t>
            </a:r>
            <a:endParaRPr lang="en-US" sz="1050" dirty="0"/>
          </a:p>
        </p:txBody>
      </p:sp>
      <p:sp>
        <p:nvSpPr>
          <p:cNvPr id="21" name="Shape 18"/>
          <p:cNvSpPr/>
          <p:nvPr/>
        </p:nvSpPr>
        <p:spPr>
          <a:xfrm>
            <a:off x="5623560" y="3300984"/>
            <a:ext cx="0" cy="118872"/>
          </a:xfrm>
          <a:prstGeom prst="line">
            <a:avLst/>
          </a:prstGeom>
          <a:noFill/>
          <a:ln w="19050">
            <a:solidFill>
              <a:srgbClr val="0E7C86"/>
            </a:solidFill>
            <a:prstDash val="solid"/>
            <a:tailEnd type="triangle"/>
          </a:ln>
        </p:spPr>
        <p:txBody>
          <a:bodyPr/>
          <a:p/>
        </p:txBody>
      </p:sp>
      <p:sp>
        <p:nvSpPr>
          <p:cNvPr id="22" name="Shape 19"/>
          <p:cNvSpPr/>
          <p:nvPr/>
        </p:nvSpPr>
        <p:spPr>
          <a:xfrm>
            <a:off x="4754880" y="3419856"/>
            <a:ext cx="1737360" cy="502920"/>
          </a:xfrm>
          <a:prstGeom prst="roundRect">
            <a:avLst>
              <a:gd name="adj" fmla="val 10909"/>
            </a:avLst>
          </a:prstGeom>
          <a:solidFill>
            <a:srgbClr val="0E7C86"/>
          </a:solidFill>
          <a:ln w="9525">
            <a:solidFill>
              <a:srgbClr val="0E7C86"/>
            </a:solidFill>
            <a:prstDash val="solid"/>
          </a:ln>
        </p:spPr>
        <p:txBody>
          <a:bodyPr/>
          <a:p/>
        </p:txBody>
      </p:sp>
      <p:sp>
        <p:nvSpPr>
          <p:cNvPr id="23" name="Text 20"/>
          <p:cNvSpPr txBox="1"/>
          <p:nvPr/>
        </p:nvSpPr>
        <p:spPr>
          <a:xfrm>
            <a:off x="4754880" y="3419856"/>
            <a:ext cx="1737360" cy="50292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Model card present</a:t>
            </a:r>
            <a:endParaRPr lang="en-US" sz="1050" dirty="0"/>
          </a:p>
        </p:txBody>
      </p:sp>
      <p:sp>
        <p:nvSpPr>
          <p:cNvPr id="24" name="Text 21"/>
          <p:cNvSpPr txBox="1"/>
          <p:nvPr/>
        </p:nvSpPr>
        <p:spPr>
          <a:xfrm>
            <a:off x="6583680" y="3465576"/>
            <a:ext cx="2194560" cy="457200"/>
          </a:xfrm>
          <a:prstGeom prst="rect">
            <a:avLst/>
          </a:prstGeom>
          <a:noFill/>
          <a:ln/>
        </p:spPr>
        <p:txBody>
          <a:bodyPr wrap="square" lIns="0" tIns="0" rIns="0" bIns="0" rtlCol="0" anchor="ctr"/>
          <a:lstStyle/>
          <a:p>
            <a:pPr algn="l" indent="0" marL="0">
              <a:buNone/>
            </a:pPr>
            <a:r>
              <a:rPr lang="en-US" sz="1050" dirty="0">
                <a:solidFill>
                  <a:srgbClr val="222222"/>
                </a:solidFill>
                <a:latin typeface="Calibri" pitchFamily="34" charset="0"/>
                <a:ea typeface="Calibri" pitchFamily="34" charset="-122"/>
                <a:cs typeface="Calibri" pitchFamily="34" charset="-120"/>
              </a:rPr>
              <a:t>an owner is written down</a:t>
            </a:r>
            <a:endParaRPr lang="en-US" sz="1050" dirty="0"/>
          </a:p>
        </p:txBody>
      </p:sp>
      <p:sp>
        <p:nvSpPr>
          <p:cNvPr id="25" name="Shape 22"/>
          <p:cNvSpPr/>
          <p:nvPr/>
        </p:nvSpPr>
        <p:spPr>
          <a:xfrm>
            <a:off x="365760" y="411480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26" name="Image 0" descr="preencoded.png">    </p:cNvPr>
          <p:cNvPicPr>
            <a:picLocks noChangeAspect="1"/>
          </p:cNvPicPr>
          <p:nvPr/>
        </p:nvPicPr>
        <p:blipFill>
          <a:blip r:embed="rId1"/>
          <a:stretch>
            <a:fillRect/>
          </a:stretch>
        </p:blipFill>
        <p:spPr>
          <a:xfrm>
            <a:off x="502920" y="4206240"/>
            <a:ext cx="274320" cy="274320"/>
          </a:xfrm>
          <a:prstGeom prst="rect">
            <a:avLst/>
          </a:prstGeom>
        </p:spPr>
      </p:pic>
      <p:sp>
        <p:nvSpPr>
          <p:cNvPr id="27" name="Text 23"/>
          <p:cNvSpPr txBox="1"/>
          <p:nvPr/>
        </p:nvSpPr>
        <p:spPr>
          <a:xfrm>
            <a:off x="896112" y="4114800"/>
            <a:ext cx="7772400" cy="45720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Nobody ran it. It ran because someone pushed a change. Today is about that sentence.</a:t>
            </a:r>
            <a:endParaRPr lang="en-US" sz="1200" dirty="0"/>
          </a:p>
        </p:txBody>
      </p:sp>
      <p:pic>
        <p:nvPicPr>
          <p:cNvPr id="28"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Why ML systems need their own version of CI/CD</a:t>
            </a:r>
            <a:endParaRPr lang="en-US" sz="2400" dirty="0"/>
          </a:p>
        </p:txBody>
      </p:sp>
      <p:sp>
        <p:nvSpPr>
          <p:cNvPr id="7" name="Shape 4"/>
          <p:cNvSpPr/>
          <p:nvPr/>
        </p:nvSpPr>
        <p:spPr>
          <a:xfrm>
            <a:off x="365760" y="1280160"/>
            <a:ext cx="420624" cy="420624"/>
          </a:xfrm>
          <a:prstGeom prst="ellipse">
            <a:avLst/>
          </a:prstGeom>
          <a:solidFill>
            <a:srgbClr val="0E7C86"/>
          </a:solidFill>
          <a:ln w="12700">
            <a:solidFill>
              <a:srgbClr val="0E7C86"/>
            </a:solidFill>
            <a:prstDash val="solid"/>
          </a:ln>
        </p:spPr>
        <p:txBody>
          <a:bodyPr/>
          <a:p/>
        </p:txBody>
      </p:sp>
      <p:pic>
        <p:nvPicPr>
          <p:cNvPr id="8" name="Image 0" descr="preencoded.png">    </p:cNvPr>
          <p:cNvPicPr>
            <a:picLocks noChangeAspect="1"/>
          </p:cNvPicPr>
          <p:nvPr/>
        </p:nvPicPr>
        <p:blipFill>
          <a:blip r:embed="rId1"/>
          <a:stretch>
            <a:fillRect/>
          </a:stretch>
        </p:blipFill>
        <p:spPr>
          <a:xfrm>
            <a:off x="457200" y="1371600"/>
            <a:ext cx="237744" cy="237744"/>
          </a:xfrm>
          <a:prstGeom prst="rect">
            <a:avLst/>
          </a:prstGeom>
        </p:spPr>
      </p:pic>
      <p:sp>
        <p:nvSpPr>
          <p:cNvPr id="9" name="Text 5"/>
          <p:cNvSpPr txBox="1"/>
          <p:nvPr/>
        </p:nvSpPr>
        <p:spPr>
          <a:xfrm>
            <a:off x="914400" y="12618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Team</a:t>
            </a:r>
            <a:endParaRPr lang="en-US" sz="1300" dirty="0"/>
          </a:p>
        </p:txBody>
      </p:sp>
      <p:sp>
        <p:nvSpPr>
          <p:cNvPr id="10" name="Text 6"/>
          <p:cNvSpPr txBox="1"/>
          <p:nvPr/>
        </p:nvSpPr>
        <p:spPr>
          <a:xfrm>
            <a:off x="914400" y="1517904"/>
            <a:ext cx="3474720" cy="5486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Data scientists and researchers, not production engineers.</a:t>
            </a:r>
            <a:endParaRPr lang="en-US" sz="1100" dirty="0"/>
          </a:p>
        </p:txBody>
      </p:sp>
      <p:sp>
        <p:nvSpPr>
          <p:cNvPr id="11" name="Shape 7"/>
          <p:cNvSpPr/>
          <p:nvPr/>
        </p:nvSpPr>
        <p:spPr>
          <a:xfrm>
            <a:off x="4709160" y="1280160"/>
            <a:ext cx="420624" cy="420624"/>
          </a:xfrm>
          <a:prstGeom prst="ellipse">
            <a:avLst/>
          </a:prstGeom>
          <a:solidFill>
            <a:srgbClr val="0E7C86"/>
          </a:solidFill>
          <a:ln w="12700">
            <a:solidFill>
              <a:srgbClr val="0E7C86"/>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800600" y="1371600"/>
            <a:ext cx="237744" cy="237744"/>
          </a:xfrm>
          <a:prstGeom prst="rect">
            <a:avLst/>
          </a:prstGeom>
        </p:spPr>
      </p:pic>
      <p:sp>
        <p:nvSpPr>
          <p:cNvPr id="13" name="Text 8"/>
          <p:cNvSpPr txBox="1"/>
          <p:nvPr/>
        </p:nvSpPr>
        <p:spPr>
          <a:xfrm>
            <a:off x="5257800" y="12618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Development</a:t>
            </a:r>
            <a:endParaRPr lang="en-US" sz="1300" dirty="0"/>
          </a:p>
        </p:txBody>
      </p:sp>
      <p:sp>
        <p:nvSpPr>
          <p:cNvPr id="14" name="Text 9"/>
          <p:cNvSpPr txBox="1"/>
          <p:nvPr/>
        </p:nvSpPr>
        <p:spPr>
          <a:xfrm>
            <a:off x="5257800" y="1517904"/>
            <a:ext cx="3474720" cy="5486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Experimental: many features, algorithms, settings. Tracking what worked is the hard part.</a:t>
            </a:r>
            <a:endParaRPr lang="en-US" sz="1100" dirty="0"/>
          </a:p>
        </p:txBody>
      </p:sp>
      <p:sp>
        <p:nvSpPr>
          <p:cNvPr id="15" name="Shape 10"/>
          <p:cNvSpPr/>
          <p:nvPr/>
        </p:nvSpPr>
        <p:spPr>
          <a:xfrm>
            <a:off x="365760" y="2240280"/>
            <a:ext cx="420624" cy="420624"/>
          </a:xfrm>
          <a:prstGeom prst="ellipse">
            <a:avLst/>
          </a:prstGeom>
          <a:solidFill>
            <a:srgbClr val="0E7C86"/>
          </a:solidFill>
          <a:ln w="12700">
            <a:solidFill>
              <a:srgbClr val="0E7C86"/>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57200" y="2331720"/>
            <a:ext cx="237744" cy="237744"/>
          </a:xfrm>
          <a:prstGeom prst="rect">
            <a:avLst/>
          </a:prstGeom>
        </p:spPr>
      </p:pic>
      <p:sp>
        <p:nvSpPr>
          <p:cNvPr id="17" name="Text 11"/>
          <p:cNvSpPr txBox="1"/>
          <p:nvPr/>
        </p:nvSpPr>
        <p:spPr>
          <a:xfrm>
            <a:off x="914400" y="222199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Testing</a:t>
            </a:r>
            <a:endParaRPr lang="en-US" sz="1300" dirty="0"/>
          </a:p>
        </p:txBody>
      </p:sp>
      <p:sp>
        <p:nvSpPr>
          <p:cNvPr id="18" name="Text 12"/>
          <p:cNvSpPr txBox="1"/>
          <p:nvPr/>
        </p:nvSpPr>
        <p:spPr>
          <a:xfrm>
            <a:off x="914400" y="2478024"/>
            <a:ext cx="3474720" cy="5486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Unit and integration tests are not enough: data validation, model quality, model validation.</a:t>
            </a:r>
            <a:endParaRPr lang="en-US" sz="1100" dirty="0"/>
          </a:p>
        </p:txBody>
      </p:sp>
      <p:sp>
        <p:nvSpPr>
          <p:cNvPr id="19" name="Shape 13"/>
          <p:cNvSpPr/>
          <p:nvPr/>
        </p:nvSpPr>
        <p:spPr>
          <a:xfrm>
            <a:off x="4709160" y="2240280"/>
            <a:ext cx="420624" cy="420624"/>
          </a:xfrm>
          <a:prstGeom prst="ellipse">
            <a:avLst/>
          </a:prstGeom>
          <a:solidFill>
            <a:srgbClr val="0E7C86"/>
          </a:solidFill>
          <a:ln w="12700">
            <a:solidFill>
              <a:srgbClr val="0E7C86"/>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4800600" y="2331720"/>
            <a:ext cx="237744" cy="237744"/>
          </a:xfrm>
          <a:prstGeom prst="rect">
            <a:avLst/>
          </a:prstGeom>
        </p:spPr>
      </p:pic>
      <p:sp>
        <p:nvSpPr>
          <p:cNvPr id="21" name="Text 14"/>
          <p:cNvSpPr txBox="1"/>
          <p:nvPr/>
        </p:nvSpPr>
        <p:spPr>
          <a:xfrm>
            <a:off x="5257800" y="222199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Deployment</a:t>
            </a:r>
            <a:endParaRPr lang="en-US" sz="1300" dirty="0"/>
          </a:p>
        </p:txBody>
      </p:sp>
      <p:sp>
        <p:nvSpPr>
          <p:cNvPr id="22" name="Text 15"/>
          <p:cNvSpPr txBox="1"/>
          <p:nvPr/>
        </p:nvSpPr>
        <p:spPr>
          <a:xfrm>
            <a:off x="5257800" y="2478024"/>
            <a:ext cx="3474720" cy="5486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Not one service: a multi-step pipeline that retrains and redeploys another service.</a:t>
            </a:r>
            <a:endParaRPr lang="en-US" sz="1100" dirty="0"/>
          </a:p>
        </p:txBody>
      </p:sp>
      <p:sp>
        <p:nvSpPr>
          <p:cNvPr id="23" name="Shape 16"/>
          <p:cNvSpPr/>
          <p:nvPr/>
        </p:nvSpPr>
        <p:spPr>
          <a:xfrm>
            <a:off x="365760" y="3200400"/>
            <a:ext cx="420624" cy="420624"/>
          </a:xfrm>
          <a:prstGeom prst="ellipse">
            <a:avLst/>
          </a:prstGeom>
          <a:solidFill>
            <a:srgbClr val="0E7C86"/>
          </a:solidFill>
          <a:ln w="12700">
            <a:solidFill>
              <a:srgbClr val="0E7C86"/>
            </a:solidFill>
            <a:prstDash val="solid"/>
          </a:ln>
        </p:spPr>
        <p:txBody>
          <a:bodyPr/>
          <a:p/>
        </p:txBody>
      </p:sp>
      <p:pic>
        <p:nvPicPr>
          <p:cNvPr id="24" name="Image 4" descr="preencoded.png">    </p:cNvPr>
          <p:cNvPicPr>
            <a:picLocks noChangeAspect="1"/>
          </p:cNvPicPr>
          <p:nvPr/>
        </p:nvPicPr>
        <p:blipFill>
          <a:blip r:embed="rId5"/>
          <a:stretch>
            <a:fillRect/>
          </a:stretch>
        </p:blipFill>
        <p:spPr>
          <a:xfrm>
            <a:off x="457200" y="3291840"/>
            <a:ext cx="237744" cy="237744"/>
          </a:xfrm>
          <a:prstGeom prst="rect">
            <a:avLst/>
          </a:prstGeom>
        </p:spPr>
      </p:pic>
      <p:sp>
        <p:nvSpPr>
          <p:cNvPr id="25" name="Text 17"/>
          <p:cNvSpPr txBox="1"/>
          <p:nvPr/>
        </p:nvSpPr>
        <p:spPr>
          <a:xfrm>
            <a:off x="914400" y="318211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Production</a:t>
            </a:r>
            <a:endParaRPr lang="en-US" sz="1300" dirty="0"/>
          </a:p>
        </p:txBody>
      </p:sp>
      <p:sp>
        <p:nvSpPr>
          <p:cNvPr id="26" name="Text 18"/>
          <p:cNvSpPr txBox="1"/>
          <p:nvPr/>
        </p:nvSpPr>
        <p:spPr>
          <a:xfrm>
            <a:off x="914400" y="3438144"/>
            <a:ext cx="3474720" cy="5486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Models decay as data changes. Monitor, alert, roll back.</a:t>
            </a:r>
            <a:endParaRPr lang="en-US" sz="1100" dirty="0"/>
          </a:p>
        </p:txBody>
      </p:sp>
      <p:sp>
        <p:nvSpPr>
          <p:cNvPr id="27" name="Text 19"/>
          <p:cNvSpPr txBox="1"/>
          <p:nvPr/>
        </p:nvSpPr>
        <p:spPr>
          <a:xfrm>
            <a:off x="365760" y="434340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Source: Google Cloud, "MLOps: continuous delivery and automation pipelines in machine learning"</a:t>
            </a:r>
            <a:endParaRPr lang="en-US" sz="900" dirty="0"/>
          </a:p>
        </p:txBody>
      </p:sp>
      <p:pic>
        <p:nvPicPr>
          <p:cNvPr id="28" name="IE University logo" descr="IE University, School of Science &amp; Technology"/>
          <p:cNvPicPr>
            <a:picLocks noChangeAspect="1"/>
          </p:cNvPicPr>
          <p:nvPr/>
        </p:nvPicPr>
        <p:blipFill>
          <a:blip r:embed="rId8"/>
          <a:stretch>
            <a:fillRect/>
          </a:stretch>
        </p:blipFill>
        <p:spPr>
          <a:xfrm>
            <a:off x="8013607" y="92634"/>
            <a:ext cx="764633" cy="2627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5</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CI, CD, and the third letter: CT</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From a manual process to a pipeline that retrains itself</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CI, CD, and CT: what each one means when the product is a model</a:t>
            </a:r>
            <a:endParaRPr lang="en-US" sz="2400" dirty="0"/>
          </a:p>
        </p:txBody>
      </p:sp>
      <p:sp>
        <p:nvSpPr>
          <p:cNvPr id="7" name="Shape 4"/>
          <p:cNvSpPr/>
          <p:nvPr/>
        </p:nvSpPr>
        <p:spPr>
          <a:xfrm>
            <a:off x="365760" y="1234440"/>
            <a:ext cx="2697480" cy="2377440"/>
          </a:xfrm>
          <a:prstGeom prst="roundRect">
            <a:avLst>
              <a:gd name="adj" fmla="val 3077"/>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Continuous Integration</a:t>
            </a:r>
            <a:endParaRPr lang="en-US" sz="1300" dirty="0"/>
          </a:p>
        </p:txBody>
      </p:sp>
      <p:sp>
        <p:nvSpPr>
          <p:cNvPr id="11" name="Text 7"/>
          <p:cNvSpPr txBox="1"/>
          <p:nvPr/>
        </p:nvSpPr>
        <p:spPr>
          <a:xfrm>
            <a:off x="502920" y="1783080"/>
            <a:ext cx="2423160" cy="173736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Every change is merged and checked automatically</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For ML: tests on code, and on data, schemas and models</a:t>
            </a:r>
            <a:endParaRPr lang="en-US" sz="1200" dirty="0"/>
          </a:p>
        </p:txBody>
      </p:sp>
      <p:sp>
        <p:nvSpPr>
          <p:cNvPr id="12" name="Shape 8"/>
          <p:cNvSpPr/>
          <p:nvPr/>
        </p:nvSpPr>
        <p:spPr>
          <a:xfrm>
            <a:off x="3218688" y="1234440"/>
            <a:ext cx="2697480" cy="2377440"/>
          </a:xfrm>
          <a:prstGeom prst="roundRect">
            <a:avLst>
              <a:gd name="adj" fmla="val 3077"/>
            </a:avLst>
          </a:prstGeom>
          <a:solidFill>
            <a:srgbClr val="F3F5F8"/>
          </a:solidFill>
          <a:ln w="12700">
            <a:solidFill>
              <a:srgbClr val="F3F5F8"/>
            </a:solidFill>
            <a:prstDash val="solid"/>
          </a:ln>
        </p:spPr>
        <p:txBody>
          <a:bodyPr/>
          <a:p/>
        </p:txBody>
      </p:sp>
      <p:sp>
        <p:nvSpPr>
          <p:cNvPr id="13" name="Shape 9"/>
          <p:cNvSpPr/>
          <p:nvPr/>
        </p:nvSpPr>
        <p:spPr>
          <a:xfrm>
            <a:off x="3355848"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3429000" y="1426464"/>
            <a:ext cx="201168" cy="201168"/>
          </a:xfrm>
          <a:prstGeom prst="rect">
            <a:avLst/>
          </a:prstGeom>
        </p:spPr>
      </p:pic>
      <p:sp>
        <p:nvSpPr>
          <p:cNvPr id="15" name="Text 10"/>
          <p:cNvSpPr txBox="1"/>
          <p:nvPr/>
        </p:nvSpPr>
        <p:spPr>
          <a:xfrm>
            <a:off x="3785616"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Continuous Delivery</a:t>
            </a:r>
            <a:endParaRPr lang="en-US" sz="1300" dirty="0"/>
          </a:p>
        </p:txBody>
      </p:sp>
      <p:sp>
        <p:nvSpPr>
          <p:cNvPr id="16" name="Text 11"/>
          <p:cNvSpPr txBox="1"/>
          <p:nvPr/>
        </p:nvSpPr>
        <p:spPr>
          <a:xfrm>
            <a:off x="3355848" y="1783080"/>
            <a:ext cx="2423160" cy="173736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verified build reaches production automatically</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For ML: what is delivered is a pipeline that deploys a prediction service</a:t>
            </a:r>
            <a:endParaRPr lang="en-US" sz="1200" dirty="0"/>
          </a:p>
        </p:txBody>
      </p:sp>
      <p:sp>
        <p:nvSpPr>
          <p:cNvPr id="17" name="Shape 12"/>
          <p:cNvSpPr/>
          <p:nvPr/>
        </p:nvSpPr>
        <p:spPr>
          <a:xfrm>
            <a:off x="6080760" y="1234440"/>
            <a:ext cx="2697480" cy="2377440"/>
          </a:xfrm>
          <a:prstGeom prst="roundRect">
            <a:avLst>
              <a:gd name="adj" fmla="val 3077"/>
            </a:avLst>
          </a:prstGeom>
          <a:solidFill>
            <a:srgbClr val="F3F5F8"/>
          </a:solidFill>
          <a:ln w="12700">
            <a:solidFill>
              <a:srgbClr val="F3F5F8"/>
            </a:solidFill>
            <a:prstDash val="solid"/>
          </a:ln>
        </p:spPr>
        <p:txBody>
          <a:bodyPr/>
          <a:p/>
        </p:txBody>
      </p:sp>
      <p:sp>
        <p:nvSpPr>
          <p:cNvPr id="18" name="Shape 13"/>
          <p:cNvSpPr/>
          <p:nvPr/>
        </p:nvSpPr>
        <p:spPr>
          <a:xfrm>
            <a:off x="6217920" y="1353312"/>
            <a:ext cx="347472" cy="347472"/>
          </a:xfrm>
          <a:prstGeom prst="ellipse">
            <a:avLst/>
          </a:prstGeom>
          <a:solidFill>
            <a:srgbClr val="E07A2F"/>
          </a:solidFill>
          <a:ln w="12700">
            <a:solidFill>
              <a:srgbClr val="E07A2F"/>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6291072" y="1426464"/>
            <a:ext cx="201168" cy="201168"/>
          </a:xfrm>
          <a:prstGeom prst="rect">
            <a:avLst/>
          </a:prstGeom>
        </p:spPr>
      </p:pic>
      <p:sp>
        <p:nvSpPr>
          <p:cNvPr id="20" name="Text 14"/>
          <p:cNvSpPr txBox="1"/>
          <p:nvPr/>
        </p:nvSpPr>
        <p:spPr>
          <a:xfrm>
            <a:off x="6647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Continuous Training</a:t>
            </a:r>
            <a:endParaRPr lang="en-US" sz="1300" dirty="0"/>
          </a:p>
        </p:txBody>
      </p:sp>
      <p:sp>
        <p:nvSpPr>
          <p:cNvPr id="21" name="Text 15"/>
          <p:cNvSpPr txBox="1"/>
          <p:nvPr/>
        </p:nvSpPr>
        <p:spPr>
          <a:xfrm>
            <a:off x="6217920" y="1783080"/>
            <a:ext cx="2423160" cy="173736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New, unique to ML</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Retrain and serve the model automatically when new data arrives or performance drops</a:t>
            </a:r>
            <a:endParaRPr lang="en-US" sz="1200" dirty="0"/>
          </a:p>
        </p:txBody>
      </p:sp>
      <p:sp>
        <p:nvSpPr>
          <p:cNvPr id="22" name="Shape 16"/>
          <p:cNvSpPr/>
          <p:nvPr/>
        </p:nvSpPr>
        <p:spPr>
          <a:xfrm>
            <a:off x="365760" y="3794760"/>
            <a:ext cx="8412480" cy="640080"/>
          </a:xfrm>
          <a:prstGeom prst="roundRect">
            <a:avLst>
              <a:gd name="adj" fmla="val 11429"/>
            </a:avLst>
          </a:prstGeom>
          <a:solidFill>
            <a:srgbClr val="E3F1F2"/>
          </a:solidFill>
          <a:ln w="12700">
            <a:solidFill>
              <a:srgbClr val="E3F1F2"/>
            </a:solidFill>
            <a:prstDash val="solid"/>
          </a:ln>
        </p:spPr>
        <p:txBody>
          <a:bodyPr/>
          <a:p/>
        </p:txBody>
      </p:sp>
      <p:pic>
        <p:nvPicPr>
          <p:cNvPr id="23" name="Image 3" descr="preencoded.png">    </p:cNvPr>
          <p:cNvPicPr>
            <a:picLocks noChangeAspect="1"/>
          </p:cNvPicPr>
          <p:nvPr/>
        </p:nvPicPr>
        <p:blipFill>
          <a:blip r:embed="rId4"/>
          <a:stretch>
            <a:fillRect/>
          </a:stretch>
        </p:blipFill>
        <p:spPr>
          <a:xfrm>
            <a:off x="502920" y="3977640"/>
            <a:ext cx="274320" cy="274320"/>
          </a:xfrm>
          <a:prstGeom prst="rect">
            <a:avLst/>
          </a:prstGeom>
        </p:spPr>
      </p:pic>
      <p:sp>
        <p:nvSpPr>
          <p:cNvPr id="24" name="Text 17"/>
          <p:cNvSpPr txBox="1"/>
          <p:nvPr/>
        </p:nvSpPr>
        <p:spPr>
          <a:xfrm>
            <a:off x="896112" y="3794760"/>
            <a:ext cx="7772400" cy="64008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The demo repository has CI (tests on code and data) and the start of CD (a training dry-run). CT would be a trigger that runs it on new data and registers the result.</a:t>
            </a:r>
            <a:endParaRPr lang="en-US" sz="1150" dirty="0"/>
          </a:p>
        </p:txBody>
      </p:sp>
      <p:pic>
        <p:nvPicPr>
          <p:cNvPr id="25"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Three levels of maturity: manual, automated pipeline, automated CI/CD</a:t>
            </a:r>
            <a:endParaRPr lang="en-US" sz="2400" dirty="0"/>
          </a:p>
        </p:txBody>
      </p:sp>
      <p:sp>
        <p:nvSpPr>
          <p:cNvPr id="7" name="Shape 4"/>
          <p:cNvSpPr/>
          <p:nvPr/>
        </p:nvSpPr>
        <p:spPr>
          <a:xfrm>
            <a:off x="365760" y="1234440"/>
            <a:ext cx="2697480" cy="2514600"/>
          </a:xfrm>
          <a:prstGeom prst="roundRect">
            <a:avLst>
              <a:gd name="adj" fmla="val 2909"/>
            </a:avLst>
          </a:prstGeom>
          <a:solidFill>
            <a:srgbClr val="F3F5F8"/>
          </a:solidFill>
          <a:ln w="12700">
            <a:solidFill>
              <a:srgbClr val="F3F5F8"/>
            </a:solidFill>
            <a:prstDash val="solid"/>
          </a:ln>
        </p:spPr>
        <p:txBody>
          <a:bodyPr/>
          <a:p/>
        </p:txBody>
      </p:sp>
      <p:sp>
        <p:nvSpPr>
          <p:cNvPr id="8" name="Text 5"/>
          <p:cNvSpPr txBox="1"/>
          <p:nvPr/>
        </p:nvSpPr>
        <p:spPr>
          <a:xfrm>
            <a:off x="502920" y="1298448"/>
            <a:ext cx="2423160" cy="41148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Level 0 · Manual</a:t>
            </a:r>
            <a:endParaRPr lang="en-US" sz="1400" dirty="0"/>
          </a:p>
        </p:txBody>
      </p:sp>
      <p:sp>
        <p:nvSpPr>
          <p:cNvPr id="9" name="Text 6"/>
          <p:cNvSpPr txBox="1"/>
          <p:nvPr/>
        </p:nvSpPr>
        <p:spPr>
          <a:xfrm>
            <a:off x="502920" y="1783080"/>
            <a:ext cx="2423160" cy="192024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Notebook → model file → handed to engineers</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Infrequent releases, no CI/CD</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No monitoring; nobody notices decay</a:t>
            </a:r>
            <a:endParaRPr lang="en-US" sz="1100" dirty="0"/>
          </a:p>
        </p:txBody>
      </p:sp>
      <p:sp>
        <p:nvSpPr>
          <p:cNvPr id="10" name="Shape 7"/>
          <p:cNvSpPr/>
          <p:nvPr/>
        </p:nvSpPr>
        <p:spPr>
          <a:xfrm>
            <a:off x="3081528" y="2468880"/>
            <a:ext cx="118872" cy="0"/>
          </a:xfrm>
          <a:prstGeom prst="line">
            <a:avLst/>
          </a:prstGeom>
          <a:noFill/>
          <a:ln w="25400">
            <a:solidFill>
              <a:srgbClr val="0E7C86"/>
            </a:solidFill>
            <a:prstDash val="solid"/>
            <a:tailEnd type="triangle"/>
          </a:ln>
        </p:spPr>
        <p:txBody>
          <a:bodyPr/>
          <a:p/>
        </p:txBody>
      </p:sp>
      <p:sp>
        <p:nvSpPr>
          <p:cNvPr id="11" name="Shape 8"/>
          <p:cNvSpPr/>
          <p:nvPr/>
        </p:nvSpPr>
        <p:spPr>
          <a:xfrm>
            <a:off x="3218688" y="1234440"/>
            <a:ext cx="2697480" cy="2514600"/>
          </a:xfrm>
          <a:prstGeom prst="roundRect">
            <a:avLst>
              <a:gd name="adj" fmla="val 2909"/>
            </a:avLst>
          </a:prstGeom>
          <a:solidFill>
            <a:srgbClr val="E3F1F2"/>
          </a:solidFill>
          <a:ln w="12700">
            <a:solidFill>
              <a:srgbClr val="E3F1F2"/>
            </a:solidFill>
            <a:prstDash val="solid"/>
          </a:ln>
        </p:spPr>
        <p:txBody>
          <a:bodyPr/>
          <a:p/>
        </p:txBody>
      </p:sp>
      <p:sp>
        <p:nvSpPr>
          <p:cNvPr id="12" name="Text 9"/>
          <p:cNvSpPr txBox="1"/>
          <p:nvPr/>
        </p:nvSpPr>
        <p:spPr>
          <a:xfrm>
            <a:off x="3355848" y="1298448"/>
            <a:ext cx="2423160" cy="41148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Level 1 · Automated pipeline</a:t>
            </a:r>
            <a:endParaRPr lang="en-US" sz="1400" dirty="0"/>
          </a:p>
        </p:txBody>
      </p:sp>
      <p:sp>
        <p:nvSpPr>
          <p:cNvPr id="13" name="Text 10"/>
          <p:cNvSpPr txBox="1"/>
          <p:nvPr/>
        </p:nvSpPr>
        <p:spPr>
          <a:xfrm>
            <a:off x="3355848" y="1783080"/>
            <a:ext cx="2423160" cy="192024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New data triggers validate → train → evaluate → deploy</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Continuous training of the model</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pipeline itself is still deployed by hand</a:t>
            </a:r>
            <a:endParaRPr lang="en-US" sz="1100" dirty="0"/>
          </a:p>
        </p:txBody>
      </p:sp>
      <p:sp>
        <p:nvSpPr>
          <p:cNvPr id="14" name="Shape 11"/>
          <p:cNvSpPr/>
          <p:nvPr/>
        </p:nvSpPr>
        <p:spPr>
          <a:xfrm>
            <a:off x="5934456" y="2468880"/>
            <a:ext cx="118872" cy="0"/>
          </a:xfrm>
          <a:prstGeom prst="line">
            <a:avLst/>
          </a:prstGeom>
          <a:noFill/>
          <a:ln w="25400">
            <a:solidFill>
              <a:srgbClr val="0E7C86"/>
            </a:solidFill>
            <a:prstDash val="solid"/>
            <a:tailEnd type="triangle"/>
          </a:ln>
        </p:spPr>
        <p:txBody>
          <a:bodyPr/>
          <a:p/>
        </p:txBody>
      </p:sp>
      <p:sp>
        <p:nvSpPr>
          <p:cNvPr id="15" name="Shape 12"/>
          <p:cNvSpPr/>
          <p:nvPr/>
        </p:nvSpPr>
        <p:spPr>
          <a:xfrm>
            <a:off x="6071616" y="1234440"/>
            <a:ext cx="2697480" cy="2514600"/>
          </a:xfrm>
          <a:prstGeom prst="roundRect">
            <a:avLst>
              <a:gd name="adj" fmla="val 2909"/>
            </a:avLst>
          </a:prstGeom>
          <a:solidFill>
            <a:srgbClr val="E3F1F2"/>
          </a:solidFill>
          <a:ln w="12700">
            <a:solidFill>
              <a:srgbClr val="E3F1F2"/>
            </a:solidFill>
            <a:prstDash val="solid"/>
          </a:ln>
        </p:spPr>
        <p:txBody>
          <a:bodyPr/>
          <a:p/>
        </p:txBody>
      </p:sp>
      <p:sp>
        <p:nvSpPr>
          <p:cNvPr id="16" name="Text 13"/>
          <p:cNvSpPr txBox="1"/>
          <p:nvPr/>
        </p:nvSpPr>
        <p:spPr>
          <a:xfrm>
            <a:off x="6208776" y="1298448"/>
            <a:ext cx="2423160" cy="41148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Level 2 · CI/CD for the pipeline</a:t>
            </a:r>
            <a:endParaRPr lang="en-US" sz="1400" dirty="0"/>
          </a:p>
        </p:txBody>
      </p:sp>
      <p:sp>
        <p:nvSpPr>
          <p:cNvPr id="17" name="Text 14"/>
          <p:cNvSpPr txBox="1"/>
          <p:nvPr/>
        </p:nvSpPr>
        <p:spPr>
          <a:xfrm>
            <a:off x="6208776" y="1783080"/>
            <a:ext cx="2423160" cy="192024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Changes to the pipeline are built, tested and deployed automatically</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Data scientists try ideas safely and often</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Registry, metadata, triggers everywhere</a:t>
            </a:r>
            <a:endParaRPr lang="en-US" sz="1100" dirty="0"/>
          </a:p>
        </p:txBody>
      </p:sp>
      <p:sp>
        <p:nvSpPr>
          <p:cNvPr id="18" name="Shape 15"/>
          <p:cNvSpPr/>
          <p:nvPr/>
        </p:nvSpPr>
        <p:spPr>
          <a:xfrm>
            <a:off x="365760" y="393192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19" name="Image 0" descr="preencoded.png">    </p:cNvPr>
          <p:cNvPicPr>
            <a:picLocks noChangeAspect="1"/>
          </p:cNvPicPr>
          <p:nvPr/>
        </p:nvPicPr>
        <p:blipFill>
          <a:blip r:embed="rId1"/>
          <a:stretch>
            <a:fillRect/>
          </a:stretch>
        </p:blipFill>
        <p:spPr>
          <a:xfrm>
            <a:off x="502920" y="4069080"/>
            <a:ext cx="274320" cy="274320"/>
          </a:xfrm>
          <a:prstGeom prst="rect">
            <a:avLst/>
          </a:prstGeom>
        </p:spPr>
      </p:pic>
      <p:sp>
        <p:nvSpPr>
          <p:cNvPr id="20" name="Text 16"/>
          <p:cNvSpPr txBox="1"/>
          <p:nvPr/>
        </p:nvSpPr>
        <p:spPr>
          <a:xfrm>
            <a:off x="896112" y="3931920"/>
            <a:ext cx="7772400" cy="54864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Where was NorthRetail? Level 0. Where is IberBank after the Friday hotfix? Level 0, with a laptop. Most companies live here; the aim is Level 1.</a:t>
            </a:r>
            <a:endParaRPr lang="en-US" sz="1150" dirty="0"/>
          </a:p>
        </p:txBody>
      </p:sp>
      <p:sp>
        <p:nvSpPr>
          <p:cNvPr id="21" name="Text 17"/>
          <p:cNvSpPr txBox="1"/>
          <p:nvPr/>
        </p:nvSpPr>
        <p:spPr>
          <a:xfrm>
            <a:off x="365760" y="452628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Source: Google Cloud MLOps whitepaper</a:t>
            </a:r>
            <a:endParaRPr lang="en-US" sz="900" dirty="0"/>
          </a:p>
        </p:txBody>
      </p:sp>
      <p:pic>
        <p:nvPicPr>
          <p:cNvPr id="22"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automated pipeline, stage by stage, and what starts it</a:t>
            </a:r>
            <a:endParaRPr lang="en-US" sz="2400" dirty="0"/>
          </a:p>
        </p:txBody>
      </p:sp>
      <p:sp>
        <p:nvSpPr>
          <p:cNvPr id="7" name="Shape 4"/>
          <p:cNvSpPr/>
          <p:nvPr/>
        </p:nvSpPr>
        <p:spPr>
          <a:xfrm>
            <a:off x="365760" y="1280160"/>
            <a:ext cx="1447800" cy="640080"/>
          </a:xfrm>
          <a:prstGeom prst="chevron">
            <a:avLst/>
          </a:prstGeom>
          <a:solidFill>
            <a:srgbClr val="1B2A4A"/>
          </a:solidFill>
          <a:ln w="12700">
            <a:solidFill>
              <a:srgbClr val="FFFFFF"/>
            </a:solidFill>
            <a:prstDash val="solid"/>
          </a:ln>
        </p:spPr>
        <p:txBody>
          <a:bodyPr/>
          <a:p/>
        </p:txBody>
      </p:sp>
      <p:sp>
        <p:nvSpPr>
          <p:cNvPr id="8" name="Text 5"/>
          <p:cNvSpPr txBox="1"/>
          <p:nvPr/>
        </p:nvSpPr>
        <p:spPr>
          <a:xfrm>
            <a:off x="502920" y="1280160"/>
            <a:ext cx="121920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Experiment</a:t>
            </a:r>
            <a:endParaRPr lang="en-US" sz="1000" dirty="0"/>
          </a:p>
        </p:txBody>
      </p:sp>
      <p:sp>
        <p:nvSpPr>
          <p:cNvPr id="9" name="Shape 6"/>
          <p:cNvSpPr/>
          <p:nvPr/>
        </p:nvSpPr>
        <p:spPr>
          <a:xfrm>
            <a:off x="1767840" y="1280160"/>
            <a:ext cx="1447800" cy="640080"/>
          </a:xfrm>
          <a:prstGeom prst="chevron">
            <a:avLst/>
          </a:prstGeom>
          <a:solidFill>
            <a:srgbClr val="0E7C86"/>
          </a:solidFill>
          <a:ln w="12700">
            <a:solidFill>
              <a:srgbClr val="FFFFFF"/>
            </a:solidFill>
            <a:prstDash val="solid"/>
          </a:ln>
        </p:spPr>
        <p:txBody>
          <a:bodyPr/>
          <a:p/>
        </p:txBody>
      </p:sp>
      <p:sp>
        <p:nvSpPr>
          <p:cNvPr id="10" name="Text 7"/>
          <p:cNvSpPr txBox="1"/>
          <p:nvPr/>
        </p:nvSpPr>
        <p:spPr>
          <a:xfrm>
            <a:off x="1905000" y="1280160"/>
            <a:ext cx="121920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Pipeline CI</a:t>
            </a:r>
            <a:endParaRPr lang="en-US" sz="1000" dirty="0"/>
          </a:p>
        </p:txBody>
      </p:sp>
      <p:sp>
        <p:nvSpPr>
          <p:cNvPr id="11" name="Shape 8"/>
          <p:cNvSpPr/>
          <p:nvPr/>
        </p:nvSpPr>
        <p:spPr>
          <a:xfrm>
            <a:off x="3169920" y="1280160"/>
            <a:ext cx="1447800" cy="640080"/>
          </a:xfrm>
          <a:prstGeom prst="chevron">
            <a:avLst/>
          </a:prstGeom>
          <a:solidFill>
            <a:srgbClr val="1B2A4A"/>
          </a:solidFill>
          <a:ln w="12700">
            <a:solidFill>
              <a:srgbClr val="FFFFFF"/>
            </a:solidFill>
            <a:prstDash val="solid"/>
          </a:ln>
        </p:spPr>
        <p:txBody>
          <a:bodyPr/>
          <a:p/>
        </p:txBody>
      </p:sp>
      <p:sp>
        <p:nvSpPr>
          <p:cNvPr id="12" name="Text 9"/>
          <p:cNvSpPr txBox="1"/>
          <p:nvPr/>
        </p:nvSpPr>
        <p:spPr>
          <a:xfrm>
            <a:off x="3307080" y="1280160"/>
            <a:ext cx="121920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Pipeline CD</a:t>
            </a:r>
            <a:endParaRPr lang="en-US" sz="1000" dirty="0"/>
          </a:p>
        </p:txBody>
      </p:sp>
      <p:sp>
        <p:nvSpPr>
          <p:cNvPr id="13" name="Shape 10"/>
          <p:cNvSpPr/>
          <p:nvPr/>
        </p:nvSpPr>
        <p:spPr>
          <a:xfrm>
            <a:off x="4572000" y="1280160"/>
            <a:ext cx="1447800" cy="640080"/>
          </a:xfrm>
          <a:prstGeom prst="chevron">
            <a:avLst/>
          </a:prstGeom>
          <a:solidFill>
            <a:srgbClr val="0E7C86"/>
          </a:solidFill>
          <a:ln w="12700">
            <a:solidFill>
              <a:srgbClr val="FFFFFF"/>
            </a:solidFill>
            <a:prstDash val="solid"/>
          </a:ln>
        </p:spPr>
        <p:txBody>
          <a:bodyPr/>
          <a:p/>
        </p:txBody>
      </p:sp>
      <p:sp>
        <p:nvSpPr>
          <p:cNvPr id="14" name="Text 11"/>
          <p:cNvSpPr txBox="1"/>
          <p:nvPr/>
        </p:nvSpPr>
        <p:spPr>
          <a:xfrm>
            <a:off x="4709160" y="1280160"/>
            <a:ext cx="121920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Continuous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training</a:t>
            </a:r>
            <a:endParaRPr lang="en-US" sz="1000" dirty="0"/>
          </a:p>
        </p:txBody>
      </p:sp>
      <p:sp>
        <p:nvSpPr>
          <p:cNvPr id="15" name="Shape 12"/>
          <p:cNvSpPr/>
          <p:nvPr/>
        </p:nvSpPr>
        <p:spPr>
          <a:xfrm>
            <a:off x="5974080" y="1280160"/>
            <a:ext cx="1447800" cy="640080"/>
          </a:xfrm>
          <a:prstGeom prst="chevron">
            <a:avLst/>
          </a:prstGeom>
          <a:solidFill>
            <a:srgbClr val="1B2A4A"/>
          </a:solidFill>
          <a:ln w="12700">
            <a:solidFill>
              <a:srgbClr val="FFFFFF"/>
            </a:solidFill>
            <a:prstDash val="solid"/>
          </a:ln>
        </p:spPr>
        <p:txBody>
          <a:bodyPr/>
          <a:p/>
        </p:txBody>
      </p:sp>
      <p:sp>
        <p:nvSpPr>
          <p:cNvPr id="16" name="Text 13"/>
          <p:cNvSpPr txBox="1"/>
          <p:nvPr/>
        </p:nvSpPr>
        <p:spPr>
          <a:xfrm>
            <a:off x="6111240" y="1280160"/>
            <a:ext cx="121920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Model CD</a:t>
            </a:r>
            <a:endParaRPr lang="en-US" sz="1000" dirty="0"/>
          </a:p>
        </p:txBody>
      </p:sp>
      <p:sp>
        <p:nvSpPr>
          <p:cNvPr id="17" name="Shape 14"/>
          <p:cNvSpPr/>
          <p:nvPr/>
        </p:nvSpPr>
        <p:spPr>
          <a:xfrm>
            <a:off x="7376160" y="1280160"/>
            <a:ext cx="1447800" cy="640080"/>
          </a:xfrm>
          <a:prstGeom prst="chevron">
            <a:avLst/>
          </a:prstGeom>
          <a:solidFill>
            <a:srgbClr val="0E7C86"/>
          </a:solidFill>
          <a:ln w="12700">
            <a:solidFill>
              <a:srgbClr val="FFFFFF"/>
            </a:solidFill>
            <a:prstDash val="solid"/>
          </a:ln>
        </p:spPr>
        <p:txBody>
          <a:bodyPr/>
          <a:p/>
        </p:txBody>
      </p:sp>
      <p:sp>
        <p:nvSpPr>
          <p:cNvPr id="18" name="Text 15"/>
          <p:cNvSpPr txBox="1"/>
          <p:nvPr/>
        </p:nvSpPr>
        <p:spPr>
          <a:xfrm>
            <a:off x="7513320" y="1280160"/>
            <a:ext cx="121920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Monitoring</a:t>
            </a:r>
            <a:endParaRPr lang="en-US" sz="1000" dirty="0"/>
          </a:p>
        </p:txBody>
      </p:sp>
      <p:sp>
        <p:nvSpPr>
          <p:cNvPr id="19" name="Text 16"/>
          <p:cNvSpPr txBox="1"/>
          <p:nvPr/>
        </p:nvSpPr>
        <p:spPr>
          <a:xfrm>
            <a:off x="411480" y="2011680"/>
            <a:ext cx="1264920" cy="73152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Try algorithms and features; steps orchestrated</a:t>
            </a:r>
            <a:endParaRPr lang="en-US" sz="950" dirty="0"/>
          </a:p>
        </p:txBody>
      </p:sp>
      <p:sp>
        <p:nvSpPr>
          <p:cNvPr id="20" name="Text 17"/>
          <p:cNvSpPr txBox="1"/>
          <p:nvPr/>
        </p:nvSpPr>
        <p:spPr>
          <a:xfrm>
            <a:off x="1813560" y="2011680"/>
            <a:ext cx="1264920" cy="73152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Code pushed → built → tested (code and data)</a:t>
            </a:r>
            <a:endParaRPr lang="en-US" sz="950" dirty="0"/>
          </a:p>
        </p:txBody>
      </p:sp>
      <p:sp>
        <p:nvSpPr>
          <p:cNvPr id="21" name="Text 18"/>
          <p:cNvSpPr txBox="1"/>
          <p:nvPr/>
        </p:nvSpPr>
        <p:spPr>
          <a:xfrm>
            <a:off x="3215640" y="2011680"/>
            <a:ext cx="1264920" cy="73152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Pipeline deployed to the target environment</a:t>
            </a:r>
            <a:endParaRPr lang="en-US" sz="950" dirty="0"/>
          </a:p>
        </p:txBody>
      </p:sp>
      <p:sp>
        <p:nvSpPr>
          <p:cNvPr id="22" name="Text 19"/>
          <p:cNvSpPr txBox="1"/>
          <p:nvPr/>
        </p:nvSpPr>
        <p:spPr>
          <a:xfrm>
            <a:off x="4617720" y="2011680"/>
            <a:ext cx="1264920" cy="73152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Runs on new data → trained model → registry</a:t>
            </a:r>
            <a:endParaRPr lang="en-US" sz="950" dirty="0"/>
          </a:p>
        </p:txBody>
      </p:sp>
      <p:sp>
        <p:nvSpPr>
          <p:cNvPr id="23" name="Text 20"/>
          <p:cNvSpPr txBox="1"/>
          <p:nvPr/>
        </p:nvSpPr>
        <p:spPr>
          <a:xfrm>
            <a:off x="6019800" y="2011680"/>
            <a:ext cx="1264920" cy="73152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Model served as a prediction service</a:t>
            </a:r>
            <a:endParaRPr lang="en-US" sz="950" dirty="0"/>
          </a:p>
        </p:txBody>
      </p:sp>
      <p:sp>
        <p:nvSpPr>
          <p:cNvPr id="24" name="Text 21"/>
          <p:cNvSpPr txBox="1"/>
          <p:nvPr/>
        </p:nvSpPr>
        <p:spPr>
          <a:xfrm>
            <a:off x="7421880" y="2011680"/>
            <a:ext cx="1264920" cy="73152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Performance statistics → next trigger</a:t>
            </a:r>
            <a:endParaRPr lang="en-US" sz="950" dirty="0"/>
          </a:p>
        </p:txBody>
      </p:sp>
      <p:sp>
        <p:nvSpPr>
          <p:cNvPr id="25" name="Text 22"/>
          <p:cNvSpPr txBox="1"/>
          <p:nvPr/>
        </p:nvSpPr>
        <p:spPr>
          <a:xfrm>
            <a:off x="365760" y="2834640"/>
            <a:ext cx="8412480" cy="274320"/>
          </a:xfrm>
          <a:prstGeom prst="rect">
            <a:avLst/>
          </a:prstGeom>
          <a:noFill/>
          <a:ln/>
        </p:spPr>
        <p:txBody>
          <a:bodyPr wrap="square" lIns="0" tIns="0" rIns="0" bIns="0" rtlCol="0" anchor="t"/>
          <a:lstStyle/>
          <a:p>
            <a:pPr algn="l" indent="0" marL="0">
              <a:buNone/>
            </a:pPr>
            <a:r>
              <a:rPr lang="en-US" sz="1250" b="1" dirty="0">
                <a:solidFill>
                  <a:srgbClr val="0E7C86"/>
                </a:solidFill>
                <a:latin typeface="Calibri" pitchFamily="34" charset="0"/>
                <a:ea typeface="Calibri" pitchFamily="34" charset="-122"/>
                <a:cs typeface="Calibri" pitchFamily="34" charset="-120"/>
              </a:rPr>
              <a:t>What starts a run</a:t>
            </a:r>
            <a:endParaRPr lang="en-US" sz="1250" dirty="0"/>
          </a:p>
        </p:txBody>
      </p:sp>
      <p:sp>
        <p:nvSpPr>
          <p:cNvPr id="26" name="Shape 23"/>
          <p:cNvSpPr/>
          <p:nvPr/>
        </p:nvSpPr>
        <p:spPr>
          <a:xfrm>
            <a:off x="365760" y="3200400"/>
            <a:ext cx="420624" cy="420624"/>
          </a:xfrm>
          <a:prstGeom prst="ellipse">
            <a:avLst/>
          </a:prstGeom>
          <a:solidFill>
            <a:srgbClr val="0E7C86"/>
          </a:solidFill>
          <a:ln w="12700">
            <a:solidFill>
              <a:srgbClr val="0E7C86"/>
            </a:solidFill>
            <a:prstDash val="solid"/>
          </a:ln>
        </p:spPr>
        <p:txBody>
          <a:bodyPr/>
          <a:p/>
        </p:txBody>
      </p:sp>
      <p:pic>
        <p:nvPicPr>
          <p:cNvPr id="27" name="Image 0" descr="preencoded.png">    </p:cNvPr>
          <p:cNvPicPr>
            <a:picLocks noChangeAspect="1"/>
          </p:cNvPicPr>
          <p:nvPr/>
        </p:nvPicPr>
        <p:blipFill>
          <a:blip r:embed="rId1"/>
          <a:stretch>
            <a:fillRect/>
          </a:stretch>
        </p:blipFill>
        <p:spPr>
          <a:xfrm>
            <a:off x="457200" y="3291840"/>
            <a:ext cx="237744" cy="237744"/>
          </a:xfrm>
          <a:prstGeom prst="rect">
            <a:avLst/>
          </a:prstGeom>
        </p:spPr>
      </p:pic>
      <p:sp>
        <p:nvSpPr>
          <p:cNvPr id="28" name="Text 24"/>
          <p:cNvSpPr txBox="1"/>
          <p:nvPr/>
        </p:nvSpPr>
        <p:spPr>
          <a:xfrm>
            <a:off x="914400" y="3182112"/>
            <a:ext cx="14630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 push</a:t>
            </a:r>
            <a:endParaRPr lang="en-US" sz="1200" dirty="0"/>
          </a:p>
        </p:txBody>
      </p:sp>
      <p:sp>
        <p:nvSpPr>
          <p:cNvPr id="29" name="Text 25"/>
          <p:cNvSpPr txBox="1"/>
          <p:nvPr/>
        </p:nvSpPr>
        <p:spPr>
          <a:xfrm>
            <a:off x="914400" y="3438144"/>
            <a:ext cx="1463040" cy="365760"/>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Someone changed code.</a:t>
            </a:r>
            <a:endParaRPr lang="en-US" sz="1050" dirty="0"/>
          </a:p>
        </p:txBody>
      </p:sp>
      <p:sp>
        <p:nvSpPr>
          <p:cNvPr id="30" name="Shape 26"/>
          <p:cNvSpPr/>
          <p:nvPr/>
        </p:nvSpPr>
        <p:spPr>
          <a:xfrm>
            <a:off x="2514600" y="3200400"/>
            <a:ext cx="420624" cy="420624"/>
          </a:xfrm>
          <a:prstGeom prst="ellipse">
            <a:avLst/>
          </a:prstGeom>
          <a:solidFill>
            <a:srgbClr val="0E7C86"/>
          </a:solidFill>
          <a:ln w="12700">
            <a:solidFill>
              <a:srgbClr val="0E7C86"/>
            </a:solidFill>
            <a:prstDash val="solid"/>
          </a:ln>
        </p:spPr>
        <p:txBody>
          <a:bodyPr/>
          <a:p/>
        </p:txBody>
      </p:sp>
      <p:pic>
        <p:nvPicPr>
          <p:cNvPr id="31" name="Image 1" descr="preencoded.png">    </p:cNvPr>
          <p:cNvPicPr>
            <a:picLocks noChangeAspect="1"/>
          </p:cNvPicPr>
          <p:nvPr/>
        </p:nvPicPr>
        <p:blipFill>
          <a:blip r:embed="rId2"/>
          <a:stretch>
            <a:fillRect/>
          </a:stretch>
        </p:blipFill>
        <p:spPr>
          <a:xfrm>
            <a:off x="2606040" y="3291840"/>
            <a:ext cx="237744" cy="237744"/>
          </a:xfrm>
          <a:prstGeom prst="rect">
            <a:avLst/>
          </a:prstGeom>
        </p:spPr>
      </p:pic>
      <p:sp>
        <p:nvSpPr>
          <p:cNvPr id="32" name="Text 27"/>
          <p:cNvSpPr txBox="1"/>
          <p:nvPr/>
        </p:nvSpPr>
        <p:spPr>
          <a:xfrm>
            <a:off x="3063240" y="3182112"/>
            <a:ext cx="14630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 schedule</a:t>
            </a:r>
            <a:endParaRPr lang="en-US" sz="1200" dirty="0"/>
          </a:p>
        </p:txBody>
      </p:sp>
      <p:sp>
        <p:nvSpPr>
          <p:cNvPr id="33" name="Text 28"/>
          <p:cNvSpPr txBox="1"/>
          <p:nvPr/>
        </p:nvSpPr>
        <p:spPr>
          <a:xfrm>
            <a:off x="3063240" y="3438144"/>
            <a:ext cx="1463040" cy="365760"/>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Every night at 2 a.m.</a:t>
            </a:r>
            <a:endParaRPr lang="en-US" sz="1050" dirty="0"/>
          </a:p>
        </p:txBody>
      </p:sp>
      <p:sp>
        <p:nvSpPr>
          <p:cNvPr id="34" name="Shape 29"/>
          <p:cNvSpPr/>
          <p:nvPr/>
        </p:nvSpPr>
        <p:spPr>
          <a:xfrm>
            <a:off x="4663440" y="3200400"/>
            <a:ext cx="420624" cy="420624"/>
          </a:xfrm>
          <a:prstGeom prst="ellipse">
            <a:avLst/>
          </a:prstGeom>
          <a:solidFill>
            <a:srgbClr val="0E7C86"/>
          </a:solidFill>
          <a:ln w="12700">
            <a:solidFill>
              <a:srgbClr val="0E7C86"/>
            </a:solidFill>
            <a:prstDash val="solid"/>
          </a:ln>
        </p:spPr>
        <p:txBody>
          <a:bodyPr/>
          <a:p/>
        </p:txBody>
      </p:sp>
      <p:pic>
        <p:nvPicPr>
          <p:cNvPr id="35" name="Image 2" descr="preencoded.png">    </p:cNvPr>
          <p:cNvPicPr>
            <a:picLocks noChangeAspect="1"/>
          </p:cNvPicPr>
          <p:nvPr/>
        </p:nvPicPr>
        <p:blipFill>
          <a:blip r:embed="rId3"/>
          <a:stretch>
            <a:fillRect/>
          </a:stretch>
        </p:blipFill>
        <p:spPr>
          <a:xfrm>
            <a:off x="4754880" y="3291840"/>
            <a:ext cx="237744" cy="237744"/>
          </a:xfrm>
          <a:prstGeom prst="rect">
            <a:avLst/>
          </a:prstGeom>
        </p:spPr>
      </p:pic>
      <p:sp>
        <p:nvSpPr>
          <p:cNvPr id="36" name="Text 30"/>
          <p:cNvSpPr txBox="1"/>
          <p:nvPr/>
        </p:nvSpPr>
        <p:spPr>
          <a:xfrm>
            <a:off x="5212080" y="3182112"/>
            <a:ext cx="14630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New data</a:t>
            </a:r>
            <a:endParaRPr lang="en-US" sz="1200" dirty="0"/>
          </a:p>
        </p:txBody>
      </p:sp>
      <p:sp>
        <p:nvSpPr>
          <p:cNvPr id="37" name="Text 31"/>
          <p:cNvSpPr txBox="1"/>
          <p:nvPr/>
        </p:nvSpPr>
        <p:spPr>
          <a:xfrm>
            <a:off x="5212080" y="3438144"/>
            <a:ext cx="1463040" cy="365760"/>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A new extract landed.</a:t>
            </a:r>
            <a:endParaRPr lang="en-US" sz="1050" dirty="0"/>
          </a:p>
        </p:txBody>
      </p:sp>
      <p:sp>
        <p:nvSpPr>
          <p:cNvPr id="38" name="Shape 32"/>
          <p:cNvSpPr/>
          <p:nvPr/>
        </p:nvSpPr>
        <p:spPr>
          <a:xfrm>
            <a:off x="6812280" y="3200400"/>
            <a:ext cx="420624" cy="420624"/>
          </a:xfrm>
          <a:prstGeom prst="ellipse">
            <a:avLst/>
          </a:prstGeom>
          <a:solidFill>
            <a:srgbClr val="0E7C86"/>
          </a:solidFill>
          <a:ln w="12700">
            <a:solidFill>
              <a:srgbClr val="0E7C86"/>
            </a:solidFill>
            <a:prstDash val="solid"/>
          </a:ln>
        </p:spPr>
        <p:txBody>
          <a:bodyPr/>
          <a:p/>
        </p:txBody>
      </p:sp>
      <p:pic>
        <p:nvPicPr>
          <p:cNvPr id="39" name="Image 3" descr="preencoded.png">    </p:cNvPr>
          <p:cNvPicPr>
            <a:picLocks noChangeAspect="1"/>
          </p:cNvPicPr>
          <p:nvPr/>
        </p:nvPicPr>
        <p:blipFill>
          <a:blip r:embed="rId4"/>
          <a:stretch>
            <a:fillRect/>
          </a:stretch>
        </p:blipFill>
        <p:spPr>
          <a:xfrm>
            <a:off x="6903720" y="3291840"/>
            <a:ext cx="237744" cy="237744"/>
          </a:xfrm>
          <a:prstGeom prst="rect">
            <a:avLst/>
          </a:prstGeom>
        </p:spPr>
      </p:pic>
      <p:sp>
        <p:nvSpPr>
          <p:cNvPr id="40" name="Text 33"/>
          <p:cNvSpPr txBox="1"/>
          <p:nvPr/>
        </p:nvSpPr>
        <p:spPr>
          <a:xfrm>
            <a:off x="7360920" y="3182112"/>
            <a:ext cx="14630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 performance signal</a:t>
            </a:r>
            <a:endParaRPr lang="en-US" sz="1200" dirty="0"/>
          </a:p>
        </p:txBody>
      </p:sp>
      <p:sp>
        <p:nvSpPr>
          <p:cNvPr id="41" name="Text 34"/>
          <p:cNvSpPr txBox="1"/>
          <p:nvPr/>
        </p:nvSpPr>
        <p:spPr>
          <a:xfrm>
            <a:off x="7360920" y="3438144"/>
            <a:ext cx="1463040" cy="365760"/>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Accuracy fell below a line (S7).</a:t>
            </a:r>
            <a:endParaRPr lang="en-US" sz="1050" dirty="0"/>
          </a:p>
        </p:txBody>
      </p:sp>
      <p:sp>
        <p:nvSpPr>
          <p:cNvPr id="42" name="Shape 35"/>
          <p:cNvSpPr/>
          <p:nvPr/>
        </p:nvSpPr>
        <p:spPr>
          <a:xfrm>
            <a:off x="365760" y="402336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43" name="Image 4" descr="preencoded.png">    </p:cNvPr>
          <p:cNvPicPr>
            <a:picLocks noChangeAspect="1"/>
          </p:cNvPicPr>
          <p:nvPr/>
        </p:nvPicPr>
        <p:blipFill>
          <a:blip r:embed="rId5"/>
          <a:stretch>
            <a:fillRect/>
          </a:stretch>
        </p:blipFill>
        <p:spPr>
          <a:xfrm>
            <a:off x="502920" y="4114800"/>
            <a:ext cx="274320" cy="274320"/>
          </a:xfrm>
          <a:prstGeom prst="rect">
            <a:avLst/>
          </a:prstGeom>
        </p:spPr>
      </p:pic>
      <p:sp>
        <p:nvSpPr>
          <p:cNvPr id="44" name="Text 36"/>
          <p:cNvSpPr txBox="1"/>
          <p:nvPr/>
        </p:nvSpPr>
        <p:spPr>
          <a:xfrm>
            <a:off x="896112" y="4023360"/>
            <a:ext cx="7772400" cy="45720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Level 1 is the middle of this drawing running on its own. Level 2 is the left half running on its own too.</a:t>
            </a:r>
            <a:endParaRPr lang="en-US" sz="1150" dirty="0"/>
          </a:p>
        </p:txBody>
      </p:sp>
      <p:pic>
        <p:nvPicPr>
          <p:cNvPr id="45" name="IE University logo" descr="IE University, School of Science &amp; Technology"/>
          <p:cNvPicPr>
            <a:picLocks noChangeAspect="1"/>
          </p:cNvPicPr>
          <p:nvPr/>
        </p:nvPicPr>
        <p:blipFill>
          <a:blip r:embed="rId8"/>
          <a:stretch>
            <a:fillRect/>
          </a:stretch>
        </p:blipFill>
        <p:spPr>
          <a:xfrm>
            <a:off x="8013607" y="92634"/>
            <a:ext cx="764633" cy="2627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9</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Tests: for code, for data, for models</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What a pipeline checks before anything reaches production</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ML test pyramid: code tests, data tests, model tests</a:t>
            </a:r>
            <a:endParaRPr lang="en-US" sz="2400" dirty="0"/>
          </a:p>
        </p:txBody>
      </p:sp>
      <p:sp>
        <p:nvSpPr>
          <p:cNvPr id="7" name="Shape 4"/>
          <p:cNvSpPr/>
          <p:nvPr/>
        </p:nvSpPr>
        <p:spPr>
          <a:xfrm>
            <a:off x="2926080" y="1234440"/>
            <a:ext cx="3291840" cy="914400"/>
          </a:xfrm>
          <a:prstGeom prst="roundRect">
            <a:avLst>
              <a:gd name="adj" fmla="val 8000"/>
            </a:avLst>
          </a:prstGeom>
          <a:solidFill>
            <a:srgbClr val="E07A2F"/>
          </a:solidFill>
          <a:ln w="12700">
            <a:solidFill>
              <a:srgbClr val="E07A2F"/>
            </a:solidFill>
            <a:prstDash val="solid"/>
          </a:ln>
        </p:spPr>
        <p:txBody>
          <a:bodyPr/>
          <a:p/>
        </p:txBody>
      </p:sp>
      <p:sp>
        <p:nvSpPr>
          <p:cNvPr id="8" name="Text 5"/>
          <p:cNvSpPr txBox="1"/>
          <p:nvPr/>
        </p:nvSpPr>
        <p:spPr>
          <a:xfrm>
            <a:off x="3063240" y="1280160"/>
            <a:ext cx="301752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Model tests · every candidate</a:t>
            </a:r>
            <a:endParaRPr lang="en-US" sz="1250" dirty="0"/>
          </a:p>
        </p:txBody>
      </p:sp>
      <p:sp>
        <p:nvSpPr>
          <p:cNvPr id="9" name="Text 6"/>
          <p:cNvSpPr txBox="1"/>
          <p:nvPr/>
        </p:nvSpPr>
        <p:spPr>
          <a:xfrm>
            <a:off x="3063240" y="1600200"/>
            <a:ext cx="3017520" cy="5029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Minimum metric on a fixed evaluation set · not worse than production · fairness by segment · latency and memory within budget</a:t>
            </a:r>
            <a:endParaRPr lang="en-US" sz="1050" dirty="0"/>
          </a:p>
        </p:txBody>
      </p:sp>
      <p:sp>
        <p:nvSpPr>
          <p:cNvPr id="10" name="Shape 7"/>
          <p:cNvSpPr/>
          <p:nvPr/>
        </p:nvSpPr>
        <p:spPr>
          <a:xfrm>
            <a:off x="2011680" y="2258568"/>
            <a:ext cx="5120640" cy="914400"/>
          </a:xfrm>
          <a:prstGeom prst="roundRect">
            <a:avLst>
              <a:gd name="adj" fmla="val 8000"/>
            </a:avLst>
          </a:prstGeom>
          <a:solidFill>
            <a:srgbClr val="0E7C86"/>
          </a:solidFill>
          <a:ln w="12700">
            <a:solidFill>
              <a:srgbClr val="0E7C86"/>
            </a:solidFill>
            <a:prstDash val="solid"/>
          </a:ln>
        </p:spPr>
        <p:txBody>
          <a:bodyPr/>
          <a:p/>
        </p:txBody>
      </p:sp>
      <p:sp>
        <p:nvSpPr>
          <p:cNvPr id="11" name="Text 8"/>
          <p:cNvSpPr txBox="1"/>
          <p:nvPr/>
        </p:nvSpPr>
        <p:spPr>
          <a:xfrm>
            <a:off x="2148840" y="2304288"/>
            <a:ext cx="484632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tests · every new extract</a:t>
            </a:r>
            <a:endParaRPr lang="en-US" sz="1250" dirty="0"/>
          </a:p>
        </p:txBody>
      </p:sp>
      <p:sp>
        <p:nvSpPr>
          <p:cNvPr id="12" name="Text 9"/>
          <p:cNvSpPr txBox="1"/>
          <p:nvPr/>
        </p:nvSpPr>
        <p:spPr>
          <a:xfrm>
            <a:off x="2148840" y="2624328"/>
            <a:ext cx="4846320" cy="5029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Schema (columns, types) · ranges and allowed values · freshness · volume · no leakage</a:t>
            </a:r>
            <a:endParaRPr lang="en-US" sz="1050" dirty="0"/>
          </a:p>
        </p:txBody>
      </p:sp>
      <p:sp>
        <p:nvSpPr>
          <p:cNvPr id="13" name="Shape 10"/>
          <p:cNvSpPr/>
          <p:nvPr/>
        </p:nvSpPr>
        <p:spPr>
          <a:xfrm>
            <a:off x="1097280" y="3282696"/>
            <a:ext cx="6949440" cy="914400"/>
          </a:xfrm>
          <a:prstGeom prst="roundRect">
            <a:avLst>
              <a:gd name="adj" fmla="val 8000"/>
            </a:avLst>
          </a:prstGeom>
          <a:solidFill>
            <a:srgbClr val="1B2A4A"/>
          </a:solidFill>
          <a:ln w="12700">
            <a:solidFill>
              <a:srgbClr val="1B2A4A"/>
            </a:solidFill>
            <a:prstDash val="solid"/>
          </a:ln>
        </p:spPr>
        <p:txBody>
          <a:bodyPr/>
          <a:p/>
        </p:txBody>
      </p:sp>
      <p:sp>
        <p:nvSpPr>
          <p:cNvPr id="14" name="Text 11"/>
          <p:cNvSpPr txBox="1"/>
          <p:nvPr/>
        </p:nvSpPr>
        <p:spPr>
          <a:xfrm>
            <a:off x="1234440" y="3328416"/>
            <a:ext cx="667512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Code tests · every push</a:t>
            </a:r>
            <a:endParaRPr lang="en-US" sz="1250" dirty="0"/>
          </a:p>
        </p:txBody>
      </p:sp>
      <p:sp>
        <p:nvSpPr>
          <p:cNvPr id="15" name="Text 12"/>
          <p:cNvSpPr txBox="1"/>
          <p:nvPr/>
        </p:nvSpPr>
        <p:spPr>
          <a:xfrm>
            <a:off x="1234440" y="3648456"/>
            <a:ext cx="6675120" cy="5029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Unit tests: does each function do what it says? · Integration tests: do the steps fit together? · seconds, automatic</a:t>
            </a:r>
            <a:endParaRPr lang="en-US" sz="1050" dirty="0"/>
          </a:p>
        </p:txBody>
      </p:sp>
      <p:sp>
        <p:nvSpPr>
          <p:cNvPr id="16" name="Shape 13"/>
          <p:cNvSpPr/>
          <p:nvPr/>
        </p:nvSpPr>
        <p:spPr>
          <a:xfrm>
            <a:off x="365760" y="4343400"/>
            <a:ext cx="8412480" cy="411480"/>
          </a:xfrm>
          <a:prstGeom prst="roundRect">
            <a:avLst>
              <a:gd name="adj" fmla="val 17778"/>
            </a:avLst>
          </a:prstGeom>
          <a:solidFill>
            <a:srgbClr val="E3F1F2"/>
          </a:solidFill>
          <a:ln w="12700">
            <a:solidFill>
              <a:srgbClr val="E3F1F2"/>
            </a:solidFill>
            <a:prstDash val="solid"/>
          </a:ln>
        </p:spPr>
        <p:txBody>
          <a:bodyPr/>
          <a:p/>
        </p:txBody>
      </p:sp>
      <p:pic>
        <p:nvPicPr>
          <p:cNvPr id="17" name="Image 0" descr="preencoded.png">    </p:cNvPr>
          <p:cNvPicPr>
            <a:picLocks noChangeAspect="1"/>
          </p:cNvPicPr>
          <p:nvPr/>
        </p:nvPicPr>
        <p:blipFill>
          <a:blip r:embed="rId1"/>
          <a:stretch>
            <a:fillRect/>
          </a:stretch>
        </p:blipFill>
        <p:spPr>
          <a:xfrm>
            <a:off x="502920" y="4411980"/>
            <a:ext cx="274320" cy="274320"/>
          </a:xfrm>
          <a:prstGeom prst="rect">
            <a:avLst/>
          </a:prstGeom>
        </p:spPr>
      </p:pic>
      <p:sp>
        <p:nvSpPr>
          <p:cNvPr id="18" name="Text 14"/>
          <p:cNvSpPr txBox="1"/>
          <p:nvPr/>
        </p:nvSpPr>
        <p:spPr>
          <a:xfrm>
            <a:off x="896112" y="4343400"/>
            <a:ext cx="7772400" cy="4114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Cheap and frequent at the bottom, expensive and rare at the top. A failure at any layer stops the pipeline: nothing reaches production without passing all three.</a:t>
            </a:r>
            <a:endParaRPr lang="en-US" sz="1100" dirty="0"/>
          </a:p>
        </p:txBody>
      </p:sp>
      <p:pic>
        <p:nvPicPr>
          <p:cNvPr id="19"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What a pipeline run looks like</a:t>
            </a:r>
            <a:endParaRPr lang="en-US" sz="2400" dirty="0"/>
          </a:p>
        </p:txBody>
      </p:sp>
      <p:sp>
        <p:nvSpPr>
          <p:cNvPr id="7" name="Shape 4"/>
          <p:cNvSpPr/>
          <p:nvPr/>
        </p:nvSpPr>
        <p:spPr>
          <a:xfrm>
            <a:off x="365760" y="1280160"/>
            <a:ext cx="420624" cy="420624"/>
          </a:xfrm>
          <a:prstGeom prst="ellipse">
            <a:avLst/>
          </a:prstGeom>
          <a:solidFill>
            <a:srgbClr val="0E7C86"/>
          </a:solidFill>
          <a:ln w="12700">
            <a:solidFill>
              <a:srgbClr val="0E7C86"/>
            </a:solidFill>
            <a:prstDash val="solid"/>
          </a:ln>
        </p:spPr>
        <p:txBody>
          <a:bodyPr/>
          <a:p/>
        </p:txBody>
      </p:sp>
      <p:pic>
        <p:nvPicPr>
          <p:cNvPr id="8" name="Image 0" descr="preencoded.png">    </p:cNvPr>
          <p:cNvPicPr>
            <a:picLocks noChangeAspect="1"/>
          </p:cNvPicPr>
          <p:nvPr/>
        </p:nvPicPr>
        <p:blipFill>
          <a:blip r:embed="rId1"/>
          <a:stretch>
            <a:fillRect/>
          </a:stretch>
        </p:blipFill>
        <p:spPr>
          <a:xfrm>
            <a:off x="457200" y="1371600"/>
            <a:ext cx="237744" cy="237744"/>
          </a:xfrm>
          <a:prstGeom prst="rect">
            <a:avLst/>
          </a:prstGeom>
        </p:spPr>
      </p:pic>
      <p:sp>
        <p:nvSpPr>
          <p:cNvPr id="9" name="Text 5"/>
          <p:cNvSpPr txBox="1"/>
          <p:nvPr/>
        </p:nvSpPr>
        <p:spPr>
          <a:xfrm>
            <a:off x="914400" y="12618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 green run</a:t>
            </a:r>
            <a:endParaRPr lang="en-US" sz="1300" dirty="0"/>
          </a:p>
        </p:txBody>
      </p:sp>
      <p:sp>
        <p:nvSpPr>
          <p:cNvPr id="10" name="Text 6"/>
          <p:cNvSpPr txBox="1"/>
          <p:nvPr/>
        </p:nvSpPr>
        <p:spPr>
          <a:xfrm>
            <a:off x="914400" y="1517904"/>
            <a:ext cx="3474720" cy="5486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Someone pushed a change; four steps ran; every one passed. The change may go on.</a:t>
            </a:r>
            <a:endParaRPr lang="en-US" sz="1100" dirty="0"/>
          </a:p>
        </p:txBody>
      </p:sp>
      <p:sp>
        <p:nvSpPr>
          <p:cNvPr id="11" name="Shape 7"/>
          <p:cNvSpPr/>
          <p:nvPr/>
        </p:nvSpPr>
        <p:spPr>
          <a:xfrm>
            <a:off x="365760" y="2240280"/>
            <a:ext cx="420624" cy="420624"/>
          </a:xfrm>
          <a:prstGeom prst="ellipse">
            <a:avLst/>
          </a:prstGeom>
          <a:solidFill>
            <a:srgbClr val="B42318"/>
          </a:solidFill>
          <a:ln w="12700">
            <a:solidFill>
              <a:srgbClr val="B42318"/>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57200" y="2331720"/>
            <a:ext cx="237744" cy="237744"/>
          </a:xfrm>
          <a:prstGeom prst="rect">
            <a:avLst/>
          </a:prstGeom>
        </p:spPr>
      </p:pic>
      <p:sp>
        <p:nvSpPr>
          <p:cNvPr id="13" name="Text 8"/>
          <p:cNvSpPr txBox="1"/>
          <p:nvPr/>
        </p:nvSpPr>
        <p:spPr>
          <a:xfrm>
            <a:off x="914400" y="222199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 red run</a:t>
            </a:r>
            <a:endParaRPr lang="en-US" sz="1300" dirty="0"/>
          </a:p>
        </p:txBody>
      </p:sp>
      <p:sp>
        <p:nvSpPr>
          <p:cNvPr id="14" name="Text 9"/>
          <p:cNvSpPr txBox="1"/>
          <p:nvPr/>
        </p:nvSpPr>
        <p:spPr>
          <a:xfrm>
            <a:off x="914400" y="2478024"/>
            <a:ext cx="3474720" cy="68580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A new data extract arrived with a feature 70% empty. The pipeline stopped at "Validate data". Nothing was trained; nothing was deployed.</a:t>
            </a:r>
            <a:endParaRPr lang="en-US" sz="1100" dirty="0"/>
          </a:p>
        </p:txBody>
      </p:sp>
      <p:sp>
        <p:nvSpPr>
          <p:cNvPr id="15" name="Shape 10"/>
          <p:cNvSpPr/>
          <p:nvPr/>
        </p:nvSpPr>
        <p:spPr>
          <a:xfrm>
            <a:off x="365760" y="3291840"/>
            <a:ext cx="420624" cy="420624"/>
          </a:xfrm>
          <a:prstGeom prst="ellipse">
            <a:avLst/>
          </a:prstGeom>
          <a:solidFill>
            <a:srgbClr val="0E7C86"/>
          </a:solidFill>
          <a:ln w="12700">
            <a:solidFill>
              <a:srgbClr val="0E7C86"/>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57200" y="3383280"/>
            <a:ext cx="237744" cy="237744"/>
          </a:xfrm>
          <a:prstGeom prst="rect">
            <a:avLst/>
          </a:prstGeom>
        </p:spPr>
      </p:pic>
      <p:sp>
        <p:nvSpPr>
          <p:cNvPr id="17" name="Text 11"/>
          <p:cNvSpPr txBox="1"/>
          <p:nvPr/>
        </p:nvSpPr>
        <p:spPr>
          <a:xfrm>
            <a:off x="914400" y="327355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 record</a:t>
            </a:r>
            <a:endParaRPr lang="en-US" sz="1300" dirty="0"/>
          </a:p>
        </p:txBody>
      </p:sp>
      <p:sp>
        <p:nvSpPr>
          <p:cNvPr id="18" name="Text 12"/>
          <p:cNvSpPr txBox="1"/>
          <p:nvPr/>
        </p:nvSpPr>
        <p:spPr>
          <a:xfrm>
            <a:off x="914400" y="3529584"/>
            <a:ext cx="3474720" cy="5486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Every run is kept: who triggered it, which commit, which step failed, the full log. Auditors like this.</a:t>
            </a:r>
            <a:endParaRPr lang="en-US" sz="1100" dirty="0"/>
          </a:p>
        </p:txBody>
      </p:sp>
      <p:sp>
        <p:nvSpPr>
          <p:cNvPr id="19" name="Shape 13"/>
          <p:cNvSpPr/>
          <p:nvPr/>
        </p:nvSpPr>
        <p:spPr>
          <a:xfrm>
            <a:off x="4754880" y="1234440"/>
            <a:ext cx="4023360" cy="3108960"/>
          </a:xfrm>
          <a:prstGeom prst="roundRect">
            <a:avLst>
              <a:gd name="adj" fmla="val 2353"/>
            </a:avLst>
          </a:prstGeom>
          <a:solidFill>
            <a:srgbClr val="1B2A4A"/>
          </a:solidFill>
          <a:ln w="12700">
            <a:solidFill>
              <a:srgbClr val="1B2A4A"/>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6309360" y="1463040"/>
            <a:ext cx="914400" cy="914400"/>
          </a:xfrm>
          <a:prstGeom prst="rect">
            <a:avLst/>
          </a:prstGeom>
        </p:spPr>
      </p:pic>
      <p:sp>
        <p:nvSpPr>
          <p:cNvPr id="21" name="Text 14"/>
          <p:cNvSpPr txBox="1"/>
          <p:nvPr/>
        </p:nvSpPr>
        <p:spPr>
          <a:xfrm>
            <a:off x="4937760" y="2468880"/>
            <a:ext cx="36576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Live demo · 6 minutes</a:t>
            </a:r>
            <a:endParaRPr lang="en-US" sz="1600" dirty="0"/>
          </a:p>
        </p:txBody>
      </p:sp>
      <p:sp>
        <p:nvSpPr>
          <p:cNvPr id="22" name="Text 15"/>
          <p:cNvSpPr txBox="1"/>
          <p:nvPr/>
        </p:nvSpPr>
        <p:spPr>
          <a:xfrm>
            <a:off x="5029200" y="2880360"/>
            <a:ext cx="3474720" cy="137160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GitHub Actions on the demo repository: the green run on main, the red run on the broken extract, and the log line that stopped it. No commands.</a:t>
            </a:r>
            <a:endParaRPr lang="en-US" sz="1200" dirty="0"/>
          </a:p>
        </p:txBody>
      </p:sp>
      <p:pic>
        <p:nvPicPr>
          <p:cNvPr id="23"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What you just saw</a:t>
            </a:r>
            <a:endParaRPr lang="en-US" sz="2400" dirty="0"/>
          </a:p>
        </p:txBody>
      </p:sp>
      <p:sp>
        <p:nvSpPr>
          <p:cNvPr id="7" name="Shape 4"/>
          <p:cNvSpPr/>
          <p:nvPr/>
        </p:nvSpPr>
        <p:spPr>
          <a:xfrm>
            <a:off x="365760" y="1280160"/>
            <a:ext cx="2697480" cy="2011680"/>
          </a:xfrm>
          <a:prstGeom prst="roundRect">
            <a:avLst>
              <a:gd name="adj" fmla="val 3636"/>
            </a:avLst>
          </a:prstGeom>
          <a:solidFill>
            <a:srgbClr val="F3F5F8"/>
          </a:solidFill>
          <a:ln w="12700">
            <a:solidFill>
              <a:srgbClr val="F3F5F8"/>
            </a:solidFill>
            <a:prstDash val="solid"/>
          </a:ln>
        </p:spPr>
        <p:txBody>
          <a:bodyPr/>
          <a:p/>
        </p:txBody>
      </p:sp>
      <p:sp>
        <p:nvSpPr>
          <p:cNvPr id="8" name="Shape 5"/>
          <p:cNvSpPr/>
          <p:nvPr/>
        </p:nvSpPr>
        <p:spPr>
          <a:xfrm>
            <a:off x="502920" y="139903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72184"/>
            <a:ext cx="201168" cy="201168"/>
          </a:xfrm>
          <a:prstGeom prst="rect">
            <a:avLst/>
          </a:prstGeom>
        </p:spPr>
      </p:pic>
      <p:sp>
        <p:nvSpPr>
          <p:cNvPr id="10" name="Text 6"/>
          <p:cNvSpPr txBox="1"/>
          <p:nvPr/>
        </p:nvSpPr>
        <p:spPr>
          <a:xfrm>
            <a:off x="932688" y="137160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It ran by itself</a:t>
            </a:r>
            <a:endParaRPr lang="en-US" sz="1300" dirty="0"/>
          </a:p>
        </p:txBody>
      </p:sp>
      <p:sp>
        <p:nvSpPr>
          <p:cNvPr id="11" name="Text 7"/>
          <p:cNvSpPr txBox="1"/>
          <p:nvPr/>
        </p:nvSpPr>
        <p:spPr>
          <a:xfrm>
            <a:off x="502920" y="1828800"/>
            <a:ext cx="2423160" cy="1371600"/>
          </a:xfrm>
          <a:prstGeom prst="rect">
            <a:avLst/>
          </a:prstGeom>
          <a:noFill/>
          <a:ln/>
        </p:spPr>
        <p:txBody>
          <a:bodyPr wrap="square" lIns="0" tIns="0" rIns="0" bIns="0" rtlCol="0" anchor="t"/>
          <a:lstStyle/>
          <a:p>
            <a:pPr algn="l" indent="0" marL="0">
              <a:buNone/>
            </a:pPr>
            <a:r>
              <a:rPr lang="en-US" sz="1200" dirty="0">
                <a:solidFill>
                  <a:srgbClr val="222222"/>
                </a:solidFill>
                <a:latin typeface="Calibri" pitchFamily="34" charset="0"/>
                <a:ea typeface="Calibri" pitchFamily="34" charset="-122"/>
                <a:cs typeface="Calibri" pitchFamily="34" charset="-120"/>
              </a:rPr>
              <a:t>A push is the trigger. Nobody has to remember to run the tests, and nobody can forget to.</a:t>
            </a:r>
            <a:endParaRPr lang="en-US" sz="1200" dirty="0"/>
          </a:p>
        </p:txBody>
      </p:sp>
      <p:sp>
        <p:nvSpPr>
          <p:cNvPr id="12" name="Shape 8"/>
          <p:cNvSpPr/>
          <p:nvPr/>
        </p:nvSpPr>
        <p:spPr>
          <a:xfrm>
            <a:off x="3218688" y="1280160"/>
            <a:ext cx="2697480" cy="2011680"/>
          </a:xfrm>
          <a:prstGeom prst="roundRect">
            <a:avLst>
              <a:gd name="adj" fmla="val 3636"/>
            </a:avLst>
          </a:prstGeom>
          <a:solidFill>
            <a:srgbClr val="F3F5F8"/>
          </a:solidFill>
          <a:ln w="12700">
            <a:solidFill>
              <a:srgbClr val="F3F5F8"/>
            </a:solidFill>
            <a:prstDash val="solid"/>
          </a:ln>
        </p:spPr>
        <p:txBody>
          <a:bodyPr/>
          <a:p/>
        </p:txBody>
      </p:sp>
      <p:sp>
        <p:nvSpPr>
          <p:cNvPr id="13" name="Shape 9"/>
          <p:cNvSpPr/>
          <p:nvPr/>
        </p:nvSpPr>
        <p:spPr>
          <a:xfrm>
            <a:off x="3355848" y="1399032"/>
            <a:ext cx="347472" cy="347472"/>
          </a:xfrm>
          <a:prstGeom prst="ellipse">
            <a:avLst/>
          </a:prstGeom>
          <a:solidFill>
            <a:srgbClr val="B42318"/>
          </a:solidFill>
          <a:ln w="12700">
            <a:solidFill>
              <a:srgbClr val="B42318"/>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3429000" y="1472184"/>
            <a:ext cx="201168" cy="201168"/>
          </a:xfrm>
          <a:prstGeom prst="rect">
            <a:avLst/>
          </a:prstGeom>
        </p:spPr>
      </p:pic>
      <p:sp>
        <p:nvSpPr>
          <p:cNvPr id="15" name="Text 10"/>
          <p:cNvSpPr txBox="1"/>
          <p:nvPr/>
        </p:nvSpPr>
        <p:spPr>
          <a:xfrm>
            <a:off x="3785616" y="137160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It stopped at the data test</a:t>
            </a:r>
            <a:endParaRPr lang="en-US" sz="1300" dirty="0"/>
          </a:p>
        </p:txBody>
      </p:sp>
      <p:sp>
        <p:nvSpPr>
          <p:cNvPr id="16" name="Text 11"/>
          <p:cNvSpPr txBox="1"/>
          <p:nvPr/>
        </p:nvSpPr>
        <p:spPr>
          <a:xfrm>
            <a:off x="3355848" y="1828800"/>
            <a:ext cx="2423160" cy="1371600"/>
          </a:xfrm>
          <a:prstGeom prst="rect">
            <a:avLst/>
          </a:prstGeom>
          <a:noFill/>
          <a:ln/>
        </p:spPr>
        <p:txBody>
          <a:bodyPr wrap="square" lIns="0" tIns="0" rIns="0" bIns="0" rtlCol="0" anchor="t"/>
          <a:lstStyle/>
          <a:p>
            <a:pPr algn="l" indent="0" marL="0">
              <a:buNone/>
            </a:pPr>
            <a:r>
              <a:rPr lang="en-US" sz="1200" dirty="0">
                <a:solidFill>
                  <a:srgbClr val="222222"/>
                </a:solidFill>
                <a:latin typeface="Calibri" pitchFamily="34" charset="0"/>
                <a:ea typeface="Calibri" pitchFamily="34" charset="-122"/>
                <a:cs typeface="Calibri" pitchFamily="34" charset="-120"/>
              </a:rPr>
              <a:t>Before training, before deployment, with a message a human can read. That is what "validation is a control" means.</a:t>
            </a:r>
            <a:endParaRPr lang="en-US" sz="1200" dirty="0"/>
          </a:p>
        </p:txBody>
      </p:sp>
      <p:sp>
        <p:nvSpPr>
          <p:cNvPr id="17" name="Shape 12"/>
          <p:cNvSpPr/>
          <p:nvPr/>
        </p:nvSpPr>
        <p:spPr>
          <a:xfrm>
            <a:off x="6080760" y="1280160"/>
            <a:ext cx="2697480" cy="2011680"/>
          </a:xfrm>
          <a:prstGeom prst="roundRect">
            <a:avLst>
              <a:gd name="adj" fmla="val 3636"/>
            </a:avLst>
          </a:prstGeom>
          <a:solidFill>
            <a:srgbClr val="F3F5F8"/>
          </a:solidFill>
          <a:ln w="12700">
            <a:solidFill>
              <a:srgbClr val="F3F5F8"/>
            </a:solidFill>
            <a:prstDash val="solid"/>
          </a:ln>
        </p:spPr>
        <p:txBody>
          <a:bodyPr/>
          <a:p/>
        </p:txBody>
      </p:sp>
      <p:sp>
        <p:nvSpPr>
          <p:cNvPr id="18" name="Shape 13"/>
          <p:cNvSpPr/>
          <p:nvPr/>
        </p:nvSpPr>
        <p:spPr>
          <a:xfrm>
            <a:off x="6217920" y="1399032"/>
            <a:ext cx="347472" cy="347472"/>
          </a:xfrm>
          <a:prstGeom prst="ellipse">
            <a:avLst/>
          </a:prstGeom>
          <a:solidFill>
            <a:srgbClr val="0E7C86"/>
          </a:solidFill>
          <a:ln w="12700">
            <a:solidFill>
              <a:srgbClr val="0E7C86"/>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6291072" y="1472184"/>
            <a:ext cx="201168" cy="201168"/>
          </a:xfrm>
          <a:prstGeom prst="rect">
            <a:avLst/>
          </a:prstGeom>
        </p:spPr>
      </p:pic>
      <p:sp>
        <p:nvSpPr>
          <p:cNvPr id="20" name="Text 14"/>
          <p:cNvSpPr txBox="1"/>
          <p:nvPr/>
        </p:nvSpPr>
        <p:spPr>
          <a:xfrm>
            <a:off x="6647688" y="137160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It left a record</a:t>
            </a:r>
            <a:endParaRPr lang="en-US" sz="1300" dirty="0"/>
          </a:p>
        </p:txBody>
      </p:sp>
      <p:sp>
        <p:nvSpPr>
          <p:cNvPr id="21" name="Text 15"/>
          <p:cNvSpPr txBox="1"/>
          <p:nvPr/>
        </p:nvSpPr>
        <p:spPr>
          <a:xfrm>
            <a:off x="6217920" y="1828800"/>
            <a:ext cx="2423160" cy="1371600"/>
          </a:xfrm>
          <a:prstGeom prst="rect">
            <a:avLst/>
          </a:prstGeom>
          <a:noFill/>
          <a:ln/>
        </p:spPr>
        <p:txBody>
          <a:bodyPr wrap="square" lIns="0" tIns="0" rIns="0" bIns="0" rtlCol="0" anchor="t"/>
          <a:lstStyle/>
          <a:p>
            <a:pPr algn="l" indent="0" marL="0">
              <a:buNone/>
            </a:pPr>
            <a:r>
              <a:rPr lang="en-US" sz="1200" dirty="0">
                <a:solidFill>
                  <a:srgbClr val="222222"/>
                </a:solidFill>
                <a:latin typeface="Calibri" pitchFamily="34" charset="0"/>
                <a:ea typeface="Calibri" pitchFamily="34" charset="-122"/>
                <a:cs typeface="Calibri" pitchFamily="34" charset="-120"/>
              </a:rPr>
              <a:t>Commit, author, time, every log line. When the regulator asks "what did you check before releasing?", this is the answer.</a:t>
            </a:r>
            <a:endParaRPr lang="en-US" sz="1200" dirty="0"/>
          </a:p>
        </p:txBody>
      </p:sp>
      <p:sp>
        <p:nvSpPr>
          <p:cNvPr id="22" name="Shape 16"/>
          <p:cNvSpPr/>
          <p:nvPr/>
        </p:nvSpPr>
        <p:spPr>
          <a:xfrm>
            <a:off x="365760" y="356616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23" name="Image 3" descr="preencoded.png">    </p:cNvPr>
          <p:cNvPicPr>
            <a:picLocks noChangeAspect="1"/>
          </p:cNvPicPr>
          <p:nvPr/>
        </p:nvPicPr>
        <p:blipFill>
          <a:blip r:embed="rId4"/>
          <a:stretch>
            <a:fillRect/>
          </a:stretch>
        </p:blipFill>
        <p:spPr>
          <a:xfrm>
            <a:off x="502920" y="3703320"/>
            <a:ext cx="274320" cy="274320"/>
          </a:xfrm>
          <a:prstGeom prst="rect">
            <a:avLst/>
          </a:prstGeom>
        </p:spPr>
      </p:pic>
      <p:sp>
        <p:nvSpPr>
          <p:cNvPr id="24" name="Text 17"/>
          <p:cNvSpPr txBox="1"/>
          <p:nvPr/>
        </p:nvSpPr>
        <p:spPr>
          <a:xfrm>
            <a:off x="896112" y="3566160"/>
            <a:ext cx="7772400" cy="548640"/>
          </a:xfrm>
          <a:prstGeom prst="rect">
            <a:avLst/>
          </a:prstGeom>
          <a:noFill/>
          <a:ln/>
        </p:spPr>
        <p:txBody>
          <a:bodyPr wrap="square" lIns="0" tIns="0" rIns="0" bIns="0" rtlCol="0" anchor="ctr"/>
          <a:lstStyle/>
          <a:p>
            <a:pPr indent="0" marL="0">
              <a:buNone/>
            </a:pPr>
            <a:r>
              <a:rPr lang="en-US" sz="1200" dirty="0">
                <a:solidFill>
                  <a:srgbClr val="1B2A4A"/>
                </a:solidFill>
                <a:latin typeface="Calibri" pitchFamily="34" charset="0"/>
                <a:ea typeface="Calibri" pitchFamily="34" charset="-122"/>
                <a:cs typeface="Calibri" pitchFamily="34" charset="-120"/>
              </a:rPr>
              <a:t>The pipeline decided the change was safe. Next: what exactly gets shipped, and how it reaches customers.</a:t>
            </a:r>
            <a:endParaRPr lang="en-US" sz="1200" dirty="0"/>
          </a:p>
        </p:txBody>
      </p:sp>
      <p:pic>
        <p:nvPicPr>
          <p:cNvPr id="25"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What gets shipped: the ML artefact is more than the model file</a:t>
            </a:r>
            <a:endParaRPr lang="en-US" sz="2400" dirty="0"/>
          </a:p>
        </p:txBody>
      </p:sp>
      <p:sp>
        <p:nvSpPr>
          <p:cNvPr id="7" name="Shape 4"/>
          <p:cNvSpPr/>
          <p:nvPr/>
        </p:nvSpPr>
        <p:spPr>
          <a:xfrm>
            <a:off x="365760" y="1234440"/>
            <a:ext cx="2011680" cy="1234440"/>
          </a:xfrm>
          <a:prstGeom prst="roundRect">
            <a:avLst>
              <a:gd name="adj" fmla="val 5926"/>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1371600" cy="402336"/>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Code</a:t>
            </a:r>
            <a:endParaRPr lang="en-US" sz="1250" dirty="0"/>
          </a:p>
        </p:txBody>
      </p:sp>
      <p:sp>
        <p:nvSpPr>
          <p:cNvPr id="11" name="Text 7"/>
          <p:cNvSpPr txBox="1"/>
          <p:nvPr/>
        </p:nvSpPr>
        <p:spPr>
          <a:xfrm>
            <a:off x="502920" y="1783080"/>
            <a:ext cx="1737360" cy="640080"/>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model and pre-processing</a:t>
            </a:r>
            <a:endParaRPr lang="en-US" sz="1050" dirty="0"/>
          </a:p>
        </p:txBody>
      </p:sp>
      <p:sp>
        <p:nvSpPr>
          <p:cNvPr id="12" name="Shape 8"/>
          <p:cNvSpPr/>
          <p:nvPr/>
        </p:nvSpPr>
        <p:spPr>
          <a:xfrm>
            <a:off x="2496312" y="1234440"/>
            <a:ext cx="2011680" cy="1234440"/>
          </a:xfrm>
          <a:prstGeom prst="roundRect">
            <a:avLst>
              <a:gd name="adj" fmla="val 5926"/>
            </a:avLst>
          </a:prstGeom>
          <a:solidFill>
            <a:srgbClr val="F3F5F8"/>
          </a:solidFill>
          <a:ln w="12700">
            <a:solidFill>
              <a:srgbClr val="F3F5F8"/>
            </a:solidFill>
            <a:prstDash val="solid"/>
          </a:ln>
        </p:spPr>
        <p:txBody>
          <a:bodyPr/>
          <a:p/>
        </p:txBody>
      </p:sp>
      <p:sp>
        <p:nvSpPr>
          <p:cNvPr id="13" name="Shape 9"/>
          <p:cNvSpPr/>
          <p:nvPr/>
        </p:nvSpPr>
        <p:spPr>
          <a:xfrm>
            <a:off x="2633472"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2706624" y="1426464"/>
            <a:ext cx="201168" cy="201168"/>
          </a:xfrm>
          <a:prstGeom prst="rect">
            <a:avLst/>
          </a:prstGeom>
        </p:spPr>
      </p:pic>
      <p:sp>
        <p:nvSpPr>
          <p:cNvPr id="15" name="Text 10"/>
          <p:cNvSpPr txBox="1"/>
          <p:nvPr/>
        </p:nvSpPr>
        <p:spPr>
          <a:xfrm>
            <a:off x="3063240" y="1325880"/>
            <a:ext cx="1371600" cy="402336"/>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Configuration</a:t>
            </a:r>
            <a:endParaRPr lang="en-US" sz="1250" dirty="0"/>
          </a:p>
        </p:txBody>
      </p:sp>
      <p:sp>
        <p:nvSpPr>
          <p:cNvPr id="16" name="Text 11"/>
          <p:cNvSpPr txBox="1"/>
          <p:nvPr/>
        </p:nvSpPr>
        <p:spPr>
          <a:xfrm>
            <a:off x="2633472" y="1783080"/>
            <a:ext cx="1737360" cy="640080"/>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hyperparameters, settings</a:t>
            </a:r>
            <a:endParaRPr lang="en-US" sz="1050" dirty="0"/>
          </a:p>
        </p:txBody>
      </p:sp>
      <p:sp>
        <p:nvSpPr>
          <p:cNvPr id="17" name="Shape 12"/>
          <p:cNvSpPr/>
          <p:nvPr/>
        </p:nvSpPr>
        <p:spPr>
          <a:xfrm>
            <a:off x="4626864" y="1234440"/>
            <a:ext cx="2011680" cy="1234440"/>
          </a:xfrm>
          <a:prstGeom prst="roundRect">
            <a:avLst>
              <a:gd name="adj" fmla="val 5926"/>
            </a:avLst>
          </a:prstGeom>
          <a:solidFill>
            <a:srgbClr val="F3F5F8"/>
          </a:solidFill>
          <a:ln w="12700">
            <a:solidFill>
              <a:srgbClr val="F3F5F8"/>
            </a:solidFill>
            <a:prstDash val="solid"/>
          </a:ln>
        </p:spPr>
        <p:txBody>
          <a:bodyPr/>
          <a:p/>
        </p:txBody>
      </p:sp>
      <p:sp>
        <p:nvSpPr>
          <p:cNvPr id="18" name="Shape 13"/>
          <p:cNvSpPr/>
          <p:nvPr/>
        </p:nvSpPr>
        <p:spPr>
          <a:xfrm>
            <a:off x="4764024" y="1353312"/>
            <a:ext cx="347472" cy="347472"/>
          </a:xfrm>
          <a:prstGeom prst="ellipse">
            <a:avLst/>
          </a:prstGeom>
          <a:solidFill>
            <a:srgbClr val="0E7C86"/>
          </a:solidFill>
          <a:ln w="12700">
            <a:solidFill>
              <a:srgbClr val="0E7C86"/>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4837176" y="1426464"/>
            <a:ext cx="201168" cy="201168"/>
          </a:xfrm>
          <a:prstGeom prst="rect">
            <a:avLst/>
          </a:prstGeom>
        </p:spPr>
      </p:pic>
      <p:sp>
        <p:nvSpPr>
          <p:cNvPr id="20" name="Text 14"/>
          <p:cNvSpPr txBox="1"/>
          <p:nvPr/>
        </p:nvSpPr>
        <p:spPr>
          <a:xfrm>
            <a:off x="5193792" y="1325880"/>
            <a:ext cx="1371600" cy="402336"/>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Data reference</a:t>
            </a:r>
            <a:endParaRPr lang="en-US" sz="1250" dirty="0"/>
          </a:p>
        </p:txBody>
      </p:sp>
      <p:sp>
        <p:nvSpPr>
          <p:cNvPr id="21" name="Text 15"/>
          <p:cNvSpPr txBox="1"/>
          <p:nvPr/>
        </p:nvSpPr>
        <p:spPr>
          <a:xfrm>
            <a:off x="4764024" y="1783080"/>
            <a:ext cx="1737360" cy="640080"/>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training and validation data: version, hash</a:t>
            </a:r>
            <a:endParaRPr lang="en-US" sz="1050" dirty="0"/>
          </a:p>
        </p:txBody>
      </p:sp>
      <p:sp>
        <p:nvSpPr>
          <p:cNvPr id="22" name="Shape 16"/>
          <p:cNvSpPr/>
          <p:nvPr/>
        </p:nvSpPr>
        <p:spPr>
          <a:xfrm>
            <a:off x="6757416" y="1234440"/>
            <a:ext cx="2011680" cy="1234440"/>
          </a:xfrm>
          <a:prstGeom prst="roundRect">
            <a:avLst>
              <a:gd name="adj" fmla="val 5926"/>
            </a:avLst>
          </a:prstGeom>
          <a:solidFill>
            <a:srgbClr val="F3F5F8"/>
          </a:solidFill>
          <a:ln w="12700">
            <a:solidFill>
              <a:srgbClr val="F3F5F8"/>
            </a:solidFill>
            <a:prstDash val="solid"/>
          </a:ln>
        </p:spPr>
        <p:txBody>
          <a:bodyPr/>
          <a:p/>
        </p:txBody>
      </p:sp>
      <p:sp>
        <p:nvSpPr>
          <p:cNvPr id="23" name="Shape 17"/>
          <p:cNvSpPr/>
          <p:nvPr/>
        </p:nvSpPr>
        <p:spPr>
          <a:xfrm>
            <a:off x="6894576" y="1353312"/>
            <a:ext cx="347472" cy="347472"/>
          </a:xfrm>
          <a:prstGeom prst="ellipse">
            <a:avLst/>
          </a:prstGeom>
          <a:solidFill>
            <a:srgbClr val="0E7C86"/>
          </a:solidFill>
          <a:ln w="12700">
            <a:solidFill>
              <a:srgbClr val="0E7C86"/>
            </a:solidFill>
            <a:prstDash val="solid"/>
          </a:ln>
        </p:spPr>
        <p:txBody>
          <a:bodyPr/>
          <a:p/>
        </p:txBody>
      </p:sp>
      <p:pic>
        <p:nvPicPr>
          <p:cNvPr id="24" name="Image 3" descr="preencoded.png">    </p:cNvPr>
          <p:cNvPicPr>
            <a:picLocks noChangeAspect="1"/>
          </p:cNvPicPr>
          <p:nvPr/>
        </p:nvPicPr>
        <p:blipFill>
          <a:blip r:embed="rId4"/>
          <a:stretch>
            <a:fillRect/>
          </a:stretch>
        </p:blipFill>
        <p:spPr>
          <a:xfrm>
            <a:off x="6967728" y="1426464"/>
            <a:ext cx="201168" cy="201168"/>
          </a:xfrm>
          <a:prstGeom prst="rect">
            <a:avLst/>
          </a:prstGeom>
        </p:spPr>
      </p:pic>
      <p:sp>
        <p:nvSpPr>
          <p:cNvPr id="25" name="Text 18"/>
          <p:cNvSpPr txBox="1"/>
          <p:nvPr/>
        </p:nvSpPr>
        <p:spPr>
          <a:xfrm>
            <a:off x="7324344" y="1325880"/>
            <a:ext cx="1371600" cy="402336"/>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The model</a:t>
            </a:r>
            <a:endParaRPr lang="en-US" sz="1250" dirty="0"/>
          </a:p>
        </p:txBody>
      </p:sp>
      <p:sp>
        <p:nvSpPr>
          <p:cNvPr id="26" name="Text 19"/>
          <p:cNvSpPr txBox="1"/>
          <p:nvPr/>
        </p:nvSpPr>
        <p:spPr>
          <a:xfrm>
            <a:off x="6894576" y="1783080"/>
            <a:ext cx="1737360" cy="640080"/>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trained, in runnable form</a:t>
            </a:r>
            <a:endParaRPr lang="en-US" sz="1050" dirty="0"/>
          </a:p>
        </p:txBody>
      </p:sp>
      <p:sp>
        <p:nvSpPr>
          <p:cNvPr id="27" name="Shape 20"/>
          <p:cNvSpPr/>
          <p:nvPr/>
        </p:nvSpPr>
        <p:spPr>
          <a:xfrm>
            <a:off x="365760" y="2606040"/>
            <a:ext cx="2011680" cy="1234440"/>
          </a:xfrm>
          <a:prstGeom prst="roundRect">
            <a:avLst>
              <a:gd name="adj" fmla="val 5926"/>
            </a:avLst>
          </a:prstGeom>
          <a:solidFill>
            <a:srgbClr val="F3F5F8"/>
          </a:solidFill>
          <a:ln w="12700">
            <a:solidFill>
              <a:srgbClr val="F3F5F8"/>
            </a:solidFill>
            <a:prstDash val="solid"/>
          </a:ln>
        </p:spPr>
        <p:txBody>
          <a:bodyPr/>
          <a:p/>
        </p:txBody>
      </p:sp>
      <p:sp>
        <p:nvSpPr>
          <p:cNvPr id="28" name="Shape 21"/>
          <p:cNvSpPr/>
          <p:nvPr/>
        </p:nvSpPr>
        <p:spPr>
          <a:xfrm>
            <a:off x="502920" y="2724912"/>
            <a:ext cx="347472" cy="347472"/>
          </a:xfrm>
          <a:prstGeom prst="ellipse">
            <a:avLst/>
          </a:prstGeom>
          <a:solidFill>
            <a:srgbClr val="0E7C86"/>
          </a:solidFill>
          <a:ln w="12700">
            <a:solidFill>
              <a:srgbClr val="0E7C86"/>
            </a:solidFill>
            <a:prstDash val="solid"/>
          </a:ln>
        </p:spPr>
        <p:txBody>
          <a:bodyPr/>
          <a:p/>
        </p:txBody>
      </p:sp>
      <p:pic>
        <p:nvPicPr>
          <p:cNvPr id="29" name="Image 4" descr="preencoded.png">    </p:cNvPr>
          <p:cNvPicPr>
            <a:picLocks noChangeAspect="1"/>
          </p:cNvPicPr>
          <p:nvPr/>
        </p:nvPicPr>
        <p:blipFill>
          <a:blip r:embed="rId5"/>
          <a:stretch>
            <a:fillRect/>
          </a:stretch>
        </p:blipFill>
        <p:spPr>
          <a:xfrm>
            <a:off x="576072" y="2798064"/>
            <a:ext cx="201168" cy="201168"/>
          </a:xfrm>
          <a:prstGeom prst="rect">
            <a:avLst/>
          </a:prstGeom>
        </p:spPr>
      </p:pic>
      <p:sp>
        <p:nvSpPr>
          <p:cNvPr id="30" name="Text 22"/>
          <p:cNvSpPr txBox="1"/>
          <p:nvPr/>
        </p:nvSpPr>
        <p:spPr>
          <a:xfrm>
            <a:off x="932688" y="2697480"/>
            <a:ext cx="1371600" cy="402336"/>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The environment</a:t>
            </a:r>
            <a:endParaRPr lang="en-US" sz="1250" dirty="0"/>
          </a:p>
        </p:txBody>
      </p:sp>
      <p:sp>
        <p:nvSpPr>
          <p:cNvPr id="31" name="Text 23"/>
          <p:cNvSpPr txBox="1"/>
          <p:nvPr/>
        </p:nvSpPr>
        <p:spPr>
          <a:xfrm>
            <a:off x="502920" y="3154680"/>
            <a:ext cx="1737360" cy="640080"/>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libraries with exact versions, system dependencies</a:t>
            </a:r>
            <a:endParaRPr lang="en-US" sz="1050" dirty="0"/>
          </a:p>
        </p:txBody>
      </p:sp>
      <p:sp>
        <p:nvSpPr>
          <p:cNvPr id="32" name="Shape 24"/>
          <p:cNvSpPr/>
          <p:nvPr/>
        </p:nvSpPr>
        <p:spPr>
          <a:xfrm>
            <a:off x="2496312" y="2606040"/>
            <a:ext cx="2011680" cy="1234440"/>
          </a:xfrm>
          <a:prstGeom prst="roundRect">
            <a:avLst>
              <a:gd name="adj" fmla="val 5926"/>
            </a:avLst>
          </a:prstGeom>
          <a:solidFill>
            <a:srgbClr val="F3F5F8"/>
          </a:solidFill>
          <a:ln w="12700">
            <a:solidFill>
              <a:srgbClr val="F3F5F8"/>
            </a:solidFill>
            <a:prstDash val="solid"/>
          </a:ln>
        </p:spPr>
        <p:txBody>
          <a:bodyPr/>
          <a:p/>
        </p:txBody>
      </p:sp>
      <p:sp>
        <p:nvSpPr>
          <p:cNvPr id="33" name="Shape 25"/>
          <p:cNvSpPr/>
          <p:nvPr/>
        </p:nvSpPr>
        <p:spPr>
          <a:xfrm>
            <a:off x="2633472" y="2724912"/>
            <a:ext cx="347472" cy="347472"/>
          </a:xfrm>
          <a:prstGeom prst="ellipse">
            <a:avLst/>
          </a:prstGeom>
          <a:solidFill>
            <a:srgbClr val="0E7C86"/>
          </a:solidFill>
          <a:ln w="12700">
            <a:solidFill>
              <a:srgbClr val="0E7C86"/>
            </a:solidFill>
            <a:prstDash val="solid"/>
          </a:ln>
        </p:spPr>
        <p:txBody>
          <a:bodyPr/>
          <a:p/>
        </p:txBody>
      </p:sp>
      <p:pic>
        <p:nvPicPr>
          <p:cNvPr id="34" name="Image 5" descr="preencoded.png">    </p:cNvPr>
          <p:cNvPicPr>
            <a:picLocks noChangeAspect="1"/>
          </p:cNvPicPr>
          <p:nvPr/>
        </p:nvPicPr>
        <p:blipFill>
          <a:blip r:embed="rId6"/>
          <a:stretch>
            <a:fillRect/>
          </a:stretch>
        </p:blipFill>
        <p:spPr>
          <a:xfrm>
            <a:off x="2706624" y="2798064"/>
            <a:ext cx="201168" cy="201168"/>
          </a:xfrm>
          <a:prstGeom prst="rect">
            <a:avLst/>
          </a:prstGeom>
        </p:spPr>
      </p:pic>
      <p:sp>
        <p:nvSpPr>
          <p:cNvPr id="35" name="Text 26"/>
          <p:cNvSpPr txBox="1"/>
          <p:nvPr/>
        </p:nvSpPr>
        <p:spPr>
          <a:xfrm>
            <a:off x="3063240" y="2697480"/>
            <a:ext cx="1371600" cy="402336"/>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Documentation</a:t>
            </a:r>
            <a:endParaRPr lang="en-US" sz="1250" dirty="0"/>
          </a:p>
        </p:txBody>
      </p:sp>
      <p:sp>
        <p:nvSpPr>
          <p:cNvPr id="36" name="Text 27"/>
          <p:cNvSpPr txBox="1"/>
          <p:nvPr/>
        </p:nvSpPr>
        <p:spPr>
          <a:xfrm>
            <a:off x="2633472" y="3154680"/>
            <a:ext cx="1737360" cy="640080"/>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the model card: owner, metrics, retrain trigger</a:t>
            </a:r>
            <a:endParaRPr lang="en-US" sz="1050" dirty="0"/>
          </a:p>
        </p:txBody>
      </p:sp>
      <p:sp>
        <p:nvSpPr>
          <p:cNvPr id="37" name="Shape 28"/>
          <p:cNvSpPr/>
          <p:nvPr/>
        </p:nvSpPr>
        <p:spPr>
          <a:xfrm>
            <a:off x="4626864" y="2606040"/>
            <a:ext cx="2011680" cy="1234440"/>
          </a:xfrm>
          <a:prstGeom prst="roundRect">
            <a:avLst>
              <a:gd name="adj" fmla="val 5926"/>
            </a:avLst>
          </a:prstGeom>
          <a:solidFill>
            <a:srgbClr val="F3F5F8"/>
          </a:solidFill>
          <a:ln w="12700">
            <a:solidFill>
              <a:srgbClr val="F3F5F8"/>
            </a:solidFill>
            <a:prstDash val="solid"/>
          </a:ln>
        </p:spPr>
        <p:txBody>
          <a:bodyPr/>
          <a:p/>
        </p:txBody>
      </p:sp>
      <p:sp>
        <p:nvSpPr>
          <p:cNvPr id="38" name="Shape 29"/>
          <p:cNvSpPr/>
          <p:nvPr/>
        </p:nvSpPr>
        <p:spPr>
          <a:xfrm>
            <a:off x="4764024" y="2724912"/>
            <a:ext cx="347472" cy="347472"/>
          </a:xfrm>
          <a:prstGeom prst="ellipse">
            <a:avLst/>
          </a:prstGeom>
          <a:solidFill>
            <a:srgbClr val="0E7C86"/>
          </a:solidFill>
          <a:ln w="12700">
            <a:solidFill>
              <a:srgbClr val="0E7C86"/>
            </a:solidFill>
            <a:prstDash val="solid"/>
          </a:ln>
        </p:spPr>
        <p:txBody>
          <a:bodyPr/>
          <a:p/>
        </p:txBody>
      </p:sp>
      <p:pic>
        <p:nvPicPr>
          <p:cNvPr id="39" name="Image 6" descr="preencoded.png">    </p:cNvPr>
          <p:cNvPicPr>
            <a:picLocks noChangeAspect="1"/>
          </p:cNvPicPr>
          <p:nvPr/>
        </p:nvPicPr>
        <p:blipFill>
          <a:blip r:embed="rId7"/>
          <a:stretch>
            <a:fillRect/>
          </a:stretch>
        </p:blipFill>
        <p:spPr>
          <a:xfrm>
            <a:off x="4837176" y="2798064"/>
            <a:ext cx="201168" cy="201168"/>
          </a:xfrm>
          <a:prstGeom prst="rect">
            <a:avLst/>
          </a:prstGeom>
        </p:spPr>
      </p:pic>
      <p:sp>
        <p:nvSpPr>
          <p:cNvPr id="40" name="Text 30"/>
          <p:cNvSpPr txBox="1"/>
          <p:nvPr/>
        </p:nvSpPr>
        <p:spPr>
          <a:xfrm>
            <a:off x="5193792" y="2697480"/>
            <a:ext cx="1371600" cy="402336"/>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Test scenarios</a:t>
            </a:r>
            <a:endParaRPr lang="en-US" sz="1250" dirty="0"/>
          </a:p>
        </p:txBody>
      </p:sp>
      <p:sp>
        <p:nvSpPr>
          <p:cNvPr id="41" name="Text 31"/>
          <p:cNvSpPr txBox="1"/>
          <p:nvPr/>
        </p:nvSpPr>
        <p:spPr>
          <a:xfrm>
            <a:off x="4764024" y="3154680"/>
            <a:ext cx="1737360" cy="640080"/>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code and data to re-test it anywhere</a:t>
            </a:r>
            <a:endParaRPr lang="en-US" sz="1050" dirty="0"/>
          </a:p>
        </p:txBody>
      </p:sp>
      <p:sp>
        <p:nvSpPr>
          <p:cNvPr id="42" name="Shape 32"/>
          <p:cNvSpPr/>
          <p:nvPr/>
        </p:nvSpPr>
        <p:spPr>
          <a:xfrm>
            <a:off x="6757416" y="2606040"/>
            <a:ext cx="2011680" cy="1234440"/>
          </a:xfrm>
          <a:prstGeom prst="roundRect">
            <a:avLst>
              <a:gd name="adj" fmla="val 5926"/>
            </a:avLst>
          </a:prstGeom>
          <a:solidFill>
            <a:srgbClr val="FBE9DC"/>
          </a:solidFill>
          <a:ln w="12700">
            <a:solidFill>
              <a:srgbClr val="FBE9DC"/>
            </a:solidFill>
            <a:prstDash val="solid"/>
          </a:ln>
        </p:spPr>
        <p:txBody>
          <a:bodyPr/>
          <a:p/>
        </p:txBody>
      </p:sp>
      <p:sp>
        <p:nvSpPr>
          <p:cNvPr id="43" name="Text 33"/>
          <p:cNvSpPr txBox="1"/>
          <p:nvPr/>
        </p:nvSpPr>
        <p:spPr>
          <a:xfrm>
            <a:off x="6894576" y="2697480"/>
            <a:ext cx="1737360" cy="109728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Shipping only the .pkl file is how the laptop-to-production failures of Session 3 happen.</a:t>
            </a:r>
            <a:endParaRPr lang="en-US" sz="1050" dirty="0"/>
          </a:p>
        </p:txBody>
      </p:sp>
      <p:sp>
        <p:nvSpPr>
          <p:cNvPr id="44" name="Text 34"/>
          <p:cNvSpPr txBox="1"/>
          <p:nvPr/>
        </p:nvSpPr>
        <p:spPr>
          <a:xfrm>
            <a:off x="365760" y="406908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Adapted from Treveil et al., Introducing MLOps (O'Reilly, 2020)</a:t>
            </a:r>
            <a:endParaRPr lang="en-US" sz="900" dirty="0"/>
          </a:p>
        </p:txBody>
      </p:sp>
      <p:pic>
        <p:nvPicPr>
          <p:cNvPr id="45" name="IE University logo" descr="IE University, School of Science &amp; Technology"/>
          <p:cNvPicPr>
            <a:picLocks noChangeAspect="1"/>
          </p:cNvPicPr>
          <p:nvPr/>
        </p:nvPicPr>
        <p:blipFill>
          <a:blip r:embed="rId10"/>
          <a:stretch>
            <a:fillRect/>
          </a:stretch>
        </p:blipFill>
        <p:spPr>
          <a:xfrm>
            <a:off x="8013607" y="92634"/>
            <a:ext cx="764633" cy="2627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Four ways a model serves: real-time, batch, stream, edge</a:t>
            </a:r>
            <a:endParaRPr lang="en-US" sz="2400" dirty="0"/>
          </a:p>
        </p:txBody>
      </p:sp>
      <p:sp>
        <p:nvSpPr>
          <p:cNvPr id="7" name="Shape 4"/>
          <p:cNvSpPr/>
          <p:nvPr/>
        </p:nvSpPr>
        <p:spPr>
          <a:xfrm>
            <a:off x="365760" y="1234440"/>
            <a:ext cx="2011680" cy="2926080"/>
          </a:xfrm>
          <a:prstGeom prst="roundRect">
            <a:avLst>
              <a:gd name="adj" fmla="val 3636"/>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13258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Real-time</a:t>
            </a:r>
            <a:endParaRPr lang="en-US" sz="1300" dirty="0"/>
          </a:p>
        </p:txBody>
      </p:sp>
      <p:sp>
        <p:nvSpPr>
          <p:cNvPr id="11" name="Text 7"/>
          <p:cNvSpPr txBox="1"/>
          <p:nvPr/>
        </p:nvSpPr>
        <p:spPr>
          <a:xfrm>
            <a:off x="502920" y="1783080"/>
            <a:ext cx="1737360" cy="2286000"/>
          </a:xfrm>
          <a:prstGeom prst="rect">
            <a:avLst/>
          </a:prstGeom>
          <a:noFill/>
          <a:ln/>
        </p:spPr>
        <p:txBody>
          <a:bodyPr wrap="square" lIns="0" tIns="0" rIns="0" bIns="0"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One record, on request, through an endpoint. Milliseconds. The fraud model.</a:t>
            </a:r>
            <a:endParaRPr lang="en-US" sz="1100" dirty="0"/>
          </a:p>
        </p:txBody>
      </p:sp>
      <p:sp>
        <p:nvSpPr>
          <p:cNvPr id="12" name="Text 8"/>
          <p:cNvSpPr txBox="1"/>
          <p:nvPr/>
        </p:nvSpPr>
        <p:spPr>
          <a:xfrm>
            <a:off x="502920" y="3246120"/>
            <a:ext cx="1737360" cy="822960"/>
          </a:xfrm>
          <a:prstGeom prst="rect">
            <a:avLst/>
          </a:prstGeom>
          <a:noFill/>
          <a:ln/>
        </p:spPr>
        <p:txBody>
          <a:bodyPr wrap="square" lIns="0" tIns="0" rIns="0" bIns="0" rtlCol="0" anchor="t"/>
          <a:lstStyle/>
          <a:p>
            <a:pPr indent="0" marL="0">
              <a:buNone/>
            </a:pPr>
            <a:r>
              <a:rPr lang="en-US" sz="1050" b="1" dirty="0">
                <a:solidFill>
                  <a:srgbClr val="0E7C86"/>
                </a:solidFill>
                <a:latin typeface="Calibri" pitchFamily="34" charset="0"/>
                <a:ea typeface="Calibri" pitchFamily="34" charset="-122"/>
                <a:cs typeface="Calibri" pitchFamily="34" charset="-120"/>
              </a:rPr>
              <a:t>Operational concern: </a:t>
            </a:r>
            <a:pPr indent="0" marL="0">
              <a:buNone/>
            </a:pPr>
            <a:r>
              <a:rPr lang="en-US" sz="1050" dirty="0">
                <a:solidFill>
                  <a:srgbClr val="0E7C86"/>
                </a:solidFill>
                <a:latin typeface="Calibri" pitchFamily="34" charset="0"/>
                <a:ea typeface="Calibri" pitchFamily="34" charset="-122"/>
                <a:cs typeface="Calibri" pitchFamily="34" charset="-120"/>
              </a:rPr>
              <a:t>Latency, availability, rollout without downtime</a:t>
            </a:r>
            <a:endParaRPr lang="en-US" sz="1050" dirty="0"/>
          </a:p>
        </p:txBody>
      </p:sp>
      <p:sp>
        <p:nvSpPr>
          <p:cNvPr id="13" name="Shape 9"/>
          <p:cNvSpPr/>
          <p:nvPr/>
        </p:nvSpPr>
        <p:spPr>
          <a:xfrm>
            <a:off x="2496312" y="1234440"/>
            <a:ext cx="2011680" cy="2926080"/>
          </a:xfrm>
          <a:prstGeom prst="roundRect">
            <a:avLst>
              <a:gd name="adj" fmla="val 3636"/>
            </a:avLst>
          </a:prstGeom>
          <a:solidFill>
            <a:srgbClr val="F3F5F8"/>
          </a:solidFill>
          <a:ln w="12700">
            <a:solidFill>
              <a:srgbClr val="F3F5F8"/>
            </a:solidFill>
            <a:prstDash val="solid"/>
          </a:ln>
        </p:spPr>
        <p:txBody>
          <a:bodyPr/>
          <a:p/>
        </p:txBody>
      </p:sp>
      <p:sp>
        <p:nvSpPr>
          <p:cNvPr id="14" name="Shape 10"/>
          <p:cNvSpPr/>
          <p:nvPr/>
        </p:nvSpPr>
        <p:spPr>
          <a:xfrm>
            <a:off x="2633472" y="1353312"/>
            <a:ext cx="347472" cy="347472"/>
          </a:xfrm>
          <a:prstGeom prst="ellipse">
            <a:avLst/>
          </a:prstGeom>
          <a:solidFill>
            <a:srgbClr val="0E7C86"/>
          </a:solidFill>
          <a:ln w="12700">
            <a:solidFill>
              <a:srgbClr val="0E7C86"/>
            </a:solidFill>
            <a:prstDash val="solid"/>
          </a:ln>
        </p:spPr>
        <p:txBody>
          <a:bodyPr/>
          <a:p/>
        </p:txBody>
      </p:sp>
      <p:pic>
        <p:nvPicPr>
          <p:cNvPr id="15" name="Image 1" descr="preencoded.png">    </p:cNvPr>
          <p:cNvPicPr>
            <a:picLocks noChangeAspect="1"/>
          </p:cNvPicPr>
          <p:nvPr/>
        </p:nvPicPr>
        <p:blipFill>
          <a:blip r:embed="rId2"/>
          <a:stretch>
            <a:fillRect/>
          </a:stretch>
        </p:blipFill>
        <p:spPr>
          <a:xfrm>
            <a:off x="2706624" y="1426464"/>
            <a:ext cx="201168" cy="201168"/>
          </a:xfrm>
          <a:prstGeom prst="rect">
            <a:avLst/>
          </a:prstGeom>
        </p:spPr>
      </p:pic>
      <p:sp>
        <p:nvSpPr>
          <p:cNvPr id="16" name="Text 11"/>
          <p:cNvSpPr txBox="1"/>
          <p:nvPr/>
        </p:nvSpPr>
        <p:spPr>
          <a:xfrm>
            <a:off x="3063240" y="1325880"/>
            <a:ext cx="13258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Batch</a:t>
            </a:r>
            <a:endParaRPr lang="en-US" sz="1300" dirty="0"/>
          </a:p>
        </p:txBody>
      </p:sp>
      <p:sp>
        <p:nvSpPr>
          <p:cNvPr id="17" name="Text 12"/>
          <p:cNvSpPr txBox="1"/>
          <p:nvPr/>
        </p:nvSpPr>
        <p:spPr>
          <a:xfrm>
            <a:off x="2633472" y="1783080"/>
            <a:ext cx="1737360" cy="2286000"/>
          </a:xfrm>
          <a:prstGeom prst="rect">
            <a:avLst/>
          </a:prstGeom>
          <a:noFill/>
          <a:ln/>
        </p:spPr>
        <p:txBody>
          <a:bodyPr wrap="square" lIns="0" tIns="0" rIns="0" bIns="0"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Whole datasets on a schedule. The churn list every Monday at 6 a.m.</a:t>
            </a:r>
            <a:endParaRPr lang="en-US" sz="1100" dirty="0"/>
          </a:p>
        </p:txBody>
      </p:sp>
      <p:sp>
        <p:nvSpPr>
          <p:cNvPr id="18" name="Text 13"/>
          <p:cNvSpPr txBox="1"/>
          <p:nvPr/>
        </p:nvSpPr>
        <p:spPr>
          <a:xfrm>
            <a:off x="2633472" y="3246120"/>
            <a:ext cx="1737360" cy="822960"/>
          </a:xfrm>
          <a:prstGeom prst="rect">
            <a:avLst/>
          </a:prstGeom>
          <a:noFill/>
          <a:ln/>
        </p:spPr>
        <p:txBody>
          <a:bodyPr wrap="square" lIns="0" tIns="0" rIns="0" bIns="0" rtlCol="0" anchor="t"/>
          <a:lstStyle/>
          <a:p>
            <a:pPr indent="0" marL="0">
              <a:buNone/>
            </a:pPr>
            <a:r>
              <a:rPr lang="en-US" sz="1050" b="1" dirty="0">
                <a:solidFill>
                  <a:srgbClr val="0E7C86"/>
                </a:solidFill>
                <a:latin typeface="Calibri" pitchFamily="34" charset="0"/>
                <a:ea typeface="Calibri" pitchFamily="34" charset="-122"/>
                <a:cs typeface="Calibri" pitchFamily="34" charset="-120"/>
              </a:rPr>
              <a:t>Operational concern: </a:t>
            </a:r>
            <a:pPr indent="0" marL="0">
              <a:buNone/>
            </a:pPr>
            <a:r>
              <a:rPr lang="en-US" sz="1050" dirty="0">
                <a:solidFill>
                  <a:srgbClr val="0E7C86"/>
                </a:solidFill>
                <a:latin typeface="Calibri" pitchFamily="34" charset="0"/>
                <a:ea typeface="Calibri" pitchFamily="34" charset="-122"/>
                <a:cs typeface="Calibri" pitchFamily="34" charset="-120"/>
              </a:rPr>
              <a:t>Throughput, cost, a missed run</a:t>
            </a:r>
            <a:endParaRPr lang="en-US" sz="1050" dirty="0"/>
          </a:p>
        </p:txBody>
      </p:sp>
      <p:sp>
        <p:nvSpPr>
          <p:cNvPr id="19" name="Shape 14"/>
          <p:cNvSpPr/>
          <p:nvPr/>
        </p:nvSpPr>
        <p:spPr>
          <a:xfrm>
            <a:off x="4626864" y="1234440"/>
            <a:ext cx="2011680" cy="2926080"/>
          </a:xfrm>
          <a:prstGeom prst="roundRect">
            <a:avLst>
              <a:gd name="adj" fmla="val 3636"/>
            </a:avLst>
          </a:prstGeom>
          <a:solidFill>
            <a:srgbClr val="F3F5F8"/>
          </a:solidFill>
          <a:ln w="12700">
            <a:solidFill>
              <a:srgbClr val="F3F5F8"/>
            </a:solidFill>
            <a:prstDash val="solid"/>
          </a:ln>
        </p:spPr>
        <p:txBody>
          <a:bodyPr/>
          <a:p/>
        </p:txBody>
      </p:sp>
      <p:sp>
        <p:nvSpPr>
          <p:cNvPr id="20" name="Shape 15"/>
          <p:cNvSpPr/>
          <p:nvPr/>
        </p:nvSpPr>
        <p:spPr>
          <a:xfrm>
            <a:off x="4764024" y="1353312"/>
            <a:ext cx="347472" cy="347472"/>
          </a:xfrm>
          <a:prstGeom prst="ellipse">
            <a:avLst/>
          </a:prstGeom>
          <a:solidFill>
            <a:srgbClr val="0E7C86"/>
          </a:solidFill>
          <a:ln w="12700">
            <a:solidFill>
              <a:srgbClr val="0E7C86"/>
            </a:solidFill>
            <a:prstDash val="solid"/>
          </a:ln>
        </p:spPr>
        <p:txBody>
          <a:bodyPr/>
          <a:p/>
        </p:txBody>
      </p:sp>
      <p:pic>
        <p:nvPicPr>
          <p:cNvPr id="21" name="Image 2" descr="preencoded.png">    </p:cNvPr>
          <p:cNvPicPr>
            <a:picLocks noChangeAspect="1"/>
          </p:cNvPicPr>
          <p:nvPr/>
        </p:nvPicPr>
        <p:blipFill>
          <a:blip r:embed="rId3"/>
          <a:stretch>
            <a:fillRect/>
          </a:stretch>
        </p:blipFill>
        <p:spPr>
          <a:xfrm>
            <a:off x="4837176" y="1426464"/>
            <a:ext cx="201168" cy="201168"/>
          </a:xfrm>
          <a:prstGeom prst="rect">
            <a:avLst/>
          </a:prstGeom>
        </p:spPr>
      </p:pic>
      <p:sp>
        <p:nvSpPr>
          <p:cNvPr id="22" name="Text 16"/>
          <p:cNvSpPr txBox="1"/>
          <p:nvPr/>
        </p:nvSpPr>
        <p:spPr>
          <a:xfrm>
            <a:off x="5193792" y="1325880"/>
            <a:ext cx="13258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Stream</a:t>
            </a:r>
            <a:endParaRPr lang="en-US" sz="1300" dirty="0"/>
          </a:p>
        </p:txBody>
      </p:sp>
      <p:sp>
        <p:nvSpPr>
          <p:cNvPr id="23" name="Text 17"/>
          <p:cNvSpPr txBox="1"/>
          <p:nvPr/>
        </p:nvSpPr>
        <p:spPr>
          <a:xfrm>
            <a:off x="4764024" y="1783080"/>
            <a:ext cx="1737360" cy="2286000"/>
          </a:xfrm>
          <a:prstGeom prst="rect">
            <a:avLst/>
          </a:prstGeom>
          <a:noFill/>
          <a:ln/>
        </p:spPr>
        <p:txBody>
          <a:bodyPr wrap="square" lIns="0" tIns="0" rIns="0" bIns="0"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Continuous scoring of events from a stream, results back to a stream. The velocity features.</a:t>
            </a:r>
            <a:endParaRPr lang="en-US" sz="1100" dirty="0"/>
          </a:p>
        </p:txBody>
      </p:sp>
      <p:sp>
        <p:nvSpPr>
          <p:cNvPr id="24" name="Text 18"/>
          <p:cNvSpPr txBox="1"/>
          <p:nvPr/>
        </p:nvSpPr>
        <p:spPr>
          <a:xfrm>
            <a:off x="4764024" y="3246120"/>
            <a:ext cx="1737360" cy="822960"/>
          </a:xfrm>
          <a:prstGeom prst="rect">
            <a:avLst/>
          </a:prstGeom>
          <a:noFill/>
          <a:ln/>
        </p:spPr>
        <p:txBody>
          <a:bodyPr wrap="square" lIns="0" tIns="0" rIns="0" bIns="0" rtlCol="0" anchor="t"/>
          <a:lstStyle/>
          <a:p>
            <a:pPr indent="0" marL="0">
              <a:buNone/>
            </a:pPr>
            <a:r>
              <a:rPr lang="en-US" sz="1050" b="1" dirty="0">
                <a:solidFill>
                  <a:srgbClr val="0E7C86"/>
                </a:solidFill>
                <a:latin typeface="Calibri" pitchFamily="34" charset="0"/>
                <a:ea typeface="Calibri" pitchFamily="34" charset="-122"/>
                <a:cs typeface="Calibri" pitchFamily="34" charset="-120"/>
              </a:rPr>
              <a:t>Operational concern: </a:t>
            </a:r>
            <a:pPr indent="0" marL="0">
              <a:buNone/>
            </a:pPr>
            <a:r>
              <a:rPr lang="en-US" sz="1050" dirty="0">
                <a:solidFill>
                  <a:srgbClr val="0E7C86"/>
                </a:solidFill>
                <a:latin typeface="Calibri" pitchFamily="34" charset="0"/>
                <a:ea typeface="Calibri" pitchFamily="34" charset="-122"/>
                <a:cs typeface="Calibri" pitchFamily="34" charset="-120"/>
              </a:rPr>
              <a:t>Ordering, back-pressure, state</a:t>
            </a:r>
            <a:endParaRPr lang="en-US" sz="1050" dirty="0"/>
          </a:p>
        </p:txBody>
      </p:sp>
      <p:sp>
        <p:nvSpPr>
          <p:cNvPr id="25" name="Shape 19"/>
          <p:cNvSpPr/>
          <p:nvPr/>
        </p:nvSpPr>
        <p:spPr>
          <a:xfrm>
            <a:off x="6757416" y="1234440"/>
            <a:ext cx="2011680" cy="2926080"/>
          </a:xfrm>
          <a:prstGeom prst="roundRect">
            <a:avLst>
              <a:gd name="adj" fmla="val 3636"/>
            </a:avLst>
          </a:prstGeom>
          <a:solidFill>
            <a:srgbClr val="F3F5F8"/>
          </a:solidFill>
          <a:ln w="12700">
            <a:solidFill>
              <a:srgbClr val="F3F5F8"/>
            </a:solidFill>
            <a:prstDash val="solid"/>
          </a:ln>
        </p:spPr>
        <p:txBody>
          <a:bodyPr/>
          <a:p/>
        </p:txBody>
      </p:sp>
      <p:sp>
        <p:nvSpPr>
          <p:cNvPr id="26" name="Shape 20"/>
          <p:cNvSpPr/>
          <p:nvPr/>
        </p:nvSpPr>
        <p:spPr>
          <a:xfrm>
            <a:off x="6894576" y="1353312"/>
            <a:ext cx="347472" cy="347472"/>
          </a:xfrm>
          <a:prstGeom prst="ellipse">
            <a:avLst/>
          </a:prstGeom>
          <a:solidFill>
            <a:srgbClr val="0E7C86"/>
          </a:solidFill>
          <a:ln w="12700">
            <a:solidFill>
              <a:srgbClr val="0E7C86"/>
            </a:solidFill>
            <a:prstDash val="solid"/>
          </a:ln>
        </p:spPr>
        <p:txBody>
          <a:bodyPr/>
          <a:p/>
        </p:txBody>
      </p:sp>
      <p:pic>
        <p:nvPicPr>
          <p:cNvPr id="27" name="Image 3" descr="preencoded.png">    </p:cNvPr>
          <p:cNvPicPr>
            <a:picLocks noChangeAspect="1"/>
          </p:cNvPicPr>
          <p:nvPr/>
        </p:nvPicPr>
        <p:blipFill>
          <a:blip r:embed="rId4"/>
          <a:stretch>
            <a:fillRect/>
          </a:stretch>
        </p:blipFill>
        <p:spPr>
          <a:xfrm>
            <a:off x="6967728" y="1426464"/>
            <a:ext cx="201168" cy="201168"/>
          </a:xfrm>
          <a:prstGeom prst="rect">
            <a:avLst/>
          </a:prstGeom>
        </p:spPr>
      </p:pic>
      <p:sp>
        <p:nvSpPr>
          <p:cNvPr id="28" name="Text 21"/>
          <p:cNvSpPr txBox="1"/>
          <p:nvPr/>
        </p:nvSpPr>
        <p:spPr>
          <a:xfrm>
            <a:off x="7324344" y="1325880"/>
            <a:ext cx="13258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Edge</a:t>
            </a:r>
            <a:endParaRPr lang="en-US" sz="1300" dirty="0"/>
          </a:p>
        </p:txBody>
      </p:sp>
      <p:sp>
        <p:nvSpPr>
          <p:cNvPr id="29" name="Text 22"/>
          <p:cNvSpPr txBox="1"/>
          <p:nvPr/>
        </p:nvSpPr>
        <p:spPr>
          <a:xfrm>
            <a:off x="6894576" y="1783080"/>
            <a:ext cx="1737360" cy="2286000"/>
          </a:xfrm>
          <a:prstGeom prst="rect">
            <a:avLst/>
          </a:prstGeom>
          <a:noFill/>
          <a:ln/>
        </p:spPr>
        <p:txBody>
          <a:bodyPr wrap="square" lIns="0" tIns="0" rIns="0" bIns="0"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On the device or a local server: smallest latency, works offline. A camera on a factory line.</a:t>
            </a:r>
            <a:endParaRPr lang="en-US" sz="1100" dirty="0"/>
          </a:p>
        </p:txBody>
      </p:sp>
      <p:sp>
        <p:nvSpPr>
          <p:cNvPr id="30" name="Text 23"/>
          <p:cNvSpPr txBox="1"/>
          <p:nvPr/>
        </p:nvSpPr>
        <p:spPr>
          <a:xfrm>
            <a:off x="6894576" y="3246120"/>
            <a:ext cx="1737360" cy="822960"/>
          </a:xfrm>
          <a:prstGeom prst="rect">
            <a:avLst/>
          </a:prstGeom>
          <a:noFill/>
          <a:ln/>
        </p:spPr>
        <p:txBody>
          <a:bodyPr wrap="square" lIns="0" tIns="0" rIns="0" bIns="0" rtlCol="0" anchor="t"/>
          <a:lstStyle/>
          <a:p>
            <a:pPr indent="0" marL="0">
              <a:buNone/>
            </a:pPr>
            <a:r>
              <a:rPr lang="en-US" sz="1050" b="1" dirty="0">
                <a:solidFill>
                  <a:srgbClr val="0E7C86"/>
                </a:solidFill>
                <a:latin typeface="Calibri" pitchFamily="34" charset="0"/>
                <a:ea typeface="Calibri" pitchFamily="34" charset="-122"/>
                <a:cs typeface="Calibri" pitchFamily="34" charset="-120"/>
              </a:rPr>
              <a:t>Operational concern: </a:t>
            </a:r>
            <a:pPr indent="0" marL="0">
              <a:buNone/>
            </a:pPr>
            <a:r>
              <a:rPr lang="en-US" sz="1050" dirty="0">
                <a:solidFill>
                  <a:srgbClr val="0E7C86"/>
                </a:solidFill>
                <a:latin typeface="Calibri" pitchFamily="34" charset="0"/>
                <a:ea typeface="Calibri" pitchFamily="34" charset="-122"/>
                <a:cs typeface="Calibri" pitchFamily="34" charset="-120"/>
              </a:rPr>
              <a:t>Updating models on thousands of devices</a:t>
            </a:r>
            <a:endParaRPr lang="en-US" sz="1050" dirty="0"/>
          </a:p>
        </p:txBody>
      </p:sp>
      <p:sp>
        <p:nvSpPr>
          <p:cNvPr id="31" name="Text 24"/>
          <p:cNvSpPr txBox="1"/>
          <p:nvPr/>
        </p:nvSpPr>
        <p:spPr>
          <a:xfrm>
            <a:off x="365760" y="4297680"/>
            <a:ext cx="8412480" cy="274320"/>
          </a:xfrm>
          <a:prstGeom prst="rect">
            <a:avLst/>
          </a:prstGeom>
          <a:noFill/>
          <a:ln/>
        </p:spPr>
        <p:txBody>
          <a:bodyPr wrap="square" lIns="0" tIns="0" rIns="0" bIns="0" rtlCol="0" anchor="t"/>
          <a:lstStyle/>
          <a:p>
            <a:pPr algn="l" indent="0" marL="0">
              <a:buNone/>
            </a:pPr>
            <a:r>
              <a:rPr lang="en-US" sz="1050" i="1" dirty="0">
                <a:solidFill>
                  <a:srgbClr val="6B7280"/>
                </a:solidFill>
                <a:latin typeface="Calibri" pitchFamily="34" charset="0"/>
                <a:ea typeface="Calibri" pitchFamily="34" charset="-122"/>
                <a:cs typeface="Calibri" pitchFamily="34" charset="-120"/>
              </a:rPr>
              <a:t>Today's activity is about real-time serving; batch and stream come back in Session 7 (monitoring).</a:t>
            </a:r>
            <a:endParaRPr lang="en-US" sz="1050" dirty="0"/>
          </a:p>
        </p:txBody>
      </p:sp>
      <p:pic>
        <p:nvPicPr>
          <p:cNvPr id="32"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artefact travels in a box: containers</a:t>
            </a:r>
            <a:endParaRPr lang="en-US" sz="2400" dirty="0"/>
          </a:p>
        </p:txBody>
      </p:sp>
      <p:sp>
        <p:nvSpPr>
          <p:cNvPr id="7" name="Shape 4"/>
          <p:cNvSpPr/>
          <p:nvPr/>
        </p:nvSpPr>
        <p:spPr>
          <a:xfrm>
            <a:off x="365760" y="1234440"/>
            <a:ext cx="4114800" cy="2148840"/>
          </a:xfrm>
          <a:prstGeom prst="roundRect">
            <a:avLst>
              <a:gd name="adj" fmla="val 3404"/>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Why a box</a:t>
            </a:r>
            <a:endParaRPr lang="en-US" sz="1300" dirty="0"/>
          </a:p>
        </p:txBody>
      </p:sp>
      <p:sp>
        <p:nvSpPr>
          <p:cNvPr id="11" name="Text 7"/>
          <p:cNvSpPr txBox="1"/>
          <p:nvPr/>
        </p:nvSpPr>
        <p:spPr>
          <a:xfrm>
            <a:off x="502920" y="1783080"/>
            <a:ext cx="3840480" cy="15087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 model version is code + an exact environment: libraries, versions, system dependencies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Deployment must rebuild that environment reliably on the target machine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One machine runs many models with incompatible needs</a:t>
            </a:r>
            <a:endParaRPr lang="en-US" sz="1150" dirty="0"/>
          </a:p>
        </p:txBody>
      </p:sp>
      <p:sp>
        <p:nvSpPr>
          <p:cNvPr id="12" name="Shape 8"/>
          <p:cNvSpPr/>
          <p:nvPr/>
        </p:nvSpPr>
        <p:spPr>
          <a:xfrm>
            <a:off x="4663440" y="1234440"/>
            <a:ext cx="4114800" cy="2148840"/>
          </a:xfrm>
          <a:prstGeom prst="roundRect">
            <a:avLst>
              <a:gd name="adj" fmla="val 3404"/>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Container vs virtual machine</a:t>
            </a:r>
            <a:endParaRPr lang="en-US" sz="1300" dirty="0"/>
          </a:p>
        </p:txBody>
      </p:sp>
      <p:sp>
        <p:nvSpPr>
          <p:cNvPr id="16" name="Text 11"/>
          <p:cNvSpPr txBox="1"/>
          <p:nvPr/>
        </p:nvSpPr>
        <p:spPr>
          <a:xfrm>
            <a:off x="4800600" y="1783080"/>
            <a:ext cx="3840480" cy="15087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 VM carries a whole operating system: heavy, slow to start</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 container shares the host's OS and carries only what the app needs: light, seconds to start</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Docker builds and runs containers; Kubernetes runs thousands (next block)</a:t>
            </a:r>
            <a:endParaRPr lang="en-US" sz="1150" dirty="0"/>
          </a:p>
        </p:txBody>
      </p:sp>
      <p:sp>
        <p:nvSpPr>
          <p:cNvPr id="17" name="Shape 12"/>
          <p:cNvSpPr/>
          <p:nvPr/>
        </p:nvSpPr>
        <p:spPr>
          <a:xfrm>
            <a:off x="365760" y="3566160"/>
            <a:ext cx="8412480" cy="685800"/>
          </a:xfrm>
          <a:prstGeom prst="roundRect">
            <a:avLst>
              <a:gd name="adj" fmla="val 10667"/>
            </a:avLst>
          </a:prstGeom>
          <a:solidFill>
            <a:srgbClr val="FBE9DC"/>
          </a:solidFill>
          <a:ln w="12700">
            <a:solidFill>
              <a:srgbClr val="FBE9DC"/>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3771900"/>
            <a:ext cx="274320" cy="274320"/>
          </a:xfrm>
          <a:prstGeom prst="rect">
            <a:avLst/>
          </a:prstGeom>
        </p:spPr>
      </p:pic>
      <p:sp>
        <p:nvSpPr>
          <p:cNvPr id="19" name="Text 13"/>
          <p:cNvSpPr txBox="1"/>
          <p:nvPr/>
        </p:nvSpPr>
        <p:spPr>
          <a:xfrm>
            <a:off x="896112" y="3566160"/>
            <a:ext cx="7772400" cy="68580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Chat poll (2 min): "A model that passed all automated tests can be released to 100% of customers at once." AGREE or DISAGREE, one line why.</a:t>
            </a:r>
            <a:endParaRPr lang="en-US" sz="11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16</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Rollout: reaching customers without downtime</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Basic, blue-green, shadow, canary, and the A/B test that decides</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First, the requirement: "zero downtime", and the strategy that ignores it</a:t>
            </a:r>
            <a:endParaRPr lang="en-US" sz="2400" dirty="0"/>
          </a:p>
        </p:txBody>
      </p:sp>
      <p:sp>
        <p:nvSpPr>
          <p:cNvPr id="7" name="Shape 4"/>
          <p:cNvSpPr/>
          <p:nvPr/>
        </p:nvSpPr>
        <p:spPr>
          <a:xfrm>
            <a:off x="365760" y="1234440"/>
            <a:ext cx="4114800" cy="1463040"/>
          </a:xfrm>
          <a:prstGeom prst="roundRect">
            <a:avLst>
              <a:gd name="adj" fmla="val 5000"/>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Zero downtime means</a:t>
            </a:r>
            <a:endParaRPr lang="en-US" sz="1300" dirty="0"/>
          </a:p>
        </p:txBody>
      </p:sp>
      <p:sp>
        <p:nvSpPr>
          <p:cNvPr id="11" name="Text 7"/>
          <p:cNvSpPr txBox="1"/>
          <p:nvPr/>
        </p:nvSpPr>
        <p:spPr>
          <a:xfrm>
            <a:off x="502920" y="1783080"/>
            <a:ext cx="3840480" cy="822960"/>
          </a:xfrm>
          <a:prstGeom prst="rect">
            <a:avLst/>
          </a:prstGeom>
          <a:noFill/>
          <a:ln/>
        </p:spPr>
        <p:txBody>
          <a:bodyPr wrap="square" lIns="0" tIns="0" rIns="0" bIns="0" rtlCol="0" anchor="t"/>
          <a:lstStyle/>
          <a:p>
            <a:pPr algn="l" indent="0" marL="0">
              <a:buNone/>
            </a:pPr>
            <a:r>
              <a:rPr lang="en-US" sz="1150" dirty="0">
                <a:solidFill>
                  <a:srgbClr val="222222"/>
                </a:solidFill>
                <a:latin typeface="Calibri" pitchFamily="34" charset="0"/>
                <a:ea typeface="Calibri" pitchFamily="34" charset="-122"/>
                <a:cs typeface="Calibri" pitchFamily="34" charset="-120"/>
              </a:rPr>
              <a:t>At no moment is the service unavailable or answering wrongly because of the release. Customers never notice. For card payments this is not optional.</a:t>
            </a:r>
            <a:endParaRPr lang="en-US" sz="1150" dirty="0"/>
          </a:p>
        </p:txBody>
      </p:sp>
      <p:sp>
        <p:nvSpPr>
          <p:cNvPr id="12" name="Shape 8"/>
          <p:cNvSpPr/>
          <p:nvPr/>
        </p:nvSpPr>
        <p:spPr>
          <a:xfrm>
            <a:off x="4663440" y="1234440"/>
            <a:ext cx="4114800" cy="1463040"/>
          </a:xfrm>
          <a:prstGeom prst="roundRect">
            <a:avLst>
              <a:gd name="adj" fmla="val 5000"/>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Rollback means</a:t>
            </a:r>
            <a:endParaRPr lang="en-US" sz="1300" dirty="0"/>
          </a:p>
        </p:txBody>
      </p:sp>
      <p:sp>
        <p:nvSpPr>
          <p:cNvPr id="16" name="Text 11"/>
          <p:cNvSpPr txBox="1"/>
          <p:nvPr/>
        </p:nvSpPr>
        <p:spPr>
          <a:xfrm>
            <a:off x="4800600" y="1783080"/>
            <a:ext cx="3840480" cy="822960"/>
          </a:xfrm>
          <a:prstGeom prst="rect">
            <a:avLst/>
          </a:prstGeom>
          <a:noFill/>
          <a:ln/>
        </p:spPr>
        <p:txBody>
          <a:bodyPr wrap="square" lIns="0" tIns="0" rIns="0" bIns="0" rtlCol="0" anchor="t"/>
          <a:lstStyle/>
          <a:p>
            <a:pPr algn="l" indent="0" marL="0">
              <a:buNone/>
            </a:pPr>
            <a:r>
              <a:rPr lang="en-US" sz="1150" dirty="0">
                <a:solidFill>
                  <a:srgbClr val="222222"/>
                </a:solidFill>
                <a:latin typeface="Calibri" pitchFamily="34" charset="0"/>
                <a:ea typeface="Calibri" pitchFamily="34" charset="-122"/>
                <a:cs typeface="Calibri" pitchFamily="34" charset="-120"/>
              </a:rPr>
              <a:t>Returning to the previous artefact: model, code and configuration. It must still exist, and be deployable in minutes, not days.</a:t>
            </a:r>
            <a:endParaRPr lang="en-US" sz="1150" dirty="0"/>
          </a:p>
        </p:txBody>
      </p:sp>
      <p:sp>
        <p:nvSpPr>
          <p:cNvPr id="17" name="Text 12"/>
          <p:cNvSpPr txBox="1"/>
          <p:nvPr/>
        </p:nvSpPr>
        <p:spPr>
          <a:xfrm>
            <a:off x="365760" y="2880360"/>
            <a:ext cx="8412480" cy="274320"/>
          </a:xfrm>
          <a:prstGeom prst="rect">
            <a:avLst/>
          </a:prstGeom>
          <a:noFill/>
          <a:ln/>
        </p:spPr>
        <p:txBody>
          <a:bodyPr wrap="square" lIns="0" tIns="0" rIns="0" bIns="0" rtlCol="0" anchor="t"/>
          <a:lstStyle/>
          <a:p>
            <a:pPr algn="l" indent="0" marL="0">
              <a:buNone/>
            </a:pPr>
            <a:r>
              <a:rPr lang="en-US" sz="1250" b="1" dirty="0">
                <a:solidFill>
                  <a:srgbClr val="E07A2F"/>
                </a:solidFill>
                <a:latin typeface="Calibri" pitchFamily="34" charset="0"/>
                <a:ea typeface="Calibri" pitchFamily="34" charset="-122"/>
                <a:cs typeface="Calibri" pitchFamily="34" charset="-120"/>
              </a:rPr>
              <a:t>Basic deployment: replace everything at once</a:t>
            </a:r>
            <a:endParaRPr lang="en-US" sz="1250" dirty="0"/>
          </a:p>
        </p:txBody>
      </p:sp>
      <p:sp>
        <p:nvSpPr>
          <p:cNvPr id="18" name="Shape 13"/>
          <p:cNvSpPr/>
          <p:nvPr/>
        </p:nvSpPr>
        <p:spPr>
          <a:xfrm>
            <a:off x="365760" y="3246120"/>
            <a:ext cx="1463040" cy="548640"/>
          </a:xfrm>
          <a:prstGeom prst="roundRect">
            <a:avLst>
              <a:gd name="adj" fmla="val 10000"/>
            </a:avLst>
          </a:prstGeom>
          <a:solidFill>
            <a:srgbClr val="F3F5F8"/>
          </a:solidFill>
          <a:ln w="9525">
            <a:solidFill>
              <a:srgbClr val="F3F5F8"/>
            </a:solidFill>
            <a:prstDash val="solid"/>
          </a:ln>
        </p:spPr>
        <p:txBody>
          <a:bodyPr/>
          <a:p/>
        </p:txBody>
      </p:sp>
      <p:sp>
        <p:nvSpPr>
          <p:cNvPr id="19" name="Text 14"/>
          <p:cNvSpPr txBox="1"/>
          <p:nvPr/>
        </p:nvSpPr>
        <p:spPr>
          <a:xfrm>
            <a:off x="365760" y="3246120"/>
            <a:ext cx="1463040" cy="548640"/>
          </a:xfrm>
          <a:prstGeom prst="rect">
            <a:avLst/>
          </a:prstGeom>
          <a:noFill/>
          <a:ln/>
        </p:spPr>
        <p:txBody>
          <a:bodyPr wrap="square" lIns="635" tIns="635" rIns="635" bIns="635" rtlCol="0" anchor="ctr"/>
          <a:lstStyle/>
          <a:p>
            <a:pPr algn="ctr" indent="0" marL="0">
              <a:buNone/>
            </a:pPr>
            <a:r>
              <a:rPr lang="en-US" sz="1100" dirty="0">
                <a:solidFill>
                  <a:srgbClr val="1B2A4A"/>
                </a:solidFill>
                <a:latin typeface="Calibri" pitchFamily="34" charset="0"/>
                <a:ea typeface="Calibri" pitchFamily="34" charset="-122"/>
                <a:cs typeface="Calibri" pitchFamily="34" charset="-120"/>
              </a:rPr>
              <a:t>v1 · live</a:t>
            </a:r>
            <a:endParaRPr lang="en-US" sz="1100" dirty="0"/>
          </a:p>
        </p:txBody>
      </p:sp>
      <p:sp>
        <p:nvSpPr>
          <p:cNvPr id="20" name="Shape 15"/>
          <p:cNvSpPr/>
          <p:nvPr/>
        </p:nvSpPr>
        <p:spPr>
          <a:xfrm>
            <a:off x="1874520" y="3520440"/>
            <a:ext cx="548640" cy="0"/>
          </a:xfrm>
          <a:prstGeom prst="line">
            <a:avLst/>
          </a:prstGeom>
          <a:noFill/>
          <a:ln w="19050">
            <a:solidFill>
              <a:srgbClr val="0E7C86"/>
            </a:solidFill>
            <a:prstDash val="solid"/>
            <a:tailEnd type="triangle"/>
          </a:ln>
        </p:spPr>
        <p:txBody>
          <a:bodyPr/>
          <a:p/>
        </p:txBody>
      </p:sp>
      <p:sp>
        <p:nvSpPr>
          <p:cNvPr id="21" name="Shape 16"/>
          <p:cNvSpPr/>
          <p:nvPr/>
        </p:nvSpPr>
        <p:spPr>
          <a:xfrm>
            <a:off x="2468880" y="3246120"/>
            <a:ext cx="1463040" cy="548640"/>
          </a:xfrm>
          <a:prstGeom prst="roundRect">
            <a:avLst>
              <a:gd name="adj" fmla="val 10000"/>
            </a:avLst>
          </a:prstGeom>
          <a:solidFill>
            <a:srgbClr val="0E7C86"/>
          </a:solidFill>
          <a:ln w="9525">
            <a:solidFill>
              <a:srgbClr val="0E7C86"/>
            </a:solidFill>
            <a:prstDash val="solid"/>
          </a:ln>
        </p:spPr>
        <p:txBody>
          <a:bodyPr/>
          <a:p/>
        </p:txBody>
      </p:sp>
      <p:sp>
        <p:nvSpPr>
          <p:cNvPr id="22" name="Text 17"/>
          <p:cNvSpPr txBox="1"/>
          <p:nvPr/>
        </p:nvSpPr>
        <p:spPr>
          <a:xfrm>
            <a:off x="2468880" y="3246120"/>
            <a:ext cx="1463040" cy="5486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v2 · live</a:t>
            </a:r>
            <a:endParaRPr lang="en-US" sz="1100" dirty="0"/>
          </a:p>
        </p:txBody>
      </p:sp>
      <p:sp>
        <p:nvSpPr>
          <p:cNvPr id="23" name="Text 18"/>
          <p:cNvSpPr txBox="1"/>
          <p:nvPr/>
        </p:nvSpPr>
        <p:spPr>
          <a:xfrm>
            <a:off x="4206240" y="3200400"/>
            <a:ext cx="4572000" cy="731520"/>
          </a:xfrm>
          <a:prstGeom prst="rect">
            <a:avLst/>
          </a:prstGeom>
          <a:noFill/>
          <a:ln/>
        </p:spPr>
        <p:txBody>
          <a:bodyPr wrap="square" lIns="0" tIns="0" rIns="0" bIns="0"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Simple, fast, cheap, risky: for a moment everyone gets the untested behaviour, or nothing. Fine for non-critical services, lower environments, off-hours.</a:t>
            </a:r>
            <a:endParaRPr lang="en-US" sz="1100" dirty="0"/>
          </a:p>
        </p:txBody>
      </p:sp>
      <p:sp>
        <p:nvSpPr>
          <p:cNvPr id="24" name="Text 19"/>
          <p:cNvSpPr txBox="1"/>
          <p:nvPr/>
        </p:nvSpPr>
        <p:spPr>
          <a:xfrm>
            <a:off x="365760" y="420624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Adapted from Treveil et al., Introducing MLOps (O'Reilly, 2020)</a:t>
            </a:r>
            <a:endParaRPr lang="en-US" sz="900" dirty="0"/>
          </a:p>
        </p:txBody>
      </p:sp>
      <p:pic>
        <p:nvPicPr>
          <p:cNvPr id="25"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Blue-green: two identical environments, and a switch</a:t>
            </a:r>
            <a:endParaRPr lang="en-US" sz="2400" dirty="0"/>
          </a:p>
        </p:txBody>
      </p:sp>
      <p:sp>
        <p:nvSpPr>
          <p:cNvPr id="7" name="Text 4"/>
          <p:cNvSpPr txBox="1"/>
          <p:nvPr/>
        </p:nvSpPr>
        <p:spPr>
          <a:xfrm>
            <a:off x="365760" y="1188720"/>
            <a:ext cx="2651760" cy="274320"/>
          </a:xfrm>
          <a:prstGeom prst="rect">
            <a:avLst/>
          </a:prstGeom>
          <a:noFill/>
          <a:ln/>
        </p:spPr>
        <p:txBody>
          <a:bodyPr wrap="square" lIns="0" tIns="0" rIns="0" bIns="0" rtlCol="0" anchor="t"/>
          <a:lstStyle/>
          <a:p>
            <a:pPr algn="l" indent="0" marL="0">
              <a:buNone/>
            </a:pPr>
            <a:r>
              <a:rPr lang="en-US" sz="1100" b="1" dirty="0">
                <a:solidFill>
                  <a:srgbClr val="6B7280"/>
                </a:solidFill>
                <a:latin typeface="Calibri" pitchFamily="34" charset="0"/>
                <a:ea typeface="Calibri" pitchFamily="34" charset="-122"/>
                <a:cs typeface="Calibri" pitchFamily="34" charset="-120"/>
              </a:rPr>
              <a:t>Before</a:t>
            </a:r>
            <a:endParaRPr lang="en-US" sz="1100" dirty="0"/>
          </a:p>
        </p:txBody>
      </p:sp>
      <p:sp>
        <p:nvSpPr>
          <p:cNvPr id="8" name="Text 5"/>
          <p:cNvSpPr txBox="1"/>
          <p:nvPr/>
        </p:nvSpPr>
        <p:spPr>
          <a:xfrm>
            <a:off x="3246120" y="1188720"/>
            <a:ext cx="2651760" cy="274320"/>
          </a:xfrm>
          <a:prstGeom prst="rect">
            <a:avLst/>
          </a:prstGeom>
          <a:noFill/>
          <a:ln/>
        </p:spPr>
        <p:txBody>
          <a:bodyPr wrap="square" lIns="0" tIns="0" rIns="0" bIns="0" rtlCol="0" anchor="t"/>
          <a:lstStyle/>
          <a:p>
            <a:pPr algn="l" indent="0" marL="0">
              <a:buNone/>
            </a:pPr>
            <a:r>
              <a:rPr lang="en-US" sz="1100" b="1" dirty="0">
                <a:solidFill>
                  <a:srgbClr val="6B7280"/>
                </a:solidFill>
                <a:latin typeface="Calibri" pitchFamily="34" charset="0"/>
                <a:ea typeface="Calibri" pitchFamily="34" charset="-122"/>
                <a:cs typeface="Calibri" pitchFamily="34" charset="-120"/>
              </a:rPr>
              <a:t>During</a:t>
            </a:r>
            <a:endParaRPr lang="en-US" sz="1100" dirty="0"/>
          </a:p>
        </p:txBody>
      </p:sp>
      <p:sp>
        <p:nvSpPr>
          <p:cNvPr id="9" name="Text 6"/>
          <p:cNvSpPr txBox="1"/>
          <p:nvPr/>
        </p:nvSpPr>
        <p:spPr>
          <a:xfrm>
            <a:off x="6126480" y="1188720"/>
            <a:ext cx="2651760" cy="274320"/>
          </a:xfrm>
          <a:prstGeom prst="rect">
            <a:avLst/>
          </a:prstGeom>
          <a:noFill/>
          <a:ln/>
        </p:spPr>
        <p:txBody>
          <a:bodyPr wrap="square" lIns="0" tIns="0" rIns="0" bIns="0" rtlCol="0" anchor="t"/>
          <a:lstStyle/>
          <a:p>
            <a:pPr algn="l" indent="0" marL="0">
              <a:buNone/>
            </a:pPr>
            <a:r>
              <a:rPr lang="en-US" sz="1100" b="1" dirty="0">
                <a:solidFill>
                  <a:srgbClr val="6B7280"/>
                </a:solidFill>
                <a:latin typeface="Calibri" pitchFamily="34" charset="0"/>
                <a:ea typeface="Calibri" pitchFamily="34" charset="-122"/>
                <a:cs typeface="Calibri" pitchFamily="34" charset="-120"/>
              </a:rPr>
              <a:t>After</a:t>
            </a:r>
            <a:endParaRPr lang="en-US" sz="1100" dirty="0"/>
          </a:p>
        </p:txBody>
      </p:sp>
      <p:sp>
        <p:nvSpPr>
          <p:cNvPr id="10" name="Shape 7"/>
          <p:cNvSpPr/>
          <p:nvPr/>
        </p:nvSpPr>
        <p:spPr>
          <a:xfrm>
            <a:off x="365760" y="1463040"/>
            <a:ext cx="2651760" cy="1463040"/>
          </a:xfrm>
          <a:prstGeom prst="roundRect">
            <a:avLst>
              <a:gd name="adj" fmla="val 5000"/>
            </a:avLst>
          </a:prstGeom>
          <a:solidFill>
            <a:srgbClr val="F3F5F8"/>
          </a:solidFill>
          <a:ln w="12700">
            <a:solidFill>
              <a:srgbClr val="F3F5F8"/>
            </a:solidFill>
            <a:prstDash val="solid"/>
          </a:ln>
        </p:spPr>
        <p:txBody>
          <a:bodyPr/>
          <a:p/>
        </p:txBody>
      </p:sp>
      <p:sp>
        <p:nvSpPr>
          <p:cNvPr id="11" name="Shape 8"/>
          <p:cNvSpPr/>
          <p:nvPr/>
        </p:nvSpPr>
        <p:spPr>
          <a:xfrm>
            <a:off x="457200" y="1600200"/>
            <a:ext cx="1143000" cy="502920"/>
          </a:xfrm>
          <a:prstGeom prst="roundRect">
            <a:avLst>
              <a:gd name="adj" fmla="val 10909"/>
            </a:avLst>
          </a:prstGeom>
          <a:solidFill>
            <a:srgbClr val="0E7C86"/>
          </a:solidFill>
          <a:ln w="9525">
            <a:solidFill>
              <a:srgbClr val="0E7C86"/>
            </a:solidFill>
            <a:prstDash val="solid"/>
          </a:ln>
        </p:spPr>
        <p:txBody>
          <a:bodyPr/>
          <a:p/>
        </p:txBody>
      </p:sp>
      <p:sp>
        <p:nvSpPr>
          <p:cNvPr id="12" name="Text 9"/>
          <p:cNvSpPr txBox="1"/>
          <p:nvPr/>
        </p:nvSpPr>
        <p:spPr>
          <a:xfrm>
            <a:off x="45720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v1 · green</a:t>
            </a:r>
            <a:endParaRPr lang="en-US" sz="1000" dirty="0"/>
          </a:p>
        </p:txBody>
      </p:sp>
      <p:sp>
        <p:nvSpPr>
          <p:cNvPr id="13" name="Text 10"/>
          <p:cNvSpPr txBox="1"/>
          <p:nvPr/>
        </p:nvSpPr>
        <p:spPr>
          <a:xfrm>
            <a:off x="45720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100% of traffic</a:t>
            </a:r>
            <a:endParaRPr lang="en-US" sz="950" dirty="0"/>
          </a:p>
        </p:txBody>
      </p:sp>
      <p:sp>
        <p:nvSpPr>
          <p:cNvPr id="14" name="Shape 11"/>
          <p:cNvSpPr/>
          <p:nvPr/>
        </p:nvSpPr>
        <p:spPr>
          <a:xfrm>
            <a:off x="1783080" y="1600200"/>
            <a:ext cx="1143000" cy="502920"/>
          </a:xfrm>
          <a:prstGeom prst="roundRect">
            <a:avLst>
              <a:gd name="adj" fmla="val 10909"/>
            </a:avLst>
          </a:prstGeom>
          <a:solidFill>
            <a:srgbClr val="C9D1DC"/>
          </a:solidFill>
          <a:ln w="9525">
            <a:solidFill>
              <a:srgbClr val="C9D1DC"/>
            </a:solidFill>
            <a:prstDash val="solid"/>
          </a:ln>
        </p:spPr>
        <p:txBody>
          <a:bodyPr/>
          <a:p/>
        </p:txBody>
      </p:sp>
      <p:sp>
        <p:nvSpPr>
          <p:cNvPr id="15" name="Text 12"/>
          <p:cNvSpPr txBox="1"/>
          <p:nvPr/>
        </p:nvSpPr>
        <p:spPr>
          <a:xfrm>
            <a:off x="178308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v2 · blue</a:t>
            </a:r>
            <a:endParaRPr lang="en-US" sz="1000" dirty="0"/>
          </a:p>
        </p:txBody>
      </p:sp>
      <p:sp>
        <p:nvSpPr>
          <p:cNvPr id="16" name="Text 13"/>
          <p:cNvSpPr txBox="1"/>
          <p:nvPr/>
        </p:nvSpPr>
        <p:spPr>
          <a:xfrm>
            <a:off x="178308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tested, no customers</a:t>
            </a:r>
            <a:endParaRPr lang="en-US" sz="950" dirty="0"/>
          </a:p>
        </p:txBody>
      </p:sp>
      <p:sp>
        <p:nvSpPr>
          <p:cNvPr id="17" name="Shape 14"/>
          <p:cNvSpPr/>
          <p:nvPr/>
        </p:nvSpPr>
        <p:spPr>
          <a:xfrm>
            <a:off x="3063240" y="2194560"/>
            <a:ext cx="137160" cy="0"/>
          </a:xfrm>
          <a:prstGeom prst="line">
            <a:avLst/>
          </a:prstGeom>
          <a:noFill/>
          <a:ln w="25400">
            <a:solidFill>
              <a:srgbClr val="0E7C86"/>
            </a:solidFill>
            <a:prstDash val="solid"/>
            <a:tailEnd type="triangle"/>
          </a:ln>
        </p:spPr>
        <p:txBody>
          <a:bodyPr/>
          <a:p/>
        </p:txBody>
      </p:sp>
      <p:sp>
        <p:nvSpPr>
          <p:cNvPr id="18" name="Shape 15"/>
          <p:cNvSpPr/>
          <p:nvPr/>
        </p:nvSpPr>
        <p:spPr>
          <a:xfrm>
            <a:off x="3246120" y="1463040"/>
            <a:ext cx="2651760" cy="1463040"/>
          </a:xfrm>
          <a:prstGeom prst="roundRect">
            <a:avLst>
              <a:gd name="adj" fmla="val 5000"/>
            </a:avLst>
          </a:prstGeom>
          <a:solidFill>
            <a:srgbClr val="F3F5F8"/>
          </a:solidFill>
          <a:ln w="12700">
            <a:solidFill>
              <a:srgbClr val="F3F5F8"/>
            </a:solidFill>
            <a:prstDash val="solid"/>
          </a:ln>
        </p:spPr>
        <p:txBody>
          <a:bodyPr/>
          <a:p/>
        </p:txBody>
      </p:sp>
      <p:sp>
        <p:nvSpPr>
          <p:cNvPr id="19" name="Shape 16"/>
          <p:cNvSpPr/>
          <p:nvPr/>
        </p:nvSpPr>
        <p:spPr>
          <a:xfrm>
            <a:off x="3337560" y="1600200"/>
            <a:ext cx="1143000" cy="502920"/>
          </a:xfrm>
          <a:prstGeom prst="roundRect">
            <a:avLst>
              <a:gd name="adj" fmla="val 10909"/>
            </a:avLst>
          </a:prstGeom>
          <a:solidFill>
            <a:srgbClr val="C9D1DC"/>
          </a:solidFill>
          <a:ln w="9525">
            <a:solidFill>
              <a:srgbClr val="C9D1DC"/>
            </a:solidFill>
            <a:prstDash val="solid"/>
          </a:ln>
        </p:spPr>
        <p:txBody>
          <a:bodyPr/>
          <a:p/>
        </p:txBody>
      </p:sp>
      <p:sp>
        <p:nvSpPr>
          <p:cNvPr id="20" name="Text 17"/>
          <p:cNvSpPr txBox="1"/>
          <p:nvPr/>
        </p:nvSpPr>
        <p:spPr>
          <a:xfrm>
            <a:off x="333756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v1 · green</a:t>
            </a:r>
            <a:endParaRPr lang="en-US" sz="1000" dirty="0"/>
          </a:p>
        </p:txBody>
      </p:sp>
      <p:sp>
        <p:nvSpPr>
          <p:cNvPr id="21" name="Text 18"/>
          <p:cNvSpPr txBox="1"/>
          <p:nvPr/>
        </p:nvSpPr>
        <p:spPr>
          <a:xfrm>
            <a:off x="333756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kept as rollback</a:t>
            </a:r>
            <a:endParaRPr lang="en-US" sz="950" dirty="0"/>
          </a:p>
        </p:txBody>
      </p:sp>
      <p:sp>
        <p:nvSpPr>
          <p:cNvPr id="22" name="Shape 19"/>
          <p:cNvSpPr/>
          <p:nvPr/>
        </p:nvSpPr>
        <p:spPr>
          <a:xfrm>
            <a:off x="4663440" y="1600200"/>
            <a:ext cx="1143000" cy="502920"/>
          </a:xfrm>
          <a:prstGeom prst="roundRect">
            <a:avLst>
              <a:gd name="adj" fmla="val 10909"/>
            </a:avLst>
          </a:prstGeom>
          <a:solidFill>
            <a:srgbClr val="0E7C86"/>
          </a:solidFill>
          <a:ln w="9525">
            <a:solidFill>
              <a:srgbClr val="0E7C86"/>
            </a:solidFill>
            <a:prstDash val="solid"/>
          </a:ln>
        </p:spPr>
        <p:txBody>
          <a:bodyPr/>
          <a:p/>
        </p:txBody>
      </p:sp>
      <p:sp>
        <p:nvSpPr>
          <p:cNvPr id="23" name="Text 20"/>
          <p:cNvSpPr txBox="1"/>
          <p:nvPr/>
        </p:nvSpPr>
        <p:spPr>
          <a:xfrm>
            <a:off x="466344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v2 · blue</a:t>
            </a:r>
            <a:endParaRPr lang="en-US" sz="1000" dirty="0"/>
          </a:p>
        </p:txBody>
      </p:sp>
      <p:sp>
        <p:nvSpPr>
          <p:cNvPr id="24" name="Text 21"/>
          <p:cNvSpPr txBox="1"/>
          <p:nvPr/>
        </p:nvSpPr>
        <p:spPr>
          <a:xfrm>
            <a:off x="466344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the switch is flipped</a:t>
            </a:r>
            <a:endParaRPr lang="en-US" sz="950" dirty="0"/>
          </a:p>
        </p:txBody>
      </p:sp>
      <p:sp>
        <p:nvSpPr>
          <p:cNvPr id="25" name="Shape 22"/>
          <p:cNvSpPr/>
          <p:nvPr/>
        </p:nvSpPr>
        <p:spPr>
          <a:xfrm>
            <a:off x="5943600" y="2194560"/>
            <a:ext cx="137160" cy="0"/>
          </a:xfrm>
          <a:prstGeom prst="line">
            <a:avLst/>
          </a:prstGeom>
          <a:noFill/>
          <a:ln w="25400">
            <a:solidFill>
              <a:srgbClr val="0E7C86"/>
            </a:solidFill>
            <a:prstDash val="solid"/>
            <a:tailEnd type="triangle"/>
          </a:ln>
        </p:spPr>
        <p:txBody>
          <a:bodyPr/>
          <a:p/>
        </p:txBody>
      </p:sp>
      <p:sp>
        <p:nvSpPr>
          <p:cNvPr id="26" name="Shape 23"/>
          <p:cNvSpPr/>
          <p:nvPr/>
        </p:nvSpPr>
        <p:spPr>
          <a:xfrm>
            <a:off x="6126480" y="1463040"/>
            <a:ext cx="2651760" cy="1463040"/>
          </a:xfrm>
          <a:prstGeom prst="roundRect">
            <a:avLst>
              <a:gd name="adj" fmla="val 5000"/>
            </a:avLst>
          </a:prstGeom>
          <a:solidFill>
            <a:srgbClr val="F3F5F8"/>
          </a:solidFill>
          <a:ln w="12700">
            <a:solidFill>
              <a:srgbClr val="F3F5F8"/>
            </a:solidFill>
            <a:prstDash val="solid"/>
          </a:ln>
        </p:spPr>
        <p:txBody>
          <a:bodyPr/>
          <a:p/>
        </p:txBody>
      </p:sp>
      <p:sp>
        <p:nvSpPr>
          <p:cNvPr id="27" name="Shape 24"/>
          <p:cNvSpPr/>
          <p:nvPr/>
        </p:nvSpPr>
        <p:spPr>
          <a:xfrm>
            <a:off x="6217920" y="1600200"/>
            <a:ext cx="1143000" cy="502920"/>
          </a:xfrm>
          <a:prstGeom prst="roundRect">
            <a:avLst>
              <a:gd name="adj" fmla="val 10909"/>
            </a:avLst>
          </a:prstGeom>
          <a:solidFill>
            <a:srgbClr val="0E7C86"/>
          </a:solidFill>
          <a:ln w="9525">
            <a:solidFill>
              <a:srgbClr val="0E7C86"/>
            </a:solidFill>
            <a:prstDash val="solid"/>
          </a:ln>
        </p:spPr>
        <p:txBody>
          <a:bodyPr/>
          <a:p/>
        </p:txBody>
      </p:sp>
      <p:sp>
        <p:nvSpPr>
          <p:cNvPr id="28" name="Text 25"/>
          <p:cNvSpPr txBox="1"/>
          <p:nvPr/>
        </p:nvSpPr>
        <p:spPr>
          <a:xfrm>
            <a:off x="621792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v2 · blue</a:t>
            </a:r>
            <a:endParaRPr lang="en-US" sz="1000" dirty="0"/>
          </a:p>
        </p:txBody>
      </p:sp>
      <p:sp>
        <p:nvSpPr>
          <p:cNvPr id="29" name="Text 26"/>
          <p:cNvSpPr txBox="1"/>
          <p:nvPr/>
        </p:nvSpPr>
        <p:spPr>
          <a:xfrm>
            <a:off x="621792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100% of traffic</a:t>
            </a:r>
            <a:endParaRPr lang="en-US" sz="950" dirty="0"/>
          </a:p>
        </p:txBody>
      </p:sp>
      <p:sp>
        <p:nvSpPr>
          <p:cNvPr id="30" name="Shape 27"/>
          <p:cNvSpPr/>
          <p:nvPr/>
        </p:nvSpPr>
        <p:spPr>
          <a:xfrm>
            <a:off x="7543800" y="1600200"/>
            <a:ext cx="1143000" cy="502920"/>
          </a:xfrm>
          <a:prstGeom prst="roundRect">
            <a:avLst>
              <a:gd name="adj" fmla="val 10909"/>
            </a:avLst>
          </a:prstGeom>
          <a:solidFill>
            <a:srgbClr val="C9D1DC"/>
          </a:solidFill>
          <a:ln w="9525">
            <a:solidFill>
              <a:srgbClr val="C9D1DC"/>
            </a:solidFill>
            <a:prstDash val="solid"/>
          </a:ln>
        </p:spPr>
        <p:txBody>
          <a:bodyPr/>
          <a:p/>
        </p:txBody>
      </p:sp>
      <p:sp>
        <p:nvSpPr>
          <p:cNvPr id="31" name="Text 28"/>
          <p:cNvSpPr txBox="1"/>
          <p:nvPr/>
        </p:nvSpPr>
        <p:spPr>
          <a:xfrm>
            <a:off x="754380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green</a:t>
            </a:r>
            <a:endParaRPr lang="en-US" sz="1000" dirty="0"/>
          </a:p>
        </p:txBody>
      </p:sp>
      <p:sp>
        <p:nvSpPr>
          <p:cNvPr id="32" name="Text 29"/>
          <p:cNvSpPr txBox="1"/>
          <p:nvPr/>
        </p:nvSpPr>
        <p:spPr>
          <a:xfrm>
            <a:off x="754380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free for the next version</a:t>
            </a:r>
            <a:endParaRPr lang="en-US" sz="950" dirty="0"/>
          </a:p>
        </p:txBody>
      </p:sp>
      <p:sp>
        <p:nvSpPr>
          <p:cNvPr id="33" name="Shape 30"/>
          <p:cNvSpPr/>
          <p:nvPr/>
        </p:nvSpPr>
        <p:spPr>
          <a:xfrm>
            <a:off x="365760" y="3108960"/>
            <a:ext cx="4114800" cy="1280160"/>
          </a:xfrm>
          <a:prstGeom prst="roundRect">
            <a:avLst>
              <a:gd name="adj" fmla="val 5714"/>
            </a:avLst>
          </a:prstGeom>
          <a:solidFill>
            <a:srgbClr val="F3F5F8"/>
          </a:solidFill>
          <a:ln w="12700">
            <a:solidFill>
              <a:srgbClr val="F3F5F8"/>
            </a:solidFill>
            <a:prstDash val="solid"/>
          </a:ln>
        </p:spPr>
        <p:txBody>
          <a:bodyPr/>
          <a:p/>
        </p:txBody>
      </p:sp>
      <p:sp>
        <p:nvSpPr>
          <p:cNvPr id="34" name="Shape 31"/>
          <p:cNvSpPr/>
          <p:nvPr/>
        </p:nvSpPr>
        <p:spPr>
          <a:xfrm>
            <a:off x="502920" y="3227832"/>
            <a:ext cx="347472" cy="347472"/>
          </a:xfrm>
          <a:prstGeom prst="ellipse">
            <a:avLst/>
          </a:prstGeom>
          <a:solidFill>
            <a:srgbClr val="0E7C86"/>
          </a:solidFill>
          <a:ln w="12700">
            <a:solidFill>
              <a:srgbClr val="0E7C86"/>
            </a:solidFill>
            <a:prstDash val="solid"/>
          </a:ln>
        </p:spPr>
        <p:txBody>
          <a:bodyPr/>
          <a:p/>
        </p:txBody>
      </p:sp>
      <p:pic>
        <p:nvPicPr>
          <p:cNvPr id="35" name="Image 0" descr="preencoded.png">    </p:cNvPr>
          <p:cNvPicPr>
            <a:picLocks noChangeAspect="1"/>
          </p:cNvPicPr>
          <p:nvPr/>
        </p:nvPicPr>
        <p:blipFill>
          <a:blip r:embed="rId1"/>
          <a:stretch>
            <a:fillRect/>
          </a:stretch>
        </p:blipFill>
        <p:spPr>
          <a:xfrm>
            <a:off x="576072" y="3300984"/>
            <a:ext cx="201168" cy="201168"/>
          </a:xfrm>
          <a:prstGeom prst="rect">
            <a:avLst/>
          </a:prstGeom>
        </p:spPr>
      </p:pic>
      <p:sp>
        <p:nvSpPr>
          <p:cNvPr id="36" name="Text 32"/>
          <p:cNvSpPr txBox="1"/>
          <p:nvPr/>
        </p:nvSpPr>
        <p:spPr>
          <a:xfrm>
            <a:off x="932688" y="32004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Pros</a:t>
            </a:r>
            <a:endParaRPr lang="en-US" sz="1300" dirty="0"/>
          </a:p>
        </p:txBody>
      </p:sp>
      <p:sp>
        <p:nvSpPr>
          <p:cNvPr id="37" name="Text 33"/>
          <p:cNvSpPr txBox="1"/>
          <p:nvPr/>
        </p:nvSpPr>
        <p:spPr>
          <a:xfrm>
            <a:off x="502920" y="3657600"/>
            <a:ext cx="3840480" cy="6400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Simple, well understood, easy to implement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Rollback = flip the switch back</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Zero downtime if the switch is instant</a:t>
            </a:r>
            <a:endParaRPr lang="en-US" sz="1100" dirty="0"/>
          </a:p>
        </p:txBody>
      </p:sp>
      <p:sp>
        <p:nvSpPr>
          <p:cNvPr id="38" name="Shape 34"/>
          <p:cNvSpPr/>
          <p:nvPr/>
        </p:nvSpPr>
        <p:spPr>
          <a:xfrm>
            <a:off x="4663440" y="3108960"/>
            <a:ext cx="4114800" cy="1280160"/>
          </a:xfrm>
          <a:prstGeom prst="roundRect">
            <a:avLst>
              <a:gd name="adj" fmla="val 5714"/>
            </a:avLst>
          </a:prstGeom>
          <a:solidFill>
            <a:srgbClr val="F3F5F8"/>
          </a:solidFill>
          <a:ln w="12700">
            <a:solidFill>
              <a:srgbClr val="F3F5F8"/>
            </a:solidFill>
            <a:prstDash val="solid"/>
          </a:ln>
        </p:spPr>
        <p:txBody>
          <a:bodyPr/>
          <a:p/>
        </p:txBody>
      </p:sp>
      <p:sp>
        <p:nvSpPr>
          <p:cNvPr id="39" name="Shape 35"/>
          <p:cNvSpPr/>
          <p:nvPr/>
        </p:nvSpPr>
        <p:spPr>
          <a:xfrm>
            <a:off x="4800600" y="3227832"/>
            <a:ext cx="347472" cy="347472"/>
          </a:xfrm>
          <a:prstGeom prst="ellipse">
            <a:avLst/>
          </a:prstGeom>
          <a:solidFill>
            <a:srgbClr val="E07A2F"/>
          </a:solidFill>
          <a:ln w="12700">
            <a:solidFill>
              <a:srgbClr val="E07A2F"/>
            </a:solidFill>
            <a:prstDash val="solid"/>
          </a:ln>
        </p:spPr>
        <p:txBody>
          <a:bodyPr/>
          <a:p/>
        </p:txBody>
      </p:sp>
      <p:pic>
        <p:nvPicPr>
          <p:cNvPr id="40" name="Image 1" descr="preencoded.png">    </p:cNvPr>
          <p:cNvPicPr>
            <a:picLocks noChangeAspect="1"/>
          </p:cNvPicPr>
          <p:nvPr/>
        </p:nvPicPr>
        <p:blipFill>
          <a:blip r:embed="rId2"/>
          <a:stretch>
            <a:fillRect/>
          </a:stretch>
        </p:blipFill>
        <p:spPr>
          <a:xfrm>
            <a:off x="4873752" y="3300984"/>
            <a:ext cx="201168" cy="201168"/>
          </a:xfrm>
          <a:prstGeom prst="rect">
            <a:avLst/>
          </a:prstGeom>
        </p:spPr>
      </p:pic>
      <p:sp>
        <p:nvSpPr>
          <p:cNvPr id="41" name="Text 36"/>
          <p:cNvSpPr txBox="1"/>
          <p:nvPr/>
        </p:nvSpPr>
        <p:spPr>
          <a:xfrm>
            <a:off x="5230368" y="32004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Cons</a:t>
            </a:r>
            <a:endParaRPr lang="en-US" sz="1300" dirty="0"/>
          </a:p>
        </p:txBody>
      </p:sp>
      <p:sp>
        <p:nvSpPr>
          <p:cNvPr id="42" name="Text 37"/>
          <p:cNvSpPr txBox="1"/>
          <p:nvPr/>
        </p:nvSpPr>
        <p:spPr>
          <a:xfrm>
            <a:off x="4800600" y="3657600"/>
            <a:ext cx="3840480" cy="6400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Two full production environments</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Realistic test traffic for blue is not free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Keeping both truly identical is hard</a:t>
            </a:r>
            <a:endParaRPr lang="en-US" sz="1100" dirty="0"/>
          </a:p>
        </p:txBody>
      </p:sp>
      <p:sp>
        <p:nvSpPr>
          <p:cNvPr id="43" name="Text 38"/>
          <p:cNvSpPr txBox="1"/>
          <p:nvPr/>
        </p:nvSpPr>
        <p:spPr>
          <a:xfrm>
            <a:off x="365760" y="448056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Adapted from Treveil et al., Introducing MLOps (O'Reilly, 2020)</a:t>
            </a:r>
            <a:endParaRPr lang="en-US" sz="900" dirty="0"/>
          </a:p>
        </p:txBody>
      </p:sp>
      <p:pic>
        <p:nvPicPr>
          <p:cNvPr id="44"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Shadow: the new model scores everything, and nobody sees its answers</a:t>
            </a:r>
            <a:endParaRPr lang="en-US" sz="2400" dirty="0"/>
          </a:p>
        </p:txBody>
      </p:sp>
      <p:sp>
        <p:nvSpPr>
          <p:cNvPr id="7" name="Text 4"/>
          <p:cNvSpPr txBox="1"/>
          <p:nvPr/>
        </p:nvSpPr>
        <p:spPr>
          <a:xfrm>
            <a:off x="365760" y="1188720"/>
            <a:ext cx="2651760" cy="274320"/>
          </a:xfrm>
          <a:prstGeom prst="rect">
            <a:avLst/>
          </a:prstGeom>
          <a:noFill/>
          <a:ln/>
        </p:spPr>
        <p:txBody>
          <a:bodyPr wrap="square" lIns="0" tIns="0" rIns="0" bIns="0" rtlCol="0" anchor="t"/>
          <a:lstStyle/>
          <a:p>
            <a:pPr algn="l" indent="0" marL="0">
              <a:buNone/>
            </a:pPr>
            <a:r>
              <a:rPr lang="en-US" sz="1100" b="1" dirty="0">
                <a:solidFill>
                  <a:srgbClr val="6B7280"/>
                </a:solidFill>
                <a:latin typeface="Calibri" pitchFamily="34" charset="0"/>
                <a:ea typeface="Calibri" pitchFamily="34" charset="-122"/>
                <a:cs typeface="Calibri" pitchFamily="34" charset="-120"/>
              </a:rPr>
              <a:t>Before</a:t>
            </a:r>
            <a:endParaRPr lang="en-US" sz="1100" dirty="0"/>
          </a:p>
        </p:txBody>
      </p:sp>
      <p:sp>
        <p:nvSpPr>
          <p:cNvPr id="8" name="Text 5"/>
          <p:cNvSpPr txBox="1"/>
          <p:nvPr/>
        </p:nvSpPr>
        <p:spPr>
          <a:xfrm>
            <a:off x="3246120" y="1188720"/>
            <a:ext cx="2651760" cy="274320"/>
          </a:xfrm>
          <a:prstGeom prst="rect">
            <a:avLst/>
          </a:prstGeom>
          <a:noFill/>
          <a:ln/>
        </p:spPr>
        <p:txBody>
          <a:bodyPr wrap="square" lIns="0" tIns="0" rIns="0" bIns="0" rtlCol="0" anchor="t"/>
          <a:lstStyle/>
          <a:p>
            <a:pPr algn="l" indent="0" marL="0">
              <a:buNone/>
            </a:pPr>
            <a:r>
              <a:rPr lang="en-US" sz="1100" b="1" dirty="0">
                <a:solidFill>
                  <a:srgbClr val="6B7280"/>
                </a:solidFill>
                <a:latin typeface="Calibri" pitchFamily="34" charset="0"/>
                <a:ea typeface="Calibri" pitchFamily="34" charset="-122"/>
                <a:cs typeface="Calibri" pitchFamily="34" charset="-120"/>
              </a:rPr>
              <a:t>During</a:t>
            </a:r>
            <a:endParaRPr lang="en-US" sz="1100" dirty="0"/>
          </a:p>
        </p:txBody>
      </p:sp>
      <p:sp>
        <p:nvSpPr>
          <p:cNvPr id="9" name="Text 6"/>
          <p:cNvSpPr txBox="1"/>
          <p:nvPr/>
        </p:nvSpPr>
        <p:spPr>
          <a:xfrm>
            <a:off x="6126480" y="1188720"/>
            <a:ext cx="2651760" cy="274320"/>
          </a:xfrm>
          <a:prstGeom prst="rect">
            <a:avLst/>
          </a:prstGeom>
          <a:noFill/>
          <a:ln/>
        </p:spPr>
        <p:txBody>
          <a:bodyPr wrap="square" lIns="0" tIns="0" rIns="0" bIns="0" rtlCol="0" anchor="t"/>
          <a:lstStyle/>
          <a:p>
            <a:pPr algn="l" indent="0" marL="0">
              <a:buNone/>
            </a:pPr>
            <a:r>
              <a:rPr lang="en-US" sz="1100" b="1" dirty="0">
                <a:solidFill>
                  <a:srgbClr val="6B7280"/>
                </a:solidFill>
                <a:latin typeface="Calibri" pitchFamily="34" charset="0"/>
                <a:ea typeface="Calibri" pitchFamily="34" charset="-122"/>
                <a:cs typeface="Calibri" pitchFamily="34" charset="-120"/>
              </a:rPr>
              <a:t>After</a:t>
            </a:r>
            <a:endParaRPr lang="en-US" sz="1100" dirty="0"/>
          </a:p>
        </p:txBody>
      </p:sp>
      <p:sp>
        <p:nvSpPr>
          <p:cNvPr id="10" name="Shape 7"/>
          <p:cNvSpPr/>
          <p:nvPr/>
        </p:nvSpPr>
        <p:spPr>
          <a:xfrm>
            <a:off x="365760" y="1463040"/>
            <a:ext cx="2651760" cy="1463040"/>
          </a:xfrm>
          <a:prstGeom prst="roundRect">
            <a:avLst>
              <a:gd name="adj" fmla="val 5000"/>
            </a:avLst>
          </a:prstGeom>
          <a:solidFill>
            <a:srgbClr val="F3F5F8"/>
          </a:solidFill>
          <a:ln w="12700">
            <a:solidFill>
              <a:srgbClr val="F3F5F8"/>
            </a:solidFill>
            <a:prstDash val="solid"/>
          </a:ln>
        </p:spPr>
        <p:txBody>
          <a:bodyPr/>
          <a:p/>
        </p:txBody>
      </p:sp>
      <p:sp>
        <p:nvSpPr>
          <p:cNvPr id="11" name="Shape 8"/>
          <p:cNvSpPr/>
          <p:nvPr/>
        </p:nvSpPr>
        <p:spPr>
          <a:xfrm>
            <a:off x="457200" y="1600200"/>
            <a:ext cx="2468880" cy="502920"/>
          </a:xfrm>
          <a:prstGeom prst="roundRect">
            <a:avLst>
              <a:gd name="adj" fmla="val 10909"/>
            </a:avLst>
          </a:prstGeom>
          <a:solidFill>
            <a:srgbClr val="0E7C86"/>
          </a:solidFill>
          <a:ln w="9525">
            <a:solidFill>
              <a:srgbClr val="0E7C86"/>
            </a:solidFill>
            <a:prstDash val="solid"/>
          </a:ln>
        </p:spPr>
        <p:txBody>
          <a:bodyPr/>
          <a:p/>
        </p:txBody>
      </p:sp>
      <p:sp>
        <p:nvSpPr>
          <p:cNvPr id="12" name="Text 9"/>
          <p:cNvSpPr txBox="1"/>
          <p:nvPr/>
        </p:nvSpPr>
        <p:spPr>
          <a:xfrm>
            <a:off x="457200" y="1600200"/>
            <a:ext cx="2468880" cy="50292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v1</a:t>
            </a:r>
            <a:endParaRPr lang="en-US" sz="1000" dirty="0"/>
          </a:p>
        </p:txBody>
      </p:sp>
      <p:sp>
        <p:nvSpPr>
          <p:cNvPr id="13" name="Text 10"/>
          <p:cNvSpPr txBox="1"/>
          <p:nvPr/>
        </p:nvSpPr>
        <p:spPr>
          <a:xfrm>
            <a:off x="457200" y="2148840"/>
            <a:ext cx="246888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100% of traffic</a:t>
            </a:r>
            <a:endParaRPr lang="en-US" sz="950" dirty="0"/>
          </a:p>
        </p:txBody>
      </p:sp>
      <p:sp>
        <p:nvSpPr>
          <p:cNvPr id="14" name="Shape 11"/>
          <p:cNvSpPr/>
          <p:nvPr/>
        </p:nvSpPr>
        <p:spPr>
          <a:xfrm>
            <a:off x="3063240" y="2194560"/>
            <a:ext cx="137160" cy="0"/>
          </a:xfrm>
          <a:prstGeom prst="line">
            <a:avLst/>
          </a:prstGeom>
          <a:noFill/>
          <a:ln w="25400">
            <a:solidFill>
              <a:srgbClr val="0E7C86"/>
            </a:solidFill>
            <a:prstDash val="solid"/>
            <a:tailEnd type="triangle"/>
          </a:ln>
        </p:spPr>
        <p:txBody>
          <a:bodyPr/>
          <a:p/>
        </p:txBody>
      </p:sp>
      <p:sp>
        <p:nvSpPr>
          <p:cNvPr id="15" name="Shape 12"/>
          <p:cNvSpPr/>
          <p:nvPr/>
        </p:nvSpPr>
        <p:spPr>
          <a:xfrm>
            <a:off x="3246120" y="1463040"/>
            <a:ext cx="2651760" cy="1463040"/>
          </a:xfrm>
          <a:prstGeom prst="roundRect">
            <a:avLst>
              <a:gd name="adj" fmla="val 5000"/>
            </a:avLst>
          </a:prstGeom>
          <a:solidFill>
            <a:srgbClr val="F3F5F8"/>
          </a:solidFill>
          <a:ln w="12700">
            <a:solidFill>
              <a:srgbClr val="F3F5F8"/>
            </a:solidFill>
            <a:prstDash val="solid"/>
          </a:ln>
        </p:spPr>
        <p:txBody>
          <a:bodyPr/>
          <a:p/>
        </p:txBody>
      </p:sp>
      <p:sp>
        <p:nvSpPr>
          <p:cNvPr id="16" name="Shape 13"/>
          <p:cNvSpPr/>
          <p:nvPr/>
        </p:nvSpPr>
        <p:spPr>
          <a:xfrm>
            <a:off x="3337560" y="1600200"/>
            <a:ext cx="1143000" cy="502920"/>
          </a:xfrm>
          <a:prstGeom prst="roundRect">
            <a:avLst>
              <a:gd name="adj" fmla="val 10909"/>
            </a:avLst>
          </a:prstGeom>
          <a:solidFill>
            <a:srgbClr val="0E7C86"/>
          </a:solidFill>
          <a:ln w="9525">
            <a:solidFill>
              <a:srgbClr val="0E7C86"/>
            </a:solidFill>
            <a:prstDash val="solid"/>
          </a:ln>
        </p:spPr>
        <p:txBody>
          <a:bodyPr/>
          <a:p/>
        </p:txBody>
      </p:sp>
      <p:sp>
        <p:nvSpPr>
          <p:cNvPr id="17" name="Text 14"/>
          <p:cNvSpPr txBox="1"/>
          <p:nvPr/>
        </p:nvSpPr>
        <p:spPr>
          <a:xfrm>
            <a:off x="333756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v1</a:t>
            </a:r>
            <a:endParaRPr lang="en-US" sz="1000" dirty="0"/>
          </a:p>
        </p:txBody>
      </p:sp>
      <p:sp>
        <p:nvSpPr>
          <p:cNvPr id="18" name="Text 15"/>
          <p:cNvSpPr txBox="1"/>
          <p:nvPr/>
        </p:nvSpPr>
        <p:spPr>
          <a:xfrm>
            <a:off x="333756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answers every request</a:t>
            </a:r>
            <a:endParaRPr lang="en-US" sz="950" dirty="0"/>
          </a:p>
        </p:txBody>
      </p:sp>
      <p:sp>
        <p:nvSpPr>
          <p:cNvPr id="19" name="Shape 16"/>
          <p:cNvSpPr/>
          <p:nvPr/>
        </p:nvSpPr>
        <p:spPr>
          <a:xfrm>
            <a:off x="4663440" y="1600200"/>
            <a:ext cx="1143000" cy="502920"/>
          </a:xfrm>
          <a:prstGeom prst="roundRect">
            <a:avLst>
              <a:gd name="adj" fmla="val 10909"/>
            </a:avLst>
          </a:prstGeom>
          <a:solidFill>
            <a:srgbClr val="E07A2F"/>
          </a:solidFill>
          <a:ln w="9525">
            <a:solidFill>
              <a:srgbClr val="E07A2F"/>
            </a:solidFill>
            <a:prstDash val="solid"/>
          </a:ln>
        </p:spPr>
        <p:txBody>
          <a:bodyPr/>
          <a:p/>
        </p:txBody>
      </p:sp>
      <p:sp>
        <p:nvSpPr>
          <p:cNvPr id="20" name="Text 17"/>
          <p:cNvSpPr txBox="1"/>
          <p:nvPr/>
        </p:nvSpPr>
        <p:spPr>
          <a:xfrm>
            <a:off x="466344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v2 · shadow</a:t>
            </a:r>
            <a:endParaRPr lang="en-US" sz="1000" dirty="0"/>
          </a:p>
        </p:txBody>
      </p:sp>
      <p:sp>
        <p:nvSpPr>
          <p:cNvPr id="21" name="Text 18"/>
          <p:cNvSpPr txBox="1"/>
          <p:nvPr/>
        </p:nvSpPr>
        <p:spPr>
          <a:xfrm>
            <a:off x="466344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scores the same requests; answers logged, not returned</a:t>
            </a:r>
            <a:endParaRPr lang="en-US" sz="950" dirty="0"/>
          </a:p>
        </p:txBody>
      </p:sp>
      <p:sp>
        <p:nvSpPr>
          <p:cNvPr id="22" name="Shape 19"/>
          <p:cNvSpPr/>
          <p:nvPr/>
        </p:nvSpPr>
        <p:spPr>
          <a:xfrm>
            <a:off x="5943600" y="2194560"/>
            <a:ext cx="137160" cy="0"/>
          </a:xfrm>
          <a:prstGeom prst="line">
            <a:avLst/>
          </a:prstGeom>
          <a:noFill/>
          <a:ln w="25400">
            <a:solidFill>
              <a:srgbClr val="0E7C86"/>
            </a:solidFill>
            <a:prstDash val="solid"/>
            <a:tailEnd type="triangle"/>
          </a:ln>
        </p:spPr>
        <p:txBody>
          <a:bodyPr/>
          <a:p/>
        </p:txBody>
      </p:sp>
      <p:sp>
        <p:nvSpPr>
          <p:cNvPr id="23" name="Shape 20"/>
          <p:cNvSpPr/>
          <p:nvPr/>
        </p:nvSpPr>
        <p:spPr>
          <a:xfrm>
            <a:off x="6126480" y="1463040"/>
            <a:ext cx="2651760" cy="1463040"/>
          </a:xfrm>
          <a:prstGeom prst="roundRect">
            <a:avLst>
              <a:gd name="adj" fmla="val 5000"/>
            </a:avLst>
          </a:prstGeom>
          <a:solidFill>
            <a:srgbClr val="F3F5F8"/>
          </a:solidFill>
          <a:ln w="12700">
            <a:solidFill>
              <a:srgbClr val="F3F5F8"/>
            </a:solidFill>
            <a:prstDash val="solid"/>
          </a:ln>
        </p:spPr>
        <p:txBody>
          <a:bodyPr/>
          <a:p/>
        </p:txBody>
      </p:sp>
      <p:sp>
        <p:nvSpPr>
          <p:cNvPr id="24" name="Shape 21"/>
          <p:cNvSpPr/>
          <p:nvPr/>
        </p:nvSpPr>
        <p:spPr>
          <a:xfrm>
            <a:off x="6217920" y="1600200"/>
            <a:ext cx="1143000" cy="502920"/>
          </a:xfrm>
          <a:prstGeom prst="roundRect">
            <a:avLst>
              <a:gd name="adj" fmla="val 10909"/>
            </a:avLst>
          </a:prstGeom>
          <a:solidFill>
            <a:srgbClr val="0E7C86"/>
          </a:solidFill>
          <a:ln w="9525">
            <a:solidFill>
              <a:srgbClr val="0E7C86"/>
            </a:solidFill>
            <a:prstDash val="solid"/>
          </a:ln>
        </p:spPr>
        <p:txBody>
          <a:bodyPr/>
          <a:p/>
        </p:txBody>
      </p:sp>
      <p:sp>
        <p:nvSpPr>
          <p:cNvPr id="25" name="Text 22"/>
          <p:cNvSpPr txBox="1"/>
          <p:nvPr/>
        </p:nvSpPr>
        <p:spPr>
          <a:xfrm>
            <a:off x="621792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v2</a:t>
            </a:r>
            <a:endParaRPr lang="en-US" sz="1000" dirty="0"/>
          </a:p>
        </p:txBody>
      </p:sp>
      <p:sp>
        <p:nvSpPr>
          <p:cNvPr id="26" name="Text 23"/>
          <p:cNvSpPr txBox="1"/>
          <p:nvPr/>
        </p:nvSpPr>
        <p:spPr>
          <a:xfrm>
            <a:off x="621792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promoted after the comparison</a:t>
            </a:r>
            <a:endParaRPr lang="en-US" sz="950" dirty="0"/>
          </a:p>
        </p:txBody>
      </p:sp>
      <p:sp>
        <p:nvSpPr>
          <p:cNvPr id="27" name="Shape 24"/>
          <p:cNvSpPr/>
          <p:nvPr/>
        </p:nvSpPr>
        <p:spPr>
          <a:xfrm>
            <a:off x="7543800" y="1600200"/>
            <a:ext cx="1143000" cy="502920"/>
          </a:xfrm>
          <a:prstGeom prst="roundRect">
            <a:avLst>
              <a:gd name="adj" fmla="val 10909"/>
            </a:avLst>
          </a:prstGeom>
          <a:solidFill>
            <a:srgbClr val="C9D1DC"/>
          </a:solidFill>
          <a:ln w="9525">
            <a:solidFill>
              <a:srgbClr val="C9D1DC"/>
            </a:solidFill>
            <a:prstDash val="solid"/>
          </a:ln>
        </p:spPr>
        <p:txBody>
          <a:bodyPr/>
          <a:p/>
        </p:txBody>
      </p:sp>
      <p:sp>
        <p:nvSpPr>
          <p:cNvPr id="28" name="Text 25"/>
          <p:cNvSpPr txBox="1"/>
          <p:nvPr/>
        </p:nvSpPr>
        <p:spPr>
          <a:xfrm>
            <a:off x="754380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v1</a:t>
            </a:r>
            <a:endParaRPr lang="en-US" sz="1000" dirty="0"/>
          </a:p>
        </p:txBody>
      </p:sp>
      <p:sp>
        <p:nvSpPr>
          <p:cNvPr id="29" name="Text 26"/>
          <p:cNvSpPr txBox="1"/>
          <p:nvPr/>
        </p:nvSpPr>
        <p:spPr>
          <a:xfrm>
            <a:off x="754380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kept as rollback</a:t>
            </a:r>
            <a:endParaRPr lang="en-US" sz="950" dirty="0"/>
          </a:p>
        </p:txBody>
      </p:sp>
      <p:sp>
        <p:nvSpPr>
          <p:cNvPr id="30" name="Shape 27"/>
          <p:cNvSpPr/>
          <p:nvPr/>
        </p:nvSpPr>
        <p:spPr>
          <a:xfrm>
            <a:off x="365760" y="3108960"/>
            <a:ext cx="4114800" cy="1280160"/>
          </a:xfrm>
          <a:prstGeom prst="roundRect">
            <a:avLst>
              <a:gd name="adj" fmla="val 5714"/>
            </a:avLst>
          </a:prstGeom>
          <a:solidFill>
            <a:srgbClr val="F3F5F8"/>
          </a:solidFill>
          <a:ln w="12700">
            <a:solidFill>
              <a:srgbClr val="F3F5F8"/>
            </a:solidFill>
            <a:prstDash val="solid"/>
          </a:ln>
        </p:spPr>
        <p:txBody>
          <a:bodyPr/>
          <a:p/>
        </p:txBody>
      </p:sp>
      <p:sp>
        <p:nvSpPr>
          <p:cNvPr id="31" name="Shape 28"/>
          <p:cNvSpPr/>
          <p:nvPr/>
        </p:nvSpPr>
        <p:spPr>
          <a:xfrm>
            <a:off x="502920" y="3227832"/>
            <a:ext cx="347472" cy="347472"/>
          </a:xfrm>
          <a:prstGeom prst="ellipse">
            <a:avLst/>
          </a:prstGeom>
          <a:solidFill>
            <a:srgbClr val="0E7C86"/>
          </a:solidFill>
          <a:ln w="12700">
            <a:solidFill>
              <a:srgbClr val="0E7C86"/>
            </a:solidFill>
            <a:prstDash val="solid"/>
          </a:ln>
        </p:spPr>
        <p:txBody>
          <a:bodyPr/>
          <a:p/>
        </p:txBody>
      </p:sp>
      <p:pic>
        <p:nvPicPr>
          <p:cNvPr id="32" name="Image 0" descr="preencoded.png">    </p:cNvPr>
          <p:cNvPicPr>
            <a:picLocks noChangeAspect="1"/>
          </p:cNvPicPr>
          <p:nvPr/>
        </p:nvPicPr>
        <p:blipFill>
          <a:blip r:embed="rId1"/>
          <a:stretch>
            <a:fillRect/>
          </a:stretch>
        </p:blipFill>
        <p:spPr>
          <a:xfrm>
            <a:off x="576072" y="3300984"/>
            <a:ext cx="201168" cy="201168"/>
          </a:xfrm>
          <a:prstGeom prst="rect">
            <a:avLst/>
          </a:prstGeom>
        </p:spPr>
      </p:pic>
      <p:sp>
        <p:nvSpPr>
          <p:cNvPr id="33" name="Text 29"/>
          <p:cNvSpPr txBox="1"/>
          <p:nvPr/>
        </p:nvSpPr>
        <p:spPr>
          <a:xfrm>
            <a:off x="932688" y="32004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Pros</a:t>
            </a:r>
            <a:endParaRPr lang="en-US" sz="1300" dirty="0"/>
          </a:p>
        </p:txBody>
      </p:sp>
      <p:sp>
        <p:nvSpPr>
          <p:cNvPr id="34" name="Text 30"/>
          <p:cNvSpPr txBox="1"/>
          <p:nvPr/>
        </p:nvSpPr>
        <p:spPr>
          <a:xfrm>
            <a:off x="502920" y="3657600"/>
            <a:ext cx="3840480" cy="6400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v2 sees real data with zero customer risk</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Rollback = switch off the shadow</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Proof of equivalence before anyone is affected</a:t>
            </a:r>
            <a:endParaRPr lang="en-US" sz="1100" dirty="0"/>
          </a:p>
        </p:txBody>
      </p:sp>
      <p:sp>
        <p:nvSpPr>
          <p:cNvPr id="35" name="Shape 31"/>
          <p:cNvSpPr/>
          <p:nvPr/>
        </p:nvSpPr>
        <p:spPr>
          <a:xfrm>
            <a:off x="4663440" y="3108960"/>
            <a:ext cx="4114800" cy="1280160"/>
          </a:xfrm>
          <a:prstGeom prst="roundRect">
            <a:avLst>
              <a:gd name="adj" fmla="val 5714"/>
            </a:avLst>
          </a:prstGeom>
          <a:solidFill>
            <a:srgbClr val="F3F5F8"/>
          </a:solidFill>
          <a:ln w="12700">
            <a:solidFill>
              <a:srgbClr val="F3F5F8"/>
            </a:solidFill>
            <a:prstDash val="solid"/>
          </a:ln>
        </p:spPr>
        <p:txBody>
          <a:bodyPr/>
          <a:p/>
        </p:txBody>
      </p:sp>
      <p:sp>
        <p:nvSpPr>
          <p:cNvPr id="36" name="Shape 32"/>
          <p:cNvSpPr/>
          <p:nvPr/>
        </p:nvSpPr>
        <p:spPr>
          <a:xfrm>
            <a:off x="4800600" y="3227832"/>
            <a:ext cx="347472" cy="347472"/>
          </a:xfrm>
          <a:prstGeom prst="ellipse">
            <a:avLst/>
          </a:prstGeom>
          <a:solidFill>
            <a:srgbClr val="E07A2F"/>
          </a:solidFill>
          <a:ln w="12700">
            <a:solidFill>
              <a:srgbClr val="E07A2F"/>
            </a:solidFill>
            <a:prstDash val="solid"/>
          </a:ln>
        </p:spPr>
        <p:txBody>
          <a:bodyPr/>
          <a:p/>
        </p:txBody>
      </p:sp>
      <p:pic>
        <p:nvPicPr>
          <p:cNvPr id="37" name="Image 1" descr="preencoded.png">    </p:cNvPr>
          <p:cNvPicPr>
            <a:picLocks noChangeAspect="1"/>
          </p:cNvPicPr>
          <p:nvPr/>
        </p:nvPicPr>
        <p:blipFill>
          <a:blip r:embed="rId2"/>
          <a:stretch>
            <a:fillRect/>
          </a:stretch>
        </p:blipFill>
        <p:spPr>
          <a:xfrm>
            <a:off x="4873752" y="3300984"/>
            <a:ext cx="201168" cy="201168"/>
          </a:xfrm>
          <a:prstGeom prst="rect">
            <a:avLst/>
          </a:prstGeom>
        </p:spPr>
      </p:pic>
      <p:sp>
        <p:nvSpPr>
          <p:cNvPr id="38" name="Text 33"/>
          <p:cNvSpPr txBox="1"/>
          <p:nvPr/>
        </p:nvSpPr>
        <p:spPr>
          <a:xfrm>
            <a:off x="5230368" y="32004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Cons</a:t>
            </a:r>
            <a:endParaRPr lang="en-US" sz="1300" dirty="0"/>
          </a:p>
        </p:txBody>
      </p:sp>
      <p:sp>
        <p:nvSpPr>
          <p:cNvPr id="39" name="Text 34"/>
          <p:cNvSpPr txBox="1"/>
          <p:nvPr/>
        </p:nvSpPr>
        <p:spPr>
          <a:xfrm>
            <a:off x="4800600" y="3657600"/>
            <a:ext cx="3840480" cy="6400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Two production environments at once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All traffic to both: twice the compute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You learn what v2 would say, not how customers react</a:t>
            </a:r>
            <a:endParaRPr lang="en-US" sz="1100" dirty="0"/>
          </a:p>
        </p:txBody>
      </p:sp>
      <p:sp>
        <p:nvSpPr>
          <p:cNvPr id="40" name="Text 35"/>
          <p:cNvSpPr txBox="1"/>
          <p:nvPr/>
        </p:nvSpPr>
        <p:spPr>
          <a:xfrm>
            <a:off x="365760" y="448056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Adapted from Treveil et al., Introducing MLOps (O'Reilly, 2020)</a:t>
            </a:r>
            <a:endParaRPr lang="en-US" sz="900" dirty="0"/>
          </a:p>
        </p:txBody>
      </p:sp>
      <p:pic>
        <p:nvPicPr>
          <p:cNvPr id="41"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Canary: a small slice of customers first, then more, then everyone</a:t>
            </a:r>
            <a:endParaRPr lang="en-US" sz="2400" dirty="0"/>
          </a:p>
        </p:txBody>
      </p:sp>
      <p:sp>
        <p:nvSpPr>
          <p:cNvPr id="7" name="Text 4"/>
          <p:cNvSpPr txBox="1"/>
          <p:nvPr/>
        </p:nvSpPr>
        <p:spPr>
          <a:xfrm>
            <a:off x="365760" y="1188720"/>
            <a:ext cx="2651760" cy="274320"/>
          </a:xfrm>
          <a:prstGeom prst="rect">
            <a:avLst/>
          </a:prstGeom>
          <a:noFill/>
          <a:ln/>
        </p:spPr>
        <p:txBody>
          <a:bodyPr wrap="square" lIns="0" tIns="0" rIns="0" bIns="0" rtlCol="0" anchor="t"/>
          <a:lstStyle/>
          <a:p>
            <a:pPr algn="l" indent="0" marL="0">
              <a:buNone/>
            </a:pPr>
            <a:r>
              <a:rPr lang="en-US" sz="1100" b="1" dirty="0">
                <a:solidFill>
                  <a:srgbClr val="6B7280"/>
                </a:solidFill>
                <a:latin typeface="Calibri" pitchFamily="34" charset="0"/>
                <a:ea typeface="Calibri" pitchFamily="34" charset="-122"/>
                <a:cs typeface="Calibri" pitchFamily="34" charset="-120"/>
              </a:rPr>
              <a:t>Before</a:t>
            </a:r>
            <a:endParaRPr lang="en-US" sz="1100" dirty="0"/>
          </a:p>
        </p:txBody>
      </p:sp>
      <p:sp>
        <p:nvSpPr>
          <p:cNvPr id="8" name="Text 5"/>
          <p:cNvSpPr txBox="1"/>
          <p:nvPr/>
        </p:nvSpPr>
        <p:spPr>
          <a:xfrm>
            <a:off x="3246120" y="1188720"/>
            <a:ext cx="2651760" cy="274320"/>
          </a:xfrm>
          <a:prstGeom prst="rect">
            <a:avLst/>
          </a:prstGeom>
          <a:noFill/>
          <a:ln/>
        </p:spPr>
        <p:txBody>
          <a:bodyPr wrap="square" lIns="0" tIns="0" rIns="0" bIns="0" rtlCol="0" anchor="t"/>
          <a:lstStyle/>
          <a:p>
            <a:pPr algn="l" indent="0" marL="0">
              <a:buNone/>
            </a:pPr>
            <a:r>
              <a:rPr lang="en-US" sz="1100" b="1" dirty="0">
                <a:solidFill>
                  <a:srgbClr val="6B7280"/>
                </a:solidFill>
                <a:latin typeface="Calibri" pitchFamily="34" charset="0"/>
                <a:ea typeface="Calibri" pitchFamily="34" charset="-122"/>
                <a:cs typeface="Calibri" pitchFamily="34" charset="-120"/>
              </a:rPr>
              <a:t>During</a:t>
            </a:r>
            <a:endParaRPr lang="en-US" sz="1100" dirty="0"/>
          </a:p>
        </p:txBody>
      </p:sp>
      <p:sp>
        <p:nvSpPr>
          <p:cNvPr id="9" name="Text 6"/>
          <p:cNvSpPr txBox="1"/>
          <p:nvPr/>
        </p:nvSpPr>
        <p:spPr>
          <a:xfrm>
            <a:off x="6126480" y="1188720"/>
            <a:ext cx="2651760" cy="274320"/>
          </a:xfrm>
          <a:prstGeom prst="rect">
            <a:avLst/>
          </a:prstGeom>
          <a:noFill/>
          <a:ln/>
        </p:spPr>
        <p:txBody>
          <a:bodyPr wrap="square" lIns="0" tIns="0" rIns="0" bIns="0" rtlCol="0" anchor="t"/>
          <a:lstStyle/>
          <a:p>
            <a:pPr algn="l" indent="0" marL="0">
              <a:buNone/>
            </a:pPr>
            <a:r>
              <a:rPr lang="en-US" sz="1100" b="1" dirty="0">
                <a:solidFill>
                  <a:srgbClr val="6B7280"/>
                </a:solidFill>
                <a:latin typeface="Calibri" pitchFamily="34" charset="0"/>
                <a:ea typeface="Calibri" pitchFamily="34" charset="-122"/>
                <a:cs typeface="Calibri" pitchFamily="34" charset="-120"/>
              </a:rPr>
              <a:t>After</a:t>
            </a:r>
            <a:endParaRPr lang="en-US" sz="1100" dirty="0"/>
          </a:p>
        </p:txBody>
      </p:sp>
      <p:sp>
        <p:nvSpPr>
          <p:cNvPr id="10" name="Shape 7"/>
          <p:cNvSpPr/>
          <p:nvPr/>
        </p:nvSpPr>
        <p:spPr>
          <a:xfrm>
            <a:off x="365760" y="1463040"/>
            <a:ext cx="2651760" cy="1463040"/>
          </a:xfrm>
          <a:prstGeom prst="roundRect">
            <a:avLst>
              <a:gd name="adj" fmla="val 5000"/>
            </a:avLst>
          </a:prstGeom>
          <a:solidFill>
            <a:srgbClr val="F3F5F8"/>
          </a:solidFill>
          <a:ln w="12700">
            <a:solidFill>
              <a:srgbClr val="F3F5F8"/>
            </a:solidFill>
            <a:prstDash val="solid"/>
          </a:ln>
        </p:spPr>
        <p:txBody>
          <a:bodyPr/>
          <a:p/>
        </p:txBody>
      </p:sp>
      <p:sp>
        <p:nvSpPr>
          <p:cNvPr id="11" name="Shape 8"/>
          <p:cNvSpPr/>
          <p:nvPr/>
        </p:nvSpPr>
        <p:spPr>
          <a:xfrm>
            <a:off x="457200" y="1600200"/>
            <a:ext cx="2468880" cy="502920"/>
          </a:xfrm>
          <a:prstGeom prst="roundRect">
            <a:avLst>
              <a:gd name="adj" fmla="val 10909"/>
            </a:avLst>
          </a:prstGeom>
          <a:solidFill>
            <a:srgbClr val="0E7C86"/>
          </a:solidFill>
          <a:ln w="9525">
            <a:solidFill>
              <a:srgbClr val="0E7C86"/>
            </a:solidFill>
            <a:prstDash val="solid"/>
          </a:ln>
        </p:spPr>
        <p:txBody>
          <a:bodyPr/>
          <a:p/>
        </p:txBody>
      </p:sp>
      <p:sp>
        <p:nvSpPr>
          <p:cNvPr id="12" name="Text 9"/>
          <p:cNvSpPr txBox="1"/>
          <p:nvPr/>
        </p:nvSpPr>
        <p:spPr>
          <a:xfrm>
            <a:off x="457200" y="1600200"/>
            <a:ext cx="2468880" cy="50292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v1</a:t>
            </a:r>
            <a:endParaRPr lang="en-US" sz="1000" dirty="0"/>
          </a:p>
        </p:txBody>
      </p:sp>
      <p:sp>
        <p:nvSpPr>
          <p:cNvPr id="13" name="Text 10"/>
          <p:cNvSpPr txBox="1"/>
          <p:nvPr/>
        </p:nvSpPr>
        <p:spPr>
          <a:xfrm>
            <a:off x="457200" y="2148840"/>
            <a:ext cx="246888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100%</a:t>
            </a:r>
            <a:endParaRPr lang="en-US" sz="950" dirty="0"/>
          </a:p>
        </p:txBody>
      </p:sp>
      <p:sp>
        <p:nvSpPr>
          <p:cNvPr id="14" name="Shape 11"/>
          <p:cNvSpPr/>
          <p:nvPr/>
        </p:nvSpPr>
        <p:spPr>
          <a:xfrm>
            <a:off x="3063240" y="2194560"/>
            <a:ext cx="137160" cy="0"/>
          </a:xfrm>
          <a:prstGeom prst="line">
            <a:avLst/>
          </a:prstGeom>
          <a:noFill/>
          <a:ln w="25400">
            <a:solidFill>
              <a:srgbClr val="0E7C86"/>
            </a:solidFill>
            <a:prstDash val="solid"/>
            <a:tailEnd type="triangle"/>
          </a:ln>
        </p:spPr>
        <p:txBody>
          <a:bodyPr/>
          <a:p/>
        </p:txBody>
      </p:sp>
      <p:sp>
        <p:nvSpPr>
          <p:cNvPr id="15" name="Shape 12"/>
          <p:cNvSpPr/>
          <p:nvPr/>
        </p:nvSpPr>
        <p:spPr>
          <a:xfrm>
            <a:off x="3246120" y="1463040"/>
            <a:ext cx="2651760" cy="1463040"/>
          </a:xfrm>
          <a:prstGeom prst="roundRect">
            <a:avLst>
              <a:gd name="adj" fmla="val 5000"/>
            </a:avLst>
          </a:prstGeom>
          <a:solidFill>
            <a:srgbClr val="F3F5F8"/>
          </a:solidFill>
          <a:ln w="12700">
            <a:solidFill>
              <a:srgbClr val="F3F5F8"/>
            </a:solidFill>
            <a:prstDash val="solid"/>
          </a:ln>
        </p:spPr>
        <p:txBody>
          <a:bodyPr/>
          <a:p/>
        </p:txBody>
      </p:sp>
      <p:sp>
        <p:nvSpPr>
          <p:cNvPr id="16" name="Shape 13"/>
          <p:cNvSpPr/>
          <p:nvPr/>
        </p:nvSpPr>
        <p:spPr>
          <a:xfrm>
            <a:off x="3337560" y="1600200"/>
            <a:ext cx="1143000" cy="502920"/>
          </a:xfrm>
          <a:prstGeom prst="roundRect">
            <a:avLst>
              <a:gd name="adj" fmla="val 10909"/>
            </a:avLst>
          </a:prstGeom>
          <a:solidFill>
            <a:srgbClr val="0E7C86"/>
          </a:solidFill>
          <a:ln w="9525">
            <a:solidFill>
              <a:srgbClr val="0E7C86"/>
            </a:solidFill>
            <a:prstDash val="solid"/>
          </a:ln>
        </p:spPr>
        <p:txBody>
          <a:bodyPr/>
          <a:p/>
        </p:txBody>
      </p:sp>
      <p:sp>
        <p:nvSpPr>
          <p:cNvPr id="17" name="Text 14"/>
          <p:cNvSpPr txBox="1"/>
          <p:nvPr/>
        </p:nvSpPr>
        <p:spPr>
          <a:xfrm>
            <a:off x="333756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v1</a:t>
            </a:r>
            <a:endParaRPr lang="en-US" sz="1000" dirty="0"/>
          </a:p>
        </p:txBody>
      </p:sp>
      <p:sp>
        <p:nvSpPr>
          <p:cNvPr id="18" name="Text 15"/>
          <p:cNvSpPr txBox="1"/>
          <p:nvPr/>
        </p:nvSpPr>
        <p:spPr>
          <a:xfrm>
            <a:off x="333756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90% → 50% → 10%</a:t>
            </a:r>
            <a:endParaRPr lang="en-US" sz="950" dirty="0"/>
          </a:p>
        </p:txBody>
      </p:sp>
      <p:sp>
        <p:nvSpPr>
          <p:cNvPr id="19" name="Shape 16"/>
          <p:cNvSpPr/>
          <p:nvPr/>
        </p:nvSpPr>
        <p:spPr>
          <a:xfrm>
            <a:off x="4663440" y="1600200"/>
            <a:ext cx="1143000" cy="502920"/>
          </a:xfrm>
          <a:prstGeom prst="roundRect">
            <a:avLst>
              <a:gd name="adj" fmla="val 10909"/>
            </a:avLst>
          </a:prstGeom>
          <a:solidFill>
            <a:srgbClr val="0E7C86"/>
          </a:solidFill>
          <a:ln w="9525">
            <a:solidFill>
              <a:srgbClr val="0E7C86"/>
            </a:solidFill>
            <a:prstDash val="solid"/>
          </a:ln>
        </p:spPr>
        <p:txBody>
          <a:bodyPr/>
          <a:p/>
        </p:txBody>
      </p:sp>
      <p:sp>
        <p:nvSpPr>
          <p:cNvPr id="20" name="Text 17"/>
          <p:cNvSpPr txBox="1"/>
          <p:nvPr/>
        </p:nvSpPr>
        <p:spPr>
          <a:xfrm>
            <a:off x="466344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v2</a:t>
            </a:r>
            <a:endParaRPr lang="en-US" sz="1000" dirty="0"/>
          </a:p>
        </p:txBody>
      </p:sp>
      <p:sp>
        <p:nvSpPr>
          <p:cNvPr id="21" name="Text 18"/>
          <p:cNvSpPr txBox="1"/>
          <p:nvPr/>
        </p:nvSpPr>
        <p:spPr>
          <a:xfrm>
            <a:off x="466344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10% → 50% → 90%, monitored</a:t>
            </a:r>
            <a:endParaRPr lang="en-US" sz="950" dirty="0"/>
          </a:p>
        </p:txBody>
      </p:sp>
      <p:sp>
        <p:nvSpPr>
          <p:cNvPr id="22" name="Shape 19"/>
          <p:cNvSpPr/>
          <p:nvPr/>
        </p:nvSpPr>
        <p:spPr>
          <a:xfrm>
            <a:off x="5943600" y="2194560"/>
            <a:ext cx="137160" cy="0"/>
          </a:xfrm>
          <a:prstGeom prst="line">
            <a:avLst/>
          </a:prstGeom>
          <a:noFill/>
          <a:ln w="25400">
            <a:solidFill>
              <a:srgbClr val="0E7C86"/>
            </a:solidFill>
            <a:prstDash val="solid"/>
            <a:tailEnd type="triangle"/>
          </a:ln>
        </p:spPr>
        <p:txBody>
          <a:bodyPr/>
          <a:p/>
        </p:txBody>
      </p:sp>
      <p:sp>
        <p:nvSpPr>
          <p:cNvPr id="23" name="Shape 20"/>
          <p:cNvSpPr/>
          <p:nvPr/>
        </p:nvSpPr>
        <p:spPr>
          <a:xfrm>
            <a:off x="6126480" y="1463040"/>
            <a:ext cx="2651760" cy="1463040"/>
          </a:xfrm>
          <a:prstGeom prst="roundRect">
            <a:avLst>
              <a:gd name="adj" fmla="val 5000"/>
            </a:avLst>
          </a:prstGeom>
          <a:solidFill>
            <a:srgbClr val="F3F5F8"/>
          </a:solidFill>
          <a:ln w="12700">
            <a:solidFill>
              <a:srgbClr val="F3F5F8"/>
            </a:solidFill>
            <a:prstDash val="solid"/>
          </a:ln>
        </p:spPr>
        <p:txBody>
          <a:bodyPr/>
          <a:p/>
        </p:txBody>
      </p:sp>
      <p:sp>
        <p:nvSpPr>
          <p:cNvPr id="24" name="Shape 21"/>
          <p:cNvSpPr/>
          <p:nvPr/>
        </p:nvSpPr>
        <p:spPr>
          <a:xfrm>
            <a:off x="6217920" y="1600200"/>
            <a:ext cx="1143000" cy="502920"/>
          </a:xfrm>
          <a:prstGeom prst="roundRect">
            <a:avLst>
              <a:gd name="adj" fmla="val 10909"/>
            </a:avLst>
          </a:prstGeom>
          <a:solidFill>
            <a:srgbClr val="0E7C86"/>
          </a:solidFill>
          <a:ln w="9525">
            <a:solidFill>
              <a:srgbClr val="0E7C86"/>
            </a:solidFill>
            <a:prstDash val="solid"/>
          </a:ln>
        </p:spPr>
        <p:txBody>
          <a:bodyPr/>
          <a:p/>
        </p:txBody>
      </p:sp>
      <p:sp>
        <p:nvSpPr>
          <p:cNvPr id="25" name="Text 22"/>
          <p:cNvSpPr txBox="1"/>
          <p:nvPr/>
        </p:nvSpPr>
        <p:spPr>
          <a:xfrm>
            <a:off x="621792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v2</a:t>
            </a:r>
            <a:endParaRPr lang="en-US" sz="1000" dirty="0"/>
          </a:p>
        </p:txBody>
      </p:sp>
      <p:sp>
        <p:nvSpPr>
          <p:cNvPr id="26" name="Text 23"/>
          <p:cNvSpPr txBox="1"/>
          <p:nvPr/>
        </p:nvSpPr>
        <p:spPr>
          <a:xfrm>
            <a:off x="621792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100%</a:t>
            </a:r>
            <a:endParaRPr lang="en-US" sz="950" dirty="0"/>
          </a:p>
        </p:txBody>
      </p:sp>
      <p:sp>
        <p:nvSpPr>
          <p:cNvPr id="27" name="Shape 24"/>
          <p:cNvSpPr/>
          <p:nvPr/>
        </p:nvSpPr>
        <p:spPr>
          <a:xfrm>
            <a:off x="7543800" y="1600200"/>
            <a:ext cx="1143000" cy="502920"/>
          </a:xfrm>
          <a:prstGeom prst="roundRect">
            <a:avLst>
              <a:gd name="adj" fmla="val 10909"/>
            </a:avLst>
          </a:prstGeom>
          <a:solidFill>
            <a:srgbClr val="C9D1DC"/>
          </a:solidFill>
          <a:ln w="9525">
            <a:solidFill>
              <a:srgbClr val="C9D1DC"/>
            </a:solidFill>
            <a:prstDash val="solid"/>
          </a:ln>
        </p:spPr>
        <p:txBody>
          <a:bodyPr/>
          <a:p/>
        </p:txBody>
      </p:sp>
      <p:sp>
        <p:nvSpPr>
          <p:cNvPr id="28" name="Text 25"/>
          <p:cNvSpPr txBox="1"/>
          <p:nvPr/>
        </p:nvSpPr>
        <p:spPr>
          <a:xfrm>
            <a:off x="7543800" y="1600200"/>
            <a:ext cx="1143000" cy="502920"/>
          </a:xfrm>
          <a:prstGeom prst="rect">
            <a:avLst/>
          </a:prstGeom>
          <a:noFill/>
          <a:ln/>
        </p:spPr>
        <p:txBody>
          <a:bodyPr wrap="square" lIns="635" tIns="635" rIns="635" bIns="635"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v1</a:t>
            </a:r>
            <a:endParaRPr lang="en-US" sz="1000" dirty="0"/>
          </a:p>
        </p:txBody>
      </p:sp>
      <p:sp>
        <p:nvSpPr>
          <p:cNvPr id="29" name="Text 26"/>
          <p:cNvSpPr txBox="1"/>
          <p:nvPr/>
        </p:nvSpPr>
        <p:spPr>
          <a:xfrm>
            <a:off x="7543800" y="2148840"/>
            <a:ext cx="1143000" cy="731520"/>
          </a:xfrm>
          <a:prstGeom prst="rect">
            <a:avLst/>
          </a:prstGeom>
          <a:noFill/>
          <a:ln/>
        </p:spPr>
        <p:txBody>
          <a:bodyPr wrap="square" lIns="0" tIns="0" rIns="0" bIns="0" rtlCol="0" anchor="t"/>
          <a:lstStyle/>
          <a:p>
            <a:pPr algn="ctr" indent="0" marL="0">
              <a:buNone/>
            </a:pPr>
            <a:r>
              <a:rPr lang="en-US" sz="950" dirty="0">
                <a:solidFill>
                  <a:srgbClr val="222222"/>
                </a:solidFill>
                <a:latin typeface="Calibri" pitchFamily="34" charset="0"/>
                <a:ea typeface="Calibri" pitchFamily="34" charset="-122"/>
                <a:cs typeface="Calibri" pitchFamily="34" charset="-120"/>
              </a:rPr>
              <a:t>retired, kept for rollback</a:t>
            </a:r>
            <a:endParaRPr lang="en-US" sz="950" dirty="0"/>
          </a:p>
        </p:txBody>
      </p:sp>
      <p:sp>
        <p:nvSpPr>
          <p:cNvPr id="30" name="Shape 27"/>
          <p:cNvSpPr/>
          <p:nvPr/>
        </p:nvSpPr>
        <p:spPr>
          <a:xfrm>
            <a:off x="365760" y="3108960"/>
            <a:ext cx="4114800" cy="1280160"/>
          </a:xfrm>
          <a:prstGeom prst="roundRect">
            <a:avLst>
              <a:gd name="adj" fmla="val 5714"/>
            </a:avLst>
          </a:prstGeom>
          <a:solidFill>
            <a:srgbClr val="F3F5F8"/>
          </a:solidFill>
          <a:ln w="12700">
            <a:solidFill>
              <a:srgbClr val="F3F5F8"/>
            </a:solidFill>
            <a:prstDash val="solid"/>
          </a:ln>
        </p:spPr>
        <p:txBody>
          <a:bodyPr/>
          <a:p/>
        </p:txBody>
      </p:sp>
      <p:sp>
        <p:nvSpPr>
          <p:cNvPr id="31" name="Shape 28"/>
          <p:cNvSpPr/>
          <p:nvPr/>
        </p:nvSpPr>
        <p:spPr>
          <a:xfrm>
            <a:off x="502920" y="3227832"/>
            <a:ext cx="347472" cy="347472"/>
          </a:xfrm>
          <a:prstGeom prst="ellipse">
            <a:avLst/>
          </a:prstGeom>
          <a:solidFill>
            <a:srgbClr val="0E7C86"/>
          </a:solidFill>
          <a:ln w="12700">
            <a:solidFill>
              <a:srgbClr val="0E7C86"/>
            </a:solidFill>
            <a:prstDash val="solid"/>
          </a:ln>
        </p:spPr>
        <p:txBody>
          <a:bodyPr/>
          <a:p/>
        </p:txBody>
      </p:sp>
      <p:pic>
        <p:nvPicPr>
          <p:cNvPr id="32" name="Image 0" descr="preencoded.png">    </p:cNvPr>
          <p:cNvPicPr>
            <a:picLocks noChangeAspect="1"/>
          </p:cNvPicPr>
          <p:nvPr/>
        </p:nvPicPr>
        <p:blipFill>
          <a:blip r:embed="rId1"/>
          <a:stretch>
            <a:fillRect/>
          </a:stretch>
        </p:blipFill>
        <p:spPr>
          <a:xfrm>
            <a:off x="576072" y="3300984"/>
            <a:ext cx="201168" cy="201168"/>
          </a:xfrm>
          <a:prstGeom prst="rect">
            <a:avLst/>
          </a:prstGeom>
        </p:spPr>
      </p:pic>
      <p:sp>
        <p:nvSpPr>
          <p:cNvPr id="33" name="Text 29"/>
          <p:cNvSpPr txBox="1"/>
          <p:nvPr/>
        </p:nvSpPr>
        <p:spPr>
          <a:xfrm>
            <a:off x="932688" y="32004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Pros</a:t>
            </a:r>
            <a:endParaRPr lang="en-US" sz="1300" dirty="0"/>
          </a:p>
        </p:txBody>
      </p:sp>
      <p:sp>
        <p:nvSpPr>
          <p:cNvPr id="34" name="Text 30"/>
          <p:cNvSpPr txBox="1"/>
          <p:nvPr/>
        </p:nvSpPr>
        <p:spPr>
          <a:xfrm>
            <a:off x="502920" y="3657600"/>
            <a:ext cx="3840480" cy="6400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No second full environment: cheaper</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Risk bounded by the slice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The lowest-risk strategy overall</a:t>
            </a:r>
            <a:endParaRPr lang="en-US" sz="1100" dirty="0"/>
          </a:p>
        </p:txBody>
      </p:sp>
      <p:sp>
        <p:nvSpPr>
          <p:cNvPr id="35" name="Shape 31"/>
          <p:cNvSpPr/>
          <p:nvPr/>
        </p:nvSpPr>
        <p:spPr>
          <a:xfrm>
            <a:off x="4663440" y="3108960"/>
            <a:ext cx="4114800" cy="1280160"/>
          </a:xfrm>
          <a:prstGeom prst="roundRect">
            <a:avLst>
              <a:gd name="adj" fmla="val 5714"/>
            </a:avLst>
          </a:prstGeom>
          <a:solidFill>
            <a:srgbClr val="F3F5F8"/>
          </a:solidFill>
          <a:ln w="12700">
            <a:solidFill>
              <a:srgbClr val="F3F5F8"/>
            </a:solidFill>
            <a:prstDash val="solid"/>
          </a:ln>
        </p:spPr>
        <p:txBody>
          <a:bodyPr/>
          <a:p/>
        </p:txBody>
      </p:sp>
      <p:sp>
        <p:nvSpPr>
          <p:cNvPr id="36" name="Shape 32"/>
          <p:cNvSpPr/>
          <p:nvPr/>
        </p:nvSpPr>
        <p:spPr>
          <a:xfrm>
            <a:off x="4800600" y="3227832"/>
            <a:ext cx="347472" cy="347472"/>
          </a:xfrm>
          <a:prstGeom prst="ellipse">
            <a:avLst/>
          </a:prstGeom>
          <a:solidFill>
            <a:srgbClr val="E07A2F"/>
          </a:solidFill>
          <a:ln w="12700">
            <a:solidFill>
              <a:srgbClr val="E07A2F"/>
            </a:solidFill>
            <a:prstDash val="solid"/>
          </a:ln>
        </p:spPr>
        <p:txBody>
          <a:bodyPr/>
          <a:p/>
        </p:txBody>
      </p:sp>
      <p:pic>
        <p:nvPicPr>
          <p:cNvPr id="37" name="Image 1" descr="preencoded.png">    </p:cNvPr>
          <p:cNvPicPr>
            <a:picLocks noChangeAspect="1"/>
          </p:cNvPicPr>
          <p:nvPr/>
        </p:nvPicPr>
        <p:blipFill>
          <a:blip r:embed="rId2"/>
          <a:stretch>
            <a:fillRect/>
          </a:stretch>
        </p:blipFill>
        <p:spPr>
          <a:xfrm>
            <a:off x="4873752" y="3300984"/>
            <a:ext cx="201168" cy="201168"/>
          </a:xfrm>
          <a:prstGeom prst="rect">
            <a:avLst/>
          </a:prstGeom>
        </p:spPr>
      </p:pic>
      <p:sp>
        <p:nvSpPr>
          <p:cNvPr id="38" name="Text 33"/>
          <p:cNvSpPr txBox="1"/>
          <p:nvPr/>
        </p:nvSpPr>
        <p:spPr>
          <a:xfrm>
            <a:off x="5230368" y="32004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Cons</a:t>
            </a:r>
            <a:endParaRPr lang="en-US" sz="1300" dirty="0"/>
          </a:p>
        </p:txBody>
      </p:sp>
      <p:sp>
        <p:nvSpPr>
          <p:cNvPr id="39" name="Text 34"/>
          <p:cNvSpPr txBox="1"/>
          <p:nvPr/>
        </p:nvSpPr>
        <p:spPr>
          <a:xfrm>
            <a:off x="4800600" y="3657600"/>
            <a:ext cx="3840480" cy="6400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Two behaviours in production at once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The slice must be big enough to see, small enough to limit damage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Needs monitoring good enough to decide</a:t>
            </a:r>
            <a:endParaRPr lang="en-US" sz="1100" dirty="0"/>
          </a:p>
        </p:txBody>
      </p:sp>
      <p:sp>
        <p:nvSpPr>
          <p:cNvPr id="40" name="Text 35"/>
          <p:cNvSpPr txBox="1"/>
          <p:nvPr/>
        </p:nvSpPr>
        <p:spPr>
          <a:xfrm>
            <a:off x="365760" y="448056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Adapted from Treveil et al., Introducing MLOps (O'Reilly, 2020)</a:t>
            </a:r>
            <a:endParaRPr lang="en-US" sz="900" dirty="0"/>
          </a:p>
        </p:txBody>
      </p:sp>
      <p:pic>
        <p:nvPicPr>
          <p:cNvPr id="41"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A/B testing is not a canary: it is an experiment with a decision rule</a:t>
            </a:r>
            <a:endParaRPr lang="en-US" sz="2400" dirty="0"/>
          </a:p>
        </p:txBody>
      </p:sp>
      <p:sp>
        <p:nvSpPr>
          <p:cNvPr id="7" name="Shape 4"/>
          <p:cNvSpPr/>
          <p:nvPr/>
        </p:nvSpPr>
        <p:spPr>
          <a:xfrm>
            <a:off x="365760" y="1234440"/>
            <a:ext cx="4114800" cy="1645920"/>
          </a:xfrm>
          <a:prstGeom prst="roundRect">
            <a:avLst>
              <a:gd name="adj" fmla="val 4444"/>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Canary asks: is v2 safe?</a:t>
            </a:r>
            <a:endParaRPr lang="en-US" sz="1300" dirty="0"/>
          </a:p>
        </p:txBody>
      </p:sp>
      <p:sp>
        <p:nvSpPr>
          <p:cNvPr id="11" name="Text 7"/>
          <p:cNvSpPr txBox="1"/>
          <p:nvPr/>
        </p:nvSpPr>
        <p:spPr>
          <a:xfrm>
            <a:off x="502920" y="1783080"/>
            <a:ext cx="3840480" cy="10058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Watches errors, latency, obvious wrong answers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Grows the slice when nothing breaks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 release mechanism</a:t>
            </a:r>
            <a:endParaRPr lang="en-US" sz="1150" dirty="0"/>
          </a:p>
        </p:txBody>
      </p:sp>
      <p:sp>
        <p:nvSpPr>
          <p:cNvPr id="12" name="Shape 8"/>
          <p:cNvSpPr/>
          <p:nvPr/>
        </p:nvSpPr>
        <p:spPr>
          <a:xfrm>
            <a:off x="4663440" y="1234440"/>
            <a:ext cx="4114800" cy="1645920"/>
          </a:xfrm>
          <a:prstGeom prst="roundRect">
            <a:avLst>
              <a:gd name="adj" fmla="val 4444"/>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E07A2F"/>
          </a:solidFill>
          <a:ln w="12700">
            <a:solidFill>
              <a:srgbClr val="E07A2F"/>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A/B asks: is v2 better?</a:t>
            </a:r>
            <a:endParaRPr lang="en-US" sz="1300" dirty="0"/>
          </a:p>
        </p:txBody>
      </p:sp>
      <p:sp>
        <p:nvSpPr>
          <p:cNvPr id="16" name="Text 11"/>
          <p:cNvSpPr txBox="1"/>
          <p:nvPr/>
        </p:nvSpPr>
        <p:spPr>
          <a:xfrm>
            <a:off x="4800600" y="1783080"/>
            <a:ext cx="3840480" cy="10058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Random split into two comparable groups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One metric, decided in advance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 decision rule; an experiment</a:t>
            </a:r>
            <a:endParaRPr lang="en-US" sz="1150" dirty="0"/>
          </a:p>
        </p:txBody>
      </p:sp>
      <p:sp>
        <p:nvSpPr>
          <p:cNvPr id="17" name="Text 12"/>
          <p:cNvSpPr txBox="1"/>
          <p:nvPr/>
        </p:nvSpPr>
        <p:spPr>
          <a:xfrm>
            <a:off x="365760" y="3017520"/>
            <a:ext cx="8412480" cy="274320"/>
          </a:xfrm>
          <a:prstGeom prst="rect">
            <a:avLst/>
          </a:prstGeom>
          <a:noFill/>
          <a:ln/>
        </p:spPr>
        <p:txBody>
          <a:bodyPr wrap="square" lIns="0" tIns="0" rIns="0" bIns="0" rtlCol="0" anchor="t"/>
          <a:lstStyle/>
          <a:p>
            <a:pPr algn="l" indent="0" marL="0">
              <a:buNone/>
            </a:pPr>
            <a:r>
              <a:rPr lang="en-US" sz="1250" b="1" dirty="0">
                <a:solidFill>
                  <a:srgbClr val="0E7C86"/>
                </a:solidFill>
                <a:latin typeface="Calibri" pitchFamily="34" charset="0"/>
                <a:ea typeface="Calibri" pitchFamily="34" charset="-122"/>
                <a:cs typeface="Calibri" pitchFamily="34" charset="-120"/>
              </a:rPr>
              <a:t>The three ingredients of an A/B test</a:t>
            </a:r>
            <a:endParaRPr lang="en-US" sz="1250" dirty="0"/>
          </a:p>
        </p:txBody>
      </p:sp>
      <p:sp>
        <p:nvSpPr>
          <p:cNvPr id="18" name="Shape 13"/>
          <p:cNvSpPr/>
          <p:nvPr/>
        </p:nvSpPr>
        <p:spPr>
          <a:xfrm>
            <a:off x="365760" y="3383280"/>
            <a:ext cx="420624" cy="420624"/>
          </a:xfrm>
          <a:prstGeom prst="ellipse">
            <a:avLst/>
          </a:prstGeom>
          <a:solidFill>
            <a:srgbClr val="0E7C86"/>
          </a:solidFill>
          <a:ln w="12700">
            <a:solidFill>
              <a:srgbClr val="0E7C86"/>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457200" y="3474720"/>
            <a:ext cx="237744" cy="237744"/>
          </a:xfrm>
          <a:prstGeom prst="rect">
            <a:avLst/>
          </a:prstGeom>
        </p:spPr>
      </p:pic>
      <p:sp>
        <p:nvSpPr>
          <p:cNvPr id="20" name="Text 14"/>
          <p:cNvSpPr txBox="1"/>
          <p:nvPr/>
        </p:nvSpPr>
        <p:spPr>
          <a:xfrm>
            <a:off x="914400" y="3364992"/>
            <a:ext cx="21488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 metric</a:t>
            </a:r>
            <a:endParaRPr lang="en-US" sz="1200" dirty="0"/>
          </a:p>
        </p:txBody>
      </p:sp>
      <p:sp>
        <p:nvSpPr>
          <p:cNvPr id="21" name="Text 15"/>
          <p:cNvSpPr txBox="1"/>
          <p:nvPr/>
        </p:nvSpPr>
        <p:spPr>
          <a:xfrm>
            <a:off x="914400" y="3621024"/>
            <a:ext cx="2148840" cy="640080"/>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Fraud caught at a fixed false-positive rate; conversion; revenue per user.</a:t>
            </a:r>
            <a:endParaRPr lang="en-US" sz="1050" dirty="0"/>
          </a:p>
        </p:txBody>
      </p:sp>
      <p:sp>
        <p:nvSpPr>
          <p:cNvPr id="22" name="Shape 16"/>
          <p:cNvSpPr/>
          <p:nvPr/>
        </p:nvSpPr>
        <p:spPr>
          <a:xfrm>
            <a:off x="3218688" y="3383280"/>
            <a:ext cx="420624" cy="420624"/>
          </a:xfrm>
          <a:prstGeom prst="ellipse">
            <a:avLst/>
          </a:prstGeom>
          <a:solidFill>
            <a:srgbClr val="0E7C86"/>
          </a:solidFill>
          <a:ln w="12700">
            <a:solidFill>
              <a:srgbClr val="0E7C86"/>
            </a:solidFill>
            <a:prstDash val="solid"/>
          </a:ln>
        </p:spPr>
        <p:txBody>
          <a:bodyPr/>
          <a:p/>
        </p:txBody>
      </p:sp>
      <p:pic>
        <p:nvPicPr>
          <p:cNvPr id="23" name="Image 3" descr="preencoded.png">    </p:cNvPr>
          <p:cNvPicPr>
            <a:picLocks noChangeAspect="1"/>
          </p:cNvPicPr>
          <p:nvPr/>
        </p:nvPicPr>
        <p:blipFill>
          <a:blip r:embed="rId4"/>
          <a:stretch>
            <a:fillRect/>
          </a:stretch>
        </p:blipFill>
        <p:spPr>
          <a:xfrm>
            <a:off x="3310128" y="3474720"/>
            <a:ext cx="237744" cy="237744"/>
          </a:xfrm>
          <a:prstGeom prst="rect">
            <a:avLst/>
          </a:prstGeom>
        </p:spPr>
      </p:pic>
      <p:sp>
        <p:nvSpPr>
          <p:cNvPr id="24" name="Text 17"/>
          <p:cNvSpPr txBox="1"/>
          <p:nvPr/>
        </p:nvSpPr>
        <p:spPr>
          <a:xfrm>
            <a:off x="3767328" y="3364992"/>
            <a:ext cx="21488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 threshold</a:t>
            </a:r>
            <a:endParaRPr lang="en-US" sz="1200" dirty="0"/>
          </a:p>
        </p:txBody>
      </p:sp>
      <p:sp>
        <p:nvSpPr>
          <p:cNvPr id="25" name="Text 18"/>
          <p:cNvSpPr txBox="1"/>
          <p:nvPr/>
        </p:nvSpPr>
        <p:spPr>
          <a:xfrm>
            <a:off x="3767328" y="3621024"/>
            <a:ext cx="2148840" cy="640080"/>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"v2 wins if it catches 2 points more fraud with the same false positives."</a:t>
            </a:r>
            <a:endParaRPr lang="en-US" sz="1050" dirty="0"/>
          </a:p>
        </p:txBody>
      </p:sp>
      <p:sp>
        <p:nvSpPr>
          <p:cNvPr id="26" name="Shape 19"/>
          <p:cNvSpPr/>
          <p:nvPr/>
        </p:nvSpPr>
        <p:spPr>
          <a:xfrm>
            <a:off x="6080760" y="3383280"/>
            <a:ext cx="420624" cy="420624"/>
          </a:xfrm>
          <a:prstGeom prst="ellipse">
            <a:avLst/>
          </a:prstGeom>
          <a:solidFill>
            <a:srgbClr val="0E7C86"/>
          </a:solidFill>
          <a:ln w="12700">
            <a:solidFill>
              <a:srgbClr val="0E7C86"/>
            </a:solidFill>
            <a:prstDash val="solid"/>
          </a:ln>
        </p:spPr>
        <p:txBody>
          <a:bodyPr/>
          <a:p/>
        </p:txBody>
      </p:sp>
      <p:pic>
        <p:nvPicPr>
          <p:cNvPr id="27" name="Image 4" descr="preencoded.png">    </p:cNvPr>
          <p:cNvPicPr>
            <a:picLocks noChangeAspect="1"/>
          </p:cNvPicPr>
          <p:nvPr/>
        </p:nvPicPr>
        <p:blipFill>
          <a:blip r:embed="rId5"/>
          <a:stretch>
            <a:fillRect/>
          </a:stretch>
        </p:blipFill>
        <p:spPr>
          <a:xfrm>
            <a:off x="6172200" y="3474720"/>
            <a:ext cx="237744" cy="237744"/>
          </a:xfrm>
          <a:prstGeom prst="rect">
            <a:avLst/>
          </a:prstGeom>
        </p:spPr>
      </p:pic>
      <p:sp>
        <p:nvSpPr>
          <p:cNvPr id="28" name="Text 20"/>
          <p:cNvSpPr txBox="1"/>
          <p:nvPr/>
        </p:nvSpPr>
        <p:spPr>
          <a:xfrm>
            <a:off x="6629400" y="3364992"/>
            <a:ext cx="21488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Enough traffic</a:t>
            </a:r>
            <a:endParaRPr lang="en-US" sz="1200" dirty="0"/>
          </a:p>
        </p:txBody>
      </p:sp>
      <p:sp>
        <p:nvSpPr>
          <p:cNvPr id="29" name="Text 21"/>
          <p:cNvSpPr txBox="1"/>
          <p:nvPr/>
        </p:nvSpPr>
        <p:spPr>
          <a:xfrm>
            <a:off x="6629400" y="3621024"/>
            <a:ext cx="2148840" cy="640080"/>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So the difference is not luck. More than a busy afternoon; statisticians set the number.</a:t>
            </a:r>
            <a:endParaRPr lang="en-US" sz="1050" dirty="0"/>
          </a:p>
        </p:txBody>
      </p:sp>
      <p:pic>
        <p:nvPicPr>
          <p:cNvPr id="30" name="IE University logo" descr="IE University, School of Science &amp; Technology"/>
          <p:cNvPicPr>
            <a:picLocks noChangeAspect="1"/>
          </p:cNvPicPr>
          <p:nvPr/>
        </p:nvPicPr>
        <p:blipFill>
          <a:blip r:embed="rId8"/>
          <a:stretch>
            <a:fillRect/>
          </a:stretch>
        </p:blipFill>
        <p:spPr>
          <a:xfrm>
            <a:off x="8013607" y="92634"/>
            <a:ext cx="764633" cy="26278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scorecard: which strategy for which constraint</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737360"/>
                <a:gridCol w="1188720"/>
                <a:gridCol w="1371600"/>
                <a:gridCol w="1463040"/>
                <a:gridCol w="1280160"/>
                <a:gridCol w="1371600"/>
              </a:tblGrid>
              <a:tr h="457200">
                <a:tc>
                  <a:txBody>
                    <a:bodyPr/>
                    <a:lstStyle/>
                    <a:p>
                      <a:pPr algn="l" indent="0" marL="0">
                        <a:buNone/>
                      </a:pP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Basic</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Blue-green</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Shadow</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Canary</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A/B test</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57200">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Zero downtime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Yes, if the switch is instant</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Extra cost</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A second full environment</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A second environment; double compute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Customer risk during rollout</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Everyone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Everyone, after the switch</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A slice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Half</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What you learn</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Nothing until it breaks</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What QA found</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What v2 would have said</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Whether v2 is safe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Whether v2 is better</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Rollback</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Redeploy v1</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Flip the switch back</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Switch off the shadow</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Shrink the slice to 0%</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Stop the test</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365760" y="406908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02920" y="4206240"/>
            <a:ext cx="274320" cy="274320"/>
          </a:xfrm>
          <a:prstGeom prst="rect">
            <a:avLst/>
          </a:prstGeom>
        </p:spPr>
      </p:pic>
      <p:sp>
        <p:nvSpPr>
          <p:cNvPr id="10" name="Text 5"/>
          <p:cNvSpPr txBox="1"/>
          <p:nvPr/>
        </p:nvSpPr>
        <p:spPr>
          <a:xfrm>
            <a:off x="896112" y="4069080"/>
            <a:ext cx="7772400" cy="54864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They combine: shadow first (proof of equivalence for the regulator), then a canary, with an A/B decision rule inside it. That combination is today's activity.</a:t>
            </a:r>
            <a:endParaRPr lang="en-US" sz="1150" dirty="0"/>
          </a:p>
        </p:txBody>
      </p:sp>
      <p:pic>
        <p:nvPicPr>
          <p:cNvPr id="24"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23</a:t>
            </a:r>
            <a:endParaRPr lang="en-US" sz="800" dirty="0"/>
          </a:p>
        </p:txBody>
      </p:sp>
      <p:sp>
        <p:nvSpPr>
          <p:cNvPr id="5" name="Text 3"/>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Break · 5 minutes</a:t>
            </a:r>
            <a:endParaRPr lang="en-US" sz="3600" dirty="0"/>
          </a:p>
        </p:txBody>
      </p:sp>
      <p:sp>
        <p:nvSpPr>
          <p:cNvPr id="6" name="Text 4"/>
          <p:cNvSpPr txBox="1"/>
          <p:nvPr/>
        </p:nvSpPr>
        <p:spPr>
          <a:xfrm>
            <a:off x="548640" y="2286000"/>
            <a:ext cx="804672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Back at minute 51. While you wait: what happens to your bank's app when 10× the usual customers log in at once?</a:t>
            </a:r>
            <a:endParaRPr lang="en-US" sz="1600" dirty="0"/>
          </a:p>
        </p:txBody>
      </p:sp>
      <p:pic>
        <p:nvPicPr>
          <p:cNvPr id="7"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24</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Serving at scale: servers, containers, serverless</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What holds the model up when the traffic arrives</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Scaling: more power, more machines, or both, automatically</a:t>
            </a:r>
            <a:endParaRPr lang="en-US" sz="2400" dirty="0"/>
          </a:p>
        </p:txBody>
      </p:sp>
      <p:sp>
        <p:nvSpPr>
          <p:cNvPr id="7" name="Shape 4"/>
          <p:cNvSpPr/>
          <p:nvPr/>
        </p:nvSpPr>
        <p:spPr>
          <a:xfrm>
            <a:off x="365760" y="1234440"/>
            <a:ext cx="2697480" cy="1828800"/>
          </a:xfrm>
          <a:prstGeom prst="roundRect">
            <a:avLst>
              <a:gd name="adj" fmla="val 4000"/>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Vertical: a bigger machine</a:t>
            </a:r>
            <a:endParaRPr lang="en-US" sz="1300" dirty="0"/>
          </a:p>
        </p:txBody>
      </p:sp>
      <p:sp>
        <p:nvSpPr>
          <p:cNvPr id="11" name="Text 7"/>
          <p:cNvSpPr txBox="1"/>
          <p:nvPr/>
        </p:nvSpPr>
        <p:spPr>
          <a:xfrm>
            <a:off x="502920" y="1783080"/>
            <a:ext cx="2423160" cy="11887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Add CPU, memory, GPU</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The first reflex; simple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Hits a ceiling, and a price</a:t>
            </a:r>
            <a:endParaRPr lang="en-US" sz="1150" dirty="0"/>
          </a:p>
        </p:txBody>
      </p:sp>
      <p:sp>
        <p:nvSpPr>
          <p:cNvPr id="12" name="Shape 8"/>
          <p:cNvSpPr/>
          <p:nvPr/>
        </p:nvSpPr>
        <p:spPr>
          <a:xfrm>
            <a:off x="3218688" y="1234440"/>
            <a:ext cx="2697480" cy="1828800"/>
          </a:xfrm>
          <a:prstGeom prst="roundRect">
            <a:avLst>
              <a:gd name="adj" fmla="val 4000"/>
            </a:avLst>
          </a:prstGeom>
          <a:solidFill>
            <a:srgbClr val="F3F5F8"/>
          </a:solidFill>
          <a:ln w="12700">
            <a:solidFill>
              <a:srgbClr val="F3F5F8"/>
            </a:solidFill>
            <a:prstDash val="solid"/>
          </a:ln>
        </p:spPr>
        <p:txBody>
          <a:bodyPr/>
          <a:p/>
        </p:txBody>
      </p:sp>
      <p:sp>
        <p:nvSpPr>
          <p:cNvPr id="13" name="Shape 9"/>
          <p:cNvSpPr/>
          <p:nvPr/>
        </p:nvSpPr>
        <p:spPr>
          <a:xfrm>
            <a:off x="3355848"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3429000" y="1426464"/>
            <a:ext cx="201168" cy="201168"/>
          </a:xfrm>
          <a:prstGeom prst="rect">
            <a:avLst/>
          </a:prstGeom>
        </p:spPr>
      </p:pic>
      <p:sp>
        <p:nvSpPr>
          <p:cNvPr id="15" name="Text 10"/>
          <p:cNvSpPr txBox="1"/>
          <p:nvPr/>
        </p:nvSpPr>
        <p:spPr>
          <a:xfrm>
            <a:off x="3785616"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Horizontal: more machines</a:t>
            </a:r>
            <a:endParaRPr lang="en-US" sz="1300" dirty="0"/>
          </a:p>
        </p:txBody>
      </p:sp>
      <p:sp>
        <p:nvSpPr>
          <p:cNvPr id="16" name="Text 11"/>
          <p:cNvSpPr txBox="1"/>
          <p:nvPr/>
        </p:nvSpPr>
        <p:spPr>
          <a:xfrm>
            <a:off x="3355848" y="1783080"/>
            <a:ext cx="2423160" cy="11887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Replicate the service; a load balancer shares requests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No ceiling</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More moving parts</a:t>
            </a:r>
            <a:endParaRPr lang="en-US" sz="1150" dirty="0"/>
          </a:p>
        </p:txBody>
      </p:sp>
      <p:sp>
        <p:nvSpPr>
          <p:cNvPr id="17" name="Shape 12"/>
          <p:cNvSpPr/>
          <p:nvPr/>
        </p:nvSpPr>
        <p:spPr>
          <a:xfrm>
            <a:off x="6080760" y="1234440"/>
            <a:ext cx="2697480" cy="1828800"/>
          </a:xfrm>
          <a:prstGeom prst="roundRect">
            <a:avLst>
              <a:gd name="adj" fmla="val 4000"/>
            </a:avLst>
          </a:prstGeom>
          <a:solidFill>
            <a:srgbClr val="F3F5F8"/>
          </a:solidFill>
          <a:ln w="12700">
            <a:solidFill>
              <a:srgbClr val="F3F5F8"/>
            </a:solidFill>
            <a:prstDash val="solid"/>
          </a:ln>
        </p:spPr>
        <p:txBody>
          <a:bodyPr/>
          <a:p/>
        </p:txBody>
      </p:sp>
      <p:sp>
        <p:nvSpPr>
          <p:cNvPr id="18" name="Shape 13"/>
          <p:cNvSpPr/>
          <p:nvPr/>
        </p:nvSpPr>
        <p:spPr>
          <a:xfrm>
            <a:off x="6217920" y="1353312"/>
            <a:ext cx="347472" cy="347472"/>
          </a:xfrm>
          <a:prstGeom prst="ellipse">
            <a:avLst/>
          </a:prstGeom>
          <a:solidFill>
            <a:srgbClr val="E07A2F"/>
          </a:solidFill>
          <a:ln w="12700">
            <a:solidFill>
              <a:srgbClr val="E07A2F"/>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6291072" y="1426464"/>
            <a:ext cx="201168" cy="201168"/>
          </a:xfrm>
          <a:prstGeom prst="rect">
            <a:avLst/>
          </a:prstGeom>
        </p:spPr>
      </p:pic>
      <p:sp>
        <p:nvSpPr>
          <p:cNvPr id="20" name="Text 14"/>
          <p:cNvSpPr txBox="1"/>
          <p:nvPr/>
        </p:nvSpPr>
        <p:spPr>
          <a:xfrm>
            <a:off x="6647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Autoscaling: on its own</a:t>
            </a:r>
            <a:endParaRPr lang="en-US" sz="1300" dirty="0"/>
          </a:p>
        </p:txBody>
      </p:sp>
      <p:sp>
        <p:nvSpPr>
          <p:cNvPr id="21" name="Text 15"/>
          <p:cNvSpPr txBox="1"/>
          <p:nvPr/>
        </p:nvSpPr>
        <p:spPr>
          <a:xfrm>
            <a:off x="6217920" y="1783080"/>
            <a:ext cx="2423160" cy="11887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Scheduled: we know the peak is coming</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Dynamic: CPU, requests or latency cross a line → add machines; fall → remove</a:t>
            </a:r>
            <a:endParaRPr lang="en-US" sz="1150" dirty="0"/>
          </a:p>
        </p:txBody>
      </p:sp>
      <p:sp>
        <p:nvSpPr>
          <p:cNvPr id="22" name="Shape 16"/>
          <p:cNvSpPr/>
          <p:nvPr/>
        </p:nvSpPr>
        <p:spPr>
          <a:xfrm>
            <a:off x="365760" y="3611880"/>
            <a:ext cx="1371600" cy="502920"/>
          </a:xfrm>
          <a:prstGeom prst="roundRect">
            <a:avLst>
              <a:gd name="adj" fmla="val 10909"/>
            </a:avLst>
          </a:prstGeom>
          <a:solidFill>
            <a:srgbClr val="F3F5F8"/>
          </a:solidFill>
          <a:ln w="9525">
            <a:solidFill>
              <a:srgbClr val="F3F5F8"/>
            </a:solidFill>
            <a:prstDash val="solid"/>
          </a:ln>
        </p:spPr>
        <p:txBody>
          <a:bodyPr/>
          <a:p/>
        </p:txBody>
      </p:sp>
      <p:sp>
        <p:nvSpPr>
          <p:cNvPr id="23" name="Text 17"/>
          <p:cNvSpPr txBox="1"/>
          <p:nvPr/>
        </p:nvSpPr>
        <p:spPr>
          <a:xfrm>
            <a:off x="365760" y="3611880"/>
            <a:ext cx="1371600" cy="502920"/>
          </a:xfrm>
          <a:prstGeom prst="rect">
            <a:avLst/>
          </a:prstGeom>
          <a:noFill/>
          <a:ln/>
        </p:spPr>
        <p:txBody>
          <a:bodyPr wrap="square" lIns="635" tIns="635" rIns="635" bIns="635" rtlCol="0" anchor="ctr"/>
          <a:lstStyle/>
          <a:p>
            <a:pPr algn="ctr" indent="0" marL="0">
              <a:buNone/>
            </a:pPr>
            <a:r>
              <a:rPr lang="en-US" sz="1100" dirty="0">
                <a:solidFill>
                  <a:srgbClr val="1B2A4A"/>
                </a:solidFill>
                <a:latin typeface="Calibri" pitchFamily="34" charset="0"/>
                <a:ea typeface="Calibri" pitchFamily="34" charset="-122"/>
                <a:cs typeface="Calibri" pitchFamily="34" charset="-120"/>
              </a:rPr>
              <a:t>Customers</a:t>
            </a:r>
            <a:endParaRPr lang="en-US" sz="1100" dirty="0"/>
          </a:p>
        </p:txBody>
      </p:sp>
      <p:sp>
        <p:nvSpPr>
          <p:cNvPr id="24" name="Shape 18"/>
          <p:cNvSpPr/>
          <p:nvPr/>
        </p:nvSpPr>
        <p:spPr>
          <a:xfrm>
            <a:off x="1783080" y="3858768"/>
            <a:ext cx="457200" cy="0"/>
          </a:xfrm>
          <a:prstGeom prst="line">
            <a:avLst/>
          </a:prstGeom>
          <a:noFill/>
          <a:ln w="19050">
            <a:solidFill>
              <a:srgbClr val="0E7C86"/>
            </a:solidFill>
            <a:prstDash val="solid"/>
            <a:tailEnd type="triangle"/>
          </a:ln>
        </p:spPr>
        <p:txBody>
          <a:bodyPr/>
          <a:p/>
        </p:txBody>
      </p:sp>
      <p:sp>
        <p:nvSpPr>
          <p:cNvPr id="25" name="Shape 19"/>
          <p:cNvSpPr/>
          <p:nvPr/>
        </p:nvSpPr>
        <p:spPr>
          <a:xfrm>
            <a:off x="2286000" y="3611880"/>
            <a:ext cx="1554480" cy="502920"/>
          </a:xfrm>
          <a:prstGeom prst="roundRect">
            <a:avLst>
              <a:gd name="adj" fmla="val 10909"/>
            </a:avLst>
          </a:prstGeom>
          <a:solidFill>
            <a:srgbClr val="0E7C86"/>
          </a:solidFill>
          <a:ln w="9525">
            <a:solidFill>
              <a:srgbClr val="0E7C86"/>
            </a:solidFill>
            <a:prstDash val="solid"/>
          </a:ln>
        </p:spPr>
        <p:txBody>
          <a:bodyPr/>
          <a:p/>
        </p:txBody>
      </p:sp>
      <p:sp>
        <p:nvSpPr>
          <p:cNvPr id="26" name="Text 20"/>
          <p:cNvSpPr txBox="1"/>
          <p:nvPr/>
        </p:nvSpPr>
        <p:spPr>
          <a:xfrm>
            <a:off x="2286000" y="3611880"/>
            <a:ext cx="1554480" cy="50292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Load balancer</a:t>
            </a:r>
            <a:endParaRPr lang="en-US" sz="1100" dirty="0"/>
          </a:p>
        </p:txBody>
      </p:sp>
      <p:sp>
        <p:nvSpPr>
          <p:cNvPr id="27" name="Shape 21"/>
          <p:cNvSpPr/>
          <p:nvPr/>
        </p:nvSpPr>
        <p:spPr>
          <a:xfrm flipV="1">
            <a:off x="3886200" y="3401568"/>
            <a:ext cx="457200" cy="457200"/>
          </a:xfrm>
          <a:prstGeom prst="line">
            <a:avLst/>
          </a:prstGeom>
          <a:noFill/>
          <a:ln w="19050">
            <a:solidFill>
              <a:srgbClr val="0E7C86"/>
            </a:solidFill>
            <a:prstDash val="solid"/>
            <a:tailEnd type="triangle"/>
          </a:ln>
        </p:spPr>
        <p:txBody>
          <a:bodyPr/>
          <a:p/>
        </p:txBody>
      </p:sp>
      <p:sp>
        <p:nvSpPr>
          <p:cNvPr id="28" name="Shape 22"/>
          <p:cNvSpPr/>
          <p:nvPr/>
        </p:nvSpPr>
        <p:spPr>
          <a:xfrm>
            <a:off x="4389120" y="3401568"/>
            <a:ext cx="1371600" cy="384048"/>
          </a:xfrm>
          <a:prstGeom prst="roundRect">
            <a:avLst>
              <a:gd name="adj" fmla="val 14286"/>
            </a:avLst>
          </a:prstGeom>
          <a:solidFill>
            <a:srgbClr val="F3F5F8"/>
          </a:solidFill>
          <a:ln w="9525">
            <a:solidFill>
              <a:srgbClr val="F3F5F8"/>
            </a:solidFill>
            <a:prstDash val="solid"/>
          </a:ln>
        </p:spPr>
        <p:txBody>
          <a:bodyPr/>
          <a:p/>
        </p:txBody>
      </p:sp>
      <p:sp>
        <p:nvSpPr>
          <p:cNvPr id="29" name="Text 23"/>
          <p:cNvSpPr txBox="1"/>
          <p:nvPr/>
        </p:nvSpPr>
        <p:spPr>
          <a:xfrm>
            <a:off x="4389120" y="3401568"/>
            <a:ext cx="1371600" cy="384048"/>
          </a:xfrm>
          <a:prstGeom prst="rect">
            <a:avLst/>
          </a:prstGeom>
          <a:noFill/>
          <a:ln/>
        </p:spPr>
        <p:txBody>
          <a:bodyPr wrap="square" lIns="635" tIns="635" rIns="635" bIns="635" rtlCol="0" anchor="ctr"/>
          <a:lstStyle/>
          <a:p>
            <a:pPr algn="ctr" indent="0" marL="0">
              <a:buNone/>
            </a:pPr>
            <a:r>
              <a:rPr lang="en-US" sz="1000" dirty="0">
                <a:solidFill>
                  <a:srgbClr val="1B2A4A"/>
                </a:solidFill>
                <a:latin typeface="Calibri" pitchFamily="34" charset="0"/>
                <a:ea typeface="Calibri" pitchFamily="34" charset="-122"/>
                <a:cs typeface="Calibri" pitchFamily="34" charset="-120"/>
              </a:rPr>
              <a:t>Model copy 1</a:t>
            </a:r>
            <a:endParaRPr lang="en-US" sz="1000" dirty="0"/>
          </a:p>
        </p:txBody>
      </p:sp>
      <p:sp>
        <p:nvSpPr>
          <p:cNvPr id="30" name="Shape 24"/>
          <p:cNvSpPr/>
          <p:nvPr/>
        </p:nvSpPr>
        <p:spPr>
          <a:xfrm>
            <a:off x="3886200" y="3858768"/>
            <a:ext cx="457200" cy="0"/>
          </a:xfrm>
          <a:prstGeom prst="line">
            <a:avLst/>
          </a:prstGeom>
          <a:noFill/>
          <a:ln w="19050">
            <a:solidFill>
              <a:srgbClr val="0E7C86"/>
            </a:solidFill>
            <a:prstDash val="solid"/>
            <a:tailEnd type="triangle"/>
          </a:ln>
        </p:spPr>
        <p:txBody>
          <a:bodyPr/>
          <a:p/>
        </p:txBody>
      </p:sp>
      <p:sp>
        <p:nvSpPr>
          <p:cNvPr id="31" name="Shape 25"/>
          <p:cNvSpPr/>
          <p:nvPr/>
        </p:nvSpPr>
        <p:spPr>
          <a:xfrm>
            <a:off x="4389120" y="3858768"/>
            <a:ext cx="1371600" cy="384048"/>
          </a:xfrm>
          <a:prstGeom prst="roundRect">
            <a:avLst>
              <a:gd name="adj" fmla="val 14286"/>
            </a:avLst>
          </a:prstGeom>
          <a:solidFill>
            <a:srgbClr val="F3F5F8"/>
          </a:solidFill>
          <a:ln w="9525">
            <a:solidFill>
              <a:srgbClr val="F3F5F8"/>
            </a:solidFill>
            <a:prstDash val="solid"/>
          </a:ln>
        </p:spPr>
        <p:txBody>
          <a:bodyPr/>
          <a:p/>
        </p:txBody>
      </p:sp>
      <p:sp>
        <p:nvSpPr>
          <p:cNvPr id="32" name="Text 26"/>
          <p:cNvSpPr txBox="1"/>
          <p:nvPr/>
        </p:nvSpPr>
        <p:spPr>
          <a:xfrm>
            <a:off x="4389120" y="3858768"/>
            <a:ext cx="1371600" cy="384048"/>
          </a:xfrm>
          <a:prstGeom prst="rect">
            <a:avLst/>
          </a:prstGeom>
          <a:noFill/>
          <a:ln/>
        </p:spPr>
        <p:txBody>
          <a:bodyPr wrap="square" lIns="635" tIns="635" rIns="635" bIns="635" rtlCol="0" anchor="ctr"/>
          <a:lstStyle/>
          <a:p>
            <a:pPr algn="ctr" indent="0" marL="0">
              <a:buNone/>
            </a:pPr>
            <a:r>
              <a:rPr lang="en-US" sz="1000" dirty="0">
                <a:solidFill>
                  <a:srgbClr val="1B2A4A"/>
                </a:solidFill>
                <a:latin typeface="Calibri" pitchFamily="34" charset="0"/>
                <a:ea typeface="Calibri" pitchFamily="34" charset="-122"/>
                <a:cs typeface="Calibri" pitchFamily="34" charset="-120"/>
              </a:rPr>
              <a:t>Model copy 2</a:t>
            </a:r>
            <a:endParaRPr lang="en-US" sz="1000" dirty="0"/>
          </a:p>
        </p:txBody>
      </p:sp>
      <p:sp>
        <p:nvSpPr>
          <p:cNvPr id="33" name="Shape 27"/>
          <p:cNvSpPr/>
          <p:nvPr/>
        </p:nvSpPr>
        <p:spPr>
          <a:xfrm>
            <a:off x="3886200" y="3858768"/>
            <a:ext cx="457200" cy="457200"/>
          </a:xfrm>
          <a:prstGeom prst="line">
            <a:avLst/>
          </a:prstGeom>
          <a:noFill/>
          <a:ln w="19050">
            <a:solidFill>
              <a:srgbClr val="0E7C86"/>
            </a:solidFill>
            <a:prstDash val="solid"/>
            <a:tailEnd type="triangle"/>
          </a:ln>
        </p:spPr>
        <p:txBody>
          <a:bodyPr/>
          <a:p/>
        </p:txBody>
      </p:sp>
      <p:sp>
        <p:nvSpPr>
          <p:cNvPr id="34" name="Shape 28"/>
          <p:cNvSpPr/>
          <p:nvPr/>
        </p:nvSpPr>
        <p:spPr>
          <a:xfrm>
            <a:off x="4389120" y="4315968"/>
            <a:ext cx="1371600" cy="384048"/>
          </a:xfrm>
          <a:prstGeom prst="roundRect">
            <a:avLst>
              <a:gd name="adj" fmla="val 14286"/>
            </a:avLst>
          </a:prstGeom>
          <a:solidFill>
            <a:srgbClr val="F3F5F8"/>
          </a:solidFill>
          <a:ln w="9525">
            <a:solidFill>
              <a:srgbClr val="F3F5F8"/>
            </a:solidFill>
            <a:prstDash val="solid"/>
          </a:ln>
        </p:spPr>
        <p:txBody>
          <a:bodyPr/>
          <a:p/>
        </p:txBody>
      </p:sp>
      <p:sp>
        <p:nvSpPr>
          <p:cNvPr id="35" name="Text 29"/>
          <p:cNvSpPr txBox="1"/>
          <p:nvPr/>
        </p:nvSpPr>
        <p:spPr>
          <a:xfrm>
            <a:off x="4389120" y="4315968"/>
            <a:ext cx="1371600" cy="384048"/>
          </a:xfrm>
          <a:prstGeom prst="rect">
            <a:avLst/>
          </a:prstGeom>
          <a:noFill/>
          <a:ln/>
        </p:spPr>
        <p:txBody>
          <a:bodyPr wrap="square" lIns="635" tIns="635" rIns="635" bIns="635" rtlCol="0" anchor="ctr"/>
          <a:lstStyle/>
          <a:p>
            <a:pPr algn="ctr" indent="0" marL="0">
              <a:buNone/>
            </a:pPr>
            <a:r>
              <a:rPr lang="en-US" sz="1000" dirty="0">
                <a:solidFill>
                  <a:srgbClr val="1B2A4A"/>
                </a:solidFill>
                <a:latin typeface="Calibri" pitchFamily="34" charset="0"/>
                <a:ea typeface="Calibri" pitchFamily="34" charset="-122"/>
                <a:cs typeface="Calibri" pitchFamily="34" charset="-120"/>
              </a:rPr>
              <a:t>Model copy 3</a:t>
            </a:r>
            <a:endParaRPr lang="en-US" sz="1000" dirty="0"/>
          </a:p>
        </p:txBody>
      </p:sp>
      <p:sp>
        <p:nvSpPr>
          <p:cNvPr id="36" name="Text 30"/>
          <p:cNvSpPr txBox="1"/>
          <p:nvPr/>
        </p:nvSpPr>
        <p:spPr>
          <a:xfrm>
            <a:off x="5943600" y="3429000"/>
            <a:ext cx="2834640" cy="914400"/>
          </a:xfrm>
          <a:prstGeom prst="rect">
            <a:avLst/>
          </a:prstGeom>
          <a:noFill/>
          <a:ln/>
        </p:spPr>
        <p:txBody>
          <a:bodyPr wrap="square" lIns="0" tIns="0" rIns="0" bIns="0" rtlCol="0" anchor="t"/>
          <a:lstStyle/>
          <a:p>
            <a:pPr algn="l" indent="0" marL="0">
              <a:buNone/>
            </a:pPr>
            <a:r>
              <a:rPr lang="en-US" sz="1050" i="1" dirty="0">
                <a:solidFill>
                  <a:srgbClr val="6B7280"/>
                </a:solidFill>
                <a:latin typeface="Calibri" pitchFamily="34" charset="0"/>
                <a:ea typeface="Calibri" pitchFamily="34" charset="-122"/>
                <a:cs typeface="Calibri" pitchFamily="34" charset="-120"/>
              </a:rPr>
              <a:t>Elastic: copies are added when the metric rises and removed when it falls, so you pay for the peak only during the peak.</a:t>
            </a:r>
            <a:endParaRPr lang="en-US" sz="1050" dirty="0"/>
          </a:p>
        </p:txBody>
      </p:sp>
      <p:pic>
        <p:nvPicPr>
          <p:cNvPr id="37"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Kubernetes in one slide: the manager of the boxes</a:t>
            </a:r>
            <a:endParaRPr lang="en-US" sz="2400" dirty="0"/>
          </a:p>
        </p:txBody>
      </p:sp>
      <p:sp>
        <p:nvSpPr>
          <p:cNvPr id="7" name="Shape 4"/>
          <p:cNvSpPr/>
          <p:nvPr/>
        </p:nvSpPr>
        <p:spPr>
          <a:xfrm>
            <a:off x="365760" y="1234440"/>
            <a:ext cx="4114800" cy="2103120"/>
          </a:xfrm>
          <a:prstGeom prst="roundRect">
            <a:avLst>
              <a:gd name="adj" fmla="val 3478"/>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E07A2F"/>
          </a:solidFill>
          <a:ln w="12700">
            <a:solidFill>
              <a:srgbClr val="E07A2F"/>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Without it</a:t>
            </a:r>
            <a:endParaRPr lang="en-US" sz="1300" dirty="0"/>
          </a:p>
        </p:txBody>
      </p:sp>
      <p:sp>
        <p:nvSpPr>
          <p:cNvPr id="11" name="Text 7"/>
          <p:cNvSpPr txBox="1"/>
          <p:nvPr/>
        </p:nvSpPr>
        <p:spPr>
          <a:xfrm>
            <a:off x="502920" y="1783080"/>
            <a:ext cx="3840480" cy="14630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Start the right containers at the right time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Make them talk to each other</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Handle storage; replace failed containers and machines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By hand, day and night</a:t>
            </a:r>
            <a:endParaRPr lang="en-US" sz="1150" dirty="0"/>
          </a:p>
        </p:txBody>
      </p:sp>
      <p:sp>
        <p:nvSpPr>
          <p:cNvPr id="12" name="Shape 8"/>
          <p:cNvSpPr/>
          <p:nvPr/>
        </p:nvSpPr>
        <p:spPr>
          <a:xfrm>
            <a:off x="4663440" y="1234440"/>
            <a:ext cx="4114800" cy="2103120"/>
          </a:xfrm>
          <a:prstGeom prst="roundRect">
            <a:avLst>
              <a:gd name="adj" fmla="val 3478"/>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With Kubernetes</a:t>
            </a:r>
            <a:endParaRPr lang="en-US" sz="1300" dirty="0"/>
          </a:p>
        </p:txBody>
      </p:sp>
      <p:sp>
        <p:nvSpPr>
          <p:cNvPr id="16" name="Text 11"/>
          <p:cNvSpPr txBox="1"/>
          <p:nvPr/>
        </p:nvSpPr>
        <p:spPr>
          <a:xfrm>
            <a:off x="4800600" y="1783080"/>
            <a:ext cx="3840480" cy="14630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Deploys, scales and manages containers automatically</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Load balancing, self-monitoring, restart on failure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Storage orchestration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Docker makes the box; Kubernetes runs thousands of boxes</a:t>
            </a:r>
            <a:endParaRPr lang="en-US" sz="1150" dirty="0"/>
          </a:p>
        </p:txBody>
      </p:sp>
      <p:sp>
        <p:nvSpPr>
          <p:cNvPr id="17" name="Shape 12"/>
          <p:cNvSpPr/>
          <p:nvPr/>
        </p:nvSpPr>
        <p:spPr>
          <a:xfrm>
            <a:off x="365760" y="3520440"/>
            <a:ext cx="8412480" cy="685800"/>
          </a:xfrm>
          <a:prstGeom prst="roundRect">
            <a:avLst>
              <a:gd name="adj" fmla="val 10667"/>
            </a:avLst>
          </a:prstGeom>
          <a:solidFill>
            <a:srgbClr val="E3F1F2"/>
          </a:solidFill>
          <a:ln w="12700">
            <a:solidFill>
              <a:srgbClr val="E3F1F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3726180"/>
            <a:ext cx="274320" cy="274320"/>
          </a:xfrm>
          <a:prstGeom prst="rect">
            <a:avLst/>
          </a:prstGeom>
        </p:spPr>
      </p:pic>
      <p:sp>
        <p:nvSpPr>
          <p:cNvPr id="19" name="Text 13"/>
          <p:cNvSpPr txBox="1"/>
          <p:nvPr/>
        </p:nvSpPr>
        <p:spPr>
          <a:xfrm>
            <a:off x="896112" y="3520440"/>
            <a:ext cx="7772400" cy="685800"/>
          </a:xfrm>
          <a:prstGeom prst="rect">
            <a:avLst/>
          </a:prstGeom>
          <a:noFill/>
          <a:ln/>
        </p:spPr>
        <p:txBody>
          <a:bodyPr wrap="square" lIns="0" tIns="0" rIns="0" bIns="0" rtlCol="0" anchor="ctr"/>
          <a:lstStyle/>
          <a:p>
            <a:pPr indent="0" marL="0">
              <a:buNone/>
            </a:pPr>
            <a:r>
              <a:rPr lang="en-US" sz="1100" dirty="0">
                <a:solidFill>
                  <a:srgbClr val="1B2A4A"/>
                </a:solidFill>
                <a:latin typeface="Calibri" pitchFamily="34" charset="0"/>
                <a:ea typeface="Calibri" pitchFamily="34" charset="-122"/>
                <a:cs typeface="Calibri" pitchFamily="34" charset="-120"/>
              </a:rPr>
              <a:t>Scalable: you can add machines. Elastic: the system adds and removes them by itself. A Kubernetes cluster in the cloud is both. Managed versions: every cloud; OpenShift for the enterprise.</a:t>
            </a:r>
            <a:endParaRPr lang="en-US" sz="110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Serverless: pay for the seconds the model runs, and nothing else</a:t>
            </a:r>
            <a:endParaRPr lang="en-US" sz="2400" dirty="0"/>
          </a:p>
        </p:txBody>
      </p:sp>
      <p:sp>
        <p:nvSpPr>
          <p:cNvPr id="7" name="Shape 4"/>
          <p:cNvSpPr/>
          <p:nvPr/>
        </p:nvSpPr>
        <p:spPr>
          <a:xfrm>
            <a:off x="365760" y="1234440"/>
            <a:ext cx="2697480" cy="1417320"/>
          </a:xfrm>
          <a:prstGeom prst="roundRect">
            <a:avLst>
              <a:gd name="adj" fmla="val 5161"/>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Run a web server</a:t>
            </a:r>
            <a:endParaRPr lang="en-US" sz="1300" dirty="0"/>
          </a:p>
        </p:txBody>
      </p:sp>
      <p:sp>
        <p:nvSpPr>
          <p:cNvPr id="11" name="Text 7"/>
          <p:cNvSpPr txBox="1"/>
          <p:nvPr/>
        </p:nvSpPr>
        <p:spPr>
          <a:xfrm>
            <a:off x="502920" y="1783080"/>
            <a:ext cx="2423160" cy="77724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Flask, application servers. You own the machine, the scaling, the patches.</a:t>
            </a:r>
            <a:endParaRPr lang="en-US" sz="1050" dirty="0"/>
          </a:p>
        </p:txBody>
      </p:sp>
      <p:sp>
        <p:nvSpPr>
          <p:cNvPr id="12" name="Shape 8"/>
          <p:cNvSpPr/>
          <p:nvPr/>
        </p:nvSpPr>
        <p:spPr>
          <a:xfrm>
            <a:off x="3218688" y="1234440"/>
            <a:ext cx="2697480" cy="1417320"/>
          </a:xfrm>
          <a:prstGeom prst="roundRect">
            <a:avLst>
              <a:gd name="adj" fmla="val 5161"/>
            </a:avLst>
          </a:prstGeom>
          <a:solidFill>
            <a:srgbClr val="F3F5F8"/>
          </a:solidFill>
          <a:ln w="12700">
            <a:solidFill>
              <a:srgbClr val="F3F5F8"/>
            </a:solidFill>
            <a:prstDash val="solid"/>
          </a:ln>
        </p:spPr>
        <p:txBody>
          <a:bodyPr/>
          <a:p/>
        </p:txBody>
      </p:sp>
      <p:sp>
        <p:nvSpPr>
          <p:cNvPr id="13" name="Shape 9"/>
          <p:cNvSpPr/>
          <p:nvPr/>
        </p:nvSpPr>
        <p:spPr>
          <a:xfrm>
            <a:off x="3355848"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3429000" y="1426464"/>
            <a:ext cx="201168" cy="201168"/>
          </a:xfrm>
          <a:prstGeom prst="rect">
            <a:avLst/>
          </a:prstGeom>
        </p:spPr>
      </p:pic>
      <p:sp>
        <p:nvSpPr>
          <p:cNvPr id="15" name="Text 10"/>
          <p:cNvSpPr txBox="1"/>
          <p:nvPr/>
        </p:nvSpPr>
        <p:spPr>
          <a:xfrm>
            <a:off x="3785616"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 cloud ML platform</a:t>
            </a:r>
            <a:endParaRPr lang="en-US" sz="1300" dirty="0"/>
          </a:p>
        </p:txBody>
      </p:sp>
      <p:sp>
        <p:nvSpPr>
          <p:cNvPr id="16" name="Text 11"/>
          <p:cNvSpPr txBox="1"/>
          <p:nvPr/>
        </p:nvSpPr>
        <p:spPr>
          <a:xfrm>
            <a:off x="3355848" y="1783080"/>
            <a:ext cx="2423160" cy="77724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SageMaker, Vertex AI, Azure ML, watsonx.ai host the model and the endpoint for you.</a:t>
            </a:r>
            <a:endParaRPr lang="en-US" sz="1050" dirty="0"/>
          </a:p>
        </p:txBody>
      </p:sp>
      <p:sp>
        <p:nvSpPr>
          <p:cNvPr id="17" name="Shape 12"/>
          <p:cNvSpPr/>
          <p:nvPr/>
        </p:nvSpPr>
        <p:spPr>
          <a:xfrm>
            <a:off x="6071616" y="1234440"/>
            <a:ext cx="2697480" cy="1417320"/>
          </a:xfrm>
          <a:prstGeom prst="roundRect">
            <a:avLst>
              <a:gd name="adj" fmla="val 5161"/>
            </a:avLst>
          </a:prstGeom>
          <a:solidFill>
            <a:srgbClr val="F3F5F8"/>
          </a:solidFill>
          <a:ln w="12700">
            <a:solidFill>
              <a:srgbClr val="F3F5F8"/>
            </a:solidFill>
            <a:prstDash val="solid"/>
          </a:ln>
        </p:spPr>
        <p:txBody>
          <a:bodyPr/>
          <a:p/>
        </p:txBody>
      </p:sp>
      <p:sp>
        <p:nvSpPr>
          <p:cNvPr id="18" name="Shape 13"/>
          <p:cNvSpPr/>
          <p:nvPr/>
        </p:nvSpPr>
        <p:spPr>
          <a:xfrm>
            <a:off x="6208776" y="1353312"/>
            <a:ext cx="347472" cy="347472"/>
          </a:xfrm>
          <a:prstGeom prst="ellipse">
            <a:avLst/>
          </a:prstGeom>
          <a:solidFill>
            <a:srgbClr val="0E7C86"/>
          </a:solidFill>
          <a:ln w="12700">
            <a:solidFill>
              <a:srgbClr val="0E7C86"/>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6281928" y="1426464"/>
            <a:ext cx="201168" cy="201168"/>
          </a:xfrm>
          <a:prstGeom prst="rect">
            <a:avLst/>
          </a:prstGeom>
        </p:spPr>
      </p:pic>
      <p:sp>
        <p:nvSpPr>
          <p:cNvPr id="20" name="Text 14"/>
          <p:cNvSpPr txBox="1"/>
          <p:nvPr/>
        </p:nvSpPr>
        <p:spPr>
          <a:xfrm>
            <a:off x="6638544"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Serverless functions</a:t>
            </a:r>
            <a:endParaRPr lang="en-US" sz="1300" dirty="0"/>
          </a:p>
        </p:txBody>
      </p:sp>
      <p:sp>
        <p:nvSpPr>
          <p:cNvPr id="21" name="Text 15"/>
          <p:cNvSpPr txBox="1"/>
          <p:nvPr/>
        </p:nvSpPr>
        <p:spPr>
          <a:xfrm>
            <a:off x="6208776" y="1783080"/>
            <a:ext cx="2423160" cy="77724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AWS Lambda, Cloud Functions, Azure Functions: upload a function; it runs on demand.</a:t>
            </a:r>
            <a:endParaRPr lang="en-US" sz="1050" dirty="0"/>
          </a:p>
        </p:txBody>
      </p:sp>
      <p:sp>
        <p:nvSpPr>
          <p:cNvPr id="22" name="Text 16"/>
          <p:cNvSpPr txBox="1"/>
          <p:nvPr/>
        </p:nvSpPr>
        <p:spPr>
          <a:xfrm>
            <a:off x="365760" y="2788920"/>
            <a:ext cx="8412480" cy="274320"/>
          </a:xfrm>
          <a:prstGeom prst="rect">
            <a:avLst/>
          </a:prstGeom>
          <a:noFill/>
          <a:ln/>
        </p:spPr>
        <p:txBody>
          <a:bodyPr wrap="square" lIns="0" tIns="0" rIns="0" bIns="0" rtlCol="0" anchor="t"/>
          <a:lstStyle/>
          <a:p>
            <a:pPr algn="l" indent="0" marL="0">
              <a:buNone/>
            </a:pPr>
            <a:r>
              <a:rPr lang="en-US" sz="1200" b="1" dirty="0">
                <a:solidFill>
                  <a:srgbClr val="0E7C86"/>
                </a:solidFill>
                <a:latin typeface="Calibri" pitchFamily="34" charset="0"/>
                <a:ea typeface="Calibri" pitchFamily="34" charset="-122"/>
                <a:cs typeface="Calibri" pitchFamily="34" charset="-120"/>
              </a:rPr>
              <a:t>How a serverless prediction works</a:t>
            </a:r>
            <a:endParaRPr lang="en-US" sz="1200" dirty="0"/>
          </a:p>
        </p:txBody>
      </p:sp>
      <p:sp>
        <p:nvSpPr>
          <p:cNvPr id="23" name="Shape 17"/>
          <p:cNvSpPr/>
          <p:nvPr/>
        </p:nvSpPr>
        <p:spPr>
          <a:xfrm>
            <a:off x="365760" y="3108960"/>
            <a:ext cx="1728216" cy="502920"/>
          </a:xfrm>
          <a:prstGeom prst="chevron">
            <a:avLst/>
          </a:prstGeom>
          <a:solidFill>
            <a:srgbClr val="1B2A4A"/>
          </a:solidFill>
          <a:ln w="12700">
            <a:solidFill>
              <a:srgbClr val="FFFFFF"/>
            </a:solidFill>
            <a:prstDash val="solid"/>
          </a:ln>
        </p:spPr>
        <p:txBody>
          <a:bodyPr/>
          <a:p/>
        </p:txBody>
      </p:sp>
      <p:sp>
        <p:nvSpPr>
          <p:cNvPr id="24" name="Text 18"/>
          <p:cNvSpPr txBox="1"/>
          <p:nvPr/>
        </p:nvSpPr>
        <p:spPr>
          <a:xfrm>
            <a:off x="502920" y="3108960"/>
            <a:ext cx="14996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Model in cloud storage</a:t>
            </a:r>
            <a:endParaRPr lang="en-US" sz="950" dirty="0"/>
          </a:p>
        </p:txBody>
      </p:sp>
      <p:sp>
        <p:nvSpPr>
          <p:cNvPr id="25" name="Shape 19"/>
          <p:cNvSpPr/>
          <p:nvPr/>
        </p:nvSpPr>
        <p:spPr>
          <a:xfrm>
            <a:off x="2048256" y="3108960"/>
            <a:ext cx="1728216" cy="502920"/>
          </a:xfrm>
          <a:prstGeom prst="chevron">
            <a:avLst/>
          </a:prstGeom>
          <a:solidFill>
            <a:srgbClr val="0E7C86"/>
          </a:solidFill>
          <a:ln w="12700">
            <a:solidFill>
              <a:srgbClr val="FFFFFF"/>
            </a:solidFill>
            <a:prstDash val="solid"/>
          </a:ln>
        </p:spPr>
        <p:txBody>
          <a:bodyPr/>
          <a:p/>
        </p:txBody>
      </p:sp>
      <p:sp>
        <p:nvSpPr>
          <p:cNvPr id="26" name="Text 20"/>
          <p:cNvSpPr txBox="1"/>
          <p:nvPr/>
        </p:nvSpPr>
        <p:spPr>
          <a:xfrm>
            <a:off x="2185416" y="3108960"/>
            <a:ext cx="14996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Function loads it</a:t>
            </a:r>
            <a:endParaRPr lang="en-US" sz="950" dirty="0"/>
          </a:p>
        </p:txBody>
      </p:sp>
      <p:sp>
        <p:nvSpPr>
          <p:cNvPr id="27" name="Shape 21"/>
          <p:cNvSpPr/>
          <p:nvPr/>
        </p:nvSpPr>
        <p:spPr>
          <a:xfrm>
            <a:off x="3730752" y="3108960"/>
            <a:ext cx="1728216" cy="502920"/>
          </a:xfrm>
          <a:prstGeom prst="chevron">
            <a:avLst/>
          </a:prstGeom>
          <a:solidFill>
            <a:srgbClr val="1B2A4A"/>
          </a:solidFill>
          <a:ln w="12700">
            <a:solidFill>
              <a:srgbClr val="FFFFFF"/>
            </a:solidFill>
            <a:prstDash val="solid"/>
          </a:ln>
        </p:spPr>
        <p:txBody>
          <a:bodyPr/>
          <a:p/>
        </p:txBody>
      </p:sp>
      <p:sp>
        <p:nvSpPr>
          <p:cNvPr id="28" name="Text 22"/>
          <p:cNvSpPr txBox="1"/>
          <p:nvPr/>
        </p:nvSpPr>
        <p:spPr>
          <a:xfrm>
            <a:off x="3867912" y="3108960"/>
            <a:ext cx="14996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Endpoint exposed</a:t>
            </a:r>
            <a:endParaRPr lang="en-US" sz="950" dirty="0"/>
          </a:p>
        </p:txBody>
      </p:sp>
      <p:sp>
        <p:nvSpPr>
          <p:cNvPr id="29" name="Shape 23"/>
          <p:cNvSpPr/>
          <p:nvPr/>
        </p:nvSpPr>
        <p:spPr>
          <a:xfrm>
            <a:off x="5413248" y="3108960"/>
            <a:ext cx="1728216" cy="502920"/>
          </a:xfrm>
          <a:prstGeom prst="chevron">
            <a:avLst/>
          </a:prstGeom>
          <a:solidFill>
            <a:srgbClr val="0E7C86"/>
          </a:solidFill>
          <a:ln w="12700">
            <a:solidFill>
              <a:srgbClr val="FFFFFF"/>
            </a:solidFill>
            <a:prstDash val="solid"/>
          </a:ln>
        </p:spPr>
        <p:txBody>
          <a:bodyPr/>
          <a:p/>
        </p:txBody>
      </p:sp>
      <p:sp>
        <p:nvSpPr>
          <p:cNvPr id="30" name="Text 24"/>
          <p:cNvSpPr txBox="1"/>
          <p:nvPr/>
        </p:nvSpPr>
        <p:spPr>
          <a:xfrm>
            <a:off x="5550408" y="3108960"/>
            <a:ext cx="14996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Request triggers it</a:t>
            </a:r>
            <a:endParaRPr lang="en-US" sz="950" dirty="0"/>
          </a:p>
        </p:txBody>
      </p:sp>
      <p:sp>
        <p:nvSpPr>
          <p:cNvPr id="31" name="Shape 25"/>
          <p:cNvSpPr/>
          <p:nvPr/>
        </p:nvSpPr>
        <p:spPr>
          <a:xfrm>
            <a:off x="7095744" y="3108960"/>
            <a:ext cx="1728216" cy="502920"/>
          </a:xfrm>
          <a:prstGeom prst="chevron">
            <a:avLst/>
          </a:prstGeom>
          <a:solidFill>
            <a:srgbClr val="1B2A4A"/>
          </a:solidFill>
          <a:ln w="12700">
            <a:solidFill>
              <a:srgbClr val="FFFFFF"/>
            </a:solidFill>
            <a:prstDash val="solid"/>
          </a:ln>
        </p:spPr>
        <p:txBody>
          <a:bodyPr/>
          <a:p/>
        </p:txBody>
      </p:sp>
      <p:sp>
        <p:nvSpPr>
          <p:cNvPr id="32" name="Text 26"/>
          <p:cNvSpPr txBox="1"/>
          <p:nvPr/>
        </p:nvSpPr>
        <p:spPr>
          <a:xfrm>
            <a:off x="7232904" y="3108960"/>
            <a:ext cx="149961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Resources allocated, run, released</a:t>
            </a:r>
            <a:endParaRPr lang="en-US" sz="950" dirty="0"/>
          </a:p>
        </p:txBody>
      </p:sp>
      <p:sp>
        <p:nvSpPr>
          <p:cNvPr id="33" name="Shape 27"/>
          <p:cNvSpPr/>
          <p:nvPr/>
        </p:nvSpPr>
        <p:spPr>
          <a:xfrm>
            <a:off x="365760" y="3749040"/>
            <a:ext cx="4114800" cy="868680"/>
          </a:xfrm>
          <a:prstGeom prst="roundRect">
            <a:avLst>
              <a:gd name="adj" fmla="val 8421"/>
            </a:avLst>
          </a:prstGeom>
          <a:solidFill>
            <a:srgbClr val="E3F1F2"/>
          </a:solidFill>
          <a:ln w="12700">
            <a:solidFill>
              <a:srgbClr val="E3F1F2"/>
            </a:solidFill>
            <a:prstDash val="solid"/>
          </a:ln>
        </p:spPr>
        <p:txBody>
          <a:bodyPr/>
          <a:p/>
        </p:txBody>
      </p:sp>
      <p:sp>
        <p:nvSpPr>
          <p:cNvPr id="34" name="Text 28"/>
          <p:cNvSpPr txBox="1"/>
          <p:nvPr/>
        </p:nvSpPr>
        <p:spPr>
          <a:xfrm>
            <a:off x="502920" y="3840480"/>
            <a:ext cx="38404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Fits</a:t>
            </a:r>
            <a:endParaRPr lang="en-US" sz="1300" dirty="0"/>
          </a:p>
        </p:txBody>
      </p:sp>
      <p:sp>
        <p:nvSpPr>
          <p:cNvPr id="35" name="Text 29"/>
          <p:cNvSpPr txBox="1"/>
          <p:nvPr/>
        </p:nvSpPr>
        <p:spPr>
          <a:xfrm>
            <a:off x="502920" y="4206240"/>
            <a:ext cx="3840480" cy="32004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Irregular or low traffic · simple models · no infrastructure team · pay per second.</a:t>
            </a:r>
            <a:endParaRPr lang="en-US" sz="1050" dirty="0"/>
          </a:p>
        </p:txBody>
      </p:sp>
      <p:sp>
        <p:nvSpPr>
          <p:cNvPr id="36" name="Shape 30"/>
          <p:cNvSpPr/>
          <p:nvPr/>
        </p:nvSpPr>
        <p:spPr>
          <a:xfrm>
            <a:off x="4663440" y="3749040"/>
            <a:ext cx="4114800" cy="868680"/>
          </a:xfrm>
          <a:prstGeom prst="roundRect">
            <a:avLst>
              <a:gd name="adj" fmla="val 8421"/>
            </a:avLst>
          </a:prstGeom>
          <a:solidFill>
            <a:srgbClr val="FBE9DC"/>
          </a:solidFill>
          <a:ln w="12700">
            <a:solidFill>
              <a:srgbClr val="FBE9DC"/>
            </a:solidFill>
            <a:prstDash val="solid"/>
          </a:ln>
        </p:spPr>
        <p:txBody>
          <a:bodyPr/>
          <a:p/>
        </p:txBody>
      </p:sp>
      <p:sp>
        <p:nvSpPr>
          <p:cNvPr id="37" name="Text 31"/>
          <p:cNvSpPr txBox="1"/>
          <p:nvPr/>
        </p:nvSpPr>
        <p:spPr>
          <a:xfrm>
            <a:off x="4800600" y="3840480"/>
            <a:ext cx="38404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Does not fit</a:t>
            </a:r>
            <a:endParaRPr lang="en-US" sz="1300" dirty="0"/>
          </a:p>
        </p:txBody>
      </p:sp>
      <p:sp>
        <p:nvSpPr>
          <p:cNvPr id="38" name="Text 32"/>
          <p:cNvSpPr txBox="1"/>
          <p:nvPr/>
        </p:nvSpPr>
        <p:spPr>
          <a:xfrm>
            <a:off x="4800600" y="4206240"/>
            <a:ext cx="3840480" cy="32004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Strict latency (cold starts) · heavy models · constant high traffic (cost) · the fraud model.</a:t>
            </a:r>
            <a:endParaRPr lang="en-US" sz="1050" dirty="0"/>
          </a:p>
        </p:txBody>
      </p:sp>
      <p:pic>
        <p:nvPicPr>
          <p:cNvPr id="39"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Activity · 15 minutes in breakout rooms: choose a rollout for a bank</a:t>
            </a:r>
            <a:endParaRPr lang="en-US" sz="2400" dirty="0"/>
          </a:p>
        </p:txBody>
      </p:sp>
      <p:sp>
        <p:nvSpPr>
          <p:cNvPr id="7" name="Shape 4"/>
          <p:cNvSpPr/>
          <p:nvPr/>
        </p:nvSpPr>
        <p:spPr>
          <a:xfrm>
            <a:off x="365760" y="1234440"/>
            <a:ext cx="4114800" cy="3017520"/>
          </a:xfrm>
          <a:prstGeom prst="roundRect">
            <a:avLst>
              <a:gd name="adj" fmla="val 2424"/>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E07A2F"/>
          </a:solidFill>
          <a:ln w="12700">
            <a:solidFill>
              <a:srgbClr val="E07A2F"/>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Your task (15 min)</a:t>
            </a:r>
            <a:endParaRPr lang="en-US" sz="1300" dirty="0"/>
          </a:p>
        </p:txBody>
      </p:sp>
      <p:sp>
        <p:nvSpPr>
          <p:cNvPr id="11" name="Text 7"/>
          <p:cNvSpPr txBox="1"/>
          <p:nvPr/>
        </p:nvSpPr>
        <p:spPr>
          <a:xfrm>
            <a:off x="502920" y="1783080"/>
            <a:ext cx="3840480" cy="23774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Read the case: IberBank card-fraud model, v2 is validated</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Decide the rollout plan: which strategies, in which order, with what traffic slices, and why not the others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Write the A/B decision rule: metric, threshold, enough traffic</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Define the rollback trigger: which number, watched by whom, stops the rollout</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Say who signs each step</a:t>
            </a:r>
            <a:endParaRPr lang="en-US" sz="1150" dirty="0"/>
          </a:p>
        </p:txBody>
      </p:sp>
      <p:sp>
        <p:nvSpPr>
          <p:cNvPr id="12" name="Shape 8"/>
          <p:cNvSpPr/>
          <p:nvPr/>
        </p:nvSpPr>
        <p:spPr>
          <a:xfrm>
            <a:off x="4663440" y="1234440"/>
            <a:ext cx="4114800" cy="3017520"/>
          </a:xfrm>
          <a:prstGeom prst="roundRect">
            <a:avLst>
              <a:gd name="adj" fmla="val 2424"/>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How to work</a:t>
            </a:r>
            <a:endParaRPr lang="en-US" sz="1300" dirty="0"/>
          </a:p>
        </p:txBody>
      </p:sp>
      <p:sp>
        <p:nvSpPr>
          <p:cNvPr id="16" name="Text 11"/>
          <p:cNvSpPr txBox="1"/>
          <p:nvPr/>
        </p:nvSpPr>
        <p:spPr>
          <a:xfrm>
            <a:off x="4800600" y="1783080"/>
            <a:ext cx="3840480" cy="23774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Rooms of 4–5: your project team</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Rollout card template on campus (or a whiteboard)</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Use today's vocabulary: the five strategies, the scorecard, the three A/B ingredients, the test pyramid</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Nominate a spokesperson: 2 minutes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Bonus: one CI step you would add for this model</a:t>
            </a:r>
            <a:endParaRPr lang="en-US" sz="1150" dirty="0"/>
          </a:p>
        </p:txBody>
      </p:sp>
      <p:sp>
        <p:nvSpPr>
          <p:cNvPr id="17" name="Shape 12"/>
          <p:cNvSpPr/>
          <p:nvPr/>
        </p:nvSpPr>
        <p:spPr>
          <a:xfrm>
            <a:off x="365760" y="4389120"/>
            <a:ext cx="8412480" cy="365760"/>
          </a:xfrm>
          <a:prstGeom prst="roundRect">
            <a:avLst>
              <a:gd name="adj" fmla="val 20000"/>
            </a:avLst>
          </a:prstGeom>
          <a:solidFill>
            <a:srgbClr val="E3F1F2"/>
          </a:solidFill>
          <a:ln w="12700">
            <a:solidFill>
              <a:srgbClr val="E3F1F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4434840"/>
            <a:ext cx="274320" cy="274320"/>
          </a:xfrm>
          <a:prstGeom prst="rect">
            <a:avLst/>
          </a:prstGeom>
        </p:spPr>
      </p:pic>
      <p:sp>
        <p:nvSpPr>
          <p:cNvPr id="19" name="Text 13"/>
          <p:cNvSpPr txBox="1"/>
          <p:nvPr/>
        </p:nvSpPr>
        <p:spPr>
          <a:xfrm>
            <a:off x="896112" y="4389120"/>
            <a:ext cx="7772400" cy="36576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Output per room: one slide or whiteboard. Three rooms present in the debrief; everyone posts theirs on the forum.</a:t>
            </a:r>
            <a:endParaRPr lang="en-US" sz="11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case: IberBank card-fraud model, version 2 (facts only)</a:t>
            </a:r>
            <a:endParaRPr lang="en-US" sz="2400" dirty="0"/>
          </a:p>
        </p:txBody>
      </p:sp>
      <p:sp>
        <p:nvSpPr>
          <p:cNvPr id="7" name="Text 4"/>
          <p:cNvSpPr txBox="1"/>
          <p:nvPr/>
        </p:nvSpPr>
        <p:spPr>
          <a:xfrm>
            <a:off x="365760" y="1234440"/>
            <a:ext cx="5669280" cy="338328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Version 1 has been in production since March: 40 million transactions a month, under 150 ms, three channels (point of sale, e-commerce, ATM). It blocks about 0.4% of transactions; roughly one in three blocks is a false positive.</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Version 2 passed validation last week: on the evaluation set it catches 9% more fraud at the same false-positive rate, and the fairness check by region passed. It uses two new velocity features from the streaming system.</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Constraint 1: zero downtime. Card payments run 24/7; a minute without scoring means every transaction is either blocked or waved through.</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Constraint 2: the regulator, after the March incident, requires proof on real traffic that v2 is at least as safe as v1 before any customer is affected by it.</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Constraint 3: the infrastructure budget allows a second production copy of the model for at most four weeks.</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Constraint 4: the fraud operations team can review 300 flagged transactions a day; more than that and reviews are skipped. Chargebacks (the ground truth) arrive up to 60 days late.</a:t>
            </a:r>
            <a:endParaRPr lang="en-US" sz="1050" dirty="0"/>
          </a:p>
        </p:txBody>
      </p:sp>
      <p:sp>
        <p:nvSpPr>
          <p:cNvPr id="8" name="Shape 5"/>
          <p:cNvSpPr/>
          <p:nvPr/>
        </p:nvSpPr>
        <p:spPr>
          <a:xfrm>
            <a:off x="6309360" y="1234440"/>
            <a:ext cx="2468880" cy="3291840"/>
          </a:xfrm>
          <a:prstGeom prst="roundRect">
            <a:avLst>
              <a:gd name="adj" fmla="val 2963"/>
            </a:avLst>
          </a:prstGeom>
          <a:solidFill>
            <a:srgbClr val="F3F5F8"/>
          </a:solidFill>
          <a:ln w="12700">
            <a:solidFill>
              <a:srgbClr val="F3F5F8"/>
            </a:solidFill>
            <a:prstDash val="solid"/>
          </a:ln>
        </p:spPr>
        <p:txBody>
          <a:bodyPr/>
          <a:p/>
        </p:txBody>
      </p:sp>
      <p:sp>
        <p:nvSpPr>
          <p:cNvPr id="9" name="Text 6"/>
          <p:cNvSpPr txBox="1"/>
          <p:nvPr/>
        </p:nvSpPr>
        <p:spPr>
          <a:xfrm>
            <a:off x="6446520" y="1325880"/>
            <a:ext cx="2194560" cy="32004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Rollout card</a:t>
            </a:r>
            <a:endParaRPr lang="en-US" sz="1250" dirty="0"/>
          </a:p>
        </p:txBody>
      </p:sp>
      <p:sp>
        <p:nvSpPr>
          <p:cNvPr id="10" name="Text 7"/>
          <p:cNvSpPr txBox="1"/>
          <p:nvPr/>
        </p:nvSpPr>
        <p:spPr>
          <a:xfrm>
            <a:off x="6446520" y="1737360"/>
            <a:ext cx="2194560" cy="27432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Plan: strategies, order, slices, duration</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Why not the others</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A/B rule: metric · threshold · traffic</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Rollback trigger: number · watcher · action</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Who signs each step</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Bonus: one CI step to add</a:t>
            </a:r>
            <a:endParaRPr lang="en-US" sz="1100" dirty="0"/>
          </a:p>
        </p:txBody>
      </p:sp>
      <p:pic>
        <p:nvPicPr>
          <p:cNvPr id="11"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Debrief: what we heard, and what it tells us</a:t>
            </a:r>
            <a:endParaRPr lang="en-US" sz="2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463040"/>
                <a:gridCol w="6949440"/>
              </a:tblGrid>
              <a:tr h="56692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Question</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 strong answer</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566928">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Plan</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Shadow 2–3 weeks (regulator's proof, inside the 4-week budget) → canary by channel, e-commerce first, 5% → 25% → 100%, with the A/B rule inside the canary. Not blue-green alone: no proof on real traffic, everyone switched at once. Not basic: zero downtime.</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66928">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A/B rule</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Metric: confirmed fraud caught per 1,000 flagged, at a false-positive rate no higher than v1's. Threshold: at least 5% better, false positives not worse. Traffic: enough that it is not luck; at least a full week including a weekend.</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66928">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Rollback trigger</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False-positive rate 10% above v1 for an hour, or more than 300 flags a day, or p95 latency above 150 ms → an automated monitor pages the on-call ML engineer → canary shrinks to 0%.</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66928">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Who signs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Product owner: shadow → canary, and full rollout. Risk &amp; Compliance: the regulator's evidence. ML engineer: responsible for each step.</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365760" y="4160520"/>
            <a:ext cx="8412480" cy="502920"/>
          </a:xfrm>
          <a:prstGeom prst="roundRect">
            <a:avLst>
              <a:gd name="adj" fmla="val 14545"/>
            </a:avLst>
          </a:prstGeom>
          <a:solidFill>
            <a:srgbClr val="E3F1F2"/>
          </a:solidFill>
          <a:ln w="12700">
            <a:solidFill>
              <a:srgbClr val="E3F1F2"/>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02920" y="4274820"/>
            <a:ext cx="274320" cy="274320"/>
          </a:xfrm>
          <a:prstGeom prst="rect">
            <a:avLst/>
          </a:prstGeom>
        </p:spPr>
      </p:pic>
      <p:sp>
        <p:nvSpPr>
          <p:cNvPr id="10" name="Text 5"/>
          <p:cNvSpPr txBox="1"/>
          <p:nvPr/>
        </p:nvSpPr>
        <p:spPr>
          <a:xfrm>
            <a:off x="896112" y="4160520"/>
            <a:ext cx="7772400" cy="50292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Every strategy is a way to make a mistake small. The pipeline decided the change was safe; the rollout decides how many customers find out if it wasn't.</a:t>
            </a:r>
            <a:endParaRPr lang="en-US" sz="1150" dirty="0"/>
          </a:p>
        </p:txBody>
      </p:sp>
      <p:pic>
        <p:nvPicPr>
          <p:cNvPr id="32"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Three things to remember</a:t>
            </a:r>
            <a:endParaRPr lang="en-US" sz="2400" dirty="0"/>
          </a:p>
        </p:txBody>
      </p:sp>
      <p:sp>
        <p:nvSpPr>
          <p:cNvPr id="7" name="Shape 4"/>
          <p:cNvSpPr/>
          <p:nvPr/>
        </p:nvSpPr>
        <p:spPr>
          <a:xfrm>
            <a:off x="365760" y="1325880"/>
            <a:ext cx="640080" cy="640080"/>
          </a:xfrm>
          <a:prstGeom prst="ellipse">
            <a:avLst/>
          </a:prstGeom>
          <a:solidFill>
            <a:srgbClr val="0E7C86"/>
          </a:solidFill>
          <a:ln w="12700">
            <a:solidFill>
              <a:srgbClr val="0E7C86"/>
            </a:solidFill>
            <a:prstDash val="solid"/>
          </a:ln>
        </p:spPr>
        <p:txBody>
          <a:bodyPr/>
          <a:p/>
        </p:txBody>
      </p:sp>
      <p:sp>
        <p:nvSpPr>
          <p:cNvPr id="8" name="Text 5"/>
          <p:cNvSpPr txBox="1"/>
          <p:nvPr/>
        </p:nvSpPr>
        <p:spPr>
          <a:xfrm>
            <a:off x="365760" y="1325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23444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Tests for code, tests for data, tests for models.</a:t>
            </a:r>
            <a:endParaRPr lang="en-US" sz="1600" dirty="0"/>
          </a:p>
        </p:txBody>
      </p:sp>
      <p:sp>
        <p:nvSpPr>
          <p:cNvPr id="10" name="Text 7"/>
          <p:cNvSpPr txBox="1"/>
          <p:nvPr/>
        </p:nvSpPr>
        <p:spPr>
          <a:xfrm>
            <a:off x="1188720" y="164592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 pipeline that runs on every change and stops at the first failure. You saw it stop at the data test; nothing was trained, nothing was deployed.</a:t>
            </a:r>
            <a:endParaRPr lang="en-US" sz="1200" dirty="0"/>
          </a:p>
        </p:txBody>
      </p:sp>
      <p:sp>
        <p:nvSpPr>
          <p:cNvPr id="11" name="Shape 8"/>
          <p:cNvSpPr/>
          <p:nvPr/>
        </p:nvSpPr>
        <p:spPr>
          <a:xfrm>
            <a:off x="365760" y="2377440"/>
            <a:ext cx="640080" cy="640080"/>
          </a:xfrm>
          <a:prstGeom prst="ellipse">
            <a:avLst/>
          </a:prstGeom>
          <a:solidFill>
            <a:srgbClr val="0E7C86"/>
          </a:solidFill>
          <a:ln w="12700">
            <a:solidFill>
              <a:srgbClr val="0E7C86"/>
            </a:solidFill>
            <a:prstDash val="solid"/>
          </a:ln>
        </p:spPr>
        <p:txBody>
          <a:bodyPr/>
          <a:p/>
        </p:txBody>
      </p:sp>
      <p:sp>
        <p:nvSpPr>
          <p:cNvPr id="12" name="Text 9"/>
          <p:cNvSpPr txBox="1"/>
          <p:nvPr/>
        </p:nvSpPr>
        <p:spPr>
          <a:xfrm>
            <a:off x="365760" y="23774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28600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Ship the artefact, not the file.</a:t>
            </a:r>
            <a:endParaRPr lang="en-US" sz="1600" dirty="0"/>
          </a:p>
        </p:txBody>
      </p:sp>
      <p:sp>
        <p:nvSpPr>
          <p:cNvPr id="14" name="Text 11"/>
          <p:cNvSpPr txBox="1"/>
          <p:nvPr/>
        </p:nvSpPr>
        <p:spPr>
          <a:xfrm>
            <a:off x="1188720" y="269748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Code, configuration, data reference, model, environment, model card, test scenarios; in a container, so it runs the same everywhere.</a:t>
            </a:r>
            <a:endParaRPr lang="en-US" sz="1200" dirty="0"/>
          </a:p>
        </p:txBody>
      </p:sp>
      <p:sp>
        <p:nvSpPr>
          <p:cNvPr id="15" name="Shape 12"/>
          <p:cNvSpPr/>
          <p:nvPr/>
        </p:nvSpPr>
        <p:spPr>
          <a:xfrm>
            <a:off x="365760" y="3429000"/>
            <a:ext cx="640080" cy="640080"/>
          </a:xfrm>
          <a:prstGeom prst="ellipse">
            <a:avLst/>
          </a:prstGeom>
          <a:solidFill>
            <a:srgbClr val="0E7C86"/>
          </a:solidFill>
          <a:ln w="12700">
            <a:solidFill>
              <a:srgbClr val="0E7C86"/>
            </a:solidFill>
            <a:prstDash val="solid"/>
          </a:ln>
        </p:spPr>
        <p:txBody>
          <a:bodyPr/>
          <a:p/>
        </p:txBody>
      </p:sp>
      <p:sp>
        <p:nvSpPr>
          <p:cNvPr id="16" name="Text 13"/>
          <p:cNvSpPr txBox="1"/>
          <p:nvPr/>
        </p:nvSpPr>
        <p:spPr>
          <a:xfrm>
            <a:off x="365760" y="34290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188720" y="333756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Every rollout strategy is a way to make a mistake small.</a:t>
            </a:r>
            <a:endParaRPr lang="en-US" sz="1600" dirty="0"/>
          </a:p>
        </p:txBody>
      </p:sp>
      <p:sp>
        <p:nvSpPr>
          <p:cNvPr id="18" name="Text 15"/>
          <p:cNvSpPr txBox="1"/>
          <p:nvPr/>
        </p:nvSpPr>
        <p:spPr>
          <a:xfrm>
            <a:off x="1188720" y="374904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Shadow to prove, canary to limit, A/B to decide, and a rollback trigger written before you start.</a:t>
            </a:r>
            <a:endParaRPr lang="en-US" sz="1200" dirty="0"/>
          </a:p>
        </p:txBody>
      </p:sp>
      <p:pic>
        <p:nvPicPr>
          <p:cNvPr id="19"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Your forum this week: Session 6 · 17–23 October</a:t>
            </a:r>
            <a:endParaRPr lang="en-US" sz="2400" dirty="0"/>
          </a:p>
        </p:txBody>
      </p:sp>
      <p:sp>
        <p:nvSpPr>
          <p:cNvPr id="7" name="Shape 4"/>
          <p:cNvSpPr/>
          <p:nvPr/>
        </p:nvSpPr>
        <p:spPr>
          <a:xfrm>
            <a:off x="365760" y="1280160"/>
            <a:ext cx="502920" cy="502920"/>
          </a:xfrm>
          <a:prstGeom prst="ellipse">
            <a:avLst/>
          </a:prstGeom>
          <a:solidFill>
            <a:srgbClr val="1B2A4A"/>
          </a:solidFill>
          <a:ln w="12700">
            <a:solidFill>
              <a:srgbClr val="1B2A4A"/>
            </a:solidFill>
            <a:prstDash val="solid"/>
          </a:ln>
        </p:spPr>
        <p:txBody>
          <a:bodyPr/>
          <a:p/>
        </p:txBody>
      </p:sp>
      <p:sp>
        <p:nvSpPr>
          <p:cNvPr id="8" name="Text 5"/>
          <p:cNvSpPr txBox="1"/>
          <p:nvPr/>
        </p:nvSpPr>
        <p:spPr>
          <a:xfrm>
            <a:off x="365760" y="128016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9" name="Text 6"/>
          <p:cNvSpPr txBox="1"/>
          <p:nvPr/>
        </p:nvSpPr>
        <p:spPr>
          <a:xfrm>
            <a:off x="1051560" y="1234440"/>
            <a:ext cx="7726680" cy="8686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Design a CI/CD flow (diagram plus short description) for a fraud-detection model, showing which automated tests run on code and which run on data before deployment.</a:t>
            </a:r>
            <a:endParaRPr lang="en-US" sz="1200" dirty="0"/>
          </a:p>
        </p:txBody>
      </p:sp>
      <p:sp>
        <p:nvSpPr>
          <p:cNvPr id="10" name="Shape 7"/>
          <p:cNvSpPr/>
          <p:nvPr/>
        </p:nvSpPr>
        <p:spPr>
          <a:xfrm>
            <a:off x="365760" y="2240280"/>
            <a:ext cx="502920" cy="502920"/>
          </a:xfrm>
          <a:prstGeom prst="ellipse">
            <a:avLst/>
          </a:prstGeom>
          <a:solidFill>
            <a:srgbClr val="1B2A4A"/>
          </a:solidFill>
          <a:ln w="12700">
            <a:solidFill>
              <a:srgbClr val="1B2A4A"/>
            </a:solidFill>
            <a:prstDash val="solid"/>
          </a:ln>
        </p:spPr>
        <p:txBody>
          <a:bodyPr/>
          <a:p/>
        </p:txBody>
      </p:sp>
      <p:sp>
        <p:nvSpPr>
          <p:cNvPr id="11" name="Text 8"/>
          <p:cNvSpPr txBox="1"/>
          <p:nvPr/>
        </p:nvSpPr>
        <p:spPr>
          <a:xfrm>
            <a:off x="365760" y="22402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2" name="Text 9"/>
          <p:cNvSpPr txBox="1"/>
          <p:nvPr/>
        </p:nvSpPr>
        <p:spPr>
          <a:xfrm>
            <a:off x="1051560" y="2194560"/>
            <a:ext cx="7726680" cy="8686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Compare canary and blue-green deployments for a customer-facing bank model. Which would you recommend under a strict zero-downtime requirement, and why?</a:t>
            </a:r>
            <a:endParaRPr lang="en-US" sz="1200" dirty="0"/>
          </a:p>
        </p:txBody>
      </p:sp>
      <p:sp>
        <p:nvSpPr>
          <p:cNvPr id="13" name="Shape 10"/>
          <p:cNvSpPr/>
          <p:nvPr/>
        </p:nvSpPr>
        <p:spPr>
          <a:xfrm>
            <a:off x="365760" y="3200400"/>
            <a:ext cx="502920" cy="502920"/>
          </a:xfrm>
          <a:prstGeom prst="ellipse">
            <a:avLst/>
          </a:prstGeom>
          <a:solidFill>
            <a:srgbClr val="1B2A4A"/>
          </a:solidFill>
          <a:ln w="12700">
            <a:solidFill>
              <a:srgbClr val="1B2A4A"/>
            </a:solidFill>
            <a:prstDash val="solid"/>
          </a:ln>
        </p:spPr>
        <p:txBody>
          <a:bodyPr/>
          <a:p/>
        </p:txBody>
      </p:sp>
      <p:sp>
        <p:nvSpPr>
          <p:cNvPr id="14" name="Text 11"/>
          <p:cNvSpPr txBox="1"/>
          <p:nvPr/>
        </p:nvSpPr>
        <p:spPr>
          <a:xfrm>
            <a:off x="365760" y="32004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15" name="Text 12"/>
          <p:cNvSpPr txBox="1"/>
          <p:nvPr/>
        </p:nvSpPr>
        <p:spPr>
          <a:xfrm>
            <a:off x="1051560" y="3154680"/>
            <a:ext cx="7726680" cy="8686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Describe an A/B test you would run to decide whether a new model version outperforms the current one. Which metric and decision threshold would you use?</a:t>
            </a:r>
            <a:endParaRPr lang="en-US" sz="1200" dirty="0"/>
          </a:p>
        </p:txBody>
      </p:sp>
      <p:sp>
        <p:nvSpPr>
          <p:cNvPr id="16" name="Shape 13"/>
          <p:cNvSpPr/>
          <p:nvPr/>
        </p:nvSpPr>
        <p:spPr>
          <a:xfrm>
            <a:off x="365760" y="411480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17" name="Image 0" descr="preencoded.png">    </p:cNvPr>
          <p:cNvPicPr>
            <a:picLocks noChangeAspect="1"/>
          </p:cNvPicPr>
          <p:nvPr/>
        </p:nvPicPr>
        <p:blipFill>
          <a:blip r:embed="rId1"/>
          <a:stretch>
            <a:fillRect/>
          </a:stretch>
        </p:blipFill>
        <p:spPr>
          <a:xfrm>
            <a:off x="502920" y="4206240"/>
            <a:ext cx="274320" cy="274320"/>
          </a:xfrm>
          <a:prstGeom prst="rect">
            <a:avLst/>
          </a:prstGeom>
        </p:spPr>
      </p:pic>
      <p:sp>
        <p:nvSpPr>
          <p:cNvPr id="18" name="Text 14"/>
          <p:cNvSpPr txBox="1"/>
          <p:nvPr/>
        </p:nvSpPr>
        <p:spPr>
          <a:xfrm>
            <a:off x="896112" y="4114800"/>
            <a:ext cx="7772400" cy="45720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Opens today, closes Friday 23 October. Use the IberBank brief on campus for all three. Post early; reply to two classmates.</a:t>
            </a:r>
            <a:endParaRPr lang="en-US" sz="1150" dirty="0"/>
          </a:p>
        </p:txBody>
      </p:sp>
      <p:pic>
        <p:nvPicPr>
          <p:cNvPr id="19"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Before Session 7 (Saturday 24 October): read, and look at one thing</a:t>
            </a:r>
            <a:endParaRPr lang="en-US" sz="2400" dirty="0"/>
          </a:p>
        </p:txBody>
      </p:sp>
      <p:sp>
        <p:nvSpPr>
          <p:cNvPr id="7" name="Shape 4"/>
          <p:cNvSpPr/>
          <p:nvPr/>
        </p:nvSpPr>
        <p:spPr>
          <a:xfrm>
            <a:off x="365760" y="1234440"/>
            <a:ext cx="4114800" cy="2011680"/>
          </a:xfrm>
          <a:prstGeom prst="roundRect">
            <a:avLst>
              <a:gd name="adj" fmla="val 3636"/>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Read</a:t>
            </a:r>
            <a:endParaRPr lang="en-US" sz="1300" dirty="0"/>
          </a:p>
        </p:txBody>
      </p:sp>
      <p:sp>
        <p:nvSpPr>
          <p:cNvPr id="11" name="Text 7"/>
          <p:cNvSpPr txBox="1"/>
          <p:nvPr/>
        </p:nvSpPr>
        <p:spPr>
          <a:xfrm>
            <a:off x="502920" y="178308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Treveil et al., Introducing MLOps, chapter 7: Monitoring and feedback loop</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Optional: Huyen, Designing ML Systems, chapter 8: Data distribution shifts and monitoring</a:t>
            </a:r>
            <a:endParaRPr lang="en-US" sz="1150" dirty="0"/>
          </a:p>
        </p:txBody>
      </p:sp>
      <p:sp>
        <p:nvSpPr>
          <p:cNvPr id="12" name="Shape 8"/>
          <p:cNvSpPr/>
          <p:nvPr/>
        </p:nvSpPr>
        <p:spPr>
          <a:xfrm>
            <a:off x="4663440" y="1234440"/>
            <a:ext cx="4114800" cy="2011680"/>
          </a:xfrm>
          <a:prstGeom prst="roundRect">
            <a:avLst>
              <a:gd name="adj" fmla="val 3636"/>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Look at one thing</a:t>
            </a:r>
            <a:endParaRPr lang="en-US" sz="1300" dirty="0"/>
          </a:p>
        </p:txBody>
      </p:sp>
      <p:sp>
        <p:nvSpPr>
          <p:cNvPr id="16" name="Text 11"/>
          <p:cNvSpPr txBox="1"/>
          <p:nvPr/>
        </p:nvSpPr>
        <p:spPr>
          <a:xfrm>
            <a:off x="4800600" y="178308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MODEL_CARD.md in the demo repository says: "Retrain trigger: accuracy below 0.85 on the monthly labelled sample"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Write down what you would need to measure every month to know whether that line was crossed</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Session 7 starts from there</a:t>
            </a:r>
            <a:endParaRPr lang="en-US" sz="1150" dirty="0"/>
          </a:p>
        </p:txBody>
      </p:sp>
      <p:sp>
        <p:nvSpPr>
          <p:cNvPr id="17" name="Shape 12"/>
          <p:cNvSpPr/>
          <p:nvPr/>
        </p:nvSpPr>
        <p:spPr>
          <a:xfrm>
            <a:off x="365760" y="3429000"/>
            <a:ext cx="8412480" cy="914400"/>
          </a:xfrm>
          <a:prstGeom prst="roundRect">
            <a:avLst>
              <a:gd name="adj" fmla="val 8000"/>
            </a:avLst>
          </a:prstGeom>
          <a:solidFill>
            <a:srgbClr val="1B2A4A"/>
          </a:solidFill>
          <a:ln w="12700">
            <a:solidFill>
              <a:srgbClr val="1B2A4A"/>
            </a:solidFill>
            <a:prstDash val="solid"/>
          </a:ln>
        </p:spPr>
        <p:txBody>
          <a:bodyPr/>
          <a:p/>
        </p:txBody>
      </p:sp>
      <p:sp>
        <p:nvSpPr>
          <p:cNvPr id="18" name="Text 13"/>
          <p:cNvSpPr txBox="1"/>
          <p:nvPr/>
        </p:nvSpPr>
        <p:spPr>
          <a:xfrm>
            <a:off x="548640" y="3474720"/>
            <a:ext cx="80467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Next: Session 7 · Monitoring, Explainability &amp; Responsible AI</a:t>
            </a:r>
            <a:endParaRPr lang="en-US" sz="1400" dirty="0"/>
          </a:p>
        </p:txBody>
      </p:sp>
      <p:sp>
        <p:nvSpPr>
          <p:cNvPr id="19" name="Text 14"/>
          <p:cNvSpPr txBox="1"/>
          <p:nvPr/>
        </p:nvSpPr>
        <p:spPr>
          <a:xfrm>
            <a:off x="548640" y="3840480"/>
            <a:ext cx="8046720" cy="4572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Data drift, concept drift, performance decay · thresholds that trigger retraining · explanations as an operational requirement · bias. Video 1 (monitoring metrics, with a quiz) opens the same day.</a:t>
            </a:r>
            <a:endParaRPr lang="en-US" sz="1200" dirty="0"/>
          </a:p>
        </p:txBody>
      </p:sp>
      <p:pic>
        <p:nvPicPr>
          <p:cNvPr id="20"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E3F63"/>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34</a:t>
            </a:r>
            <a:endParaRPr lang="en-US" sz="800" dirty="0"/>
          </a:p>
        </p:txBody>
      </p:sp>
      <p:sp>
        <p:nvSpPr>
          <p:cNvPr id="5" name="Text 3"/>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Appendix · The tools (not examinable)</a:t>
            </a:r>
            <a:endParaRPr lang="en-US" sz="3000" dirty="0"/>
          </a:p>
        </p:txBody>
      </p:sp>
      <p:sp>
        <p:nvSpPr>
          <p:cNvPr id="6" name="Text 4"/>
          <p:cNvSpPr txBox="1"/>
          <p:nvPr/>
        </p:nvSpPr>
        <p:spPr>
          <a:xfrm>
            <a:off x="548640" y="2286000"/>
            <a:ext cx="8046720" cy="12801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The mechanics, for students who want them, plus a hands-on lab (S05/deploy_lab): the Dockerfile, the four files that make a model a REST API, running it locally and deploying to Cloud Run, a CI workflow file, the complete pipeline automated end to end (trigger → test → train → deploy), pipeline orchestration, and serverless. Not covered live; not in the exam.</a:t>
            </a:r>
            <a:endParaRPr lang="en-US" sz="1500" dirty="0"/>
          </a:p>
        </p:txBody>
      </p:sp>
      <p:pic>
        <p:nvPicPr>
          <p:cNvPr id="7"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A Dockerfile is a recipe for the box</a:t>
            </a:r>
            <a:endParaRPr lang="en-US" sz="2400" dirty="0"/>
          </a:p>
        </p:txBody>
      </p:sp>
      <p:sp>
        <p:nvSpPr>
          <p:cNvPr id="7" name="Shape 4"/>
          <p:cNvSpPr/>
          <p:nvPr/>
        </p:nvSpPr>
        <p:spPr>
          <a:xfrm>
            <a:off x="365760" y="1234440"/>
            <a:ext cx="4114800" cy="3108960"/>
          </a:xfrm>
          <a:prstGeom prst="roundRect">
            <a:avLst>
              <a:gd name="adj" fmla="val 2353"/>
            </a:avLst>
          </a:prstGeom>
          <a:solidFill>
            <a:srgbClr val="F3F5F8"/>
          </a:solidFill>
          <a:ln w="12700">
            <a:solidFill>
              <a:srgbClr val="F3F5F8"/>
            </a:solidFill>
            <a:prstDash val="solid"/>
          </a:ln>
        </p:spPr>
        <p:txBody>
          <a:bodyPr/>
          <a:p/>
        </p:txBody>
      </p:sp>
      <p:sp>
        <p:nvSpPr>
          <p:cNvPr id="8" name="Text 5"/>
          <p:cNvSpPr txBox="1"/>
          <p:nvPr/>
        </p:nvSpPr>
        <p:spPr>
          <a:xfrm>
            <a:off x="502920" y="1371600"/>
            <a:ext cx="3840480" cy="2834640"/>
          </a:xfrm>
          <a:prstGeom prst="rect">
            <a:avLst/>
          </a:prstGeom>
          <a:noFill/>
          <a:ln/>
        </p:spPr>
        <p:txBody>
          <a:bodyPr wrap="square" lIns="0" tIns="0" rIns="0" bIns="0" rtlCol="0" anchor="t"/>
          <a:lstStyle/>
          <a:p>
            <a:pPr indent="0" marL="0">
              <a:buNone/>
            </a:pPr>
            <a:r>
              <a:rPr lang="en-US" sz="1100" dirty="0">
                <a:solidFill>
                  <a:srgbClr val="222222"/>
                </a:solidFill>
                <a:latin typeface="Courier New" pitchFamily="34" charset="0"/>
                <a:ea typeface="Courier New" pitchFamily="34" charset="-122"/>
                <a:cs typeface="Courier New" pitchFamily="34" charset="-120"/>
              </a:rPr>
              <a:t>FROM python:3.11-slim</a:t>
            </a:r>
            <a:endParaRPr lang="en-US" sz="1100" dirty="0"/>
          </a:p>
          <a:p>
            <a:pPr indent="0" marL="0">
              <a:buNone/>
            </a:pPr>
            <a:r>
              <a:rPr lang="en-US" sz="1100" dirty="0">
                <a:solidFill>
                  <a:srgbClr val="222222"/>
                </a:solidFill>
                <a:latin typeface="Courier New" pitchFamily="34" charset="0"/>
                <a:ea typeface="Courier New" pitchFamily="34" charset="-122"/>
                <a:cs typeface="Courier New" pitchFamily="34" charset="-120"/>
              </a:rPr>
              <a:t>WORKDIR /app</a:t>
            </a:r>
            <a:endParaRPr lang="en-US" sz="1100" dirty="0"/>
          </a:p>
          <a:p>
            <a:pPr indent="0" marL="0">
              <a:buNone/>
            </a:pPr>
            <a:r>
              <a:rPr lang="en-US" sz="1100" dirty="0">
                <a:solidFill>
                  <a:srgbClr val="222222"/>
                </a:solidFill>
                <a:latin typeface="Courier New" pitchFamily="34" charset="0"/>
                <a:ea typeface="Courier New" pitchFamily="34" charset="-122"/>
                <a:cs typeface="Courier New" pitchFamily="34" charset="-120"/>
              </a:rPr>
              <a:t>COPY requirements.txt .</a:t>
            </a:r>
            <a:endParaRPr lang="en-US" sz="1100" dirty="0"/>
          </a:p>
          <a:p>
            <a:pPr indent="0" marL="0">
              <a:buNone/>
            </a:pPr>
            <a:r>
              <a:rPr lang="en-US" sz="1100" dirty="0">
                <a:solidFill>
                  <a:srgbClr val="222222"/>
                </a:solidFill>
                <a:latin typeface="Courier New" pitchFamily="34" charset="0"/>
                <a:ea typeface="Courier New" pitchFamily="34" charset="-122"/>
                <a:cs typeface="Courier New" pitchFamily="34" charset="-120"/>
              </a:rPr>
              <a:t>RUN pip install -r requirements.txt</a:t>
            </a:r>
            <a:endParaRPr lang="en-US" sz="1100" dirty="0"/>
          </a:p>
          <a:p>
            <a:pPr indent="0" marL="0">
              <a:buNone/>
            </a:pPr>
            <a:r>
              <a:rPr lang="en-US" sz="1100" dirty="0">
                <a:solidFill>
                  <a:srgbClr val="222222"/>
                </a:solidFill>
                <a:latin typeface="Courier New" pitchFamily="34" charset="0"/>
                <a:ea typeface="Courier New" pitchFamily="34" charset="-122"/>
                <a:cs typeface="Courier New" pitchFamily="34" charset="-120"/>
              </a:rPr>
              <a:t>COPY churn_model.pkl app.py ./</a:t>
            </a:r>
            <a:endParaRPr lang="en-US" sz="1100" dirty="0"/>
          </a:p>
          <a:p>
            <a:pPr indent="0" marL="0">
              <a:buNone/>
            </a:pPr>
            <a:r>
              <a:rPr lang="en-US" sz="1100" dirty="0">
                <a:solidFill>
                  <a:srgbClr val="222222"/>
                </a:solidFill>
                <a:latin typeface="Courier New" pitchFamily="34" charset="0"/>
                <a:ea typeface="Courier New" pitchFamily="34" charset="-122"/>
                <a:cs typeface="Courier New" pitchFamily="34" charset="-120"/>
              </a:rPr>
              <a:t>EXPOSE 8080</a:t>
            </a:r>
            <a:endParaRPr lang="en-US" sz="1100" dirty="0"/>
          </a:p>
          <a:p>
            <a:pPr indent="0" marL="0">
              <a:buNone/>
            </a:pPr>
            <a:r>
              <a:rPr lang="en-US" sz="1100" dirty="0">
                <a:solidFill>
                  <a:srgbClr val="222222"/>
                </a:solidFill>
                <a:latin typeface="Courier New" pitchFamily="34" charset="0"/>
                <a:ea typeface="Courier New" pitchFamily="34" charset="-122"/>
                <a:cs typeface="Courier New" pitchFamily="34" charset="-120"/>
              </a:rPr>
              <a:t>CMD uvicorn app:app --host 0.0.0.0 \</a:t>
            </a:r>
            <a:endParaRPr lang="en-US" sz="1100" dirty="0"/>
          </a:p>
          <a:p>
            <a:pPr indent="0" marL="0">
              <a:buNone/>
            </a:pPr>
            <a:r>
              <a:rPr lang="en-US" sz="1100" dirty="0">
                <a:solidFill>
                  <a:srgbClr val="222222"/>
                </a:solidFill>
                <a:latin typeface="Courier New" pitchFamily="34" charset="0"/>
                <a:ea typeface="Courier New" pitchFamily="34" charset="-122"/>
                <a:cs typeface="Courier New" pitchFamily="34" charset="-120"/>
              </a:rPr>
              <a:t>         --port 8080</a:t>
            </a:r>
            <a:endParaRPr lang="en-US" sz="1100" dirty="0"/>
          </a:p>
        </p:txBody>
      </p:sp>
      <p:sp>
        <p:nvSpPr>
          <p:cNvPr id="9" name="Shape 6"/>
          <p:cNvSpPr/>
          <p:nvPr/>
        </p:nvSpPr>
        <p:spPr>
          <a:xfrm>
            <a:off x="4754880" y="1325880"/>
            <a:ext cx="640080" cy="640080"/>
          </a:xfrm>
          <a:prstGeom prst="ellipse">
            <a:avLst/>
          </a:prstGeom>
          <a:solidFill>
            <a:srgbClr val="0E7C86"/>
          </a:solidFill>
          <a:ln w="12700">
            <a:solidFill>
              <a:srgbClr val="0E7C86"/>
            </a:solidFill>
            <a:prstDash val="solid"/>
          </a:ln>
        </p:spPr>
        <p:txBody>
          <a:bodyPr/>
          <a:p/>
        </p:txBody>
      </p:sp>
      <p:sp>
        <p:nvSpPr>
          <p:cNvPr id="10" name="Text 7"/>
          <p:cNvSpPr txBox="1"/>
          <p:nvPr/>
        </p:nvSpPr>
        <p:spPr>
          <a:xfrm>
            <a:off x="4754880" y="1325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1" name="Text 8"/>
          <p:cNvSpPr txBox="1"/>
          <p:nvPr/>
        </p:nvSpPr>
        <p:spPr>
          <a:xfrm>
            <a:off x="5577840" y="1234440"/>
            <a:ext cx="320040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Base image</a:t>
            </a:r>
            <a:endParaRPr lang="en-US" sz="1600" dirty="0"/>
          </a:p>
        </p:txBody>
      </p:sp>
      <p:sp>
        <p:nvSpPr>
          <p:cNvPr id="12" name="Text 9"/>
          <p:cNvSpPr txBox="1"/>
          <p:nvPr/>
        </p:nvSpPr>
        <p:spPr>
          <a:xfrm>
            <a:off x="5577840" y="1645920"/>
            <a:ext cx="320040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 slim operating system with Python, the same everywhere.</a:t>
            </a:r>
            <a:endParaRPr lang="en-US" sz="1200" dirty="0"/>
          </a:p>
        </p:txBody>
      </p:sp>
      <p:sp>
        <p:nvSpPr>
          <p:cNvPr id="13" name="Shape 10"/>
          <p:cNvSpPr/>
          <p:nvPr/>
        </p:nvSpPr>
        <p:spPr>
          <a:xfrm>
            <a:off x="4754880" y="2331720"/>
            <a:ext cx="640080" cy="640080"/>
          </a:xfrm>
          <a:prstGeom prst="ellipse">
            <a:avLst/>
          </a:prstGeom>
          <a:solidFill>
            <a:srgbClr val="0E7C86"/>
          </a:solidFill>
          <a:ln w="12700">
            <a:solidFill>
              <a:srgbClr val="0E7C86"/>
            </a:solidFill>
            <a:prstDash val="solid"/>
          </a:ln>
        </p:spPr>
        <p:txBody>
          <a:bodyPr/>
          <a:p/>
        </p:txBody>
      </p:sp>
      <p:sp>
        <p:nvSpPr>
          <p:cNvPr id="14" name="Text 11"/>
          <p:cNvSpPr txBox="1"/>
          <p:nvPr/>
        </p:nvSpPr>
        <p:spPr>
          <a:xfrm>
            <a:off x="4754880" y="233172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5" name="Text 12"/>
          <p:cNvSpPr txBox="1"/>
          <p:nvPr/>
        </p:nvSpPr>
        <p:spPr>
          <a:xfrm>
            <a:off x="5577840" y="2240280"/>
            <a:ext cx="320040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Exact libraries</a:t>
            </a:r>
            <a:endParaRPr lang="en-US" sz="1600" dirty="0"/>
          </a:p>
        </p:txBody>
      </p:sp>
      <p:sp>
        <p:nvSpPr>
          <p:cNvPr id="16" name="Text 13"/>
          <p:cNvSpPr txBox="1"/>
          <p:nvPr/>
        </p:nvSpPr>
        <p:spPr>
          <a:xfrm>
            <a:off x="5577840" y="2651760"/>
            <a:ext cx="320040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The versions from requirements.txt: no "it worked on my laptop".</a:t>
            </a:r>
            <a:endParaRPr lang="en-US" sz="1200" dirty="0"/>
          </a:p>
        </p:txBody>
      </p:sp>
      <p:sp>
        <p:nvSpPr>
          <p:cNvPr id="17" name="Shape 14"/>
          <p:cNvSpPr/>
          <p:nvPr/>
        </p:nvSpPr>
        <p:spPr>
          <a:xfrm>
            <a:off x="4754880" y="3337560"/>
            <a:ext cx="640080" cy="640080"/>
          </a:xfrm>
          <a:prstGeom prst="ellipse">
            <a:avLst/>
          </a:prstGeom>
          <a:solidFill>
            <a:srgbClr val="0E7C86"/>
          </a:solidFill>
          <a:ln w="12700">
            <a:solidFill>
              <a:srgbClr val="0E7C86"/>
            </a:solidFill>
            <a:prstDash val="solid"/>
          </a:ln>
        </p:spPr>
        <p:txBody>
          <a:bodyPr/>
          <a:p/>
        </p:txBody>
      </p:sp>
      <p:sp>
        <p:nvSpPr>
          <p:cNvPr id="18" name="Text 15"/>
          <p:cNvSpPr txBox="1"/>
          <p:nvPr/>
        </p:nvSpPr>
        <p:spPr>
          <a:xfrm>
            <a:off x="4754880" y="33375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9" name="Text 16"/>
          <p:cNvSpPr txBox="1"/>
          <p:nvPr/>
        </p:nvSpPr>
        <p:spPr>
          <a:xfrm>
            <a:off x="5577840" y="3246120"/>
            <a:ext cx="320040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Model + code + start command</a:t>
            </a:r>
            <a:endParaRPr lang="en-US" sz="1600" dirty="0"/>
          </a:p>
        </p:txBody>
      </p:sp>
      <p:sp>
        <p:nvSpPr>
          <p:cNvPr id="20" name="Text 17"/>
          <p:cNvSpPr txBox="1"/>
          <p:nvPr/>
        </p:nvSpPr>
        <p:spPr>
          <a:xfrm>
            <a:off x="5577840" y="3657600"/>
            <a:ext cx="320040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docker build makes the image; docker run starts it; a registry stores it with a version.</a:t>
            </a:r>
            <a:endParaRPr lang="en-US" sz="1200" dirty="0"/>
          </a:p>
        </p:txBody>
      </p:sp>
      <p:pic>
        <p:nvPicPr>
          <p:cNvPr id="21"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Package a model as a REST API: the four files</a:t>
            </a:r>
            <a:endParaRPr lang="en-US" sz="2400" dirty="0"/>
          </a:p>
        </p:txBody>
      </p:sp>
      <p:sp>
        <p:nvSpPr>
          <p:cNvPr id="7" name="Shape 4"/>
          <p:cNvSpPr/>
          <p:nvPr/>
        </p:nvSpPr>
        <p:spPr>
          <a:xfrm>
            <a:off x="365760" y="1325880"/>
            <a:ext cx="640080" cy="640080"/>
          </a:xfrm>
          <a:prstGeom prst="ellipse">
            <a:avLst/>
          </a:prstGeom>
          <a:solidFill>
            <a:srgbClr val="0E7C86"/>
          </a:solidFill>
          <a:ln w="12700">
            <a:solidFill>
              <a:srgbClr val="0E7C86"/>
            </a:solidFill>
            <a:prstDash val="solid"/>
          </a:ln>
        </p:spPr>
        <p:txBody>
          <a:bodyPr/>
          <a:p/>
        </p:txBody>
      </p:sp>
      <p:sp>
        <p:nvSpPr>
          <p:cNvPr id="8" name="Text 5"/>
          <p:cNvSpPr txBox="1"/>
          <p:nvPr/>
        </p:nvSpPr>
        <p:spPr>
          <a:xfrm>
            <a:off x="365760" y="1325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234440"/>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churn_model.pkl</a:t>
            </a:r>
            <a:endParaRPr lang="en-US" sz="1600" dirty="0"/>
          </a:p>
        </p:txBody>
      </p:sp>
      <p:sp>
        <p:nvSpPr>
          <p:cNvPr id="10" name="Text 7"/>
          <p:cNvSpPr txBox="1"/>
          <p:nvPr/>
        </p:nvSpPr>
        <p:spPr>
          <a:xfrm>
            <a:off x="1188720" y="1645920"/>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the trained model, saved by train.py</a:t>
            </a:r>
            <a:endParaRPr lang="en-US" sz="1200" dirty="0"/>
          </a:p>
        </p:txBody>
      </p:sp>
      <p:sp>
        <p:nvSpPr>
          <p:cNvPr id="11" name="Shape 8"/>
          <p:cNvSpPr/>
          <p:nvPr/>
        </p:nvSpPr>
        <p:spPr>
          <a:xfrm>
            <a:off x="365760" y="2112264"/>
            <a:ext cx="640080" cy="640080"/>
          </a:xfrm>
          <a:prstGeom prst="ellipse">
            <a:avLst/>
          </a:prstGeom>
          <a:solidFill>
            <a:srgbClr val="0E7C86"/>
          </a:solidFill>
          <a:ln w="12700">
            <a:solidFill>
              <a:srgbClr val="0E7C86"/>
            </a:solidFill>
            <a:prstDash val="solid"/>
          </a:ln>
        </p:spPr>
        <p:txBody>
          <a:bodyPr/>
          <a:p/>
        </p:txBody>
      </p:sp>
      <p:sp>
        <p:nvSpPr>
          <p:cNvPr id="12" name="Text 9"/>
          <p:cNvSpPr txBox="1"/>
          <p:nvPr/>
        </p:nvSpPr>
        <p:spPr>
          <a:xfrm>
            <a:off x="365760" y="2112264"/>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020824"/>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app.py</a:t>
            </a:r>
            <a:endParaRPr lang="en-US" sz="1600" dirty="0"/>
          </a:p>
        </p:txBody>
      </p:sp>
      <p:sp>
        <p:nvSpPr>
          <p:cNvPr id="14" name="Text 11"/>
          <p:cNvSpPr txBox="1"/>
          <p:nvPr/>
        </p:nvSpPr>
        <p:spPr>
          <a:xfrm>
            <a:off x="1188720" y="2432304"/>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the API: /predict, /health, and auto docs at /docs (FastAPI)</a:t>
            </a:r>
            <a:endParaRPr lang="en-US" sz="1200" dirty="0"/>
          </a:p>
        </p:txBody>
      </p:sp>
      <p:sp>
        <p:nvSpPr>
          <p:cNvPr id="15" name="Shape 12"/>
          <p:cNvSpPr/>
          <p:nvPr/>
        </p:nvSpPr>
        <p:spPr>
          <a:xfrm>
            <a:off x="365760" y="2898648"/>
            <a:ext cx="640080" cy="640080"/>
          </a:xfrm>
          <a:prstGeom prst="ellipse">
            <a:avLst/>
          </a:prstGeom>
          <a:solidFill>
            <a:srgbClr val="0E7C86"/>
          </a:solidFill>
          <a:ln w="12700">
            <a:solidFill>
              <a:srgbClr val="0E7C86"/>
            </a:solidFill>
            <a:prstDash val="solid"/>
          </a:ln>
        </p:spPr>
        <p:txBody>
          <a:bodyPr/>
          <a:p/>
        </p:txBody>
      </p:sp>
      <p:sp>
        <p:nvSpPr>
          <p:cNvPr id="16" name="Text 13"/>
          <p:cNvSpPr txBox="1"/>
          <p:nvPr/>
        </p:nvSpPr>
        <p:spPr>
          <a:xfrm>
            <a:off x="365760" y="28986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188720" y="2807208"/>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requirements.txt</a:t>
            </a:r>
            <a:endParaRPr lang="en-US" sz="1600" dirty="0"/>
          </a:p>
        </p:txBody>
      </p:sp>
      <p:sp>
        <p:nvSpPr>
          <p:cNvPr id="18" name="Text 15"/>
          <p:cNvSpPr txBox="1"/>
          <p:nvPr/>
        </p:nvSpPr>
        <p:spPr>
          <a:xfrm>
            <a:off x="1188720" y="3218688"/>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the exact library versions: reproducible</a:t>
            </a:r>
            <a:endParaRPr lang="en-US" sz="1200" dirty="0"/>
          </a:p>
        </p:txBody>
      </p:sp>
      <p:sp>
        <p:nvSpPr>
          <p:cNvPr id="19" name="Shape 16"/>
          <p:cNvSpPr/>
          <p:nvPr/>
        </p:nvSpPr>
        <p:spPr>
          <a:xfrm>
            <a:off x="365760" y="3685032"/>
            <a:ext cx="640080" cy="640080"/>
          </a:xfrm>
          <a:prstGeom prst="ellipse">
            <a:avLst/>
          </a:prstGeom>
          <a:solidFill>
            <a:srgbClr val="0E7C86"/>
          </a:solidFill>
          <a:ln w="12700">
            <a:solidFill>
              <a:srgbClr val="0E7C86"/>
            </a:solidFill>
            <a:prstDash val="solid"/>
          </a:ln>
        </p:spPr>
        <p:txBody>
          <a:bodyPr/>
          <a:p/>
        </p:txBody>
      </p:sp>
      <p:sp>
        <p:nvSpPr>
          <p:cNvPr id="20" name="Text 17"/>
          <p:cNvSpPr txBox="1"/>
          <p:nvPr/>
        </p:nvSpPr>
        <p:spPr>
          <a:xfrm>
            <a:off x="365760" y="368503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1" name="Text 18"/>
          <p:cNvSpPr txBox="1"/>
          <p:nvPr/>
        </p:nvSpPr>
        <p:spPr>
          <a:xfrm>
            <a:off x="1188720" y="3593592"/>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Dockerfile</a:t>
            </a:r>
            <a:endParaRPr lang="en-US" sz="1600" dirty="0"/>
          </a:p>
        </p:txBody>
      </p:sp>
      <p:sp>
        <p:nvSpPr>
          <p:cNvPr id="22" name="Text 19"/>
          <p:cNvSpPr txBox="1"/>
          <p:nvPr/>
        </p:nvSpPr>
        <p:spPr>
          <a:xfrm>
            <a:off x="1188720" y="4005072"/>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the recipe that packages the four (previous slide)</a:t>
            </a:r>
            <a:endParaRPr lang="en-US" sz="1200" dirty="0"/>
          </a:p>
        </p:txBody>
      </p:sp>
      <p:sp>
        <p:nvSpPr>
          <p:cNvPr id="23" name="Shape 20"/>
          <p:cNvSpPr/>
          <p:nvPr/>
        </p:nvSpPr>
        <p:spPr>
          <a:xfrm>
            <a:off x="4663440" y="1234440"/>
            <a:ext cx="4114800" cy="3108960"/>
          </a:xfrm>
          <a:prstGeom prst="roundRect">
            <a:avLst>
              <a:gd name="adj" fmla="val 2353"/>
            </a:avLst>
          </a:prstGeom>
          <a:solidFill>
            <a:srgbClr val="F3F5F8"/>
          </a:solidFill>
          <a:ln w="12700">
            <a:solidFill>
              <a:srgbClr val="F3F5F8"/>
            </a:solidFill>
            <a:prstDash val="solid"/>
          </a:ln>
        </p:spPr>
        <p:txBody>
          <a:bodyPr/>
          <a:p/>
        </p:txBody>
      </p:sp>
      <p:sp>
        <p:nvSpPr>
          <p:cNvPr id="24" name="Text 21"/>
          <p:cNvSpPr txBox="1"/>
          <p:nvPr/>
        </p:nvSpPr>
        <p:spPr>
          <a:xfrm>
            <a:off x="4800600" y="1371600"/>
            <a:ext cx="3840480" cy="2834640"/>
          </a:xfrm>
          <a:prstGeom prst="rect">
            <a:avLst/>
          </a:prstGeom>
          <a:noFill/>
          <a:ln/>
        </p:spPr>
        <p:txBody>
          <a:bodyPr wrap="square" lIns="0" tIns="0" rIns="0" bIns="0" rtlCol="0" anchor="t"/>
          <a:lstStyle/>
          <a:p>
            <a:pPr indent="0" marL="0">
              <a:buNone/>
            </a:pPr>
            <a:r>
              <a:rPr lang="en-US" sz="900" dirty="0">
                <a:solidFill>
                  <a:srgbClr val="222222"/>
                </a:solidFill>
                <a:latin typeface="Courier New" pitchFamily="34" charset="0"/>
                <a:ea typeface="Courier New" pitchFamily="34" charset="-122"/>
                <a:cs typeface="Courier New" pitchFamily="34" charset="-120"/>
              </a:rPr>
              <a:t>from fastapi import FastAPI</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from pydantic import BaseModel</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import pickle, pandas as pd</a:t>
            </a:r>
            <a:endParaRPr lang="en-US" sz="900" dirty="0"/>
          </a:p>
          <a:p>
            <a:pPr indent="0" marL="0">
              <a:buNone/>
            </a:pP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model = pickle.load(open("churn_model.pkl","rb"))</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app = FastAPI()</a:t>
            </a:r>
            <a:endParaRPr lang="en-US" sz="900" dirty="0"/>
          </a:p>
          <a:p>
            <a:pPr indent="0" marL="0">
              <a:buNone/>
            </a:pPr>
            <a:endParaRPr lang="en-US" sz="900" dirty="0"/>
          </a:p>
          <a:p>
            <a:pPr indent="0" marL="0">
              <a:buNone/>
            </a:pPr>
            <a:r>
              <a:rPr lang="en-US" sz="900" dirty="0">
                <a:solidFill>
                  <a:srgbClr val="0E7C86"/>
                </a:solidFill>
                <a:latin typeface="Courier New" pitchFamily="34" charset="0"/>
                <a:ea typeface="Courier New" pitchFamily="34" charset="-122"/>
                <a:cs typeface="Courier New" pitchFamily="34" charset="-120"/>
              </a:rPr>
              <a:t>class Customer(BaseModel):</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    tenure_months: int</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    monthly_charges: float</a:t>
            </a:r>
            <a:endParaRPr lang="en-US" sz="900" dirty="0"/>
          </a:p>
          <a:p>
            <a:pPr indent="0" marL="0">
              <a:buNone/>
            </a:pPr>
            <a:r>
              <a:rPr lang="en-US" sz="900" dirty="0">
                <a:solidFill>
                  <a:srgbClr val="6B7280"/>
                </a:solidFill>
                <a:latin typeface="Courier New" pitchFamily="34" charset="0"/>
                <a:ea typeface="Courier New" pitchFamily="34" charset="-122"/>
                <a:cs typeface="Courier New" pitchFamily="34" charset="-120"/>
              </a:rPr>
              <a:t>    # ...four more features</a:t>
            </a:r>
            <a:endParaRPr lang="en-US" sz="900" dirty="0"/>
          </a:p>
          <a:p>
            <a:pPr indent="0" marL="0">
              <a:buNone/>
            </a:pPr>
            <a:endParaRPr lang="en-US" sz="900" dirty="0"/>
          </a:p>
          <a:p>
            <a:pPr indent="0" marL="0">
              <a:buNone/>
            </a:pPr>
            <a:r>
              <a:rPr lang="en-US" sz="900" dirty="0">
                <a:solidFill>
                  <a:srgbClr val="0E7C86"/>
                </a:solidFill>
                <a:latin typeface="Courier New" pitchFamily="34" charset="0"/>
                <a:ea typeface="Courier New" pitchFamily="34" charset="-122"/>
                <a:cs typeface="Courier New" pitchFamily="34" charset="-120"/>
              </a:rPr>
              <a:t>@app.post("/predict")</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def predict(c: Customer):</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    X = pd.DataFrame([c.dict()])</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    p = model.predict_proba(X)[0, 1]</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    return {"churn_probability": float(p)}</a:t>
            </a:r>
            <a:endParaRPr lang="en-US" sz="900" dirty="0"/>
          </a:p>
        </p:txBody>
      </p:sp>
      <p:sp>
        <p:nvSpPr>
          <p:cNvPr id="25" name="Shape 22"/>
          <p:cNvSpPr/>
          <p:nvPr/>
        </p:nvSpPr>
        <p:spPr>
          <a:xfrm>
            <a:off x="365760" y="4434840"/>
            <a:ext cx="8412480" cy="320040"/>
          </a:xfrm>
          <a:prstGeom prst="roundRect">
            <a:avLst>
              <a:gd name="adj" fmla="val 22857"/>
            </a:avLst>
          </a:prstGeom>
          <a:solidFill>
            <a:srgbClr val="E3F1F2"/>
          </a:solidFill>
          <a:ln w="12700">
            <a:solidFill>
              <a:srgbClr val="E3F1F2"/>
            </a:solidFill>
            <a:prstDash val="solid"/>
          </a:ln>
        </p:spPr>
        <p:txBody>
          <a:bodyPr/>
          <a:p/>
        </p:txBody>
      </p:sp>
      <p:pic>
        <p:nvPicPr>
          <p:cNvPr id="26" name="Image 0" descr="preencoded.png">    </p:cNvPr>
          <p:cNvPicPr>
            <a:picLocks noChangeAspect="1"/>
          </p:cNvPicPr>
          <p:nvPr/>
        </p:nvPicPr>
        <p:blipFill>
          <a:blip r:embed="rId1"/>
          <a:stretch>
            <a:fillRect/>
          </a:stretch>
        </p:blipFill>
        <p:spPr>
          <a:xfrm>
            <a:off x="502920" y="4457700"/>
            <a:ext cx="274320" cy="274320"/>
          </a:xfrm>
          <a:prstGeom prst="rect">
            <a:avLst/>
          </a:prstGeom>
        </p:spPr>
      </p:pic>
      <p:sp>
        <p:nvSpPr>
          <p:cNvPr id="27" name="Text 23"/>
          <p:cNvSpPr txBox="1"/>
          <p:nvPr/>
        </p:nvSpPr>
        <p:spPr>
          <a:xfrm>
            <a:off x="896112" y="4434840"/>
            <a:ext cx="7772400" cy="320040"/>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Hands-on: S05/deploy_lab builds and runs this. FastAPI validates the request and generates a docs page; last year's Flask did the same job with more code.</a:t>
            </a:r>
            <a:endParaRPr lang="en-US" sz="1050" dirty="0"/>
          </a:p>
        </p:txBody>
      </p:sp>
      <p:pic>
        <p:nvPicPr>
          <p:cNvPr id="28"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Run it on your laptop, then deploy to Google Cloud Run</a:t>
            </a:r>
            <a:endParaRPr lang="en-US" sz="2400" dirty="0"/>
          </a:p>
        </p:txBody>
      </p:sp>
      <p:sp>
        <p:nvSpPr>
          <p:cNvPr id="7" name="Text 4"/>
          <p:cNvSpPr txBox="1"/>
          <p:nvPr/>
        </p:nvSpPr>
        <p:spPr>
          <a:xfrm>
            <a:off x="365760" y="1188720"/>
            <a:ext cx="4114800" cy="274320"/>
          </a:xfrm>
          <a:prstGeom prst="rect">
            <a:avLst/>
          </a:prstGeom>
          <a:noFill/>
          <a:ln/>
        </p:spPr>
        <p:txBody>
          <a:bodyPr wrap="square" lIns="0" tIns="0" rIns="0" bIns="0" rtlCol="0" anchor="t"/>
          <a:lstStyle/>
          <a:p>
            <a:pPr algn="l" indent="0" marL="0">
              <a:buNone/>
            </a:pPr>
            <a:r>
              <a:rPr lang="en-US" sz="1250" b="1" dirty="0">
                <a:solidFill>
                  <a:srgbClr val="0E7C86"/>
                </a:solidFill>
                <a:latin typeface="Calibri" pitchFamily="34" charset="0"/>
                <a:ea typeface="Calibri" pitchFamily="34" charset="-122"/>
                <a:cs typeface="Calibri" pitchFamily="34" charset="-120"/>
              </a:rPr>
              <a:t>On your laptop</a:t>
            </a:r>
            <a:endParaRPr lang="en-US" sz="1250" dirty="0"/>
          </a:p>
        </p:txBody>
      </p:sp>
      <p:sp>
        <p:nvSpPr>
          <p:cNvPr id="8" name="Shape 5"/>
          <p:cNvSpPr/>
          <p:nvPr/>
        </p:nvSpPr>
        <p:spPr>
          <a:xfrm>
            <a:off x="365760" y="1481328"/>
            <a:ext cx="4114800" cy="1691640"/>
          </a:xfrm>
          <a:prstGeom prst="roundRect">
            <a:avLst>
              <a:gd name="adj" fmla="val 4324"/>
            </a:avLst>
          </a:prstGeom>
          <a:solidFill>
            <a:srgbClr val="E3F1F2"/>
          </a:solidFill>
          <a:ln w="12700">
            <a:solidFill>
              <a:srgbClr val="E3F1F2"/>
            </a:solidFill>
            <a:prstDash val="solid"/>
          </a:ln>
        </p:spPr>
        <p:txBody>
          <a:bodyPr/>
          <a:p/>
        </p:txBody>
      </p:sp>
      <p:sp>
        <p:nvSpPr>
          <p:cNvPr id="9" name="Text 6"/>
          <p:cNvSpPr txBox="1"/>
          <p:nvPr/>
        </p:nvSpPr>
        <p:spPr>
          <a:xfrm>
            <a:off x="502920" y="1591056"/>
            <a:ext cx="3840480" cy="1508760"/>
          </a:xfrm>
          <a:prstGeom prst="rect">
            <a:avLst/>
          </a:prstGeom>
          <a:noFill/>
          <a:ln/>
        </p:spPr>
        <p:txBody>
          <a:bodyPr wrap="square" lIns="0" tIns="0" rIns="0" bIns="0" rtlCol="0" anchor="t"/>
          <a:lstStyle/>
          <a:p>
            <a:pPr indent="0" marL="0">
              <a:buNone/>
            </a:pPr>
            <a:r>
              <a:rPr lang="en-US" sz="950" dirty="0">
                <a:solidFill>
                  <a:srgbClr val="6B7280"/>
                </a:solidFill>
                <a:latin typeface="Courier New" pitchFamily="34" charset="0"/>
                <a:ea typeface="Courier New" pitchFamily="34" charset="-122"/>
                <a:cs typeface="Courier New" pitchFamily="34" charset="-120"/>
              </a:rPr>
              <a:t># build the image from the recipe</a:t>
            </a:r>
            <a:endParaRPr lang="en-US" sz="950" dirty="0"/>
          </a:p>
          <a:p>
            <a:pPr indent="0" marL="0">
              <a:buNone/>
            </a:pPr>
            <a:r>
              <a:rPr lang="en-US" sz="950" dirty="0">
                <a:solidFill>
                  <a:srgbClr val="222222"/>
                </a:solidFill>
                <a:latin typeface="Courier New" pitchFamily="34" charset="0"/>
                <a:ea typeface="Courier New" pitchFamily="34" charset="-122"/>
                <a:cs typeface="Courier New" pitchFamily="34" charset="-120"/>
              </a:rPr>
              <a:t>docker build -t churn-api:v1 .</a:t>
            </a:r>
            <a:endParaRPr lang="en-US" sz="950" dirty="0"/>
          </a:p>
          <a:p>
            <a:pPr indent="0" marL="0">
              <a:buNone/>
            </a:pPr>
            <a:r>
              <a:rPr lang="en-US" sz="950" dirty="0">
                <a:solidFill>
                  <a:srgbClr val="6B7280"/>
                </a:solidFill>
                <a:latin typeface="Courier New" pitchFamily="34" charset="0"/>
                <a:ea typeface="Courier New" pitchFamily="34" charset="-122"/>
                <a:cs typeface="Courier New" pitchFamily="34" charset="-120"/>
              </a:rPr>
              <a:t># run it, map the port, test it</a:t>
            </a:r>
            <a:endParaRPr lang="en-US" sz="950" dirty="0"/>
          </a:p>
          <a:p>
            <a:pPr indent="0" marL="0">
              <a:buNone/>
            </a:pPr>
            <a:r>
              <a:rPr lang="en-US" sz="950" dirty="0">
                <a:solidFill>
                  <a:srgbClr val="222222"/>
                </a:solidFill>
                <a:latin typeface="Courier New" pitchFamily="34" charset="0"/>
                <a:ea typeface="Courier New" pitchFamily="34" charset="-122"/>
                <a:cs typeface="Courier New" pitchFamily="34" charset="-120"/>
              </a:rPr>
              <a:t>docker run -d -p 8080:8080 churn-api:v1</a:t>
            </a:r>
            <a:endParaRPr lang="en-US" sz="950" dirty="0"/>
          </a:p>
          <a:p>
            <a:pPr indent="0" marL="0">
              <a:buNone/>
            </a:pPr>
            <a:r>
              <a:rPr lang="en-US" sz="950" dirty="0">
                <a:solidFill>
                  <a:srgbClr val="222222"/>
                </a:solidFill>
                <a:latin typeface="Courier New" pitchFamily="34" charset="0"/>
                <a:ea typeface="Courier New" pitchFamily="34" charset="-122"/>
                <a:cs typeface="Courier New" pitchFamily="34" charset="-120"/>
              </a:rPr>
              <a:t>curl localhost:8080/predict -d @customer.json</a:t>
            </a:r>
            <a:endParaRPr lang="en-US" sz="950" dirty="0"/>
          </a:p>
        </p:txBody>
      </p:sp>
      <p:sp>
        <p:nvSpPr>
          <p:cNvPr id="10" name="Text 7"/>
          <p:cNvSpPr txBox="1"/>
          <p:nvPr/>
        </p:nvSpPr>
        <p:spPr>
          <a:xfrm>
            <a:off x="4663440" y="1188720"/>
            <a:ext cx="4114800" cy="274320"/>
          </a:xfrm>
          <a:prstGeom prst="rect">
            <a:avLst/>
          </a:prstGeom>
          <a:noFill/>
          <a:ln/>
        </p:spPr>
        <p:txBody>
          <a:bodyPr wrap="square" lIns="0" tIns="0" rIns="0" bIns="0" rtlCol="0" anchor="t"/>
          <a:lstStyle/>
          <a:p>
            <a:pPr algn="l" indent="0" marL="0">
              <a:buNone/>
            </a:pPr>
            <a:r>
              <a:rPr lang="en-US" sz="1250" b="1" dirty="0">
                <a:solidFill>
                  <a:srgbClr val="E07A2F"/>
                </a:solidFill>
                <a:latin typeface="Calibri" pitchFamily="34" charset="0"/>
                <a:ea typeface="Calibri" pitchFamily="34" charset="-122"/>
                <a:cs typeface="Calibri" pitchFamily="34" charset="-120"/>
              </a:rPr>
              <a:t>To the cloud (Cloud Run)</a:t>
            </a:r>
            <a:endParaRPr lang="en-US" sz="1250" dirty="0"/>
          </a:p>
        </p:txBody>
      </p:sp>
      <p:sp>
        <p:nvSpPr>
          <p:cNvPr id="11" name="Shape 8"/>
          <p:cNvSpPr/>
          <p:nvPr/>
        </p:nvSpPr>
        <p:spPr>
          <a:xfrm>
            <a:off x="4663440" y="1481328"/>
            <a:ext cx="4114800" cy="1691640"/>
          </a:xfrm>
          <a:prstGeom prst="roundRect">
            <a:avLst>
              <a:gd name="adj" fmla="val 4324"/>
            </a:avLst>
          </a:prstGeom>
          <a:solidFill>
            <a:srgbClr val="FBE9DC"/>
          </a:solidFill>
          <a:ln w="12700">
            <a:solidFill>
              <a:srgbClr val="FBE9DC"/>
            </a:solidFill>
            <a:prstDash val="solid"/>
          </a:ln>
        </p:spPr>
        <p:txBody>
          <a:bodyPr/>
          <a:p/>
        </p:txBody>
      </p:sp>
      <p:sp>
        <p:nvSpPr>
          <p:cNvPr id="12" name="Text 9"/>
          <p:cNvSpPr txBox="1"/>
          <p:nvPr/>
        </p:nvSpPr>
        <p:spPr>
          <a:xfrm>
            <a:off x="4800600" y="1591056"/>
            <a:ext cx="3840480" cy="1508760"/>
          </a:xfrm>
          <a:prstGeom prst="rect">
            <a:avLst/>
          </a:prstGeom>
          <a:noFill/>
          <a:ln/>
        </p:spPr>
        <p:txBody>
          <a:bodyPr wrap="square" lIns="0" tIns="0" rIns="0" bIns="0" rtlCol="0" anchor="t"/>
          <a:lstStyle/>
          <a:p>
            <a:pPr indent="0" marL="0">
              <a:buNone/>
            </a:pPr>
            <a:r>
              <a:rPr lang="en-US" sz="950" dirty="0">
                <a:solidFill>
                  <a:srgbClr val="8A3F0C"/>
                </a:solidFill>
                <a:latin typeface="Courier New" pitchFamily="34" charset="0"/>
                <a:ea typeface="Courier New" pitchFamily="34" charset="-122"/>
                <a:cs typeface="Courier New" pitchFamily="34" charset="-120"/>
              </a:rPr>
              <a:t># one command: build + deploy</a:t>
            </a:r>
            <a:endParaRPr lang="en-US" sz="950" dirty="0"/>
          </a:p>
          <a:p>
            <a:pPr indent="0" marL="0">
              <a:buNone/>
            </a:pPr>
            <a:r>
              <a:rPr lang="en-US" sz="950" dirty="0">
                <a:solidFill>
                  <a:srgbClr val="222222"/>
                </a:solidFill>
                <a:latin typeface="Courier New" pitchFamily="34" charset="0"/>
                <a:ea typeface="Courier New" pitchFamily="34" charset="-122"/>
                <a:cs typeface="Courier New" pitchFamily="34" charset="-120"/>
              </a:rPr>
              <a:t>gcloud run deploy churn-api \</a:t>
            </a:r>
            <a:endParaRPr lang="en-US" sz="950" dirty="0"/>
          </a:p>
          <a:p>
            <a:pPr indent="0" marL="0">
              <a:buNone/>
            </a:pPr>
            <a:r>
              <a:rPr lang="en-US" sz="950" dirty="0">
                <a:solidFill>
                  <a:srgbClr val="222222"/>
                </a:solidFill>
                <a:latin typeface="Courier New" pitchFamily="34" charset="0"/>
                <a:ea typeface="Courier New" pitchFamily="34" charset="-122"/>
                <a:cs typeface="Courier New" pitchFamily="34" charset="-120"/>
              </a:rPr>
              <a:t>   --source . --region europe-west1 \</a:t>
            </a:r>
            <a:endParaRPr lang="en-US" sz="950" dirty="0"/>
          </a:p>
          <a:p>
            <a:pPr indent="0" marL="0">
              <a:buNone/>
            </a:pPr>
            <a:r>
              <a:rPr lang="en-US" sz="950" dirty="0">
                <a:solidFill>
                  <a:srgbClr val="222222"/>
                </a:solidFill>
                <a:latin typeface="Courier New" pitchFamily="34" charset="0"/>
                <a:ea typeface="Courier New" pitchFamily="34" charset="-122"/>
                <a:cs typeface="Courier New" pitchFamily="34" charset="-120"/>
              </a:rPr>
              <a:t>   --allow-unauthenticated</a:t>
            </a:r>
            <a:endParaRPr lang="en-US" sz="950" dirty="0"/>
          </a:p>
          <a:p>
            <a:pPr indent="0" marL="0">
              <a:buNone/>
            </a:pPr>
            <a:r>
              <a:rPr lang="en-US" sz="950" dirty="0">
                <a:solidFill>
                  <a:srgbClr val="222222"/>
                </a:solidFill>
                <a:latin typeface="Courier New" pitchFamily="34" charset="0"/>
                <a:ea typeface="Courier New" pitchFamily="34" charset="-122"/>
                <a:cs typeface="Courier New" pitchFamily="34" charset="-120"/>
              </a:rPr>
              <a:t># -&gt; https://churn-api-xxxx.run.app</a:t>
            </a:r>
            <a:endParaRPr lang="en-US" sz="950" dirty="0"/>
          </a:p>
        </p:txBody>
      </p:sp>
      <p:sp>
        <p:nvSpPr>
          <p:cNvPr id="13" name="Shape 10"/>
          <p:cNvSpPr/>
          <p:nvPr/>
        </p:nvSpPr>
        <p:spPr>
          <a:xfrm>
            <a:off x="365760" y="3337560"/>
            <a:ext cx="4114800" cy="1051560"/>
          </a:xfrm>
          <a:prstGeom prst="roundRect">
            <a:avLst>
              <a:gd name="adj" fmla="val 6957"/>
            </a:avLst>
          </a:prstGeom>
          <a:solidFill>
            <a:srgbClr val="F3F5F8"/>
          </a:solidFill>
          <a:ln w="12700">
            <a:solidFill>
              <a:srgbClr val="F3F5F8"/>
            </a:solidFill>
            <a:prstDash val="solid"/>
          </a:ln>
        </p:spPr>
        <p:txBody>
          <a:bodyPr/>
          <a:p/>
        </p:txBody>
      </p:sp>
      <p:sp>
        <p:nvSpPr>
          <p:cNvPr id="14" name="Shape 11"/>
          <p:cNvSpPr/>
          <p:nvPr/>
        </p:nvSpPr>
        <p:spPr>
          <a:xfrm>
            <a:off x="502920" y="3456432"/>
            <a:ext cx="347472" cy="347472"/>
          </a:xfrm>
          <a:prstGeom prst="ellipse">
            <a:avLst/>
          </a:prstGeom>
          <a:solidFill>
            <a:srgbClr val="0E7C86"/>
          </a:solidFill>
          <a:ln w="12700">
            <a:solidFill>
              <a:srgbClr val="0E7C86"/>
            </a:solidFill>
            <a:prstDash val="solid"/>
          </a:ln>
        </p:spPr>
        <p:txBody>
          <a:bodyPr/>
          <a:p/>
        </p:txBody>
      </p:sp>
      <p:pic>
        <p:nvPicPr>
          <p:cNvPr id="15" name="Image 0" descr="preencoded.png">    </p:cNvPr>
          <p:cNvPicPr>
            <a:picLocks noChangeAspect="1"/>
          </p:cNvPicPr>
          <p:nvPr/>
        </p:nvPicPr>
        <p:blipFill>
          <a:blip r:embed="rId1"/>
          <a:stretch>
            <a:fillRect/>
          </a:stretch>
        </p:blipFill>
        <p:spPr>
          <a:xfrm>
            <a:off x="576072" y="3529584"/>
            <a:ext cx="201168" cy="201168"/>
          </a:xfrm>
          <a:prstGeom prst="rect">
            <a:avLst/>
          </a:prstGeom>
        </p:spPr>
      </p:pic>
      <p:sp>
        <p:nvSpPr>
          <p:cNvPr id="16" name="Text 12"/>
          <p:cNvSpPr txBox="1"/>
          <p:nvPr/>
        </p:nvSpPr>
        <p:spPr>
          <a:xfrm>
            <a:off x="932688" y="34290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Cloud Run: serverless containers</a:t>
            </a:r>
            <a:endParaRPr lang="en-US" sz="1300" dirty="0"/>
          </a:p>
        </p:txBody>
      </p:sp>
      <p:sp>
        <p:nvSpPr>
          <p:cNvPr id="17" name="Text 13"/>
          <p:cNvSpPr txBox="1"/>
          <p:nvPr/>
        </p:nvSpPr>
        <p:spPr>
          <a:xfrm>
            <a:off x="502920" y="3886200"/>
            <a:ext cx="3840480" cy="41148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Hands you an HTTPS URL; scales to zero; you pay for the seconds it runs. The simplest way to put a container in the cloud.</a:t>
            </a:r>
            <a:endParaRPr lang="en-US" sz="1050" dirty="0"/>
          </a:p>
        </p:txBody>
      </p:sp>
      <p:sp>
        <p:nvSpPr>
          <p:cNvPr id="18" name="Shape 14"/>
          <p:cNvSpPr/>
          <p:nvPr/>
        </p:nvSpPr>
        <p:spPr>
          <a:xfrm>
            <a:off x="4663440" y="3337560"/>
            <a:ext cx="4114800" cy="1051560"/>
          </a:xfrm>
          <a:prstGeom prst="roundRect">
            <a:avLst>
              <a:gd name="adj" fmla="val 6957"/>
            </a:avLst>
          </a:prstGeom>
          <a:solidFill>
            <a:srgbClr val="F3F5F8"/>
          </a:solidFill>
          <a:ln w="12700">
            <a:solidFill>
              <a:srgbClr val="F3F5F8"/>
            </a:solidFill>
            <a:prstDash val="solid"/>
          </a:ln>
        </p:spPr>
        <p:txBody>
          <a:bodyPr/>
          <a:p/>
        </p:txBody>
      </p:sp>
      <p:sp>
        <p:nvSpPr>
          <p:cNvPr id="19" name="Shape 15"/>
          <p:cNvSpPr/>
          <p:nvPr/>
        </p:nvSpPr>
        <p:spPr>
          <a:xfrm>
            <a:off x="4800600" y="3456432"/>
            <a:ext cx="347472" cy="347472"/>
          </a:xfrm>
          <a:prstGeom prst="ellipse">
            <a:avLst/>
          </a:prstGeom>
          <a:solidFill>
            <a:srgbClr val="E07A2F"/>
          </a:solidFill>
          <a:ln w="12700">
            <a:solidFill>
              <a:srgbClr val="E07A2F"/>
            </a:solidFill>
            <a:prstDash val="solid"/>
          </a:ln>
        </p:spPr>
        <p:txBody>
          <a:bodyPr/>
          <a:p/>
        </p:txBody>
      </p:sp>
      <p:pic>
        <p:nvPicPr>
          <p:cNvPr id="20" name="Image 1" descr="preencoded.png">    </p:cNvPr>
          <p:cNvPicPr>
            <a:picLocks noChangeAspect="1"/>
          </p:cNvPicPr>
          <p:nvPr/>
        </p:nvPicPr>
        <p:blipFill>
          <a:blip r:embed="rId2"/>
          <a:stretch>
            <a:fillRect/>
          </a:stretch>
        </p:blipFill>
        <p:spPr>
          <a:xfrm>
            <a:off x="4873752" y="3529584"/>
            <a:ext cx="201168" cy="201168"/>
          </a:xfrm>
          <a:prstGeom prst="rect">
            <a:avLst/>
          </a:prstGeom>
        </p:spPr>
      </p:pic>
      <p:sp>
        <p:nvSpPr>
          <p:cNvPr id="21" name="Text 16"/>
          <p:cNvSpPr txBox="1"/>
          <p:nvPr/>
        </p:nvSpPr>
        <p:spPr>
          <a:xfrm>
            <a:off x="5230368" y="34290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GKE (Kubernetes): the scale path</a:t>
            </a:r>
            <a:endParaRPr lang="en-US" sz="1300" dirty="0"/>
          </a:p>
        </p:txBody>
      </p:sp>
      <p:sp>
        <p:nvSpPr>
          <p:cNvPr id="22" name="Text 17"/>
          <p:cNvSpPr txBox="1"/>
          <p:nvPr/>
        </p:nvSpPr>
        <p:spPr>
          <a:xfrm>
            <a:off x="4800600" y="3886200"/>
            <a:ext cx="3840480" cy="41148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Same image, more moving parts. Worth it when one service becomes many, or needs GPUs. Start on Cloud Run; move when you outgrow it.</a:t>
            </a:r>
            <a:endParaRPr lang="en-US" sz="1050" dirty="0"/>
          </a:p>
        </p:txBody>
      </p:sp>
      <p:sp>
        <p:nvSpPr>
          <p:cNvPr id="23" name="Shape 18"/>
          <p:cNvSpPr/>
          <p:nvPr/>
        </p:nvSpPr>
        <p:spPr>
          <a:xfrm>
            <a:off x="365760" y="4480560"/>
            <a:ext cx="8412480" cy="274320"/>
          </a:xfrm>
          <a:prstGeom prst="roundRect">
            <a:avLst>
              <a:gd name="adj" fmla="val 26667"/>
            </a:avLst>
          </a:prstGeom>
          <a:solidFill>
            <a:srgbClr val="E3F1F2"/>
          </a:solidFill>
          <a:ln w="12700">
            <a:solidFill>
              <a:srgbClr val="E3F1F2"/>
            </a:solidFill>
            <a:prstDash val="solid"/>
          </a:ln>
        </p:spPr>
        <p:txBody>
          <a:bodyPr/>
          <a:p/>
        </p:txBody>
      </p:sp>
      <p:pic>
        <p:nvPicPr>
          <p:cNvPr id="24" name="Image 2" descr="preencoded.png">    </p:cNvPr>
          <p:cNvPicPr>
            <a:picLocks noChangeAspect="1"/>
          </p:cNvPicPr>
          <p:nvPr/>
        </p:nvPicPr>
        <p:blipFill>
          <a:blip r:embed="rId3"/>
          <a:stretch>
            <a:fillRect/>
          </a:stretch>
        </p:blipFill>
        <p:spPr>
          <a:xfrm>
            <a:off x="502920" y="4480560"/>
            <a:ext cx="274320" cy="274320"/>
          </a:xfrm>
          <a:prstGeom prst="rect">
            <a:avLst/>
          </a:prstGeom>
        </p:spPr>
      </p:pic>
      <p:sp>
        <p:nvSpPr>
          <p:cNvPr id="25" name="Text 19"/>
          <p:cNvSpPr txBox="1"/>
          <p:nvPr/>
        </p:nvSpPr>
        <p:spPr>
          <a:xfrm>
            <a:off x="896112" y="4480560"/>
            <a:ext cx="7772400" cy="274320"/>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The public URL is where Session 3's endpoint protections live: authentication, rate limits, logging. Full walkthrough: S05/deploy_lab/deploy_to_cloud_run.md.</a:t>
            </a:r>
            <a:endParaRPr lang="en-US" sz="1000" dirty="0"/>
          </a:p>
        </p:txBody>
      </p:sp>
      <p:pic>
        <p:nvPicPr>
          <p:cNvPr id="26"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A CI workflow file is the pipeline written down</a:t>
            </a:r>
            <a:endParaRPr lang="en-US" sz="2400" dirty="0"/>
          </a:p>
        </p:txBody>
      </p:sp>
      <p:sp>
        <p:nvSpPr>
          <p:cNvPr id="7" name="Shape 4"/>
          <p:cNvSpPr/>
          <p:nvPr/>
        </p:nvSpPr>
        <p:spPr>
          <a:xfrm>
            <a:off x="365760" y="1234440"/>
            <a:ext cx="4114800" cy="3108960"/>
          </a:xfrm>
          <a:prstGeom prst="roundRect">
            <a:avLst>
              <a:gd name="adj" fmla="val 2353"/>
            </a:avLst>
          </a:prstGeom>
          <a:solidFill>
            <a:srgbClr val="F3F5F8"/>
          </a:solidFill>
          <a:ln w="12700">
            <a:solidFill>
              <a:srgbClr val="F3F5F8"/>
            </a:solidFill>
            <a:prstDash val="solid"/>
          </a:ln>
        </p:spPr>
        <p:txBody>
          <a:bodyPr/>
          <a:p/>
        </p:txBody>
      </p:sp>
      <p:sp>
        <p:nvSpPr>
          <p:cNvPr id="8" name="Text 5"/>
          <p:cNvSpPr txBox="1"/>
          <p:nvPr/>
        </p:nvSpPr>
        <p:spPr>
          <a:xfrm>
            <a:off x="502920" y="1371600"/>
            <a:ext cx="3840480" cy="2834640"/>
          </a:xfrm>
          <a:prstGeom prst="rect">
            <a:avLst/>
          </a:prstGeom>
          <a:noFill/>
          <a:ln/>
        </p:spPr>
        <p:txBody>
          <a:bodyPr wrap="square" lIns="0" tIns="0" rIns="0" bIns="0" rtlCol="0" anchor="t"/>
          <a:lstStyle/>
          <a:p>
            <a:pPr indent="0" marL="0">
              <a:buNone/>
            </a:pPr>
            <a:r>
              <a:rPr lang="en-US" sz="1000" dirty="0">
                <a:solidFill>
                  <a:srgbClr val="222222"/>
                </a:solidFill>
                <a:latin typeface="Courier New" pitchFamily="34" charset="0"/>
                <a:ea typeface="Courier New" pitchFamily="34" charset="-122"/>
                <a:cs typeface="Courier New" pitchFamily="34" charset="-120"/>
              </a:rPr>
              <a:t>name: ci</a:t>
            </a:r>
            <a:endParaRPr lang="en-US" sz="1000" dirty="0"/>
          </a:p>
          <a:p>
            <a:pPr indent="0" marL="0">
              <a:buNone/>
            </a:pPr>
            <a:r>
              <a:rPr lang="en-US" sz="1000" dirty="0">
                <a:solidFill>
                  <a:srgbClr val="222222"/>
                </a:solidFill>
                <a:latin typeface="Courier New" pitchFamily="34" charset="0"/>
                <a:ea typeface="Courier New" pitchFamily="34" charset="-122"/>
                <a:cs typeface="Courier New" pitchFamily="34" charset="-120"/>
              </a:rPr>
              <a:t>on: [push, pull_request]</a:t>
            </a:r>
            <a:endParaRPr lang="en-US" sz="1000" dirty="0"/>
          </a:p>
          <a:p>
            <a:pPr indent="0" marL="0">
              <a:buNone/>
            </a:pPr>
            <a:r>
              <a:rPr lang="en-US" sz="1000" dirty="0">
                <a:solidFill>
                  <a:srgbClr val="222222"/>
                </a:solidFill>
                <a:latin typeface="Courier New" pitchFamily="34" charset="0"/>
                <a:ea typeface="Courier New" pitchFamily="34" charset="-122"/>
                <a:cs typeface="Courier New" pitchFamily="34" charset="-120"/>
              </a:rPr>
              <a:t>jobs:</a:t>
            </a:r>
            <a:endParaRPr lang="en-US" sz="1000" dirty="0"/>
          </a:p>
          <a:p>
            <a:pPr indent="0" marL="0">
              <a:buNone/>
            </a:pPr>
            <a:r>
              <a:rPr lang="en-US" sz="1000" dirty="0">
                <a:solidFill>
                  <a:srgbClr val="222222"/>
                </a:solidFill>
                <a:latin typeface="Courier New" pitchFamily="34" charset="0"/>
                <a:ea typeface="Courier New" pitchFamily="34" charset="-122"/>
                <a:cs typeface="Courier New" pitchFamily="34" charset="-120"/>
              </a:rPr>
              <a:t>  pipeline:</a:t>
            </a:r>
            <a:endParaRPr lang="en-US" sz="1000" dirty="0"/>
          </a:p>
          <a:p>
            <a:pPr indent="0" marL="0">
              <a:buNone/>
            </a:pPr>
            <a:r>
              <a:rPr lang="en-US" sz="1000" dirty="0">
                <a:solidFill>
                  <a:srgbClr val="222222"/>
                </a:solidFill>
                <a:latin typeface="Courier New" pitchFamily="34" charset="0"/>
                <a:ea typeface="Courier New" pitchFamily="34" charset="-122"/>
                <a:cs typeface="Courier New" pitchFamily="34" charset="-120"/>
              </a:rPr>
              <a:t>    runs-on: ubuntu-latest</a:t>
            </a:r>
            <a:endParaRPr lang="en-US" sz="1000" dirty="0"/>
          </a:p>
          <a:p>
            <a:pPr indent="0" marL="0">
              <a:buNone/>
            </a:pPr>
            <a:r>
              <a:rPr lang="en-US" sz="1000" dirty="0">
                <a:solidFill>
                  <a:srgbClr val="222222"/>
                </a:solidFill>
                <a:latin typeface="Courier New" pitchFamily="34" charset="0"/>
                <a:ea typeface="Courier New" pitchFamily="34" charset="-122"/>
                <a:cs typeface="Courier New" pitchFamily="34" charset="-120"/>
              </a:rPr>
              <a:t>    steps:</a:t>
            </a:r>
            <a:endParaRPr lang="en-US" sz="1000" dirty="0"/>
          </a:p>
          <a:p>
            <a:pPr indent="0" marL="0">
              <a:buNone/>
            </a:pPr>
            <a:r>
              <a:rPr lang="en-US" sz="1000" dirty="0">
                <a:solidFill>
                  <a:srgbClr val="222222"/>
                </a:solidFill>
                <a:latin typeface="Courier New" pitchFamily="34" charset="0"/>
                <a:ea typeface="Courier New" pitchFamily="34" charset="-122"/>
                <a:cs typeface="Courier New" pitchFamily="34" charset="-120"/>
              </a:rPr>
              <a:t>      - name: Tests on code</a:t>
            </a:r>
            <a:endParaRPr lang="en-US" sz="1000" dirty="0"/>
          </a:p>
          <a:p>
            <a:pPr indent="0" marL="0">
              <a:buNone/>
            </a:pPr>
            <a:r>
              <a:rPr lang="en-US" sz="1000" dirty="0">
                <a:solidFill>
                  <a:srgbClr val="222222"/>
                </a:solidFill>
                <a:latin typeface="Courier New" pitchFamily="34" charset="0"/>
                <a:ea typeface="Courier New" pitchFamily="34" charset="-122"/>
                <a:cs typeface="Courier New" pitchFamily="34" charset="-120"/>
              </a:rPr>
              <a:t>        run: python -m pytest -q</a:t>
            </a:r>
            <a:endParaRPr lang="en-US" sz="1000" dirty="0"/>
          </a:p>
          <a:p>
            <a:pPr indent="0" marL="0">
              <a:buNone/>
            </a:pPr>
            <a:r>
              <a:rPr lang="en-US" sz="1000" dirty="0">
                <a:solidFill>
                  <a:srgbClr val="222222"/>
                </a:solidFill>
                <a:latin typeface="Courier New" pitchFamily="34" charset="0"/>
                <a:ea typeface="Courier New" pitchFamily="34" charset="-122"/>
                <a:cs typeface="Courier New" pitchFamily="34" charset="-120"/>
              </a:rPr>
              <a:t>      - name: Validate data</a:t>
            </a:r>
            <a:endParaRPr lang="en-US" sz="1000" dirty="0"/>
          </a:p>
          <a:p>
            <a:pPr indent="0" marL="0">
              <a:buNone/>
            </a:pPr>
            <a:r>
              <a:rPr lang="en-US" sz="1000" dirty="0">
                <a:solidFill>
                  <a:srgbClr val="222222"/>
                </a:solidFill>
                <a:latin typeface="Courier New" pitchFamily="34" charset="0"/>
                <a:ea typeface="Courier New" pitchFamily="34" charset="-122"/>
                <a:cs typeface="Courier New" pitchFamily="34" charset="-120"/>
              </a:rPr>
              <a:t>        run: python src/check_data.py</a:t>
            </a:r>
            <a:endParaRPr lang="en-US" sz="1000" dirty="0"/>
          </a:p>
          <a:p>
            <a:pPr indent="0" marL="0">
              <a:buNone/>
            </a:pPr>
            <a:r>
              <a:rPr lang="en-US" sz="1000" dirty="0">
                <a:solidFill>
                  <a:srgbClr val="222222"/>
                </a:solidFill>
                <a:latin typeface="Courier New" pitchFamily="34" charset="0"/>
                <a:ea typeface="Courier New" pitchFamily="34" charset="-122"/>
                <a:cs typeface="Courier New" pitchFamily="34" charset="-120"/>
              </a:rPr>
              <a:t>      - name: Train and evaluate</a:t>
            </a:r>
            <a:endParaRPr lang="en-US" sz="1000" dirty="0"/>
          </a:p>
          <a:p>
            <a:pPr indent="0" marL="0">
              <a:buNone/>
            </a:pPr>
            <a:r>
              <a:rPr lang="en-US" sz="1000" dirty="0">
                <a:solidFill>
                  <a:srgbClr val="222222"/>
                </a:solidFill>
                <a:latin typeface="Courier New" pitchFamily="34" charset="0"/>
                <a:ea typeface="Courier New" pitchFamily="34" charset="-122"/>
                <a:cs typeface="Courier New" pitchFamily="34" charset="-120"/>
              </a:rPr>
              <a:t>        run: python src/train.py</a:t>
            </a:r>
            <a:endParaRPr lang="en-US" sz="1000" dirty="0"/>
          </a:p>
        </p:txBody>
      </p:sp>
      <p:sp>
        <p:nvSpPr>
          <p:cNvPr id="9" name="Shape 6"/>
          <p:cNvSpPr/>
          <p:nvPr/>
        </p:nvSpPr>
        <p:spPr>
          <a:xfrm>
            <a:off x="4754880" y="1325880"/>
            <a:ext cx="640080" cy="640080"/>
          </a:xfrm>
          <a:prstGeom prst="ellipse">
            <a:avLst/>
          </a:prstGeom>
          <a:solidFill>
            <a:srgbClr val="0E7C86"/>
          </a:solidFill>
          <a:ln w="12700">
            <a:solidFill>
              <a:srgbClr val="0E7C86"/>
            </a:solidFill>
            <a:prstDash val="solid"/>
          </a:ln>
        </p:spPr>
        <p:txBody>
          <a:bodyPr/>
          <a:p/>
        </p:txBody>
      </p:sp>
      <p:sp>
        <p:nvSpPr>
          <p:cNvPr id="10" name="Text 7"/>
          <p:cNvSpPr txBox="1"/>
          <p:nvPr/>
        </p:nvSpPr>
        <p:spPr>
          <a:xfrm>
            <a:off x="4754880" y="1325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1" name="Text 8"/>
          <p:cNvSpPr txBox="1"/>
          <p:nvPr/>
        </p:nvSpPr>
        <p:spPr>
          <a:xfrm>
            <a:off x="5577840" y="1234440"/>
            <a:ext cx="320040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When</a:t>
            </a:r>
            <a:endParaRPr lang="en-US" sz="1600" dirty="0"/>
          </a:p>
        </p:txBody>
      </p:sp>
      <p:sp>
        <p:nvSpPr>
          <p:cNvPr id="12" name="Text 9"/>
          <p:cNvSpPr txBox="1"/>
          <p:nvPr/>
        </p:nvSpPr>
        <p:spPr>
          <a:xfrm>
            <a:off x="5577840" y="1645920"/>
            <a:ext cx="320040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On every push and pull request. Could also be a schedule or a new-data event.</a:t>
            </a:r>
            <a:endParaRPr lang="en-US" sz="1200" dirty="0"/>
          </a:p>
        </p:txBody>
      </p:sp>
      <p:sp>
        <p:nvSpPr>
          <p:cNvPr id="13" name="Shape 10"/>
          <p:cNvSpPr/>
          <p:nvPr/>
        </p:nvSpPr>
        <p:spPr>
          <a:xfrm>
            <a:off x="4754880" y="2331720"/>
            <a:ext cx="640080" cy="640080"/>
          </a:xfrm>
          <a:prstGeom prst="ellipse">
            <a:avLst/>
          </a:prstGeom>
          <a:solidFill>
            <a:srgbClr val="0E7C86"/>
          </a:solidFill>
          <a:ln w="12700">
            <a:solidFill>
              <a:srgbClr val="0E7C86"/>
            </a:solidFill>
            <a:prstDash val="solid"/>
          </a:ln>
        </p:spPr>
        <p:txBody>
          <a:bodyPr/>
          <a:p/>
        </p:txBody>
      </p:sp>
      <p:sp>
        <p:nvSpPr>
          <p:cNvPr id="14" name="Text 11"/>
          <p:cNvSpPr txBox="1"/>
          <p:nvPr/>
        </p:nvSpPr>
        <p:spPr>
          <a:xfrm>
            <a:off x="4754880" y="233172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5" name="Text 12"/>
          <p:cNvSpPr txBox="1"/>
          <p:nvPr/>
        </p:nvSpPr>
        <p:spPr>
          <a:xfrm>
            <a:off x="5577840" y="2240280"/>
            <a:ext cx="320040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Where</a:t>
            </a:r>
            <a:endParaRPr lang="en-US" sz="1600" dirty="0"/>
          </a:p>
        </p:txBody>
      </p:sp>
      <p:sp>
        <p:nvSpPr>
          <p:cNvPr id="16" name="Text 13"/>
          <p:cNvSpPr txBox="1"/>
          <p:nvPr/>
        </p:nvSpPr>
        <p:spPr>
          <a:xfrm>
            <a:off x="5577840" y="2651760"/>
            <a:ext cx="320040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 fresh machine each time: nothing left over from yesterday.</a:t>
            </a:r>
            <a:endParaRPr lang="en-US" sz="1200" dirty="0"/>
          </a:p>
        </p:txBody>
      </p:sp>
      <p:sp>
        <p:nvSpPr>
          <p:cNvPr id="17" name="Shape 14"/>
          <p:cNvSpPr/>
          <p:nvPr/>
        </p:nvSpPr>
        <p:spPr>
          <a:xfrm>
            <a:off x="4754880" y="3337560"/>
            <a:ext cx="640080" cy="640080"/>
          </a:xfrm>
          <a:prstGeom prst="ellipse">
            <a:avLst/>
          </a:prstGeom>
          <a:solidFill>
            <a:srgbClr val="0E7C86"/>
          </a:solidFill>
          <a:ln w="12700">
            <a:solidFill>
              <a:srgbClr val="0E7C86"/>
            </a:solidFill>
            <a:prstDash val="solid"/>
          </a:ln>
        </p:spPr>
        <p:txBody>
          <a:bodyPr/>
          <a:p/>
        </p:txBody>
      </p:sp>
      <p:sp>
        <p:nvSpPr>
          <p:cNvPr id="18" name="Text 15"/>
          <p:cNvSpPr txBox="1"/>
          <p:nvPr/>
        </p:nvSpPr>
        <p:spPr>
          <a:xfrm>
            <a:off x="4754880" y="33375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9" name="Text 16"/>
          <p:cNvSpPr txBox="1"/>
          <p:nvPr/>
        </p:nvSpPr>
        <p:spPr>
          <a:xfrm>
            <a:off x="5577840" y="3246120"/>
            <a:ext cx="320040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What, in order</a:t>
            </a:r>
            <a:endParaRPr lang="en-US" sz="1600" dirty="0"/>
          </a:p>
        </p:txBody>
      </p:sp>
      <p:sp>
        <p:nvSpPr>
          <p:cNvPr id="20" name="Text 17"/>
          <p:cNvSpPr txBox="1"/>
          <p:nvPr/>
        </p:nvSpPr>
        <p:spPr>
          <a:xfrm>
            <a:off x="5577840" y="3657600"/>
            <a:ext cx="320040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Named steps; the first failure stops the run. GitLab CI, Jenkins, Azure Pipelines: same idea, different file.</a:t>
            </a:r>
            <a:endParaRPr lang="en-US" sz="1200" dirty="0"/>
          </a:p>
        </p:txBody>
      </p:sp>
      <p:pic>
        <p:nvPicPr>
          <p:cNvPr id="21"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The complete pipeline in one file: trigger → test → train → deploy</a:t>
            </a:r>
            <a:endParaRPr lang="en-US" sz="2400" dirty="0"/>
          </a:p>
        </p:txBody>
      </p:sp>
      <p:sp>
        <p:nvSpPr>
          <p:cNvPr id="7" name="Text 4"/>
          <p:cNvSpPr txBox="1"/>
          <p:nvPr/>
        </p:nvSpPr>
        <p:spPr>
          <a:xfrm>
            <a:off x="365760" y="1188720"/>
            <a:ext cx="3108960" cy="274320"/>
          </a:xfrm>
          <a:prstGeom prst="rect">
            <a:avLst/>
          </a:prstGeom>
          <a:noFill/>
          <a:ln/>
        </p:spPr>
        <p:txBody>
          <a:bodyPr wrap="square" lIns="0" tIns="0" rIns="0" bIns="0" rtlCol="0" anchor="t"/>
          <a:lstStyle/>
          <a:p>
            <a:pPr algn="l" indent="0" marL="0">
              <a:buNone/>
            </a:pPr>
            <a:r>
              <a:rPr lang="en-US" sz="1200" b="1" dirty="0">
                <a:solidFill>
                  <a:srgbClr val="0E7C86"/>
                </a:solidFill>
                <a:latin typeface="Calibri" pitchFamily="34" charset="0"/>
                <a:ea typeface="Calibri" pitchFamily="34" charset="-122"/>
                <a:cs typeface="Calibri" pitchFamily="34" charset="-120"/>
              </a:rPr>
              <a:t>Three triggers</a:t>
            </a:r>
            <a:endParaRPr lang="en-US" sz="1200" dirty="0"/>
          </a:p>
        </p:txBody>
      </p:sp>
      <p:sp>
        <p:nvSpPr>
          <p:cNvPr id="8" name="Shape 5"/>
          <p:cNvSpPr/>
          <p:nvPr/>
        </p:nvSpPr>
        <p:spPr>
          <a:xfrm>
            <a:off x="365760" y="1481328"/>
            <a:ext cx="3108960" cy="1371600"/>
          </a:xfrm>
          <a:prstGeom prst="roundRect">
            <a:avLst>
              <a:gd name="adj" fmla="val 5333"/>
            </a:avLst>
          </a:prstGeom>
          <a:solidFill>
            <a:srgbClr val="F3F5F8"/>
          </a:solidFill>
          <a:ln w="12700">
            <a:solidFill>
              <a:srgbClr val="F3F5F8"/>
            </a:solidFill>
            <a:prstDash val="solid"/>
          </a:ln>
        </p:spPr>
        <p:txBody>
          <a:bodyPr/>
          <a:p/>
        </p:txBody>
      </p:sp>
      <p:sp>
        <p:nvSpPr>
          <p:cNvPr id="9" name="Text 6"/>
          <p:cNvSpPr txBox="1"/>
          <p:nvPr/>
        </p:nvSpPr>
        <p:spPr>
          <a:xfrm>
            <a:off x="502920" y="1591056"/>
            <a:ext cx="2834640" cy="1188720"/>
          </a:xfrm>
          <a:prstGeom prst="rect">
            <a:avLst/>
          </a:prstGeom>
          <a:noFill/>
          <a:ln/>
        </p:spPr>
        <p:txBody>
          <a:bodyPr wrap="square" lIns="0" tIns="0" rIns="0" bIns="0" rtlCol="0" anchor="t"/>
          <a:lstStyle/>
          <a:p>
            <a:pPr indent="0" marL="0">
              <a:buNone/>
            </a:pPr>
            <a:r>
              <a:rPr lang="en-US" sz="900" dirty="0">
                <a:solidFill>
                  <a:srgbClr val="0E7C86"/>
                </a:solidFill>
                <a:latin typeface="Courier New" pitchFamily="34" charset="0"/>
                <a:ea typeface="Courier New" pitchFamily="34" charset="-122"/>
                <a:cs typeface="Courier New" pitchFamily="34" charset="-120"/>
              </a:rPr>
              <a:t>on:</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  push: {branches: [main]}</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  schedule:</a:t>
            </a:r>
            <a:endParaRPr lang="en-US" sz="900" dirty="0"/>
          </a:p>
          <a:p>
            <a:pPr indent="0" marL="0">
              <a:buNone/>
            </a:pPr>
            <a:r>
              <a:rPr lang="en-US" sz="900" dirty="0">
                <a:solidFill>
                  <a:srgbClr val="8A3F0C"/>
                </a:solidFill>
                <a:latin typeface="Courier New" pitchFamily="34" charset="0"/>
                <a:ea typeface="Courier New" pitchFamily="34" charset="-122"/>
                <a:cs typeface="Courier New" pitchFamily="34" charset="-120"/>
              </a:rPr>
              <a:t>    - cron: "0 3 * * 1"  # weekly</a:t>
            </a:r>
            <a:endParaRPr lang="en-US" sz="900" dirty="0"/>
          </a:p>
          <a:p>
            <a:pPr indent="0" marL="0">
              <a:buNone/>
            </a:pPr>
            <a:r>
              <a:rPr lang="en-US" sz="900" dirty="0">
                <a:solidFill>
                  <a:srgbClr val="222222"/>
                </a:solidFill>
                <a:latin typeface="Courier New" pitchFamily="34" charset="0"/>
                <a:ea typeface="Courier New" pitchFamily="34" charset="-122"/>
                <a:cs typeface="Courier New" pitchFamily="34" charset="-120"/>
              </a:rPr>
              <a:t>  workflow_dispatch: {}  # button</a:t>
            </a:r>
            <a:endParaRPr lang="en-US" sz="900" dirty="0"/>
          </a:p>
        </p:txBody>
      </p:sp>
      <p:sp>
        <p:nvSpPr>
          <p:cNvPr id="10" name="Text 7"/>
          <p:cNvSpPr txBox="1"/>
          <p:nvPr/>
        </p:nvSpPr>
        <p:spPr>
          <a:xfrm>
            <a:off x="3657600" y="1188720"/>
            <a:ext cx="5120640" cy="274320"/>
          </a:xfrm>
          <a:prstGeom prst="rect">
            <a:avLst/>
          </a:prstGeom>
          <a:noFill/>
          <a:ln/>
        </p:spPr>
        <p:txBody>
          <a:bodyPr wrap="square" lIns="0" tIns="0" rIns="0" bIns="0" rtlCol="0" anchor="t"/>
          <a:lstStyle/>
          <a:p>
            <a:pPr algn="l" indent="0" marL="0">
              <a:buNone/>
            </a:pPr>
            <a:r>
              <a:rPr lang="en-US" sz="1200" b="1" dirty="0">
                <a:solidFill>
                  <a:srgbClr val="0E7C86"/>
                </a:solidFill>
                <a:latin typeface="Calibri" pitchFamily="34" charset="0"/>
                <a:ea typeface="Calibri" pitchFamily="34" charset="-122"/>
                <a:cs typeface="Calibri" pitchFamily="34" charset="-120"/>
              </a:rPr>
              <a:t>Two jobs: CI + CT, then CD</a:t>
            </a:r>
            <a:endParaRPr lang="en-US" sz="1200" dirty="0"/>
          </a:p>
        </p:txBody>
      </p:sp>
      <p:sp>
        <p:nvSpPr>
          <p:cNvPr id="11" name="Shape 8"/>
          <p:cNvSpPr/>
          <p:nvPr/>
        </p:nvSpPr>
        <p:spPr>
          <a:xfrm>
            <a:off x="3657600" y="1481328"/>
            <a:ext cx="5120640" cy="2926080"/>
          </a:xfrm>
          <a:prstGeom prst="roundRect">
            <a:avLst>
              <a:gd name="adj" fmla="val 2500"/>
            </a:avLst>
          </a:prstGeom>
          <a:solidFill>
            <a:srgbClr val="F3F5F8"/>
          </a:solidFill>
          <a:ln w="12700">
            <a:solidFill>
              <a:srgbClr val="F3F5F8"/>
            </a:solidFill>
            <a:prstDash val="solid"/>
          </a:ln>
        </p:spPr>
        <p:txBody>
          <a:bodyPr/>
          <a:p/>
        </p:txBody>
      </p:sp>
      <p:sp>
        <p:nvSpPr>
          <p:cNvPr id="12" name="Text 9"/>
          <p:cNvSpPr txBox="1"/>
          <p:nvPr/>
        </p:nvSpPr>
        <p:spPr>
          <a:xfrm>
            <a:off x="3794760" y="1591056"/>
            <a:ext cx="4846320" cy="2743200"/>
          </a:xfrm>
          <a:prstGeom prst="rect">
            <a:avLst/>
          </a:prstGeom>
          <a:noFill/>
          <a:ln/>
        </p:spPr>
        <p:txBody>
          <a:bodyPr wrap="square" lIns="0" tIns="0" rIns="0" bIns="0" rtlCol="0" anchor="t"/>
          <a:lstStyle/>
          <a:p>
            <a:pPr indent="0" marL="0">
              <a:buNone/>
            </a:pPr>
            <a:r>
              <a:rPr lang="en-US" sz="850" dirty="0">
                <a:solidFill>
                  <a:srgbClr val="0E7C86"/>
                </a:solidFill>
                <a:latin typeface="Courier New" pitchFamily="34" charset="0"/>
                <a:ea typeface="Courier New" pitchFamily="34" charset="-122"/>
                <a:cs typeface="Courier New" pitchFamily="34" charset="-120"/>
              </a:rPr>
              <a:t>jobs:</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test-train:            # Pipeline CI + Continuous Training</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steps:</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 run: python train.py       # train on latest data</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 run: pytest -q test_api.py  # the gate</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 upload-artifact: churn_model.pkl</a:t>
            </a:r>
            <a:endParaRPr lang="en-US" sz="850" dirty="0"/>
          </a:p>
          <a:p>
            <a:pPr indent="0" marL="0">
              <a:buNone/>
            </a:pPr>
            <a:endParaRPr lang="en-US" sz="850" dirty="0"/>
          </a:p>
          <a:p>
            <a:pPr indent="0" marL="0">
              <a:buNone/>
            </a:pPr>
            <a:r>
              <a:rPr lang="en-US" sz="850" dirty="0">
                <a:solidFill>
                  <a:srgbClr val="E07A2F"/>
                </a:solidFill>
                <a:latin typeface="Courier New" pitchFamily="34" charset="0"/>
                <a:ea typeface="Courier New" pitchFamily="34" charset="-122"/>
                <a:cs typeface="Courier New" pitchFamily="34" charset="-120"/>
              </a:rPr>
              <a:t>  deploy:                # Model CD</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needs: test-train</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if: github.ref == main &amp;&amp; DEPLOY_ENABLED</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steps:</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 auth to Google Cloud (repo secret)</a:t>
            </a:r>
            <a:endParaRPr lang="en-US" sz="850" dirty="0"/>
          </a:p>
          <a:p>
            <a:pPr indent="0" marL="0">
              <a:buNone/>
            </a:pPr>
            <a:r>
              <a:rPr lang="en-US" sz="850" dirty="0">
                <a:solidFill>
                  <a:srgbClr val="E07A2F"/>
                </a:solidFill>
                <a:latin typeface="Courier New" pitchFamily="34" charset="0"/>
                <a:ea typeface="Courier New" pitchFamily="34" charset="-122"/>
                <a:cs typeface="Courier New" pitchFamily="34" charset="-120"/>
              </a:rPr>
              <a:t>      - run: gcloud run deploy churn-api --source .</a:t>
            </a:r>
            <a:endParaRPr lang="en-US" sz="850" dirty="0"/>
          </a:p>
        </p:txBody>
      </p:sp>
      <p:sp>
        <p:nvSpPr>
          <p:cNvPr id="13" name="Shape 10"/>
          <p:cNvSpPr/>
          <p:nvPr/>
        </p:nvSpPr>
        <p:spPr>
          <a:xfrm>
            <a:off x="365760" y="3657600"/>
            <a:ext cx="8412480" cy="685800"/>
          </a:xfrm>
          <a:prstGeom prst="roundRect">
            <a:avLst>
              <a:gd name="adj" fmla="val 10667"/>
            </a:avLst>
          </a:prstGeom>
          <a:solidFill>
            <a:srgbClr val="E3F1F2"/>
          </a:solidFill>
          <a:ln w="12700">
            <a:solidFill>
              <a:srgbClr val="E3F1F2"/>
            </a:solidFill>
            <a:prstDash val="solid"/>
          </a:ln>
        </p:spPr>
        <p:txBody>
          <a:bodyPr/>
          <a:p/>
        </p:txBody>
      </p:sp>
      <p:pic>
        <p:nvPicPr>
          <p:cNvPr id="14" name="Image 0" descr="preencoded.png">    </p:cNvPr>
          <p:cNvPicPr>
            <a:picLocks noChangeAspect="1"/>
          </p:cNvPicPr>
          <p:nvPr/>
        </p:nvPicPr>
        <p:blipFill>
          <a:blip r:embed="rId1"/>
          <a:stretch>
            <a:fillRect/>
          </a:stretch>
        </p:blipFill>
        <p:spPr>
          <a:xfrm>
            <a:off x="502920" y="3863340"/>
            <a:ext cx="274320" cy="274320"/>
          </a:xfrm>
          <a:prstGeom prst="rect">
            <a:avLst/>
          </a:prstGeom>
        </p:spPr>
      </p:pic>
      <p:sp>
        <p:nvSpPr>
          <p:cNvPr id="15" name="Text 11"/>
          <p:cNvSpPr txBox="1"/>
          <p:nvPr/>
        </p:nvSpPr>
        <p:spPr>
          <a:xfrm>
            <a:off x="896112" y="3657600"/>
            <a:ext cx="7772400" cy="68580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The modern equivalent of the Jenkins trigger demo: one trigger, the whole pipeline runs itself, ending in a deployed service. Runnable: S05/deploy_lab/pipeline.yml (deploy job needs one GCP secret; CI runs without it).</a:t>
            </a:r>
            <a:endParaRPr lang="en-US" sz="1050" dirty="0"/>
          </a:p>
        </p:txBody>
      </p:sp>
      <p:pic>
        <p:nvPicPr>
          <p:cNvPr id="16"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Orchestration in one slide: the pipeline as a scheduled graph</a:t>
            </a:r>
            <a:endParaRPr lang="en-US" sz="2400" dirty="0"/>
          </a:p>
        </p:txBody>
      </p:sp>
      <p:sp>
        <p:nvSpPr>
          <p:cNvPr id="7" name="Shape 4"/>
          <p:cNvSpPr/>
          <p:nvPr/>
        </p:nvSpPr>
        <p:spPr>
          <a:xfrm>
            <a:off x="365760" y="1417320"/>
            <a:ext cx="1371600" cy="457200"/>
          </a:xfrm>
          <a:prstGeom prst="roundRect">
            <a:avLst>
              <a:gd name="adj" fmla="val 12000"/>
            </a:avLst>
          </a:prstGeom>
          <a:solidFill>
            <a:srgbClr val="0E7C86"/>
          </a:solidFill>
          <a:ln w="12700">
            <a:solidFill>
              <a:srgbClr val="0E7C86"/>
            </a:solidFill>
            <a:prstDash val="solid"/>
          </a:ln>
        </p:spPr>
        <p:txBody>
          <a:bodyPr/>
          <a:p/>
        </p:txBody>
      </p:sp>
      <p:sp>
        <p:nvSpPr>
          <p:cNvPr id="8" name="Text 5"/>
          <p:cNvSpPr txBox="1"/>
          <p:nvPr/>
        </p:nvSpPr>
        <p:spPr>
          <a:xfrm>
            <a:off x="365760" y="1417320"/>
            <a:ext cx="1371600" cy="457200"/>
          </a:xfrm>
          <a:prstGeom prst="rect">
            <a:avLst/>
          </a:prstGeom>
          <a:noFill/>
          <a:ln/>
        </p:spPr>
        <p:txBody>
          <a:bodyPr wrap="square" lIns="254" tIns="254" rIns="254" bIns="254"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Ingest data</a:t>
            </a:r>
            <a:endParaRPr lang="en-US" sz="950" dirty="0"/>
          </a:p>
        </p:txBody>
      </p:sp>
      <p:sp>
        <p:nvSpPr>
          <p:cNvPr id="9" name="Shape 6"/>
          <p:cNvSpPr/>
          <p:nvPr/>
        </p:nvSpPr>
        <p:spPr>
          <a:xfrm>
            <a:off x="1755648" y="1645920"/>
            <a:ext cx="320040" cy="0"/>
          </a:xfrm>
          <a:prstGeom prst="line">
            <a:avLst/>
          </a:prstGeom>
          <a:noFill/>
          <a:ln w="19050">
            <a:solidFill>
              <a:srgbClr val="0E7C86"/>
            </a:solidFill>
            <a:prstDash val="solid"/>
            <a:tailEnd type="triangle"/>
          </a:ln>
        </p:spPr>
        <p:txBody>
          <a:bodyPr/>
          <a:p/>
        </p:txBody>
      </p:sp>
      <p:sp>
        <p:nvSpPr>
          <p:cNvPr id="10" name="Shape 7"/>
          <p:cNvSpPr/>
          <p:nvPr/>
        </p:nvSpPr>
        <p:spPr>
          <a:xfrm>
            <a:off x="2103120" y="1051560"/>
            <a:ext cx="1371600" cy="457200"/>
          </a:xfrm>
          <a:prstGeom prst="roundRect">
            <a:avLst>
              <a:gd name="adj" fmla="val 12000"/>
            </a:avLst>
          </a:prstGeom>
          <a:solidFill>
            <a:srgbClr val="F3F5F8"/>
          </a:solidFill>
          <a:ln w="12700">
            <a:solidFill>
              <a:srgbClr val="F3F5F8"/>
            </a:solidFill>
            <a:prstDash val="solid"/>
          </a:ln>
        </p:spPr>
        <p:txBody>
          <a:bodyPr/>
          <a:p/>
        </p:txBody>
      </p:sp>
      <p:sp>
        <p:nvSpPr>
          <p:cNvPr id="11" name="Text 8"/>
          <p:cNvSpPr txBox="1"/>
          <p:nvPr/>
        </p:nvSpPr>
        <p:spPr>
          <a:xfrm>
            <a:off x="2103120" y="1051560"/>
            <a:ext cx="1371600" cy="457200"/>
          </a:xfrm>
          <a:prstGeom prst="rect">
            <a:avLst/>
          </a:prstGeom>
          <a:noFill/>
          <a:ln/>
        </p:spPr>
        <p:txBody>
          <a:bodyPr wrap="square" lIns="254" tIns="254" rIns="254" bIns="254" rtlCol="0" anchor="ctr"/>
          <a:lstStyle/>
          <a:p>
            <a:pPr algn="ctr" indent="0" marL="0">
              <a:buNone/>
            </a:pPr>
            <a:r>
              <a:rPr lang="en-US" sz="950" b="1" dirty="0">
                <a:solidFill>
                  <a:srgbClr val="1B2A4A"/>
                </a:solidFill>
                <a:latin typeface="Calibri" pitchFamily="34" charset="0"/>
                <a:ea typeface="Calibri" pitchFamily="34" charset="-122"/>
                <a:cs typeface="Calibri" pitchFamily="34" charset="-120"/>
              </a:rPr>
              <a:t>Validate A</a:t>
            </a:r>
            <a:endParaRPr lang="en-US" sz="950" dirty="0"/>
          </a:p>
        </p:txBody>
      </p:sp>
      <p:sp>
        <p:nvSpPr>
          <p:cNvPr id="12" name="Shape 9"/>
          <p:cNvSpPr/>
          <p:nvPr/>
        </p:nvSpPr>
        <p:spPr>
          <a:xfrm>
            <a:off x="2103120" y="1783080"/>
            <a:ext cx="1371600" cy="457200"/>
          </a:xfrm>
          <a:prstGeom prst="roundRect">
            <a:avLst>
              <a:gd name="adj" fmla="val 12000"/>
            </a:avLst>
          </a:prstGeom>
          <a:solidFill>
            <a:srgbClr val="F3F5F8"/>
          </a:solidFill>
          <a:ln w="12700">
            <a:solidFill>
              <a:srgbClr val="F3F5F8"/>
            </a:solidFill>
            <a:prstDash val="solid"/>
          </a:ln>
        </p:spPr>
        <p:txBody>
          <a:bodyPr/>
          <a:p/>
        </p:txBody>
      </p:sp>
      <p:sp>
        <p:nvSpPr>
          <p:cNvPr id="13" name="Text 10"/>
          <p:cNvSpPr txBox="1"/>
          <p:nvPr/>
        </p:nvSpPr>
        <p:spPr>
          <a:xfrm>
            <a:off x="2103120" y="1783080"/>
            <a:ext cx="1371600" cy="457200"/>
          </a:xfrm>
          <a:prstGeom prst="rect">
            <a:avLst/>
          </a:prstGeom>
          <a:noFill/>
          <a:ln/>
        </p:spPr>
        <p:txBody>
          <a:bodyPr wrap="square" lIns="254" tIns="254" rIns="254" bIns="254" rtlCol="0" anchor="ctr"/>
          <a:lstStyle/>
          <a:p>
            <a:pPr algn="ctr" indent="0" marL="0">
              <a:buNone/>
            </a:pPr>
            <a:r>
              <a:rPr lang="en-US" sz="950" b="1" dirty="0">
                <a:solidFill>
                  <a:srgbClr val="1B2A4A"/>
                </a:solidFill>
                <a:latin typeface="Calibri" pitchFamily="34" charset="0"/>
                <a:ea typeface="Calibri" pitchFamily="34" charset="-122"/>
                <a:cs typeface="Calibri" pitchFamily="34" charset="-120"/>
              </a:rPr>
              <a:t>Validate B</a:t>
            </a:r>
            <a:endParaRPr lang="en-US" sz="950" dirty="0"/>
          </a:p>
        </p:txBody>
      </p:sp>
      <p:sp>
        <p:nvSpPr>
          <p:cNvPr id="14" name="Shape 11"/>
          <p:cNvSpPr/>
          <p:nvPr/>
        </p:nvSpPr>
        <p:spPr>
          <a:xfrm>
            <a:off x="3493008" y="1280160"/>
            <a:ext cx="320040" cy="256032"/>
          </a:xfrm>
          <a:prstGeom prst="line">
            <a:avLst/>
          </a:prstGeom>
          <a:noFill/>
          <a:ln w="19050">
            <a:solidFill>
              <a:srgbClr val="0E7C86"/>
            </a:solidFill>
            <a:prstDash val="solid"/>
            <a:tailEnd type="triangle"/>
          </a:ln>
        </p:spPr>
        <p:txBody>
          <a:bodyPr/>
          <a:p/>
        </p:txBody>
      </p:sp>
      <p:sp>
        <p:nvSpPr>
          <p:cNvPr id="15" name="Shape 12"/>
          <p:cNvSpPr/>
          <p:nvPr/>
        </p:nvSpPr>
        <p:spPr>
          <a:xfrm flipV="1">
            <a:off x="3493008" y="1755648"/>
            <a:ext cx="320040" cy="256032"/>
          </a:xfrm>
          <a:prstGeom prst="line">
            <a:avLst/>
          </a:prstGeom>
          <a:noFill/>
          <a:ln w="19050">
            <a:solidFill>
              <a:srgbClr val="0E7C86"/>
            </a:solidFill>
            <a:prstDash val="solid"/>
            <a:tailEnd type="triangle"/>
          </a:ln>
        </p:spPr>
        <p:txBody>
          <a:bodyPr/>
          <a:p/>
        </p:txBody>
      </p:sp>
      <p:sp>
        <p:nvSpPr>
          <p:cNvPr id="16" name="Shape 13"/>
          <p:cNvSpPr/>
          <p:nvPr/>
        </p:nvSpPr>
        <p:spPr>
          <a:xfrm>
            <a:off x="3886200" y="1417320"/>
            <a:ext cx="1371600" cy="457200"/>
          </a:xfrm>
          <a:prstGeom prst="roundRect">
            <a:avLst>
              <a:gd name="adj" fmla="val 12000"/>
            </a:avLst>
          </a:prstGeom>
          <a:solidFill>
            <a:srgbClr val="0E7C86"/>
          </a:solidFill>
          <a:ln w="12700">
            <a:solidFill>
              <a:srgbClr val="0E7C86"/>
            </a:solidFill>
            <a:prstDash val="solid"/>
          </a:ln>
        </p:spPr>
        <p:txBody>
          <a:bodyPr/>
          <a:p/>
        </p:txBody>
      </p:sp>
      <p:sp>
        <p:nvSpPr>
          <p:cNvPr id="17" name="Text 14"/>
          <p:cNvSpPr txBox="1"/>
          <p:nvPr/>
        </p:nvSpPr>
        <p:spPr>
          <a:xfrm>
            <a:off x="3886200" y="1417320"/>
            <a:ext cx="1371600" cy="457200"/>
          </a:xfrm>
          <a:prstGeom prst="rect">
            <a:avLst/>
          </a:prstGeom>
          <a:noFill/>
          <a:ln/>
        </p:spPr>
        <p:txBody>
          <a:bodyPr wrap="square" lIns="254" tIns="254" rIns="254" bIns="254"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Train</a:t>
            </a:r>
            <a:endParaRPr lang="en-US" sz="950" dirty="0"/>
          </a:p>
        </p:txBody>
      </p:sp>
      <p:sp>
        <p:nvSpPr>
          <p:cNvPr id="18" name="Shape 15"/>
          <p:cNvSpPr/>
          <p:nvPr/>
        </p:nvSpPr>
        <p:spPr>
          <a:xfrm>
            <a:off x="5276088" y="1645920"/>
            <a:ext cx="320040" cy="0"/>
          </a:xfrm>
          <a:prstGeom prst="line">
            <a:avLst/>
          </a:prstGeom>
          <a:noFill/>
          <a:ln w="19050">
            <a:solidFill>
              <a:srgbClr val="0E7C86"/>
            </a:solidFill>
            <a:prstDash val="solid"/>
            <a:tailEnd type="triangle"/>
          </a:ln>
        </p:spPr>
        <p:txBody>
          <a:bodyPr/>
          <a:p/>
        </p:txBody>
      </p:sp>
      <p:sp>
        <p:nvSpPr>
          <p:cNvPr id="19" name="Shape 16"/>
          <p:cNvSpPr/>
          <p:nvPr/>
        </p:nvSpPr>
        <p:spPr>
          <a:xfrm>
            <a:off x="5623560" y="1417320"/>
            <a:ext cx="1371600" cy="457200"/>
          </a:xfrm>
          <a:prstGeom prst="roundRect">
            <a:avLst>
              <a:gd name="adj" fmla="val 12000"/>
            </a:avLst>
          </a:prstGeom>
          <a:solidFill>
            <a:srgbClr val="0E7C86"/>
          </a:solidFill>
          <a:ln w="12700">
            <a:solidFill>
              <a:srgbClr val="0E7C86"/>
            </a:solidFill>
            <a:prstDash val="solid"/>
          </a:ln>
        </p:spPr>
        <p:txBody>
          <a:bodyPr/>
          <a:p/>
        </p:txBody>
      </p:sp>
      <p:sp>
        <p:nvSpPr>
          <p:cNvPr id="20" name="Text 17"/>
          <p:cNvSpPr txBox="1"/>
          <p:nvPr/>
        </p:nvSpPr>
        <p:spPr>
          <a:xfrm>
            <a:off x="5623560" y="1417320"/>
            <a:ext cx="1371600" cy="457200"/>
          </a:xfrm>
          <a:prstGeom prst="rect">
            <a:avLst/>
          </a:prstGeom>
          <a:noFill/>
          <a:ln/>
        </p:spPr>
        <p:txBody>
          <a:bodyPr wrap="square" lIns="254" tIns="254" rIns="254" bIns="254"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Evaluate</a:t>
            </a:r>
            <a:endParaRPr lang="en-US" sz="950" dirty="0"/>
          </a:p>
        </p:txBody>
      </p:sp>
      <p:sp>
        <p:nvSpPr>
          <p:cNvPr id="21" name="Shape 18"/>
          <p:cNvSpPr/>
          <p:nvPr/>
        </p:nvSpPr>
        <p:spPr>
          <a:xfrm>
            <a:off x="7013448" y="1645920"/>
            <a:ext cx="320040" cy="0"/>
          </a:xfrm>
          <a:prstGeom prst="line">
            <a:avLst/>
          </a:prstGeom>
          <a:noFill/>
          <a:ln w="19050">
            <a:solidFill>
              <a:srgbClr val="0E7C86"/>
            </a:solidFill>
            <a:prstDash val="solid"/>
            <a:tailEnd type="triangle"/>
          </a:ln>
        </p:spPr>
        <p:txBody>
          <a:bodyPr/>
          <a:p/>
        </p:txBody>
      </p:sp>
      <p:sp>
        <p:nvSpPr>
          <p:cNvPr id="22" name="Shape 19"/>
          <p:cNvSpPr/>
          <p:nvPr/>
        </p:nvSpPr>
        <p:spPr>
          <a:xfrm>
            <a:off x="7360920" y="1417320"/>
            <a:ext cx="1371600" cy="457200"/>
          </a:xfrm>
          <a:prstGeom prst="roundRect">
            <a:avLst>
              <a:gd name="adj" fmla="val 12000"/>
            </a:avLst>
          </a:prstGeom>
          <a:solidFill>
            <a:srgbClr val="E07A2F"/>
          </a:solidFill>
          <a:ln w="12700">
            <a:solidFill>
              <a:srgbClr val="E07A2F"/>
            </a:solidFill>
            <a:prstDash val="solid"/>
          </a:ln>
        </p:spPr>
        <p:txBody>
          <a:bodyPr/>
          <a:p/>
        </p:txBody>
      </p:sp>
      <p:sp>
        <p:nvSpPr>
          <p:cNvPr id="23" name="Text 20"/>
          <p:cNvSpPr txBox="1"/>
          <p:nvPr/>
        </p:nvSpPr>
        <p:spPr>
          <a:xfrm>
            <a:off x="7360920" y="1417320"/>
            <a:ext cx="1371600" cy="457200"/>
          </a:xfrm>
          <a:prstGeom prst="rect">
            <a:avLst/>
          </a:prstGeom>
          <a:noFill/>
          <a:ln/>
        </p:spPr>
        <p:txBody>
          <a:bodyPr wrap="square" lIns="254" tIns="254" rIns="254" bIns="254"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Deploy</a:t>
            </a:r>
            <a:endParaRPr lang="en-US" sz="950" dirty="0"/>
          </a:p>
        </p:txBody>
      </p:sp>
      <p:sp>
        <p:nvSpPr>
          <p:cNvPr id="24" name="Text 21"/>
          <p:cNvSpPr txBox="1"/>
          <p:nvPr/>
        </p:nvSpPr>
        <p:spPr>
          <a:xfrm>
            <a:off x="365760" y="2423160"/>
            <a:ext cx="8412480" cy="274320"/>
          </a:xfrm>
          <a:prstGeom prst="rect">
            <a:avLst/>
          </a:prstGeom>
          <a:noFill/>
          <a:ln/>
        </p:spPr>
        <p:txBody>
          <a:bodyPr wrap="square" lIns="0" tIns="0" rIns="0" bIns="0" rtlCol="0" anchor="t"/>
          <a:lstStyle/>
          <a:p>
            <a:pPr algn="ctr" indent="0" marL="0">
              <a:buNone/>
            </a:pPr>
            <a:r>
              <a:rPr lang="en-US" sz="1000" i="1" dirty="0">
                <a:solidFill>
                  <a:srgbClr val="6B7280"/>
                </a:solidFill>
                <a:latin typeface="Calibri" pitchFamily="34" charset="0"/>
                <a:ea typeface="Calibri" pitchFamily="34" charset="-122"/>
                <a:cs typeface="Calibri" pitchFamily="34" charset="-120"/>
              </a:rPr>
              <a:t>A DAG: tasks with dependencies, run and watched by a scheduler</a:t>
            </a:r>
            <a:endParaRPr lang="en-US" sz="1000" dirty="0"/>
          </a:p>
        </p:txBody>
      </p:sp>
      <p:sp>
        <p:nvSpPr>
          <p:cNvPr id="25" name="Shape 22"/>
          <p:cNvSpPr/>
          <p:nvPr/>
        </p:nvSpPr>
        <p:spPr>
          <a:xfrm>
            <a:off x="365760" y="2880360"/>
            <a:ext cx="2743200" cy="1234440"/>
          </a:xfrm>
          <a:prstGeom prst="roundRect">
            <a:avLst>
              <a:gd name="adj" fmla="val 5926"/>
            </a:avLst>
          </a:prstGeom>
          <a:solidFill>
            <a:srgbClr val="F3F5F8"/>
          </a:solidFill>
          <a:ln w="12700">
            <a:solidFill>
              <a:srgbClr val="F3F5F8"/>
            </a:solidFill>
            <a:prstDash val="solid"/>
          </a:ln>
        </p:spPr>
        <p:txBody>
          <a:bodyPr/>
          <a:p/>
        </p:txBody>
      </p:sp>
      <p:sp>
        <p:nvSpPr>
          <p:cNvPr id="26" name="Shape 23"/>
          <p:cNvSpPr/>
          <p:nvPr/>
        </p:nvSpPr>
        <p:spPr>
          <a:xfrm>
            <a:off x="502920" y="2999232"/>
            <a:ext cx="347472" cy="347472"/>
          </a:xfrm>
          <a:prstGeom prst="ellipse">
            <a:avLst/>
          </a:prstGeom>
          <a:solidFill>
            <a:srgbClr val="0E7C86"/>
          </a:solidFill>
          <a:ln w="12700">
            <a:solidFill>
              <a:srgbClr val="0E7C86"/>
            </a:solidFill>
            <a:prstDash val="solid"/>
          </a:ln>
        </p:spPr>
        <p:txBody>
          <a:bodyPr/>
          <a:p/>
        </p:txBody>
      </p:sp>
      <p:pic>
        <p:nvPicPr>
          <p:cNvPr id="27" name="Image 0" descr="preencoded.png">    </p:cNvPr>
          <p:cNvPicPr>
            <a:picLocks noChangeAspect="1"/>
          </p:cNvPicPr>
          <p:nvPr/>
        </p:nvPicPr>
        <p:blipFill>
          <a:blip r:embed="rId1"/>
          <a:stretch>
            <a:fillRect/>
          </a:stretch>
        </p:blipFill>
        <p:spPr>
          <a:xfrm>
            <a:off x="576072" y="3072384"/>
            <a:ext cx="201168" cy="201168"/>
          </a:xfrm>
          <a:prstGeom prst="rect">
            <a:avLst/>
          </a:prstGeom>
        </p:spPr>
      </p:pic>
      <p:sp>
        <p:nvSpPr>
          <p:cNvPr id="28" name="Text 24"/>
          <p:cNvSpPr txBox="1"/>
          <p:nvPr/>
        </p:nvSpPr>
        <p:spPr>
          <a:xfrm>
            <a:off x="932688" y="2971800"/>
            <a:ext cx="20574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Apache Airflow</a:t>
            </a:r>
            <a:endParaRPr lang="en-US" sz="1300" dirty="0"/>
          </a:p>
        </p:txBody>
      </p:sp>
      <p:sp>
        <p:nvSpPr>
          <p:cNvPr id="29" name="Text 25"/>
          <p:cNvSpPr txBox="1"/>
          <p:nvPr/>
        </p:nvSpPr>
        <p:spPr>
          <a:xfrm>
            <a:off x="502920" y="3429000"/>
            <a:ext cx="2468880" cy="59436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The general-purpose workhorse. Write the DAG in Python; a scheduler runs it. Data and ML pipelines everywhere.</a:t>
            </a:r>
            <a:endParaRPr lang="en-US" sz="1050" dirty="0"/>
          </a:p>
        </p:txBody>
      </p:sp>
      <p:sp>
        <p:nvSpPr>
          <p:cNvPr id="30" name="Shape 26"/>
          <p:cNvSpPr/>
          <p:nvPr/>
        </p:nvSpPr>
        <p:spPr>
          <a:xfrm>
            <a:off x="3200400" y="2880360"/>
            <a:ext cx="2743200" cy="1234440"/>
          </a:xfrm>
          <a:prstGeom prst="roundRect">
            <a:avLst>
              <a:gd name="adj" fmla="val 5926"/>
            </a:avLst>
          </a:prstGeom>
          <a:solidFill>
            <a:srgbClr val="F3F5F8"/>
          </a:solidFill>
          <a:ln w="12700">
            <a:solidFill>
              <a:srgbClr val="F3F5F8"/>
            </a:solidFill>
            <a:prstDash val="solid"/>
          </a:ln>
        </p:spPr>
        <p:txBody>
          <a:bodyPr/>
          <a:p/>
        </p:txBody>
      </p:sp>
      <p:sp>
        <p:nvSpPr>
          <p:cNvPr id="31" name="Shape 27"/>
          <p:cNvSpPr/>
          <p:nvPr/>
        </p:nvSpPr>
        <p:spPr>
          <a:xfrm>
            <a:off x="3337560" y="2999232"/>
            <a:ext cx="347472" cy="347472"/>
          </a:xfrm>
          <a:prstGeom prst="ellipse">
            <a:avLst/>
          </a:prstGeom>
          <a:solidFill>
            <a:srgbClr val="0E7C86"/>
          </a:solidFill>
          <a:ln w="12700">
            <a:solidFill>
              <a:srgbClr val="0E7C86"/>
            </a:solidFill>
            <a:prstDash val="solid"/>
          </a:ln>
        </p:spPr>
        <p:txBody>
          <a:bodyPr/>
          <a:p/>
        </p:txBody>
      </p:sp>
      <p:pic>
        <p:nvPicPr>
          <p:cNvPr id="32" name="Image 1" descr="preencoded.png">    </p:cNvPr>
          <p:cNvPicPr>
            <a:picLocks noChangeAspect="1"/>
          </p:cNvPicPr>
          <p:nvPr/>
        </p:nvPicPr>
        <p:blipFill>
          <a:blip r:embed="rId2"/>
          <a:stretch>
            <a:fillRect/>
          </a:stretch>
        </p:blipFill>
        <p:spPr>
          <a:xfrm>
            <a:off x="3410712" y="3072384"/>
            <a:ext cx="201168" cy="201168"/>
          </a:xfrm>
          <a:prstGeom prst="rect">
            <a:avLst/>
          </a:prstGeom>
        </p:spPr>
      </p:pic>
      <p:sp>
        <p:nvSpPr>
          <p:cNvPr id="33" name="Text 28"/>
          <p:cNvSpPr txBox="1"/>
          <p:nvPr/>
        </p:nvSpPr>
        <p:spPr>
          <a:xfrm>
            <a:off x="3767328" y="2971800"/>
            <a:ext cx="20574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Kubeflow Pipelines</a:t>
            </a:r>
            <a:endParaRPr lang="en-US" sz="1300" dirty="0"/>
          </a:p>
        </p:txBody>
      </p:sp>
      <p:sp>
        <p:nvSpPr>
          <p:cNvPr id="34" name="Text 29"/>
          <p:cNvSpPr txBox="1"/>
          <p:nvPr/>
        </p:nvSpPr>
        <p:spPr>
          <a:xfrm>
            <a:off x="3337560" y="3429000"/>
            <a:ext cx="2468880" cy="59436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ML-specific; each step is a container on Kubernetes. Strong when you already run Kubernetes.</a:t>
            </a:r>
            <a:endParaRPr lang="en-US" sz="1050" dirty="0"/>
          </a:p>
        </p:txBody>
      </p:sp>
      <p:sp>
        <p:nvSpPr>
          <p:cNvPr id="35" name="Shape 30"/>
          <p:cNvSpPr/>
          <p:nvPr/>
        </p:nvSpPr>
        <p:spPr>
          <a:xfrm>
            <a:off x="6035040" y="2880360"/>
            <a:ext cx="2743200" cy="1234440"/>
          </a:xfrm>
          <a:prstGeom prst="roundRect">
            <a:avLst>
              <a:gd name="adj" fmla="val 5926"/>
            </a:avLst>
          </a:prstGeom>
          <a:solidFill>
            <a:srgbClr val="F3F5F8"/>
          </a:solidFill>
          <a:ln w="12700">
            <a:solidFill>
              <a:srgbClr val="F3F5F8"/>
            </a:solidFill>
            <a:prstDash val="solid"/>
          </a:ln>
        </p:spPr>
        <p:txBody>
          <a:bodyPr/>
          <a:p/>
        </p:txBody>
      </p:sp>
      <p:sp>
        <p:nvSpPr>
          <p:cNvPr id="36" name="Shape 31"/>
          <p:cNvSpPr/>
          <p:nvPr/>
        </p:nvSpPr>
        <p:spPr>
          <a:xfrm>
            <a:off x="6172200" y="2999232"/>
            <a:ext cx="347472" cy="347472"/>
          </a:xfrm>
          <a:prstGeom prst="ellipse">
            <a:avLst/>
          </a:prstGeom>
          <a:solidFill>
            <a:srgbClr val="E07A2F"/>
          </a:solidFill>
          <a:ln w="12700">
            <a:solidFill>
              <a:srgbClr val="E07A2F"/>
            </a:solidFill>
            <a:prstDash val="solid"/>
          </a:ln>
        </p:spPr>
        <p:txBody>
          <a:bodyPr/>
          <a:p/>
        </p:txBody>
      </p:sp>
      <p:pic>
        <p:nvPicPr>
          <p:cNvPr id="37" name="Image 2" descr="preencoded.png">    </p:cNvPr>
          <p:cNvPicPr>
            <a:picLocks noChangeAspect="1"/>
          </p:cNvPicPr>
          <p:nvPr/>
        </p:nvPicPr>
        <p:blipFill>
          <a:blip r:embed="rId3"/>
          <a:stretch>
            <a:fillRect/>
          </a:stretch>
        </p:blipFill>
        <p:spPr>
          <a:xfrm>
            <a:off x="6245352" y="3072384"/>
            <a:ext cx="201168" cy="201168"/>
          </a:xfrm>
          <a:prstGeom prst="rect">
            <a:avLst/>
          </a:prstGeom>
        </p:spPr>
      </p:pic>
      <p:sp>
        <p:nvSpPr>
          <p:cNvPr id="38" name="Text 32"/>
          <p:cNvSpPr txBox="1"/>
          <p:nvPr/>
        </p:nvSpPr>
        <p:spPr>
          <a:xfrm>
            <a:off x="6601968" y="2971800"/>
            <a:ext cx="20574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Managed pipelines</a:t>
            </a:r>
            <a:endParaRPr lang="en-US" sz="1300" dirty="0"/>
          </a:p>
        </p:txBody>
      </p:sp>
      <p:sp>
        <p:nvSpPr>
          <p:cNvPr id="39" name="Text 33"/>
          <p:cNvSpPr txBox="1"/>
          <p:nvPr/>
        </p:nvSpPr>
        <p:spPr>
          <a:xfrm>
            <a:off x="6172200" y="3429000"/>
            <a:ext cx="2468880" cy="59436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Vertex AI, SageMaker, Azure ML Pipelines: the same idea without running the orchestrator yourself.</a:t>
            </a:r>
            <a:endParaRPr lang="en-US" sz="1050" dirty="0"/>
          </a:p>
        </p:txBody>
      </p:sp>
      <p:sp>
        <p:nvSpPr>
          <p:cNvPr id="40" name="Shape 34"/>
          <p:cNvSpPr/>
          <p:nvPr/>
        </p:nvSpPr>
        <p:spPr>
          <a:xfrm>
            <a:off x="365760" y="4251960"/>
            <a:ext cx="8412480" cy="411480"/>
          </a:xfrm>
          <a:prstGeom prst="roundRect">
            <a:avLst>
              <a:gd name="adj" fmla="val 17778"/>
            </a:avLst>
          </a:prstGeom>
          <a:solidFill>
            <a:srgbClr val="E3F1F2"/>
          </a:solidFill>
          <a:ln w="12700">
            <a:solidFill>
              <a:srgbClr val="E3F1F2"/>
            </a:solidFill>
            <a:prstDash val="solid"/>
          </a:ln>
        </p:spPr>
        <p:txBody>
          <a:bodyPr/>
          <a:p/>
        </p:txBody>
      </p:sp>
      <p:pic>
        <p:nvPicPr>
          <p:cNvPr id="41" name="Image 3" descr="preencoded.png">    </p:cNvPr>
          <p:cNvPicPr>
            <a:picLocks noChangeAspect="1"/>
          </p:cNvPicPr>
          <p:nvPr/>
        </p:nvPicPr>
        <p:blipFill>
          <a:blip r:embed="rId4"/>
          <a:stretch>
            <a:fillRect/>
          </a:stretch>
        </p:blipFill>
        <p:spPr>
          <a:xfrm>
            <a:off x="502920" y="4320540"/>
            <a:ext cx="274320" cy="274320"/>
          </a:xfrm>
          <a:prstGeom prst="rect">
            <a:avLst/>
          </a:prstGeom>
        </p:spPr>
      </p:pic>
      <p:sp>
        <p:nvSpPr>
          <p:cNvPr id="42" name="Text 35"/>
          <p:cNvSpPr txBox="1"/>
          <p:nvPr/>
        </p:nvSpPr>
        <p:spPr>
          <a:xfrm>
            <a:off x="896112" y="4251960"/>
            <a:ext cx="7772400" cy="41148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You do not need one for this course; know the category exists. The rule: a CI tool automates a linear pipeline; an orchestrator manages a pipeline that has become a graph.</a:t>
            </a:r>
            <a:endParaRPr lang="en-US" sz="1050" dirty="0"/>
          </a:p>
        </p:txBody>
      </p:sp>
      <p:pic>
        <p:nvPicPr>
          <p:cNvPr id="43"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5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Deploying a model as a serverless function, in five steps</a:t>
            </a:r>
            <a:endParaRPr lang="en-US" sz="2400" dirty="0"/>
          </a:p>
        </p:txBody>
      </p:sp>
      <p:sp>
        <p:nvSpPr>
          <p:cNvPr id="7" name="Shape 4"/>
          <p:cNvSpPr/>
          <p:nvPr/>
        </p:nvSpPr>
        <p:spPr>
          <a:xfrm>
            <a:off x="365760" y="1371600"/>
            <a:ext cx="1728216" cy="731520"/>
          </a:xfrm>
          <a:prstGeom prst="chevron">
            <a:avLst/>
          </a:prstGeom>
          <a:solidFill>
            <a:srgbClr val="1B2A4A"/>
          </a:solidFill>
          <a:ln w="12700">
            <a:solidFill>
              <a:srgbClr val="FFFFFF"/>
            </a:solidFill>
            <a:prstDash val="solid"/>
          </a:ln>
        </p:spPr>
        <p:txBody>
          <a:bodyPr/>
          <a:p/>
        </p:txBody>
      </p:sp>
      <p:sp>
        <p:nvSpPr>
          <p:cNvPr id="8" name="Text 5"/>
          <p:cNvSpPr txBox="1"/>
          <p:nvPr/>
        </p:nvSpPr>
        <p:spPr>
          <a:xfrm>
            <a:off x="502920" y="1371600"/>
            <a:ext cx="1499616"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Build the image</a:t>
            </a:r>
            <a:endParaRPr lang="en-US" sz="1100" dirty="0"/>
          </a:p>
        </p:txBody>
      </p:sp>
      <p:sp>
        <p:nvSpPr>
          <p:cNvPr id="9" name="Shape 6"/>
          <p:cNvSpPr/>
          <p:nvPr/>
        </p:nvSpPr>
        <p:spPr>
          <a:xfrm>
            <a:off x="2048256" y="1371600"/>
            <a:ext cx="1728216" cy="731520"/>
          </a:xfrm>
          <a:prstGeom prst="chevron">
            <a:avLst/>
          </a:prstGeom>
          <a:solidFill>
            <a:srgbClr val="0E7C86"/>
          </a:solidFill>
          <a:ln w="12700">
            <a:solidFill>
              <a:srgbClr val="FFFFFF"/>
            </a:solidFill>
            <a:prstDash val="solid"/>
          </a:ln>
        </p:spPr>
        <p:txBody>
          <a:bodyPr/>
          <a:p/>
        </p:txBody>
      </p:sp>
      <p:sp>
        <p:nvSpPr>
          <p:cNvPr id="10" name="Text 7"/>
          <p:cNvSpPr txBox="1"/>
          <p:nvPr/>
        </p:nvSpPr>
        <p:spPr>
          <a:xfrm>
            <a:off x="2185416" y="1371600"/>
            <a:ext cx="1499616"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Push to the registry</a:t>
            </a:r>
            <a:endParaRPr lang="en-US" sz="1100" dirty="0"/>
          </a:p>
        </p:txBody>
      </p:sp>
      <p:sp>
        <p:nvSpPr>
          <p:cNvPr id="11" name="Shape 8"/>
          <p:cNvSpPr/>
          <p:nvPr/>
        </p:nvSpPr>
        <p:spPr>
          <a:xfrm>
            <a:off x="3730752" y="1371600"/>
            <a:ext cx="1728216" cy="731520"/>
          </a:xfrm>
          <a:prstGeom prst="chevron">
            <a:avLst/>
          </a:prstGeom>
          <a:solidFill>
            <a:srgbClr val="1B2A4A"/>
          </a:solidFill>
          <a:ln w="12700">
            <a:solidFill>
              <a:srgbClr val="FFFFFF"/>
            </a:solidFill>
            <a:prstDash val="solid"/>
          </a:ln>
        </p:spPr>
        <p:txBody>
          <a:bodyPr/>
          <a:p/>
        </p:txBody>
      </p:sp>
      <p:sp>
        <p:nvSpPr>
          <p:cNvPr id="12" name="Text 9"/>
          <p:cNvSpPr txBox="1"/>
          <p:nvPr/>
        </p:nvSpPr>
        <p:spPr>
          <a:xfrm>
            <a:off x="3867912" y="1371600"/>
            <a:ext cx="1499616"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Create the function</a:t>
            </a:r>
            <a:endParaRPr lang="en-US" sz="1100" dirty="0"/>
          </a:p>
        </p:txBody>
      </p:sp>
      <p:sp>
        <p:nvSpPr>
          <p:cNvPr id="13" name="Shape 10"/>
          <p:cNvSpPr/>
          <p:nvPr/>
        </p:nvSpPr>
        <p:spPr>
          <a:xfrm>
            <a:off x="5413248" y="1371600"/>
            <a:ext cx="1728216" cy="731520"/>
          </a:xfrm>
          <a:prstGeom prst="chevron">
            <a:avLst/>
          </a:prstGeom>
          <a:solidFill>
            <a:srgbClr val="0E7C86"/>
          </a:solidFill>
          <a:ln w="12700">
            <a:solidFill>
              <a:srgbClr val="FFFFFF"/>
            </a:solidFill>
            <a:prstDash val="solid"/>
          </a:ln>
        </p:spPr>
        <p:txBody>
          <a:bodyPr/>
          <a:p/>
        </p:txBody>
      </p:sp>
      <p:sp>
        <p:nvSpPr>
          <p:cNvPr id="14" name="Text 11"/>
          <p:cNvSpPr txBox="1"/>
          <p:nvPr/>
        </p:nvSpPr>
        <p:spPr>
          <a:xfrm>
            <a:off x="5550408" y="1371600"/>
            <a:ext cx="1499616"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 it</a:t>
            </a:r>
            <a:endParaRPr lang="en-US" sz="1100" dirty="0"/>
          </a:p>
        </p:txBody>
      </p:sp>
      <p:sp>
        <p:nvSpPr>
          <p:cNvPr id="15" name="Shape 12"/>
          <p:cNvSpPr/>
          <p:nvPr/>
        </p:nvSpPr>
        <p:spPr>
          <a:xfrm>
            <a:off x="7095744" y="1371600"/>
            <a:ext cx="1728216" cy="731520"/>
          </a:xfrm>
          <a:prstGeom prst="chevron">
            <a:avLst/>
          </a:prstGeom>
          <a:solidFill>
            <a:srgbClr val="1B2A4A"/>
          </a:solidFill>
          <a:ln w="12700">
            <a:solidFill>
              <a:srgbClr val="FFFFFF"/>
            </a:solidFill>
            <a:prstDash val="solid"/>
          </a:ln>
        </p:spPr>
        <p:txBody>
          <a:bodyPr/>
          <a:p/>
        </p:txBody>
      </p:sp>
      <p:sp>
        <p:nvSpPr>
          <p:cNvPr id="16" name="Text 13"/>
          <p:cNvSpPr txBox="1"/>
          <p:nvPr/>
        </p:nvSpPr>
        <p:spPr>
          <a:xfrm>
            <a:off x="7232904" y="1371600"/>
            <a:ext cx="1499616"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API gateway in front</a:t>
            </a:r>
            <a:endParaRPr lang="en-US" sz="1100" dirty="0"/>
          </a:p>
        </p:txBody>
      </p:sp>
      <p:sp>
        <p:nvSpPr>
          <p:cNvPr id="17" name="Text 14"/>
          <p:cNvSpPr txBox="1"/>
          <p:nvPr/>
        </p:nvSpPr>
        <p:spPr>
          <a:xfrm>
            <a:off x="411480" y="2240280"/>
            <a:ext cx="1554480" cy="9144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A container that loads the model and scores one request</a:t>
            </a:r>
            <a:endParaRPr lang="en-US" sz="1050" dirty="0"/>
          </a:p>
        </p:txBody>
      </p:sp>
      <p:sp>
        <p:nvSpPr>
          <p:cNvPr id="18" name="Text 15"/>
          <p:cNvSpPr txBox="1"/>
          <p:nvPr/>
        </p:nvSpPr>
        <p:spPr>
          <a:xfrm>
            <a:off x="2093976" y="2240280"/>
            <a:ext cx="1554480" cy="9144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The cloud's container registry (ECR, Artifact Registry, ACR)</a:t>
            </a:r>
            <a:endParaRPr lang="en-US" sz="1050" dirty="0"/>
          </a:p>
        </p:txBody>
      </p:sp>
      <p:sp>
        <p:nvSpPr>
          <p:cNvPr id="19" name="Text 16"/>
          <p:cNvSpPr txBox="1"/>
          <p:nvPr/>
        </p:nvSpPr>
        <p:spPr>
          <a:xfrm>
            <a:off x="3776472" y="2240280"/>
            <a:ext cx="1554480" cy="9144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Lambda / Cloud Functions / Azure Functions, from the image</a:t>
            </a:r>
            <a:endParaRPr lang="en-US" sz="1050" dirty="0"/>
          </a:p>
        </p:txBody>
      </p:sp>
      <p:sp>
        <p:nvSpPr>
          <p:cNvPr id="20" name="Text 17"/>
          <p:cNvSpPr txBox="1"/>
          <p:nvPr/>
        </p:nvSpPr>
        <p:spPr>
          <a:xfrm>
            <a:off x="5458968" y="2240280"/>
            <a:ext cx="1554480" cy="9144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A sample request in the console; check the answer and the time</a:t>
            </a:r>
            <a:endParaRPr lang="en-US" sz="1050" dirty="0"/>
          </a:p>
        </p:txBody>
      </p:sp>
      <p:sp>
        <p:nvSpPr>
          <p:cNvPr id="21" name="Text 18"/>
          <p:cNvSpPr txBox="1"/>
          <p:nvPr/>
        </p:nvSpPr>
        <p:spPr>
          <a:xfrm>
            <a:off x="7141464" y="2240280"/>
            <a:ext cx="1554480" cy="9144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A public URL with authentication, rate limits, logging</a:t>
            </a:r>
            <a:endParaRPr lang="en-US" sz="1050" dirty="0"/>
          </a:p>
        </p:txBody>
      </p:sp>
      <p:sp>
        <p:nvSpPr>
          <p:cNvPr id="22" name="Shape 19"/>
          <p:cNvSpPr/>
          <p:nvPr/>
        </p:nvSpPr>
        <p:spPr>
          <a:xfrm>
            <a:off x="365760" y="347472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23" name="Image 0" descr="preencoded.png">    </p:cNvPr>
          <p:cNvPicPr>
            <a:picLocks noChangeAspect="1"/>
          </p:cNvPicPr>
          <p:nvPr/>
        </p:nvPicPr>
        <p:blipFill>
          <a:blip r:embed="rId1"/>
          <a:stretch>
            <a:fillRect/>
          </a:stretch>
        </p:blipFill>
        <p:spPr>
          <a:xfrm>
            <a:off x="502920" y="3611880"/>
            <a:ext cx="274320" cy="274320"/>
          </a:xfrm>
          <a:prstGeom prst="rect">
            <a:avLst/>
          </a:prstGeom>
        </p:spPr>
      </p:pic>
      <p:sp>
        <p:nvSpPr>
          <p:cNvPr id="24" name="Text 20"/>
          <p:cNvSpPr txBox="1"/>
          <p:nvPr/>
        </p:nvSpPr>
        <p:spPr>
          <a:xfrm>
            <a:off x="896112" y="3474720"/>
            <a:ext cx="7772400" cy="54864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The last step is where Session 3's endpoint protections live: who may call it, how often, and what gets logged.</a:t>
            </a:r>
            <a:endParaRPr lang="en-US" sz="1150" dirty="0"/>
          </a:p>
        </p:txBody>
      </p:sp>
      <p:pic>
        <p:nvPicPr>
          <p:cNvPr id="25"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Session 5 – CI/CD &amp; Deployment Strategies</dc:title>
  <dc:subject>PptxGenJS Presentation</dc:subject>
  <dc:creator>Juan Manuel Ramírez García</dc:creator>
  <cp:lastModifiedBy>Juan Manuel Ramírez García</cp:lastModifiedBy>
  <cp:revision>1</cp:revision>
  <dcterms:created xsi:type="dcterms:W3CDTF">2026-09-04T11:15:35Z</dcterms:created>
  <dcterms:modified xsi:type="dcterms:W3CDTF">2026-09-04T11:15:35Z</dcterms:modified>
</cp:coreProperties>
</file>
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880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0:00
Welcome to the second and last video lesson, and the close of the course. Session 10 ended on a sentence: in every failure we studied, somebody could have said no, and the system was not built to let them. Governance is how you build the system to let them. This hour is about turning that idea into concrete controls, and about the rules that now require them: the EU AI Act, which is law as we record this, and the NIST AI Risk Management Framework.
Sixty minutes, eight segments; the label in the top-right corner tells you where you are. Pause between segments. At the end there is a knowledge check of ten questions; it counts towards your continuous assessment, and it closes on Friday 6 November. Keep a page of notes; the two things to write down for every rule are "which tier" and "which control".
One honest note before we start. The regulatory dates in this video were checked in the last week; regulation moves, and I will tell you exactly which date changed recently and where to check it. Nothing here is legal advice; it is what an operator needs to know to work with the lawyers.
[Timing: 0:00–1:00]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1:00
The map. Segment one: what governance actually is, and why it is a set of controls in the pipeline, not a folder of documents. Segment two: the regulatory landscape, the shape of the rules appearing around the world. Segments three and four are the two frameworks you must know by name: the EU AI Act, which is binding law, and the NIST AI Risk Management Framework, which is voluntary but is how many companies actually organise the work. Segment five: the documents that prove governance happened, model cards, dataset datasheets, decision logs. Segment six: who is accountable, human oversight, and what changes for generative AI. Segment seven is the one that ties the course together: every governance requirement mapped to the point in the pipeline where it is enforced, the artefact that proves it, and the monitor that watches it. Then the wrap and the quiz.
The running examples are the ones you know: the IberBank credit and fraud models and the TelcoNova churn model as high-risk-style systems, the HR assistant as the generative-AI case, and the six failures from Session 10, above all the Dutch childcare-benefits case, which is what the high-risk rules were written to prevent. Write down, for each rule, one line: "this applies to… and it requires…". That is what the quiz asks.
[Timing: 1:00–3:00]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3:00
Start with what governance is not. It is not a PDF policy that sits on the intranet; every company in the six failures had one of those. Governance is the set of controls, in the actual pipeline, that make sure a model does what the organisation intends and that someone is accountable when it does not. Read the two columns. On the left, governance as a document: a policy that says "we use AI responsibly", a committee that meets quarterly, a values statement. None of it touched the code that scored the Dutch families or blocked the transactions. On the right, governance as controls: a data-validation step that fails the pipeline; a bias check that runs before release; a human approval before an irreversible decision; a monitor with a threshold and a person; a model card that has to exist before deployment; a log that records who decided what. Every one of those is a line of the pipeline you have built across this course.
The test of whether governance is real: can you point at the step that enforces it, the artefact that proves it happened, and the monitor that would catch it failing? If the answer is "there is a policy", it is not governance, it is intention. Segment seven turns this into a table for every requirement.
[Timing: 3:00–5:00]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5:00
Two words from the Session 9 responsible-AI slide, now the backbone of this hour. Intentionality: the system does what the organisation meant it to do, and its limits and risks were considered on purpose, not discovered afterwards. A model built to rank credit risk that turns out to rank postcodes was not intentional; nobody chose that, and nobody checked. Accountability: for every decision the system makes, and for every control that guards it, there is a named person or role who answers for it. Not "the algorithm decided", not "the vendor's model", not "the company": a person with a job.
These two are the questions a regulator, an auditor or a journalist will ask, in order. First: what is this system for, and did you consider who it could harm? Then: who is responsible for it, and could they have stopped it? Every framework in this video, the EU AI Act and NIST alike, is an elaborate, specific way of forcing organisations to answer those two questions before the system is live rather than in front of a tribunal. Hold them; segment seven maps every control back to one of them.
[Timing: 5:00–7:00]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9:00
Rules for AI are appearing everywhere, at different speeds and in different shapes. The European Union has the AI Act, a single binding law across all sectors, risk-based, the most comprehensive and the one this course focuses on because it reaches any company doing business in Europe. The United States has no single federal law; it has the NIST framework, which is voluntary, sector rules (for hiring, for finance, for health), and state laws such as Colorado's and specific rules in New York City for hiring tools. The United Kingdom has a "pro-innovation" approach: no single AI law, existing regulators applying principles in their sectors. China regulates by application, with specific rules for recommendation algorithms and for generative AI, and a requirement to label synthetic content. Canada, Brazil and others have their own texts in progress.
You do not need the details of each. You need the pattern, because it is the same underneath, and it is the right column. Four ideas recur in almost every regime: classify by risk and regulate the high-risk uses hardest; require transparency, tell people when AI is involved and how it decides; require human oversight for consequential decisions; and require documentation, be able to show what you built and why. If you build those four into the pipeline, you are most of the way to compliant almost anywhere. The rest of the video is those four, made concrete.
[Timing: 9:00–12:00]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12:00
The EU AI Act, the world's first comprehensive AI law, in force since August 2024 and phasing in since. Its core idea is a pyramid of four risk tiers, and the obligations grow with the risk. At the top, the smallest group: unacceptable risk, prohibited outright. Government social scoring; manipulation that causes harm; untargeted scraping of faces to build recognition databases; emotion recognition in the workplace and in schools. These are banned in the EU since February 2025. The Dutch childcare-benefits system from Session 10 is close to this line, and part of why the line exists.
Next, the tier that matters most for you: high-risk. Not banned, but heavily regulated. These are systems used for consequential decisions about people, listed in the Act's Annex III: biometric identification; critical infrastructure; education and exam scoring; employment, hiring and worker management; access to essential services including credit scoring and insurance; law enforcement; migration and border control; and administration of justice. The IberBank credit model, the Amazon hiring tool, the Epic sepsis model would all be high-risk. Below that, limited risk: mainly a transparency duty, tell people they are dealing with AI; a chatbot must say it is a bot, a deepfake must be labelled. The HR assistant lives here. And at the base, the vast majority: minimal risk, a spam filter, a recommendation, a game; no special obligations.
The one habit to build: when you meet an AI system, place it on this pyramid first. The tier decides everything that follows.
[Timing: 12:00–14:30]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14:30
If a system is high-risk, the Act requires seven things, and every one of them is something you already built in this course, now made a legal duty. A risk-management system: identify and mitigate the risks, continuously, across the lifecycle; that is the model card plus the monitoring plan. Data governance: training data that is relevant, representative and checked for bias; that is Session 3's validation and Session 7's bias slide. Technical documentation: enough for an authority to understand the system; that is the documentation segment coming up. Record-keeping: automatic logs of the system's operation; that is your logging and monitoring. Transparency and instructions to the deployer: the people who use it must know how, and its limits. Human oversight: a person can understand, override and stop it; Session 5's approval gate. And accuracy, robustness and cybersecurity: it performs as claimed, resists manipulation, and is secure; Session 5's tests and Session 3's security.
Two roles carry these, and the Act is precise about the split. The provider builds or substantially modifies the system, and carries most of the obligations. The deployer uses it under its own authority, and carries oversight, monitoring in use, and, for some public and essential-service uses, a fundamental-rights impact assessment. This matters to you directly: if TelcoNova buys a model, it is a deployer, with real duties; if it fine-tunes or builds one, it becomes a provider. The group project's governance section should say which you are, for each system.
[Timing: 14:30–17:30]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17:30
Below high-risk sits the limited-risk tier, whose single big idea is transparency: people have a right to know when they are dealing with a machine or with machine-made content. Three concrete duties. A chatbot or assistant must tell the user it is an AI, not a person; the HR assistant must not pretend to be someone from HR. AI-generated or manipulated content, a deepfake, a synthetic image or video, must be labelled as such. And where an emotion-recognition or biometric-categorisation system is used on people, they must be informed. These are lighter than the high-risk obligations, but they are real, and they apply now.
General-purpose AI, the large foundation models behind assistants like ours, has its own layer, in force since August 2025. Providers of these models must publish technical documentation, a summary of the training data, and a copyright policy; the most capable models, those posing "systemic risk", carry extra duties around evaluation and security. For you as a deployer this mostly arrives second-hand: you rely on the model provider's documentation, and you add your own layer, telling users it is AI, labelling outputs where needed, logging prompts and answers, and keeping a human in the loop for anything consequential. The HR assistant is limited-risk as a product, built on a general-purpose model whose provider carries the model-level duties.
[Timing: 17:30–19:30]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19:30
The dates, and this is the slide I re-checked in the week before recording, because it changed. The Act entered into force in August 2024 and applies in stages. Since February 2025: the prohibitions on unacceptable-risk systems, and an AI-literacy duty. Since August 2025: the general-purpose AI obligations, and the EU AI Office that supervises them. From August 2026, now: the transparency duties, and enforcement machinery.
Here is the change. The high-risk obligations, the big Annex III list, were originally due to apply on the second of August 2026. In late 2025 the Commission proposed a package called the Digital Omnibus to postpone them, citing that the technical standards were not ready; it was agreed and published in the Official Journal on the 24th of July 2026, entering into force on the 27th, days before the old deadline. The result: high-risk standalone systems, Annex III, now apply from the second of December 2027; high-risk systems embedded in regulated products, Annex I, from the second of August 2028. The prohibitions, the GPAI rules and the transparency duties were not postponed; they are live.
Two lessons beyond the dates. First, regulation moves: any slide with a date on it has a shelf life, so the governance you build should not depend on a deadline, it should be ready before one. Second, a postponement is not a reprieve; the high-risk requirements are known now, and the companies that wait until 2027 to start will be the next Session 10 cases. Check the current dates before you rely on them; I have put the source in the notes.
[Timing: 19:30–22:00]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22:00
Why any of this gets attention in a boardroom: the penalties. Using a prohibited system: up to thirty-five million euros or seven percent of worldwide annual turnover, whichever is higher. Breaching the other obligations, the high-risk duties or the transparency rules: up to fifteen million or three percent. Giving an authority incorrect or misleading information: up to seven and a half million or one percent. Percentages of global turnover, like competition and data-protection fines: for a large company these are existential numbers, which is why governance now has the board's attention and a budget.
And the practical skill, the one the quiz tests: place a system and name one control, in a minute. The method, on the right. What does it decide, and about whom? If it decides about a person's access to a job, credit, education, health or public services, think high-risk. Is it one of the prohibited uses? Then stop. Does it talk to people or make content? Then at least the transparency duty. Then name one control the tier requires: for high-risk, a fundamental-rights or bias assessment before release and human oversight in use; for limited-risk, a disclosure that it is AI. Try it as we go: the churn model that decides who gets a retention offer, the fraud model that blocks a payment, the HR assistant. Tier, then one control. That is the whole exercise.
[Timing: 22:00–24:00]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27:00
The second framework, and a complement rather than a rival. The NIST AI Risk Management Framework is American, voluntary, and not a law; it is a practical structure for organising the work, and many companies worldwide use it precisely because it tells you how to do the governance the AI Act tells you to do. It has four functions, and the useful way to remember them is one question a manager asks for each.
Govern: is there a culture and a structure for managing AI risk? Who owns it, what are the policies, how are they enforced? This function wraps the other three; it is the accountability from segment one, made into roles and processes. Map: what is the system, its context and its risks? Before building, understand what it is for, who is affected, and what could go wrong; this is intentionality, made into an activity. Measure: how do we assess the risks, with numbers? Test for accuracy, bias, robustness, security; this is your evaluation and monitoring, Sessions 5 and 7 and Video 1. Manage: what do we do about them, and in what priority? Allocate resources, mitigate, monitor in production, and respond to incidents; this is your rollout, alerting and incident response, Sessions 5 and 7.
Notice that each function is something you already do; NIST's contribution is to insist you do all four, in order, and write down who owns each. The order matters: you cannot measure a risk you have not mapped, or manage one you have not measured.
[Timing: 27:00–30:00]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30:00
So which do you use? Both, and they answer different questions. The AI Act tells you what you must do and by when: it is the law, with tiers, deadlines and fines. NIST tells you how to organise doing it: the functions, the roles, the process. A common enterprise pattern is to run the NIST four functions as the operating model and to treat the AI Act's requirements as a mandatory input to Map and Measure. If you comply with the AI Act you are not automatically doing NIST, and vice versa, but the work overlaps almost entirely; the artefacts you produce for one serve the other.
NIST also publishes profiles: the framework applied to a particular kind of system. The one you should know exists is the Generative AI Profile, from 2024, which walks the four functions for the specific risks of generative models: confabulation, that is hallucination; the ease of producing dangerous or infringing content; data privacy in prompts and outputs; and the difficulty of evaluation, everything from Video 1's segment on judging rather than measuring. When your company builds on a foundation model, this profile is the checklist that translates "govern your AI" into "govern your RAG assistant". You do not need its contents for the quiz; you need to know it exists and what it is for.
[Timing: 30:00–33:00]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34:00
Governance leaves evidence, or it did not happen. Three documents carry most of it, and each answers a different question, is written by a different person, and is produced at a different point in the lifecycle. The datasheet for a dataset answers "what data is this, and can we use it?": where it came from, how it was collected, consent and licensing, known gaps and biases; written by the data owner, when the data is acquired, before training. The model card answers "what is this model, and when should it not be used?": what it predicts, on what data it was trained, how well it performs and for which groups, its limits and its intended use; written by the data scientist, at release, and updated on every new version. The decision log, or the record of automated decisions, answers "what did the system actually do, and can we explain one case?": the inputs, the output, the model version, and, where required, the reason; written by the system, continuously, in production.
Read down the "when" column: acquisition, release, production. The three artefacts line up with the lifecycle you have built all course. And read the "who": the data owner, the data scientist, the system, each accountable for their evidence. The AI Act's "technical documentation" and "record-keeping" obligations are, in practice, these three kept up to date. Next slide, one of them filled in.
[Timing: 34:00–37:00]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37:00
A model card, filled in, for the churn model you have followed since Session 1; this is the level of detail an auditor, a new team member or a regulator expects, and it fits on a page. Intended use: rank residential customers by churn risk so the retention team can prioritise calls; not for pricing, not for credit, not for any decision about an individual's access to a service. That "not for" line is doing governance work: it draws the boundary that keeps a limited-risk tool from being quietly repurposed into a high-risk one. Training data: twelve months to June 2026, the datasheet is linked. Performance: accuracy 82% overall, and, crucially, by segment, because Session 7 taught us the overall number hides the North; the card records 89% down to 65% for long-tenure North customers after the competitor arrived. Limits: labels arrive 30 days late; the model is not calibrated below 20% risk; it must not be used for customers under six months' tenure. Owner: the product owner, named. Retrain trigger, monitoring plan, and the last review date.
The discipline is that the card exists before deployment and is updated on every version, and that the "intended use" and "limits" fields are honest. A model card that says "performs well" is marketing; one that says "89% overall, 65% in this segment, do not use below 20%" is governance. This is the single most useful artefact you can take from this course into a job.
[Timing: 37:00–39:30]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41:00
Accountability made concrete is a RACI: for each control, who is Responsible for doing it, Accountable, meaning it is their neck, Consulted and Informed. The table shows it for four controls on the churn model. Data validation: the ML engineer does it, the product owner is accountable. Bias check: the data scientist does it, Risk and Compliance is accountable. The retention decision: the retention manager is accountable, not the model. Incident response: the ML engineer on call, with the product owner accountable. The single most important column is "accountable", because in every Session 10 failure it was empty: no one person answered for the control that was missing. Fill that column and half of governance is done.
Human oversight comes in two strengths, and choosing between them is a governance decision. Human-in-the-loop: a person reviews and approves each consequential decision before it takes effect; slow, expensive, right for high-stakes, low-volume decisions, a loan above a threshold, a medical flag. Human-on-the-loop: the system acts automatically, and a person monitors and can intervene or stop it; right for high-volume decisions where waiting is not possible, fraud blocking, content moderation, with the escape hatch being a fast override and a kill switch. The churn model needs neither for the call itself, but the retrain-and-redeploy loop needs a human-in-the-loop gate, which is exactly the poll from Session 7. Match the strength of oversight to the stakes and the volume; the AI Act's "human oversight" duty is satisfied by choosing, and documenting, the right one.
[Timing: 41:00–44:30]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44:30
Generative AI does not need a new governance framework; it needs the same one with specific additions, because its risks are specific. Five, for the HR assistant. Content provenance and grounding: the answer must come from the approved policy documents, and you can show which, that is the groundedness guardrail from Session 10, and it is a governance control, not just a quality one. An acceptable-use policy for the tool: what it may and may not be asked, and what it must refuse, salary decisions, legal advice, anything about a named individual. Logging of prompts and outputs: every interaction stored, with the prompt and document versions, both to explain a bad answer and because the record-keeping duty requires it, and here privacy bites, because prompts contain personal data, so the log itself is governed. Human escalation: a clear path from the bot to a person, and a rule for when it must escalate rather than answer. And data-protection alignment: the assistant sits on top of your existing GDPR obligations, so a prompt that reveals an employee's data, or an answer that repeats it, is a data-protection incident, not only a quality bug, exactly the PII leak from the Session 10 demo.
The through-line: everything that made the assistant good in Session 10, grounding, refusal, logging, a human path, PII detection, is also what makes it governed. Quality and governance are the same controls seen from two angles. That is the most useful idea in this segment.
[Timing: 44:30–47:00]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49:00
The table that ties the whole course together, and the answer to "where does governance actually live?". Each row is a governance requirement; the columns are the pipeline step where it is enforced, the artefact that proves it happened, and the monitor that watches it in production. Read three rows. "Use appropriate, unbiased data": enforced at the data-ingestion and validation step (Session 3); proven by the dataset datasheet and the bias-check report; watched by the input-drift and missing-value monitors (Video 1). "Perform as claimed, for everyone": enforced at the validation gate before release (Session 5); proven by the model card with performance by segment; watched by the performance-by-segment monitor (Session 7). "A human can override": enforced by the approval gate in the deployment pipeline (Session 5); proven by the decision log and the RACI; watched by the override-and-incident log.
The point of the table is that not one of these controls is new. You built every step, every artefact and every monitor across nine sessions. Governance did not add a parallel system; it named the requirements and pointed at the steps that already satisfy them. When the group project asks for a governance framework, this table, filled for your company's systems, is the answer. If a requirement has no step, no artefact and no monitor, it is not governed, however good the policy.
[Timing: 49:00–52:30]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52:30
The closing picture, the lifecycle you have seen since Session 1, now with the governance control on each stage. Define: the model card's intended use and the risk-tier decision; you classify before you build. Data: the datasheet, consent, the bias check. Train and tune: record what was tried, the experiments, the fairness constraints. Validate: the gate, performance by segment, the sign-off; nothing ships without it. Deploy: the approval, the rollout strategy, the human-oversight choice. Monitor: the thresholds, the alerts to a named person, the drift and fairness metrics. Feedback and retrain: the trigger, and the human-in-the-loop gate before redeployment. And wrapping all of it, the two constants: a named owner at every stage, and a log that records what happened.
This is the course. Nine sessions built the loop; this video put a governance control on each stage and a law behind several of them. If you remember one image from these sixty minutes, let it be this one: governance is not a gate at the end, it is a property of every stage, and it is the same loop you already know, held to account. That is the whole of Module 4.
[Timing: 52:30–55:00]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55:00
Three things. One: governance is controls, not documents. The test is always the same: which step enforces it, which artefact proves it, which monitor catches it failing? A policy with no step, artefact or monitor is intention, not governance, and every Session 10 company had the policy.
Two: two frameworks, one skill. The EU AI Act is the law, what you must do and by when, on a pyramid of four risk tiers with fines up to seven percent of global turnover; the high-risk deadline moved to December 2027, but the requirements are known now. NIST is the how, four functions, Govern, Map, Measure, Manage. The skill both reward: place a system on the risk pyramid, then name one control it requires.
Three: it is the same loop, held to account. Every governance control maps to a pipeline step, an artefact and a monitor you built across nine sessions; a named owner and a log wrap every stage. Governance did not add a parallel system; it named the requirements and made someone answer for them.
[Timing: 55:00–57:00]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57:00
The knowledge check is on the campus, right after this video, and it closes on Friday 6 November. Ten multiple-choice questions, about twelve minutes. Each describes an AI use case in two sentences and asks for its EU AI Act risk tier and one required control; two of the ten ask which NIST function an activity belongs to. It is individual, no AI tools, and it counts towards continuous assessment, the same fifteen percent as Video 1's check and the module quizzes. To prepare: the risk pyramid, the seven high-risk obligations, the four NIST functions, and the "tier then one control" habit.
And that is the course. You began with a model that was a file on someone's laptop and a slide about hidden technical debt; you end able to take any AI system, place it in its lifecycle, build the pipeline that ships it safely, monitor it once it is live, and govern it so that someone is accountable and the regulator is satisfied. The four modules, foundations, pipelines and deployment, monitoring, and governance, are the four questions on the last slide of Session 10, and they are what the exam and the project ask. Thank you for the term. Bring your questions to the exam review, and good luck with the group project.
[Timing: 57:00–60:00]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 Id="rId10"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 Id="rId6"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 Id="rId8"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 Id="rId9"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1</a:t>
            </a:r>
            <a:endParaRPr lang="en-US" sz="800" dirty="0"/>
          </a:p>
        </p:txBody>
      </p:sp>
      <p:sp>
        <p:nvSpPr>
          <p:cNvPr id="5" name="Text 3"/>
          <p:cNvSpPr txBox="1"/>
          <p:nvPr/>
        </p:nvSpPr>
        <p:spPr>
          <a:xfrm>
            <a:off x="548640" y="822960"/>
            <a:ext cx="804672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MLOps: Machine Learning Operations</a:t>
            </a:r>
            <a:endParaRPr lang="en-US" sz="1600" dirty="0"/>
          </a:p>
        </p:txBody>
      </p:sp>
      <p:sp>
        <p:nvSpPr>
          <p:cNvPr id="6" name="Text 4"/>
          <p:cNvSpPr txBox="1"/>
          <p:nvPr/>
        </p:nvSpPr>
        <p:spPr>
          <a:xfrm>
            <a:off x="548640" y="1280160"/>
            <a:ext cx="8046720" cy="457200"/>
          </a:xfrm>
          <a:prstGeom prst="rect">
            <a:avLst/>
          </a:prstGeom>
          <a:noFill/>
          <a:ln/>
        </p:spPr>
        <p:txBody>
          <a:bodyPr wrap="square" lIns="0" tIns="0" rIns="0" bIns="0" rtlCol="0" anchor="ctr"/>
          <a:lstStyle/>
          <a:p>
            <a:pPr indent="0" marL="0">
              <a:buNone/>
            </a:pPr>
            <a:r>
              <a:rPr lang="en-US" sz="2000" b="1" dirty="0">
                <a:solidFill>
                  <a:srgbClr val="CADCFC"/>
                </a:solidFill>
                <a:latin typeface="Calibri" pitchFamily="34" charset="0"/>
                <a:ea typeface="Calibri" pitchFamily="34" charset="-122"/>
                <a:cs typeface="Calibri" pitchFamily="34" charset="-120"/>
              </a:rPr>
              <a:t>Video 2 · Session 12 · self-paced, 60 minutes</a:t>
            </a:r>
            <a:endParaRPr lang="en-US" sz="2000" dirty="0"/>
          </a:p>
        </p:txBody>
      </p:sp>
      <p:sp>
        <p:nvSpPr>
          <p:cNvPr id="7" name="Text 5"/>
          <p:cNvSpPr txBox="1"/>
          <p:nvPr/>
        </p:nvSpPr>
        <p:spPr>
          <a:xfrm>
            <a:off x="548640" y="1737360"/>
            <a:ext cx="8046720" cy="10972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AI Governance &amp; Regulatory Readiness</a:t>
            </a:r>
            <a:endParaRPr lang="en-US" sz="3400" dirty="0"/>
          </a:p>
        </p:txBody>
      </p:sp>
      <p:sp>
        <p:nvSpPr>
          <p:cNvPr id="8" name="Text 6"/>
          <p:cNvSpPr txBox="1"/>
          <p:nvPr/>
        </p:nvSpPr>
        <p:spPr>
          <a:xfrm>
            <a:off x="548640" y="2971800"/>
            <a:ext cx="80467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Juan Manuel Ramírez García · jramirezg@faculty.ie.edu</a:t>
            </a:r>
            <a:endParaRPr lang="en-US" sz="1400" dirty="0"/>
          </a:p>
        </p:txBody>
      </p:sp>
      <p:sp>
        <p:nvSpPr>
          <p:cNvPr id="9" name="Text 7"/>
          <p:cNvSpPr txBox="1"/>
          <p:nvPr/>
        </p:nvSpPr>
        <p:spPr>
          <a:xfrm>
            <a:off x="548640" y="3337560"/>
            <a:ext cx="8046720" cy="365760"/>
          </a:xfrm>
          <a:prstGeom prst="rect">
            <a:avLst/>
          </a:prstGeom>
          <a:noFill/>
          <a:ln/>
        </p:spPr>
        <p:txBody>
          <a:bodyPr wrap="square" lIns="0" tIns="0" rIns="0" bIns="0" rtlCol="0" anchor="ctr"/>
          <a:lstStyle/>
          <a:p>
            <a:pPr indent="0" marL="0">
              <a:buNone/>
            </a:pPr>
            <a:r>
              <a:rPr lang="en-US" sz="1200" dirty="0">
                <a:solidFill>
                  <a:srgbClr val="B8C4D6"/>
                </a:solidFill>
                <a:latin typeface="Calibri" pitchFamily="34" charset="0"/>
                <a:ea typeface="Calibri" pitchFamily="34" charset="-122"/>
                <a:cs typeface="Calibri" pitchFamily="34" charset="-120"/>
              </a:rPr>
              <a:t>Available 31 October–6 November 2026 · ends with a 10-question knowledge check that counts towards continuous assessment</a:t>
            </a:r>
            <a:endParaRPr lang="en-US" sz="1200" dirty="0"/>
          </a:p>
        </p:txBody>
      </p:sp>
      <p:sp>
        <p:nvSpPr>
          <p:cNvPr id="10" name="Shape 8"/>
          <p:cNvSpPr/>
          <p:nvPr/>
        </p:nvSpPr>
        <p:spPr>
          <a:xfrm>
            <a:off x="548640" y="39319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1" name="Text 9"/>
          <p:cNvSpPr txBox="1"/>
          <p:nvPr/>
        </p:nvSpPr>
        <p:spPr>
          <a:xfrm>
            <a:off x="548640" y="39319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12" name="Shape 10"/>
          <p:cNvSpPr/>
          <p:nvPr/>
        </p:nvSpPr>
        <p:spPr>
          <a:xfrm>
            <a:off x="1448816" y="39319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3" name="Text 11"/>
          <p:cNvSpPr txBox="1"/>
          <p:nvPr/>
        </p:nvSpPr>
        <p:spPr>
          <a:xfrm>
            <a:off x="1448816" y="39319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4" name="Shape 12"/>
          <p:cNvSpPr/>
          <p:nvPr/>
        </p:nvSpPr>
        <p:spPr>
          <a:xfrm>
            <a:off x="2348992" y="39319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5" name="Text 13"/>
          <p:cNvSpPr txBox="1"/>
          <p:nvPr/>
        </p:nvSpPr>
        <p:spPr>
          <a:xfrm>
            <a:off x="2348992" y="39319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6" name="Shape 14"/>
          <p:cNvSpPr/>
          <p:nvPr/>
        </p:nvSpPr>
        <p:spPr>
          <a:xfrm>
            <a:off x="3249168" y="39319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7" name="Text 15"/>
          <p:cNvSpPr txBox="1"/>
          <p:nvPr/>
        </p:nvSpPr>
        <p:spPr>
          <a:xfrm>
            <a:off x="3249168" y="39319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8" name="Shape 16"/>
          <p:cNvSpPr/>
          <p:nvPr/>
        </p:nvSpPr>
        <p:spPr>
          <a:xfrm>
            <a:off x="4149344" y="39319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9" name="Text 17"/>
          <p:cNvSpPr txBox="1"/>
          <p:nvPr/>
        </p:nvSpPr>
        <p:spPr>
          <a:xfrm>
            <a:off x="4149344" y="39319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20" name="Shape 18"/>
          <p:cNvSpPr/>
          <p:nvPr/>
        </p:nvSpPr>
        <p:spPr>
          <a:xfrm>
            <a:off x="5049520" y="39319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1" name="Text 19"/>
          <p:cNvSpPr txBox="1"/>
          <p:nvPr/>
        </p:nvSpPr>
        <p:spPr>
          <a:xfrm>
            <a:off x="5049520" y="39319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22" name="Shape 20"/>
          <p:cNvSpPr/>
          <p:nvPr/>
        </p:nvSpPr>
        <p:spPr>
          <a:xfrm>
            <a:off x="5949696" y="39319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3" name="Text 21"/>
          <p:cNvSpPr txBox="1"/>
          <p:nvPr/>
        </p:nvSpPr>
        <p:spPr>
          <a:xfrm>
            <a:off x="5949696" y="39319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4" name="Shape 22"/>
          <p:cNvSpPr/>
          <p:nvPr/>
        </p:nvSpPr>
        <p:spPr>
          <a:xfrm>
            <a:off x="6849872" y="39319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5" name="Text 23"/>
          <p:cNvSpPr txBox="1"/>
          <p:nvPr/>
        </p:nvSpPr>
        <p:spPr>
          <a:xfrm>
            <a:off x="6849872" y="39319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6" name="Shape 24"/>
          <p:cNvSpPr/>
          <p:nvPr/>
        </p:nvSpPr>
        <p:spPr>
          <a:xfrm>
            <a:off x="7750048" y="39319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7" name="Text 25"/>
          <p:cNvSpPr txBox="1"/>
          <p:nvPr/>
        </p:nvSpPr>
        <p:spPr>
          <a:xfrm>
            <a:off x="7750048" y="39319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pic>
        <p:nvPicPr>
          <p:cNvPr id="28"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Eight segments, two frameworks, and one thread from Session 10</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5852160" cy="914400"/>
        </p:xfrm>
        <a:graphic>
          <a:graphicData uri="http://schemas.openxmlformats.org/drawingml/2006/table">
            <a:tbl>
              <a:tblPr/>
              <a:tblGrid>
                <a:gridCol w="365760"/>
                <a:gridCol w="1554480"/>
                <a:gridCol w="3200400"/>
                <a:gridCol w="640080"/>
              </a:tblGrid>
              <a:tr h="329184">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Segment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What is in it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Min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2918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Governance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not a document; controls in the pipeline; intentionality and accountability</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3–9</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landscape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shape of the rules appearing worldwide; the common pattern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9–12</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EU AI Act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risk tiers · obligations · provider vs deployer · the timeline (verified) · penalties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12–27</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NIST AI RMF</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Govern · Map · Measure · Manage; how it complements the Act; the GenAI profile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27–34</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Documentation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model cards · dataset datasheets · decision logs; a filled churn model card</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34–41</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Oversight &amp; GenAI</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accountability (RACI) · human-in / on-the-loop · governing RAG and GPAI</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41–49</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Control points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each requirement → pipeline step → artefact → monitor: the course in one table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49–57</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Wrap-up</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three things; the knowledge check</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57–60</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6400800" y="1234440"/>
            <a:ext cx="2377440" cy="1417320"/>
          </a:xfrm>
          <a:prstGeom prst="roundRect">
            <a:avLst>
              <a:gd name="adj" fmla="val 5161"/>
            </a:avLst>
          </a:prstGeom>
          <a:solidFill>
            <a:srgbClr val="F3F5F8"/>
          </a:solidFill>
          <a:ln w="12700">
            <a:solidFill>
              <a:srgbClr val="F3F5F8"/>
            </a:solidFill>
            <a:prstDash val="solid"/>
          </a:ln>
        </p:spPr>
        <p:txBody>
          <a:bodyPr/>
          <a:p/>
        </p:txBody>
      </p:sp>
      <p:sp>
        <p:nvSpPr>
          <p:cNvPr id="9" name="Shape 5"/>
          <p:cNvSpPr/>
          <p:nvPr/>
        </p:nvSpPr>
        <p:spPr>
          <a:xfrm>
            <a:off x="6537960" y="1353312"/>
            <a:ext cx="347472" cy="347472"/>
          </a:xfrm>
          <a:prstGeom prst="ellipse">
            <a:avLst/>
          </a:prstGeom>
          <a:solidFill>
            <a:srgbClr val="0E7C86"/>
          </a:solidFill>
          <a:ln w="12700">
            <a:solidFill>
              <a:srgbClr val="0E7C86"/>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6611112" y="1426464"/>
            <a:ext cx="201168" cy="201168"/>
          </a:xfrm>
          <a:prstGeom prst="rect">
            <a:avLst/>
          </a:prstGeom>
        </p:spPr>
      </p:pic>
      <p:sp>
        <p:nvSpPr>
          <p:cNvPr id="11" name="Text 6"/>
          <p:cNvSpPr txBox="1"/>
          <p:nvPr/>
        </p:nvSpPr>
        <p:spPr>
          <a:xfrm>
            <a:off x="6967728" y="1325880"/>
            <a:ext cx="169164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Two frameworks</a:t>
            </a:r>
            <a:endParaRPr lang="en-US" sz="1300" dirty="0"/>
          </a:p>
        </p:txBody>
      </p:sp>
      <p:sp>
        <p:nvSpPr>
          <p:cNvPr id="12" name="Text 7"/>
          <p:cNvSpPr txBox="1"/>
          <p:nvPr/>
        </p:nvSpPr>
        <p:spPr>
          <a:xfrm>
            <a:off x="6537960" y="1783080"/>
            <a:ext cx="2103120" cy="77724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EU AI Act: binding law</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NIST AI RMF: voluntary, practice-oriented</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You must know both by name</a:t>
            </a:r>
            <a:endParaRPr lang="en-US" sz="1000" dirty="0"/>
          </a:p>
        </p:txBody>
      </p:sp>
      <p:sp>
        <p:nvSpPr>
          <p:cNvPr id="13" name="Shape 8"/>
          <p:cNvSpPr/>
          <p:nvPr/>
        </p:nvSpPr>
        <p:spPr>
          <a:xfrm>
            <a:off x="6400800" y="2743200"/>
            <a:ext cx="2377440" cy="1234440"/>
          </a:xfrm>
          <a:prstGeom prst="roundRect">
            <a:avLst>
              <a:gd name="adj" fmla="val 5926"/>
            </a:avLst>
          </a:prstGeom>
          <a:solidFill>
            <a:srgbClr val="F3F5F8"/>
          </a:solidFill>
          <a:ln w="12700">
            <a:solidFill>
              <a:srgbClr val="F3F5F8"/>
            </a:solidFill>
            <a:prstDash val="solid"/>
          </a:ln>
        </p:spPr>
        <p:txBody>
          <a:bodyPr/>
          <a:p/>
        </p:txBody>
      </p:sp>
      <p:sp>
        <p:nvSpPr>
          <p:cNvPr id="14" name="Shape 9"/>
          <p:cNvSpPr/>
          <p:nvPr/>
        </p:nvSpPr>
        <p:spPr>
          <a:xfrm>
            <a:off x="6537960" y="2862072"/>
            <a:ext cx="347472" cy="347472"/>
          </a:xfrm>
          <a:prstGeom prst="ellipse">
            <a:avLst/>
          </a:prstGeom>
          <a:solidFill>
            <a:srgbClr val="E07A2F"/>
          </a:solidFill>
          <a:ln w="12700">
            <a:solidFill>
              <a:srgbClr val="E07A2F"/>
            </a:solidFill>
            <a:prstDash val="solid"/>
          </a:ln>
        </p:spPr>
        <p:txBody>
          <a:bodyPr/>
          <a:p/>
        </p:txBody>
      </p:sp>
      <p:pic>
        <p:nvPicPr>
          <p:cNvPr id="15" name="Image 1" descr="preencoded.png">    </p:cNvPr>
          <p:cNvPicPr>
            <a:picLocks noChangeAspect="1"/>
          </p:cNvPicPr>
          <p:nvPr/>
        </p:nvPicPr>
        <p:blipFill>
          <a:blip r:embed="rId2"/>
          <a:stretch>
            <a:fillRect/>
          </a:stretch>
        </p:blipFill>
        <p:spPr>
          <a:xfrm>
            <a:off x="6611112" y="2935224"/>
            <a:ext cx="201168" cy="201168"/>
          </a:xfrm>
          <a:prstGeom prst="rect">
            <a:avLst/>
          </a:prstGeom>
        </p:spPr>
      </p:pic>
      <p:sp>
        <p:nvSpPr>
          <p:cNvPr id="16" name="Text 10"/>
          <p:cNvSpPr txBox="1"/>
          <p:nvPr/>
        </p:nvSpPr>
        <p:spPr>
          <a:xfrm>
            <a:off x="6967728" y="2834640"/>
            <a:ext cx="169164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thread</a:t>
            </a:r>
            <a:endParaRPr lang="en-US" sz="1300" dirty="0"/>
          </a:p>
        </p:txBody>
      </p:sp>
      <p:sp>
        <p:nvSpPr>
          <p:cNvPr id="17" name="Text 11"/>
          <p:cNvSpPr txBox="1"/>
          <p:nvPr/>
        </p:nvSpPr>
        <p:spPr>
          <a:xfrm>
            <a:off x="6537960" y="3291840"/>
            <a:ext cx="2103120" cy="59436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Session 10: somebody could have said no. Governance builds the system to let them.</a:t>
            </a:r>
            <a:endParaRPr lang="en-US" sz="1050" dirty="0"/>
          </a:p>
        </p:txBody>
      </p:sp>
      <p:sp>
        <p:nvSpPr>
          <p:cNvPr id="18" name="Shape 12"/>
          <p:cNvSpPr/>
          <p:nvPr/>
        </p:nvSpPr>
        <p:spPr>
          <a:xfrm>
            <a:off x="365760" y="411480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502920" y="4251960"/>
            <a:ext cx="274320" cy="274320"/>
          </a:xfrm>
          <a:prstGeom prst="rect">
            <a:avLst/>
          </a:prstGeom>
        </p:spPr>
      </p:pic>
      <p:sp>
        <p:nvSpPr>
          <p:cNvPr id="20" name="Text 13"/>
          <p:cNvSpPr txBox="1"/>
          <p:nvPr/>
        </p:nvSpPr>
        <p:spPr>
          <a:xfrm>
            <a:off x="896112" y="4114800"/>
            <a:ext cx="7772400" cy="54864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For every rule, one line in your notes: "this applies to… and it requires…". Not legal advice; what an operator needs to work with the lawyers.</a:t>
            </a:r>
            <a:endParaRPr lang="en-US" sz="1100" dirty="0"/>
          </a:p>
        </p:txBody>
      </p:sp>
      <p:pic>
        <p:nvPicPr>
          <p:cNvPr id="21"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Governance is not a document; it is a set of controls in the pipeline</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1 · Governance · 3–9 min</a:t>
            </a:r>
            <a:endParaRPr lang="en-US" sz="850" dirty="0"/>
          </a:p>
        </p:txBody>
      </p:sp>
      <p:sp>
        <p:nvSpPr>
          <p:cNvPr id="9" name="Shape 6"/>
          <p:cNvSpPr/>
          <p:nvPr/>
        </p:nvSpPr>
        <p:spPr>
          <a:xfrm>
            <a:off x="365760" y="1280160"/>
            <a:ext cx="4114800" cy="2834640"/>
          </a:xfrm>
          <a:prstGeom prst="roundRect">
            <a:avLst>
              <a:gd name="adj" fmla="val 2581"/>
            </a:avLst>
          </a:prstGeom>
          <a:solidFill>
            <a:srgbClr val="F3F5F8"/>
          </a:solidFill>
          <a:ln w="12700">
            <a:solidFill>
              <a:srgbClr val="F3F5F8"/>
            </a:solidFill>
            <a:prstDash val="solid"/>
          </a:ln>
        </p:spPr>
        <p:txBody>
          <a:bodyPr/>
          <a:p/>
        </p:txBody>
      </p:sp>
      <p:sp>
        <p:nvSpPr>
          <p:cNvPr id="10" name="Shape 7"/>
          <p:cNvSpPr/>
          <p:nvPr/>
        </p:nvSpPr>
        <p:spPr>
          <a:xfrm>
            <a:off x="502920" y="1399032"/>
            <a:ext cx="347472" cy="347472"/>
          </a:xfrm>
          <a:prstGeom prst="ellipse">
            <a:avLst/>
          </a:prstGeom>
          <a:solidFill>
            <a:srgbClr val="6B7280"/>
          </a:solidFill>
          <a:ln w="12700">
            <a:solidFill>
              <a:srgbClr val="6B7280"/>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76072" y="1472184"/>
            <a:ext cx="201168" cy="201168"/>
          </a:xfrm>
          <a:prstGeom prst="rect">
            <a:avLst/>
          </a:prstGeom>
        </p:spPr>
      </p:pic>
      <p:sp>
        <p:nvSpPr>
          <p:cNvPr id="12" name="Text 8"/>
          <p:cNvSpPr txBox="1"/>
          <p:nvPr/>
        </p:nvSpPr>
        <p:spPr>
          <a:xfrm>
            <a:off x="932688" y="13716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Governance as a document (not enough)</a:t>
            </a:r>
            <a:endParaRPr lang="en-US" sz="1300" dirty="0"/>
          </a:p>
        </p:txBody>
      </p:sp>
      <p:sp>
        <p:nvSpPr>
          <p:cNvPr id="13" name="Text 9"/>
          <p:cNvSpPr txBox="1"/>
          <p:nvPr/>
        </p:nvSpPr>
        <p:spPr>
          <a:xfrm>
            <a:off x="502920" y="1828800"/>
            <a:ext cx="3840480" cy="219456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policy: "we use AI responsibly"</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committee that meets quarterly</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values statement, a code of ethics</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An annual training slide deck</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None of it touched the code that made the decision</a:t>
            </a:r>
            <a:endParaRPr lang="en-US" sz="1200" dirty="0"/>
          </a:p>
        </p:txBody>
      </p:sp>
      <p:sp>
        <p:nvSpPr>
          <p:cNvPr id="14" name="Shape 10"/>
          <p:cNvSpPr/>
          <p:nvPr/>
        </p:nvSpPr>
        <p:spPr>
          <a:xfrm>
            <a:off x="4663440" y="1280160"/>
            <a:ext cx="4114800" cy="2834640"/>
          </a:xfrm>
          <a:prstGeom prst="roundRect">
            <a:avLst>
              <a:gd name="adj" fmla="val 2581"/>
            </a:avLst>
          </a:prstGeom>
          <a:solidFill>
            <a:srgbClr val="E3F1F2"/>
          </a:solidFill>
          <a:ln w="12700">
            <a:solidFill>
              <a:srgbClr val="E3F1F2"/>
            </a:solidFill>
            <a:prstDash val="solid"/>
          </a:ln>
        </p:spPr>
        <p:txBody>
          <a:bodyPr/>
          <a:p/>
        </p:txBody>
      </p:sp>
      <p:sp>
        <p:nvSpPr>
          <p:cNvPr id="15" name="Shape 11"/>
          <p:cNvSpPr/>
          <p:nvPr/>
        </p:nvSpPr>
        <p:spPr>
          <a:xfrm>
            <a:off x="4800600" y="1399032"/>
            <a:ext cx="347472" cy="347472"/>
          </a:xfrm>
          <a:prstGeom prst="ellipse">
            <a:avLst/>
          </a:prstGeom>
          <a:solidFill>
            <a:srgbClr val="0E7C86"/>
          </a:solidFill>
          <a:ln w="12700">
            <a:solidFill>
              <a:srgbClr val="0E7C86"/>
            </a:solidFill>
            <a:prstDash val="solid"/>
          </a:ln>
        </p:spPr>
        <p:txBody>
          <a:bodyPr/>
          <a:p/>
        </p:txBody>
      </p:sp>
      <p:pic>
        <p:nvPicPr>
          <p:cNvPr id="16" name="Image 1" descr="preencoded.png">    </p:cNvPr>
          <p:cNvPicPr>
            <a:picLocks noChangeAspect="1"/>
          </p:cNvPicPr>
          <p:nvPr/>
        </p:nvPicPr>
        <p:blipFill>
          <a:blip r:embed="rId2"/>
          <a:stretch>
            <a:fillRect/>
          </a:stretch>
        </p:blipFill>
        <p:spPr>
          <a:xfrm>
            <a:off x="4873752" y="1472184"/>
            <a:ext cx="201168" cy="201168"/>
          </a:xfrm>
          <a:prstGeom prst="rect">
            <a:avLst/>
          </a:prstGeom>
        </p:spPr>
      </p:pic>
      <p:sp>
        <p:nvSpPr>
          <p:cNvPr id="17" name="Text 12"/>
          <p:cNvSpPr txBox="1"/>
          <p:nvPr/>
        </p:nvSpPr>
        <p:spPr>
          <a:xfrm>
            <a:off x="5230368" y="13716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Governance as controls (the real thing)</a:t>
            </a:r>
            <a:endParaRPr lang="en-US" sz="1300" dirty="0"/>
          </a:p>
        </p:txBody>
      </p:sp>
      <p:sp>
        <p:nvSpPr>
          <p:cNvPr id="18" name="Text 13"/>
          <p:cNvSpPr txBox="1"/>
          <p:nvPr/>
        </p:nvSpPr>
        <p:spPr>
          <a:xfrm>
            <a:off x="4800600" y="1828800"/>
            <a:ext cx="3840480" cy="219456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data-validation step that fails the pipeline (S3)</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bias check before release (S7)</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human approval before an irreversible decision (S5)</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monitor with a threshold and a person (S7, Video 1)</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model card that must exist before deployment (today)</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log of who decided what (today)</a:t>
            </a:r>
            <a:endParaRPr lang="en-US" sz="1200" dirty="0"/>
          </a:p>
        </p:txBody>
      </p:sp>
      <p:sp>
        <p:nvSpPr>
          <p:cNvPr id="19" name="Shape 14"/>
          <p:cNvSpPr/>
          <p:nvPr/>
        </p:nvSpPr>
        <p:spPr>
          <a:xfrm>
            <a:off x="365760" y="4251960"/>
            <a:ext cx="8412480" cy="502920"/>
          </a:xfrm>
          <a:prstGeom prst="roundRect">
            <a:avLst>
              <a:gd name="adj" fmla="val 14545"/>
            </a:avLst>
          </a:prstGeom>
          <a:solidFill>
            <a:srgbClr val="E3F1F2"/>
          </a:solidFill>
          <a:ln w="12700">
            <a:solidFill>
              <a:srgbClr val="E3F1F2"/>
            </a:solidFill>
            <a:prstDash val="solid"/>
          </a:ln>
        </p:spPr>
        <p:txBody>
          <a:bodyPr/>
          <a:p/>
        </p:txBody>
      </p:sp>
      <p:pic>
        <p:nvPicPr>
          <p:cNvPr id="20" name="Image 2" descr="preencoded.png">    </p:cNvPr>
          <p:cNvPicPr>
            <a:picLocks noChangeAspect="1"/>
          </p:cNvPicPr>
          <p:nvPr/>
        </p:nvPicPr>
        <p:blipFill>
          <a:blip r:embed="rId3"/>
          <a:stretch>
            <a:fillRect/>
          </a:stretch>
        </p:blipFill>
        <p:spPr>
          <a:xfrm>
            <a:off x="502920" y="4366260"/>
            <a:ext cx="274320" cy="274320"/>
          </a:xfrm>
          <a:prstGeom prst="rect">
            <a:avLst/>
          </a:prstGeom>
        </p:spPr>
      </p:pic>
      <p:sp>
        <p:nvSpPr>
          <p:cNvPr id="21" name="Text 15"/>
          <p:cNvSpPr txBox="1"/>
          <p:nvPr/>
        </p:nvSpPr>
        <p:spPr>
          <a:xfrm>
            <a:off x="896112" y="4251960"/>
            <a:ext cx="7772400" cy="5029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The test: can you point at the step that enforces it, the artefact that proves it, and the monitor that catches it failing? If the answer is "there is a policy", it is intention, not governance.</a:t>
            </a:r>
            <a:endParaRPr lang="en-US" sz="1100" dirty="0"/>
          </a:p>
        </p:txBody>
      </p:sp>
      <p:pic>
        <p:nvPicPr>
          <p:cNvPr id="22"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Two words that carry the whole idea: intentionality and accountability</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1 · Governance · 3–9 min</a:t>
            </a:r>
            <a:endParaRPr lang="en-US" sz="850" dirty="0"/>
          </a:p>
        </p:txBody>
      </p:sp>
      <p:sp>
        <p:nvSpPr>
          <p:cNvPr id="9" name="Shape 6"/>
          <p:cNvSpPr/>
          <p:nvPr/>
        </p:nvSpPr>
        <p:spPr>
          <a:xfrm>
            <a:off x="365760" y="1280160"/>
            <a:ext cx="4114800" cy="2011680"/>
          </a:xfrm>
          <a:prstGeom prst="roundRect">
            <a:avLst>
              <a:gd name="adj" fmla="val 3636"/>
            </a:avLst>
          </a:prstGeom>
          <a:solidFill>
            <a:srgbClr val="F3F5F8"/>
          </a:solidFill>
          <a:ln w="12700">
            <a:solidFill>
              <a:srgbClr val="F3F5F8"/>
            </a:solidFill>
            <a:prstDash val="solid"/>
          </a:ln>
        </p:spPr>
        <p:txBody>
          <a:bodyPr/>
          <a:p/>
        </p:txBody>
      </p:sp>
      <p:sp>
        <p:nvSpPr>
          <p:cNvPr id="10" name="Shape 7"/>
          <p:cNvSpPr/>
          <p:nvPr/>
        </p:nvSpPr>
        <p:spPr>
          <a:xfrm>
            <a:off x="502920" y="1399032"/>
            <a:ext cx="347472" cy="347472"/>
          </a:xfrm>
          <a:prstGeom prst="ellipse">
            <a:avLst/>
          </a:prstGeom>
          <a:solidFill>
            <a:srgbClr val="0E7C86"/>
          </a:solidFill>
          <a:ln w="12700">
            <a:solidFill>
              <a:srgbClr val="0E7C86"/>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76072" y="1472184"/>
            <a:ext cx="201168" cy="201168"/>
          </a:xfrm>
          <a:prstGeom prst="rect">
            <a:avLst/>
          </a:prstGeom>
        </p:spPr>
      </p:pic>
      <p:sp>
        <p:nvSpPr>
          <p:cNvPr id="12" name="Text 8"/>
          <p:cNvSpPr txBox="1"/>
          <p:nvPr/>
        </p:nvSpPr>
        <p:spPr>
          <a:xfrm>
            <a:off x="932688" y="13716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Intentionality</a:t>
            </a:r>
            <a:endParaRPr lang="en-US" sz="1300" dirty="0"/>
          </a:p>
        </p:txBody>
      </p:sp>
      <p:sp>
        <p:nvSpPr>
          <p:cNvPr id="13" name="Text 9"/>
          <p:cNvSpPr txBox="1"/>
          <p:nvPr/>
        </p:nvSpPr>
        <p:spPr>
          <a:xfrm>
            <a:off x="502920" y="182880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The system does what the organisation meant, and its risks were considered on purpose</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credit model that turns out to rank postcodes was not intentional: nobody chose it, nobody checked</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The question: what is it for, and who could it harm?</a:t>
            </a:r>
            <a:endParaRPr lang="en-US" sz="1200" dirty="0"/>
          </a:p>
        </p:txBody>
      </p:sp>
      <p:sp>
        <p:nvSpPr>
          <p:cNvPr id="14" name="Shape 10"/>
          <p:cNvSpPr/>
          <p:nvPr/>
        </p:nvSpPr>
        <p:spPr>
          <a:xfrm>
            <a:off x="4663440" y="1280160"/>
            <a:ext cx="4114800" cy="2011680"/>
          </a:xfrm>
          <a:prstGeom prst="roundRect">
            <a:avLst>
              <a:gd name="adj" fmla="val 3636"/>
            </a:avLst>
          </a:prstGeom>
          <a:solidFill>
            <a:srgbClr val="F3F5F8"/>
          </a:solidFill>
          <a:ln w="12700">
            <a:solidFill>
              <a:srgbClr val="F3F5F8"/>
            </a:solidFill>
            <a:prstDash val="solid"/>
          </a:ln>
        </p:spPr>
        <p:txBody>
          <a:bodyPr/>
          <a:p/>
        </p:txBody>
      </p:sp>
      <p:sp>
        <p:nvSpPr>
          <p:cNvPr id="15" name="Shape 11"/>
          <p:cNvSpPr/>
          <p:nvPr/>
        </p:nvSpPr>
        <p:spPr>
          <a:xfrm>
            <a:off x="4800600" y="1399032"/>
            <a:ext cx="347472" cy="347472"/>
          </a:xfrm>
          <a:prstGeom prst="ellipse">
            <a:avLst/>
          </a:prstGeom>
          <a:solidFill>
            <a:srgbClr val="E07A2F"/>
          </a:solidFill>
          <a:ln w="12700">
            <a:solidFill>
              <a:srgbClr val="E07A2F"/>
            </a:solidFill>
            <a:prstDash val="solid"/>
          </a:ln>
        </p:spPr>
        <p:txBody>
          <a:bodyPr/>
          <a:p/>
        </p:txBody>
      </p:sp>
      <p:pic>
        <p:nvPicPr>
          <p:cNvPr id="16" name="Image 1" descr="preencoded.png">    </p:cNvPr>
          <p:cNvPicPr>
            <a:picLocks noChangeAspect="1"/>
          </p:cNvPicPr>
          <p:nvPr/>
        </p:nvPicPr>
        <p:blipFill>
          <a:blip r:embed="rId2"/>
          <a:stretch>
            <a:fillRect/>
          </a:stretch>
        </p:blipFill>
        <p:spPr>
          <a:xfrm>
            <a:off x="4873752" y="1472184"/>
            <a:ext cx="201168" cy="201168"/>
          </a:xfrm>
          <a:prstGeom prst="rect">
            <a:avLst/>
          </a:prstGeom>
        </p:spPr>
      </p:pic>
      <p:sp>
        <p:nvSpPr>
          <p:cNvPr id="17" name="Text 12"/>
          <p:cNvSpPr txBox="1"/>
          <p:nvPr/>
        </p:nvSpPr>
        <p:spPr>
          <a:xfrm>
            <a:off x="5230368" y="13716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Accountability</a:t>
            </a:r>
            <a:endParaRPr lang="en-US" sz="1300" dirty="0"/>
          </a:p>
        </p:txBody>
      </p:sp>
      <p:sp>
        <p:nvSpPr>
          <p:cNvPr id="18" name="Text 13"/>
          <p:cNvSpPr txBox="1"/>
          <p:nvPr/>
        </p:nvSpPr>
        <p:spPr>
          <a:xfrm>
            <a:off x="4800600" y="182880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For every decision and every control, a named person or role answers for it</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Not "the algorithm", not "the vendor", not "the company": a person with a job</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The question: who is responsible, and could they have stopped it?</a:t>
            </a:r>
            <a:endParaRPr lang="en-US" sz="1200" dirty="0"/>
          </a:p>
        </p:txBody>
      </p:sp>
      <p:sp>
        <p:nvSpPr>
          <p:cNvPr id="19" name="Shape 14"/>
          <p:cNvSpPr/>
          <p:nvPr/>
        </p:nvSpPr>
        <p:spPr>
          <a:xfrm>
            <a:off x="365760" y="3474720"/>
            <a:ext cx="8412480" cy="457200"/>
          </a:xfrm>
          <a:prstGeom prst="roundRect">
            <a:avLst>
              <a:gd name="adj" fmla="val 12000"/>
            </a:avLst>
          </a:prstGeom>
          <a:solidFill>
            <a:srgbClr val="1B2A4A"/>
          </a:solidFill>
          <a:ln w="9525">
            <a:solidFill>
              <a:srgbClr val="1B2A4A"/>
            </a:solidFill>
            <a:prstDash val="solid"/>
          </a:ln>
        </p:spPr>
        <p:txBody>
          <a:bodyPr/>
          <a:p/>
        </p:txBody>
      </p:sp>
      <p:sp>
        <p:nvSpPr>
          <p:cNvPr id="20" name="Text 15"/>
          <p:cNvSpPr txBox="1"/>
          <p:nvPr/>
        </p:nvSpPr>
        <p:spPr>
          <a:xfrm>
            <a:off x="365760" y="3474720"/>
            <a:ext cx="8412480" cy="457200"/>
          </a:xfrm>
          <a:prstGeom prst="rect">
            <a:avLst/>
          </a:prstGeom>
          <a:noFill/>
          <a:ln/>
        </p:spPr>
        <p:txBody>
          <a:bodyPr wrap="square" lIns="635" tIns="635" rIns="635" bIns="635"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 regulator, an auditor and a journalist all ask the same two questions, in this order: what is it for and who could it harm? — then — who is responsible and could they have stopped it?</a:t>
            </a:r>
            <a:endParaRPr lang="en-US" sz="1150" dirty="0"/>
          </a:p>
        </p:txBody>
      </p:sp>
      <p:sp>
        <p:nvSpPr>
          <p:cNvPr id="21" name="Text 16"/>
          <p:cNvSpPr txBox="1"/>
          <p:nvPr/>
        </p:nvSpPr>
        <p:spPr>
          <a:xfrm>
            <a:off x="365760" y="4069080"/>
            <a:ext cx="8412480" cy="365760"/>
          </a:xfrm>
          <a:prstGeom prst="rect">
            <a:avLst/>
          </a:prstGeom>
          <a:noFill/>
          <a:ln/>
        </p:spPr>
        <p:txBody>
          <a:bodyPr wrap="square" lIns="0" tIns="0" rIns="0" bIns="0" rtlCol="0" anchor="t"/>
          <a:lstStyle/>
          <a:p>
            <a:pPr algn="ctr" indent="0" marL="0">
              <a:buNone/>
            </a:pPr>
            <a:r>
              <a:rPr lang="en-US" sz="1100" b="1" i="1" dirty="0">
                <a:solidFill>
                  <a:srgbClr val="0E7C86"/>
                </a:solidFill>
                <a:latin typeface="Calibri" pitchFamily="34" charset="0"/>
                <a:ea typeface="Calibri" pitchFamily="34" charset="-122"/>
                <a:cs typeface="Calibri" pitchFamily="34" charset="-120"/>
              </a:rPr>
              <a:t>Every framework in this video is a specific way of forcing those two answers before the system is live, not in front of a tribunal.</a:t>
            </a:r>
            <a:endParaRPr lang="en-US" sz="1100" dirty="0"/>
          </a:p>
        </p:txBody>
      </p:sp>
      <p:pic>
        <p:nvPicPr>
          <p:cNvPr id="22"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regulatory landscape: different laws, one recurring pattern</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2 · The landscape · 9–12 min</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5486400" cy="914400"/>
        </p:xfrm>
        <a:graphic>
          <a:graphicData uri="http://schemas.openxmlformats.org/drawingml/2006/table">
            <a:tbl>
              <a:tblPr/>
              <a:tblGrid>
                <a:gridCol w="1280160"/>
                <a:gridCol w="2743200"/>
                <a:gridCol w="1463040"/>
              </a:tblGrid>
              <a:tr h="45720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Where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Shape of the rules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What it means for you</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5720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European Union</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AI Act: one binding, risk-based law across all sectors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Reaches any company doing business in the EU; the focus of this video</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United States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 single federal law: NIST (voluntary), sector rules, state and city laws (Colorado, NYC hiring)</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Know NIST by name; check the sector and the state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United Kingdom</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"Pro-innovation": no single AI law; existing regulators apply principles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Sector regulators, not one AI office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China</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Regulation by application: recommendation algorithms, generative AI, labelling of synthetic content</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Rules attach to the use, not the technology</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Others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Canada, Brazil and more: texts in progress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Moving; check before you rely on a date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6035040" y="1234440"/>
            <a:ext cx="2743200" cy="2926080"/>
          </a:xfrm>
          <a:prstGeom prst="roundRect">
            <a:avLst>
              <a:gd name="adj" fmla="val 2667"/>
            </a:avLst>
          </a:prstGeom>
          <a:solidFill>
            <a:srgbClr val="1B2A4A"/>
          </a:solidFill>
          <a:ln w="12700">
            <a:solidFill>
              <a:srgbClr val="1B2A4A"/>
            </a:solidFill>
            <a:prstDash val="solid"/>
          </a:ln>
        </p:spPr>
        <p:txBody>
          <a:bodyPr/>
          <a:p/>
        </p:txBody>
      </p:sp>
      <p:sp>
        <p:nvSpPr>
          <p:cNvPr id="11" name="Text 7"/>
          <p:cNvSpPr txBox="1"/>
          <p:nvPr/>
        </p:nvSpPr>
        <p:spPr>
          <a:xfrm>
            <a:off x="6217920" y="1307592"/>
            <a:ext cx="2377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One pattern underneath</a:t>
            </a:r>
            <a:endParaRPr lang="en-US" sz="1400" dirty="0"/>
          </a:p>
        </p:txBody>
      </p:sp>
      <p:sp>
        <p:nvSpPr>
          <p:cNvPr id="12" name="Text 8"/>
          <p:cNvSpPr txBox="1"/>
          <p:nvPr/>
        </p:nvSpPr>
        <p:spPr>
          <a:xfrm>
            <a:off x="6217920" y="1673352"/>
            <a:ext cx="2377440" cy="24231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1 · Classify by risk; regulate the high-risk uses hardest.</a:t>
            </a:r>
            <a:endParaRPr lang="en-US" sz="1200" dirty="0"/>
          </a:p>
          <a:p>
            <a:pPr indent="0" marL="0">
              <a:buNone/>
            </a:pP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2 · Require transparency: tell people AI is involved.</a:t>
            </a:r>
            <a:endParaRPr lang="en-US" sz="1200" dirty="0"/>
          </a:p>
          <a:p>
            <a:pPr indent="0" marL="0">
              <a:buNone/>
            </a:pP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3 · Require human oversight for consequential decisions.</a:t>
            </a:r>
            <a:endParaRPr lang="en-US" sz="1200" dirty="0"/>
          </a:p>
          <a:p>
            <a:pPr indent="0" marL="0">
              <a:buNone/>
            </a:pP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4 · Require documentation: show what you built and why.</a:t>
            </a:r>
            <a:endParaRPr lang="en-US" sz="1200" dirty="0"/>
          </a:p>
        </p:txBody>
      </p:sp>
      <p:sp>
        <p:nvSpPr>
          <p:cNvPr id="13" name="Shape 9"/>
          <p:cNvSpPr/>
          <p:nvPr/>
        </p:nvSpPr>
        <p:spPr>
          <a:xfrm>
            <a:off x="365760" y="4206240"/>
            <a:ext cx="8412480" cy="411480"/>
          </a:xfrm>
          <a:prstGeom prst="roundRect">
            <a:avLst>
              <a:gd name="adj" fmla="val 17778"/>
            </a:avLst>
          </a:prstGeom>
          <a:solidFill>
            <a:srgbClr val="E3F1F2"/>
          </a:solidFill>
          <a:ln w="12700">
            <a:solidFill>
              <a:srgbClr val="E3F1F2"/>
            </a:solidFill>
            <a:prstDash val="solid"/>
          </a:ln>
        </p:spPr>
        <p:txBody>
          <a:bodyPr/>
          <a:p/>
        </p:txBody>
      </p:sp>
      <p:pic>
        <p:nvPicPr>
          <p:cNvPr id="14" name="Image 0" descr="preencoded.png">    </p:cNvPr>
          <p:cNvPicPr>
            <a:picLocks noChangeAspect="1"/>
          </p:cNvPicPr>
          <p:nvPr/>
        </p:nvPicPr>
        <p:blipFill>
          <a:blip r:embed="rId1"/>
          <a:stretch>
            <a:fillRect/>
          </a:stretch>
        </p:blipFill>
        <p:spPr>
          <a:xfrm>
            <a:off x="502920" y="4274820"/>
            <a:ext cx="274320" cy="274320"/>
          </a:xfrm>
          <a:prstGeom prst="rect">
            <a:avLst/>
          </a:prstGeom>
        </p:spPr>
      </p:pic>
      <p:sp>
        <p:nvSpPr>
          <p:cNvPr id="15" name="Text 10"/>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Build those four into the pipeline and you are most of the way to compliant almost anywhere. The rest of this video makes them concrete.</a:t>
            </a:r>
            <a:endParaRPr lang="en-US" sz="1100" dirty="0"/>
          </a:p>
        </p:txBody>
      </p:sp>
      <p:pic>
        <p:nvPicPr>
          <p:cNvPr id="16"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EU AI Act: four risk tiers, and the examples you already know</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3 · EU AI Act · 12–27 min</a:t>
            </a:r>
            <a:endParaRPr lang="en-US" sz="850" dirty="0"/>
          </a:p>
        </p:txBody>
      </p:sp>
      <p:sp>
        <p:nvSpPr>
          <p:cNvPr id="9" name="Shape 6"/>
          <p:cNvSpPr/>
          <p:nvPr/>
        </p:nvSpPr>
        <p:spPr>
          <a:xfrm rot="10800000">
            <a:off x="2057400" y="1371600"/>
            <a:ext cx="1188720" cy="621792"/>
          </a:xfrm>
          <a:prstGeom prst="trapezoid">
            <a:avLst/>
          </a:prstGeom>
          <a:solidFill>
            <a:srgbClr val="B42318"/>
          </a:solidFill>
          <a:ln w="19050">
            <a:solidFill>
              <a:srgbClr val="FFFFFF"/>
            </a:solidFill>
            <a:prstDash val="solid"/>
          </a:ln>
        </p:spPr>
        <p:txBody>
          <a:bodyPr/>
          <a:p/>
        </p:txBody>
      </p:sp>
      <p:sp>
        <p:nvSpPr>
          <p:cNvPr id="10" name="Text 7"/>
          <p:cNvSpPr txBox="1"/>
          <p:nvPr/>
        </p:nvSpPr>
        <p:spPr>
          <a:xfrm>
            <a:off x="2057400" y="1371600"/>
            <a:ext cx="1188720" cy="62179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Unacceptable · PROHIBITED</a:t>
            </a:r>
            <a:endParaRPr lang="en-US" sz="850" dirty="0"/>
          </a:p>
        </p:txBody>
      </p:sp>
      <p:sp>
        <p:nvSpPr>
          <p:cNvPr id="11" name="Shape 8"/>
          <p:cNvSpPr/>
          <p:nvPr/>
        </p:nvSpPr>
        <p:spPr>
          <a:xfrm rot="10800000">
            <a:off x="1440180" y="2029968"/>
            <a:ext cx="2423160" cy="621792"/>
          </a:xfrm>
          <a:prstGeom prst="trapezoid">
            <a:avLst/>
          </a:prstGeom>
          <a:solidFill>
            <a:srgbClr val="E07A2F"/>
          </a:solidFill>
          <a:ln w="19050">
            <a:solidFill>
              <a:srgbClr val="FFFFFF"/>
            </a:solidFill>
            <a:prstDash val="solid"/>
          </a:ln>
        </p:spPr>
        <p:txBody>
          <a:bodyPr/>
          <a:p/>
        </p:txBody>
      </p:sp>
      <p:sp>
        <p:nvSpPr>
          <p:cNvPr id="12" name="Text 9"/>
          <p:cNvSpPr txBox="1"/>
          <p:nvPr/>
        </p:nvSpPr>
        <p:spPr>
          <a:xfrm>
            <a:off x="1440180" y="2029968"/>
            <a:ext cx="242316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High-risk · heavily regulated</a:t>
            </a:r>
            <a:endParaRPr lang="en-US" sz="1000" dirty="0"/>
          </a:p>
        </p:txBody>
      </p:sp>
      <p:sp>
        <p:nvSpPr>
          <p:cNvPr id="13" name="Shape 10"/>
          <p:cNvSpPr/>
          <p:nvPr/>
        </p:nvSpPr>
        <p:spPr>
          <a:xfrm rot="10800000">
            <a:off x="822960" y="2688336"/>
            <a:ext cx="3657600" cy="621792"/>
          </a:xfrm>
          <a:prstGeom prst="trapezoid">
            <a:avLst/>
          </a:prstGeom>
          <a:solidFill>
            <a:srgbClr val="0E7C86"/>
          </a:solidFill>
          <a:ln w="19050">
            <a:solidFill>
              <a:srgbClr val="FFFFFF"/>
            </a:solidFill>
            <a:prstDash val="solid"/>
          </a:ln>
        </p:spPr>
        <p:txBody>
          <a:bodyPr/>
          <a:p/>
        </p:txBody>
      </p:sp>
      <p:sp>
        <p:nvSpPr>
          <p:cNvPr id="14" name="Text 11"/>
          <p:cNvSpPr txBox="1"/>
          <p:nvPr/>
        </p:nvSpPr>
        <p:spPr>
          <a:xfrm>
            <a:off x="822960" y="2688336"/>
            <a:ext cx="365760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Limited risk · transparency duty</a:t>
            </a:r>
            <a:endParaRPr lang="en-US" sz="1000" dirty="0"/>
          </a:p>
        </p:txBody>
      </p:sp>
      <p:sp>
        <p:nvSpPr>
          <p:cNvPr id="15" name="Shape 12"/>
          <p:cNvSpPr/>
          <p:nvPr/>
        </p:nvSpPr>
        <p:spPr>
          <a:xfrm rot="10800000">
            <a:off x="205740" y="3346704"/>
            <a:ext cx="4892040" cy="621792"/>
          </a:xfrm>
          <a:prstGeom prst="trapezoid">
            <a:avLst/>
          </a:prstGeom>
          <a:solidFill>
            <a:srgbClr val="9BB0C9"/>
          </a:solidFill>
          <a:ln w="19050">
            <a:solidFill>
              <a:srgbClr val="FFFFFF"/>
            </a:solidFill>
            <a:prstDash val="solid"/>
          </a:ln>
        </p:spPr>
        <p:txBody>
          <a:bodyPr/>
          <a:p/>
        </p:txBody>
      </p:sp>
      <p:sp>
        <p:nvSpPr>
          <p:cNvPr id="16" name="Text 13"/>
          <p:cNvSpPr txBox="1"/>
          <p:nvPr/>
        </p:nvSpPr>
        <p:spPr>
          <a:xfrm>
            <a:off x="205740" y="3346704"/>
            <a:ext cx="489204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Minimal risk · no special rules</a:t>
            </a:r>
            <a:endParaRPr lang="en-US" sz="1000" dirty="0"/>
          </a:p>
        </p:txBody>
      </p:sp>
      <p:sp>
        <p:nvSpPr>
          <p:cNvPr id="17" name="Text 14"/>
          <p:cNvSpPr txBox="1"/>
          <p:nvPr/>
        </p:nvSpPr>
        <p:spPr>
          <a:xfrm>
            <a:off x="5212080" y="1371600"/>
            <a:ext cx="3566160" cy="621792"/>
          </a:xfrm>
          <a:prstGeom prst="rect">
            <a:avLst/>
          </a:prstGeom>
          <a:noFill/>
          <a:ln/>
        </p:spPr>
        <p:txBody>
          <a:bodyPr wrap="square" lIns="0" tIns="0" rIns="0" bIns="0" rtlCol="0" anchor="ctr"/>
          <a:lstStyle/>
          <a:p>
            <a:pPr indent="0" marL="0">
              <a:buNone/>
            </a:pPr>
            <a:r>
              <a:rPr lang="en-US" sz="900" dirty="0">
                <a:solidFill>
                  <a:srgbClr val="222222"/>
                </a:solidFill>
                <a:latin typeface="Calibri" pitchFamily="34" charset="0"/>
                <a:ea typeface="Calibri" pitchFamily="34" charset="-122"/>
                <a:cs typeface="Calibri" pitchFamily="34" charset="-120"/>
              </a:rPr>
              <a:t>social scoring · manipulation · face-scraping · emotion recognition at work</a:t>
            </a:r>
            <a:endParaRPr lang="en-US" sz="900" dirty="0"/>
          </a:p>
        </p:txBody>
      </p:sp>
      <p:sp>
        <p:nvSpPr>
          <p:cNvPr id="18" name="Text 15"/>
          <p:cNvSpPr txBox="1"/>
          <p:nvPr/>
        </p:nvSpPr>
        <p:spPr>
          <a:xfrm>
            <a:off x="5212080" y="2029968"/>
            <a:ext cx="3566160" cy="621792"/>
          </a:xfrm>
          <a:prstGeom prst="rect">
            <a:avLst/>
          </a:prstGeom>
          <a:noFill/>
          <a:ln/>
        </p:spPr>
        <p:txBody>
          <a:bodyPr wrap="square" lIns="0" tIns="0" rIns="0" bIns="0" rtlCol="0" anchor="ctr"/>
          <a:lstStyle/>
          <a:p>
            <a:pPr indent="0" marL="0">
              <a:buNone/>
            </a:pPr>
            <a:r>
              <a:rPr lang="en-US" sz="900" dirty="0">
                <a:solidFill>
                  <a:srgbClr val="222222"/>
                </a:solidFill>
                <a:latin typeface="Calibri" pitchFamily="34" charset="0"/>
                <a:ea typeface="Calibri" pitchFamily="34" charset="-122"/>
                <a:cs typeface="Calibri" pitchFamily="34" charset="-120"/>
              </a:rPr>
              <a:t>credit, hiring, education, essential services, law enforcement, justice, biometrics</a:t>
            </a:r>
            <a:endParaRPr lang="en-US" sz="900" dirty="0"/>
          </a:p>
        </p:txBody>
      </p:sp>
      <p:sp>
        <p:nvSpPr>
          <p:cNvPr id="19" name="Text 16"/>
          <p:cNvSpPr txBox="1"/>
          <p:nvPr/>
        </p:nvSpPr>
        <p:spPr>
          <a:xfrm>
            <a:off x="5212080" y="2688336"/>
            <a:ext cx="3566160" cy="621792"/>
          </a:xfrm>
          <a:prstGeom prst="rect">
            <a:avLst/>
          </a:prstGeom>
          <a:noFill/>
          <a:ln/>
        </p:spPr>
        <p:txBody>
          <a:bodyPr wrap="square" lIns="0" tIns="0" rIns="0" bIns="0" rtlCol="0" anchor="ctr"/>
          <a:lstStyle/>
          <a:p>
            <a:pPr indent="0" marL="0">
              <a:buNone/>
            </a:pPr>
            <a:r>
              <a:rPr lang="en-US" sz="900" dirty="0">
                <a:solidFill>
                  <a:srgbClr val="222222"/>
                </a:solidFill>
                <a:latin typeface="Calibri" pitchFamily="34" charset="0"/>
                <a:ea typeface="Calibri" pitchFamily="34" charset="-122"/>
                <a:cs typeface="Calibri" pitchFamily="34" charset="-120"/>
              </a:rPr>
              <a:t>chatbots disclose · deepfakes labelled</a:t>
            </a:r>
            <a:endParaRPr lang="en-US" sz="900" dirty="0"/>
          </a:p>
        </p:txBody>
      </p:sp>
      <p:sp>
        <p:nvSpPr>
          <p:cNvPr id="20" name="Text 17"/>
          <p:cNvSpPr txBox="1"/>
          <p:nvPr/>
        </p:nvSpPr>
        <p:spPr>
          <a:xfrm>
            <a:off x="5212080" y="3346704"/>
            <a:ext cx="3566160" cy="621792"/>
          </a:xfrm>
          <a:prstGeom prst="rect">
            <a:avLst/>
          </a:prstGeom>
          <a:noFill/>
          <a:ln/>
        </p:spPr>
        <p:txBody>
          <a:bodyPr wrap="square" lIns="0" tIns="0" rIns="0" bIns="0" rtlCol="0" anchor="ctr"/>
          <a:lstStyle/>
          <a:p>
            <a:pPr indent="0" marL="0">
              <a:buNone/>
            </a:pPr>
            <a:r>
              <a:rPr lang="en-US" sz="900" dirty="0">
                <a:solidFill>
                  <a:srgbClr val="222222"/>
                </a:solidFill>
                <a:latin typeface="Calibri" pitchFamily="34" charset="0"/>
                <a:ea typeface="Calibri" pitchFamily="34" charset="-122"/>
                <a:cs typeface="Calibri" pitchFamily="34" charset="-120"/>
              </a:rPr>
              <a:t>spam filters · recommendations · games</a:t>
            </a:r>
            <a:endParaRPr lang="en-US" sz="900" dirty="0"/>
          </a:p>
        </p:txBody>
      </p:sp>
      <p:sp>
        <p:nvSpPr>
          <p:cNvPr id="21" name="Text 18"/>
          <p:cNvSpPr txBox="1"/>
          <p:nvPr/>
        </p:nvSpPr>
        <p:spPr>
          <a:xfrm>
            <a:off x="365760" y="4251960"/>
            <a:ext cx="8412480" cy="320040"/>
          </a:xfrm>
          <a:prstGeom prst="rect">
            <a:avLst/>
          </a:prstGeom>
          <a:noFill/>
          <a:ln/>
        </p:spPr>
        <p:txBody>
          <a:bodyPr wrap="square" lIns="0" tIns="0" rIns="0" bIns="0" rtlCol="0" anchor="t"/>
          <a:lstStyle/>
          <a:p>
            <a:pPr algn="ctr" indent="0" marL="0">
              <a:buNone/>
            </a:pPr>
            <a:r>
              <a:rPr lang="en-US" sz="1150" b="1" dirty="0">
                <a:solidFill>
                  <a:srgbClr val="0E7C86"/>
                </a:solidFill>
                <a:latin typeface="Calibri" pitchFamily="34" charset="0"/>
                <a:ea typeface="Calibri" pitchFamily="34" charset="-122"/>
                <a:cs typeface="Calibri" pitchFamily="34" charset="-120"/>
              </a:rPr>
              <a:t>Place any AI system on this pyramid first. The tier decides every obligation that follows.</a:t>
            </a:r>
            <a:endParaRPr lang="en-US" sz="1150" dirty="0"/>
          </a:p>
        </p:txBody>
      </p:sp>
      <p:pic>
        <p:nvPicPr>
          <p:cNvPr id="22"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High-risk systems: seven obligations, and who carries them</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3 · EU AI Act · 12–27 min</a:t>
            </a:r>
            <a:endParaRPr lang="en-US" sz="850" dirty="0"/>
          </a:p>
        </p:txBody>
      </p:sp>
      <p:sp>
        <p:nvSpPr>
          <p:cNvPr id="9" name="Shape 6"/>
          <p:cNvSpPr/>
          <p:nvPr/>
        </p:nvSpPr>
        <p:spPr>
          <a:xfrm>
            <a:off x="365760" y="1234440"/>
            <a:ext cx="420624" cy="420624"/>
          </a:xfrm>
          <a:prstGeom prst="ellipse">
            <a:avLst/>
          </a:prstGeom>
          <a:solidFill>
            <a:srgbClr val="0E7C86"/>
          </a:solidFill>
          <a:ln w="12700">
            <a:solidFill>
              <a:srgbClr val="0E7C86"/>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457200" y="1325880"/>
            <a:ext cx="237744" cy="237744"/>
          </a:xfrm>
          <a:prstGeom prst="rect">
            <a:avLst/>
          </a:prstGeom>
        </p:spPr>
      </p:pic>
      <p:sp>
        <p:nvSpPr>
          <p:cNvPr id="11" name="Text 7"/>
          <p:cNvSpPr txBox="1"/>
          <p:nvPr/>
        </p:nvSpPr>
        <p:spPr>
          <a:xfrm>
            <a:off x="914400" y="1216152"/>
            <a:ext cx="356616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Risk management</a:t>
            </a:r>
            <a:endParaRPr lang="en-US" sz="1150" dirty="0"/>
          </a:p>
        </p:txBody>
      </p:sp>
      <p:sp>
        <p:nvSpPr>
          <p:cNvPr id="12" name="Text 8"/>
          <p:cNvSpPr txBox="1"/>
          <p:nvPr/>
        </p:nvSpPr>
        <p:spPr>
          <a:xfrm>
            <a:off x="914400" y="1472184"/>
            <a:ext cx="356616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identify and mitigate, across the lifecycle (model card + monitoring plan)</a:t>
            </a:r>
            <a:endParaRPr lang="en-US" sz="1100" dirty="0"/>
          </a:p>
        </p:txBody>
      </p:sp>
      <p:sp>
        <p:nvSpPr>
          <p:cNvPr id="13" name="Shape 9"/>
          <p:cNvSpPr/>
          <p:nvPr/>
        </p:nvSpPr>
        <p:spPr>
          <a:xfrm>
            <a:off x="4709160" y="1234440"/>
            <a:ext cx="420624" cy="420624"/>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00600" y="1325880"/>
            <a:ext cx="237744" cy="237744"/>
          </a:xfrm>
          <a:prstGeom prst="rect">
            <a:avLst/>
          </a:prstGeom>
        </p:spPr>
      </p:pic>
      <p:sp>
        <p:nvSpPr>
          <p:cNvPr id="15" name="Text 10"/>
          <p:cNvSpPr txBox="1"/>
          <p:nvPr/>
        </p:nvSpPr>
        <p:spPr>
          <a:xfrm>
            <a:off x="5257800" y="1216152"/>
            <a:ext cx="356616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Data governance</a:t>
            </a:r>
            <a:endParaRPr lang="en-US" sz="1150" dirty="0"/>
          </a:p>
        </p:txBody>
      </p:sp>
      <p:sp>
        <p:nvSpPr>
          <p:cNvPr id="16" name="Text 11"/>
          <p:cNvSpPr txBox="1"/>
          <p:nvPr/>
        </p:nvSpPr>
        <p:spPr>
          <a:xfrm>
            <a:off x="5257800" y="1472184"/>
            <a:ext cx="356616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relevant, representative, bias-checked training data (S3, S7)</a:t>
            </a:r>
            <a:endParaRPr lang="en-US" sz="1100" dirty="0"/>
          </a:p>
        </p:txBody>
      </p:sp>
      <p:sp>
        <p:nvSpPr>
          <p:cNvPr id="17" name="Shape 12"/>
          <p:cNvSpPr/>
          <p:nvPr/>
        </p:nvSpPr>
        <p:spPr>
          <a:xfrm>
            <a:off x="365760" y="1801368"/>
            <a:ext cx="420624" cy="420624"/>
          </a:xfrm>
          <a:prstGeom prst="ellipse">
            <a:avLst/>
          </a:prstGeom>
          <a:solidFill>
            <a:srgbClr val="0E7C86"/>
          </a:solidFill>
          <a:ln w="12700">
            <a:solidFill>
              <a:srgbClr val="0E7C86"/>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457200" y="1892808"/>
            <a:ext cx="237744" cy="237744"/>
          </a:xfrm>
          <a:prstGeom prst="rect">
            <a:avLst/>
          </a:prstGeom>
        </p:spPr>
      </p:pic>
      <p:sp>
        <p:nvSpPr>
          <p:cNvPr id="19" name="Text 13"/>
          <p:cNvSpPr txBox="1"/>
          <p:nvPr/>
        </p:nvSpPr>
        <p:spPr>
          <a:xfrm>
            <a:off x="914400" y="1783080"/>
            <a:ext cx="356616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Technical documentation</a:t>
            </a:r>
            <a:endParaRPr lang="en-US" sz="1150" dirty="0"/>
          </a:p>
        </p:txBody>
      </p:sp>
      <p:sp>
        <p:nvSpPr>
          <p:cNvPr id="20" name="Text 14"/>
          <p:cNvSpPr txBox="1"/>
          <p:nvPr/>
        </p:nvSpPr>
        <p:spPr>
          <a:xfrm>
            <a:off x="914400" y="2039112"/>
            <a:ext cx="356616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enough for an authority to understand the system</a:t>
            </a:r>
            <a:endParaRPr lang="en-US" sz="1100" dirty="0"/>
          </a:p>
        </p:txBody>
      </p:sp>
      <p:sp>
        <p:nvSpPr>
          <p:cNvPr id="21" name="Shape 15"/>
          <p:cNvSpPr/>
          <p:nvPr/>
        </p:nvSpPr>
        <p:spPr>
          <a:xfrm>
            <a:off x="4709160" y="1801368"/>
            <a:ext cx="420624" cy="420624"/>
          </a:xfrm>
          <a:prstGeom prst="ellipse">
            <a:avLst/>
          </a:prstGeom>
          <a:solidFill>
            <a:srgbClr val="0E7C86"/>
          </a:solidFill>
          <a:ln w="12700">
            <a:solidFill>
              <a:srgbClr val="0E7C86"/>
            </a:solidFill>
            <a:prstDash val="solid"/>
          </a:ln>
        </p:spPr>
        <p:txBody>
          <a:bodyPr/>
          <a:p/>
        </p:txBody>
      </p:sp>
      <p:pic>
        <p:nvPicPr>
          <p:cNvPr id="22" name="Image 3" descr="preencoded.png">    </p:cNvPr>
          <p:cNvPicPr>
            <a:picLocks noChangeAspect="1"/>
          </p:cNvPicPr>
          <p:nvPr/>
        </p:nvPicPr>
        <p:blipFill>
          <a:blip r:embed="rId4"/>
          <a:stretch>
            <a:fillRect/>
          </a:stretch>
        </p:blipFill>
        <p:spPr>
          <a:xfrm>
            <a:off x="4800600" y="1892808"/>
            <a:ext cx="237744" cy="237744"/>
          </a:xfrm>
          <a:prstGeom prst="rect">
            <a:avLst/>
          </a:prstGeom>
        </p:spPr>
      </p:pic>
      <p:sp>
        <p:nvSpPr>
          <p:cNvPr id="23" name="Text 16"/>
          <p:cNvSpPr txBox="1"/>
          <p:nvPr/>
        </p:nvSpPr>
        <p:spPr>
          <a:xfrm>
            <a:off x="5257800" y="1783080"/>
            <a:ext cx="356616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Record-keeping</a:t>
            </a:r>
            <a:endParaRPr lang="en-US" sz="1150" dirty="0"/>
          </a:p>
        </p:txBody>
      </p:sp>
      <p:sp>
        <p:nvSpPr>
          <p:cNvPr id="24" name="Text 17"/>
          <p:cNvSpPr txBox="1"/>
          <p:nvPr/>
        </p:nvSpPr>
        <p:spPr>
          <a:xfrm>
            <a:off x="5257800" y="2039112"/>
            <a:ext cx="356616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automatic logs of operation (your logging and monitoring)</a:t>
            </a:r>
            <a:endParaRPr lang="en-US" sz="1100" dirty="0"/>
          </a:p>
        </p:txBody>
      </p:sp>
      <p:sp>
        <p:nvSpPr>
          <p:cNvPr id="25" name="Shape 18"/>
          <p:cNvSpPr/>
          <p:nvPr/>
        </p:nvSpPr>
        <p:spPr>
          <a:xfrm>
            <a:off x="365760" y="2368296"/>
            <a:ext cx="420624" cy="420624"/>
          </a:xfrm>
          <a:prstGeom prst="ellipse">
            <a:avLst/>
          </a:prstGeom>
          <a:solidFill>
            <a:srgbClr val="0E7C86"/>
          </a:solidFill>
          <a:ln w="12700">
            <a:solidFill>
              <a:srgbClr val="0E7C86"/>
            </a:solidFill>
            <a:prstDash val="solid"/>
          </a:ln>
        </p:spPr>
        <p:txBody>
          <a:bodyPr/>
          <a:p/>
        </p:txBody>
      </p:sp>
      <p:pic>
        <p:nvPicPr>
          <p:cNvPr id="26" name="Image 4" descr="preencoded.png">    </p:cNvPr>
          <p:cNvPicPr>
            <a:picLocks noChangeAspect="1"/>
          </p:cNvPicPr>
          <p:nvPr/>
        </p:nvPicPr>
        <p:blipFill>
          <a:blip r:embed="rId5"/>
          <a:stretch>
            <a:fillRect/>
          </a:stretch>
        </p:blipFill>
        <p:spPr>
          <a:xfrm>
            <a:off x="457200" y="2459736"/>
            <a:ext cx="237744" cy="237744"/>
          </a:xfrm>
          <a:prstGeom prst="rect">
            <a:avLst/>
          </a:prstGeom>
        </p:spPr>
      </p:pic>
      <p:sp>
        <p:nvSpPr>
          <p:cNvPr id="27" name="Text 19"/>
          <p:cNvSpPr txBox="1"/>
          <p:nvPr/>
        </p:nvSpPr>
        <p:spPr>
          <a:xfrm>
            <a:off x="914400" y="2350008"/>
            <a:ext cx="356616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Transparency to deployers</a:t>
            </a:r>
            <a:endParaRPr lang="en-US" sz="1150" dirty="0"/>
          </a:p>
        </p:txBody>
      </p:sp>
      <p:sp>
        <p:nvSpPr>
          <p:cNvPr id="28" name="Text 20"/>
          <p:cNvSpPr txBox="1"/>
          <p:nvPr/>
        </p:nvSpPr>
        <p:spPr>
          <a:xfrm>
            <a:off x="914400" y="2606040"/>
            <a:ext cx="356616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how to use it, and its limits, in writing</a:t>
            </a:r>
            <a:endParaRPr lang="en-US" sz="1100" dirty="0"/>
          </a:p>
        </p:txBody>
      </p:sp>
      <p:sp>
        <p:nvSpPr>
          <p:cNvPr id="29" name="Shape 21"/>
          <p:cNvSpPr/>
          <p:nvPr/>
        </p:nvSpPr>
        <p:spPr>
          <a:xfrm>
            <a:off x="4709160" y="2368296"/>
            <a:ext cx="420624" cy="420624"/>
          </a:xfrm>
          <a:prstGeom prst="ellipse">
            <a:avLst/>
          </a:prstGeom>
          <a:solidFill>
            <a:srgbClr val="0E7C86"/>
          </a:solidFill>
          <a:ln w="12700">
            <a:solidFill>
              <a:srgbClr val="0E7C86"/>
            </a:solidFill>
            <a:prstDash val="solid"/>
          </a:ln>
        </p:spPr>
        <p:txBody>
          <a:bodyPr/>
          <a:p/>
        </p:txBody>
      </p:sp>
      <p:pic>
        <p:nvPicPr>
          <p:cNvPr id="30" name="Image 5" descr="preencoded.png">    </p:cNvPr>
          <p:cNvPicPr>
            <a:picLocks noChangeAspect="1"/>
          </p:cNvPicPr>
          <p:nvPr/>
        </p:nvPicPr>
        <p:blipFill>
          <a:blip r:embed="rId6"/>
          <a:stretch>
            <a:fillRect/>
          </a:stretch>
        </p:blipFill>
        <p:spPr>
          <a:xfrm>
            <a:off x="4800600" y="2459736"/>
            <a:ext cx="237744" cy="237744"/>
          </a:xfrm>
          <a:prstGeom prst="rect">
            <a:avLst/>
          </a:prstGeom>
        </p:spPr>
      </p:pic>
      <p:sp>
        <p:nvSpPr>
          <p:cNvPr id="31" name="Text 22"/>
          <p:cNvSpPr txBox="1"/>
          <p:nvPr/>
        </p:nvSpPr>
        <p:spPr>
          <a:xfrm>
            <a:off x="5257800" y="2350008"/>
            <a:ext cx="356616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Human oversight</a:t>
            </a:r>
            <a:endParaRPr lang="en-US" sz="1150" dirty="0"/>
          </a:p>
        </p:txBody>
      </p:sp>
      <p:sp>
        <p:nvSpPr>
          <p:cNvPr id="32" name="Text 23"/>
          <p:cNvSpPr txBox="1"/>
          <p:nvPr/>
        </p:nvSpPr>
        <p:spPr>
          <a:xfrm>
            <a:off x="5257800" y="2606040"/>
            <a:ext cx="356616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a person can understand, override and stop it (S5)</a:t>
            </a:r>
            <a:endParaRPr lang="en-US" sz="1100" dirty="0"/>
          </a:p>
        </p:txBody>
      </p:sp>
      <p:sp>
        <p:nvSpPr>
          <p:cNvPr id="33" name="Shape 24"/>
          <p:cNvSpPr/>
          <p:nvPr/>
        </p:nvSpPr>
        <p:spPr>
          <a:xfrm>
            <a:off x="365760" y="2935224"/>
            <a:ext cx="420624" cy="420624"/>
          </a:xfrm>
          <a:prstGeom prst="ellipse">
            <a:avLst/>
          </a:prstGeom>
          <a:solidFill>
            <a:srgbClr val="0E7C86"/>
          </a:solidFill>
          <a:ln w="12700">
            <a:solidFill>
              <a:srgbClr val="0E7C86"/>
            </a:solidFill>
            <a:prstDash val="solid"/>
          </a:ln>
        </p:spPr>
        <p:txBody>
          <a:bodyPr/>
          <a:p/>
        </p:txBody>
      </p:sp>
      <p:pic>
        <p:nvPicPr>
          <p:cNvPr id="34" name="Image 6" descr="preencoded.png">    </p:cNvPr>
          <p:cNvPicPr>
            <a:picLocks noChangeAspect="1"/>
          </p:cNvPicPr>
          <p:nvPr/>
        </p:nvPicPr>
        <p:blipFill>
          <a:blip r:embed="rId7"/>
          <a:stretch>
            <a:fillRect/>
          </a:stretch>
        </p:blipFill>
        <p:spPr>
          <a:xfrm>
            <a:off x="457200" y="3026664"/>
            <a:ext cx="237744" cy="237744"/>
          </a:xfrm>
          <a:prstGeom prst="rect">
            <a:avLst/>
          </a:prstGeom>
        </p:spPr>
      </p:pic>
      <p:sp>
        <p:nvSpPr>
          <p:cNvPr id="35" name="Text 25"/>
          <p:cNvSpPr txBox="1"/>
          <p:nvPr/>
        </p:nvSpPr>
        <p:spPr>
          <a:xfrm>
            <a:off x="914400" y="2916936"/>
            <a:ext cx="786384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Accuracy, robustness, security</a:t>
            </a:r>
            <a:endParaRPr lang="en-US" sz="1150" dirty="0"/>
          </a:p>
        </p:txBody>
      </p:sp>
      <p:sp>
        <p:nvSpPr>
          <p:cNvPr id="36" name="Text 26"/>
          <p:cNvSpPr txBox="1"/>
          <p:nvPr/>
        </p:nvSpPr>
        <p:spPr>
          <a:xfrm>
            <a:off x="914400" y="3172968"/>
            <a:ext cx="786384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performs as claimed, resists manipulation, is secure (S5, S3)</a:t>
            </a:r>
            <a:endParaRPr lang="en-US" sz="1100" dirty="0"/>
          </a:p>
        </p:txBody>
      </p:sp>
      <p:sp>
        <p:nvSpPr>
          <p:cNvPr id="37" name="Shape 27"/>
          <p:cNvSpPr/>
          <p:nvPr/>
        </p:nvSpPr>
        <p:spPr>
          <a:xfrm>
            <a:off x="365760" y="3429000"/>
            <a:ext cx="4114800" cy="1005840"/>
          </a:xfrm>
          <a:prstGeom prst="roundRect">
            <a:avLst>
              <a:gd name="adj" fmla="val 7273"/>
            </a:avLst>
          </a:prstGeom>
          <a:solidFill>
            <a:srgbClr val="E3F1F2"/>
          </a:solidFill>
          <a:ln w="12700">
            <a:solidFill>
              <a:srgbClr val="E3F1F2"/>
            </a:solidFill>
            <a:prstDash val="solid"/>
          </a:ln>
        </p:spPr>
        <p:txBody>
          <a:bodyPr/>
          <a:p/>
        </p:txBody>
      </p:sp>
      <p:sp>
        <p:nvSpPr>
          <p:cNvPr id="38" name="Text 28"/>
          <p:cNvSpPr txBox="1"/>
          <p:nvPr/>
        </p:nvSpPr>
        <p:spPr>
          <a:xfrm>
            <a:off x="502920" y="3520440"/>
            <a:ext cx="38404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Provider</a:t>
            </a:r>
            <a:endParaRPr lang="en-US" sz="1300" dirty="0"/>
          </a:p>
        </p:txBody>
      </p:sp>
      <p:sp>
        <p:nvSpPr>
          <p:cNvPr id="39" name="Text 29"/>
          <p:cNvSpPr txBox="1"/>
          <p:nvPr/>
        </p:nvSpPr>
        <p:spPr>
          <a:xfrm>
            <a:off x="502920" y="3886200"/>
            <a:ext cx="3840480" cy="457200"/>
          </a:xfrm>
          <a:prstGeom prst="rect">
            <a:avLst/>
          </a:prstGeom>
          <a:noFill/>
          <a:ln/>
        </p:spPr>
        <p:txBody>
          <a:bodyPr wrap="square" lIns="0" tIns="0" rIns="0" bIns="0"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Builds or substantially modifies the system. Carries most of the seven obligations.</a:t>
            </a:r>
            <a:endParaRPr lang="en-US" sz="1100" dirty="0"/>
          </a:p>
        </p:txBody>
      </p:sp>
      <p:sp>
        <p:nvSpPr>
          <p:cNvPr id="40" name="Shape 30"/>
          <p:cNvSpPr/>
          <p:nvPr/>
        </p:nvSpPr>
        <p:spPr>
          <a:xfrm>
            <a:off x="4663440" y="3429000"/>
            <a:ext cx="4114800" cy="1005840"/>
          </a:xfrm>
          <a:prstGeom prst="roundRect">
            <a:avLst>
              <a:gd name="adj" fmla="val 7273"/>
            </a:avLst>
          </a:prstGeom>
          <a:solidFill>
            <a:srgbClr val="FBE9DC"/>
          </a:solidFill>
          <a:ln w="12700">
            <a:solidFill>
              <a:srgbClr val="FBE9DC"/>
            </a:solidFill>
            <a:prstDash val="solid"/>
          </a:ln>
        </p:spPr>
        <p:txBody>
          <a:bodyPr/>
          <a:p/>
        </p:txBody>
      </p:sp>
      <p:sp>
        <p:nvSpPr>
          <p:cNvPr id="41" name="Text 31"/>
          <p:cNvSpPr txBox="1"/>
          <p:nvPr/>
        </p:nvSpPr>
        <p:spPr>
          <a:xfrm>
            <a:off x="4800600" y="3520440"/>
            <a:ext cx="38404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Deployer</a:t>
            </a:r>
            <a:endParaRPr lang="en-US" sz="1300" dirty="0"/>
          </a:p>
        </p:txBody>
      </p:sp>
      <p:sp>
        <p:nvSpPr>
          <p:cNvPr id="42" name="Text 32"/>
          <p:cNvSpPr txBox="1"/>
          <p:nvPr/>
        </p:nvSpPr>
        <p:spPr>
          <a:xfrm>
            <a:off x="4800600" y="3886200"/>
            <a:ext cx="3840480" cy="457200"/>
          </a:xfrm>
          <a:prstGeom prst="rect">
            <a:avLst/>
          </a:prstGeom>
          <a:noFill/>
          <a:ln/>
        </p:spPr>
        <p:txBody>
          <a:bodyPr wrap="square" lIns="0" tIns="0" rIns="0" bIns="0"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Uses it under its own authority. Carries oversight, monitoring in use, and a fundamental-rights impact assessment for some uses.</a:t>
            </a:r>
            <a:endParaRPr lang="en-US" sz="1100" dirty="0"/>
          </a:p>
        </p:txBody>
      </p:sp>
      <p:sp>
        <p:nvSpPr>
          <p:cNvPr id="43" name="Text 33"/>
          <p:cNvSpPr txBox="1"/>
          <p:nvPr/>
        </p:nvSpPr>
        <p:spPr>
          <a:xfrm>
            <a:off x="365760" y="4480560"/>
            <a:ext cx="8412480" cy="274320"/>
          </a:xfrm>
          <a:prstGeom prst="rect">
            <a:avLst/>
          </a:prstGeom>
          <a:noFill/>
          <a:ln/>
        </p:spPr>
        <p:txBody>
          <a:bodyPr wrap="square" lIns="0" tIns="0" rIns="0" bIns="0" rtlCol="0" anchor="t"/>
          <a:lstStyle/>
          <a:p>
            <a:pPr algn="l" indent="0" marL="0">
              <a:buNone/>
            </a:pPr>
            <a:r>
              <a:rPr lang="en-US" sz="1050" b="1" i="1" dirty="0">
                <a:solidFill>
                  <a:srgbClr val="1B2A4A"/>
                </a:solidFill>
                <a:latin typeface="Calibri" pitchFamily="34" charset="0"/>
                <a:ea typeface="Calibri" pitchFamily="34" charset="-122"/>
                <a:cs typeface="Calibri" pitchFamily="34" charset="-120"/>
              </a:rPr>
              <a:t>Buy a model → you are a deployer. Fine-tune or build one → you become a provider. Say which, for each system, in the project.</a:t>
            </a:r>
            <a:endParaRPr lang="en-US" sz="1050" dirty="0"/>
          </a:p>
        </p:txBody>
      </p:sp>
      <p:pic>
        <p:nvPicPr>
          <p:cNvPr id="44" name="IE University logo" descr="IE University, School of Science &amp; Technology"/>
          <p:cNvPicPr>
            <a:picLocks noChangeAspect="1"/>
          </p:cNvPicPr>
          <p:nvPr/>
        </p:nvPicPr>
        <p:blipFill>
          <a:blip r:embed="rId10"/>
          <a:stretch>
            <a:fillRect/>
          </a:stretch>
        </p:blipFill>
        <p:spPr>
          <a:xfrm>
            <a:off x="8013607" y="92634"/>
            <a:ext cx="764633" cy="2627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Limited risk and generative AI: the transparency duties</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3 · EU AI Act · 12–27 min</a:t>
            </a:r>
            <a:endParaRPr lang="en-US" sz="850" dirty="0"/>
          </a:p>
        </p:txBody>
      </p:sp>
      <p:sp>
        <p:nvSpPr>
          <p:cNvPr id="9" name="Shape 6"/>
          <p:cNvSpPr/>
          <p:nvPr/>
        </p:nvSpPr>
        <p:spPr>
          <a:xfrm>
            <a:off x="365760" y="1234440"/>
            <a:ext cx="4114800" cy="2286000"/>
          </a:xfrm>
          <a:prstGeom prst="roundRect">
            <a:avLst>
              <a:gd name="adj" fmla="val 3200"/>
            </a:avLst>
          </a:prstGeom>
          <a:solidFill>
            <a:srgbClr val="F3F5F8"/>
          </a:solidFill>
          <a:ln w="12700">
            <a:solidFill>
              <a:srgbClr val="F3F5F8"/>
            </a:solidFill>
            <a:prstDash val="solid"/>
          </a:ln>
        </p:spPr>
        <p:txBody>
          <a:bodyPr/>
          <a:p/>
        </p:txBody>
      </p:sp>
      <p:sp>
        <p:nvSpPr>
          <p:cNvPr id="10" name="Shape 7"/>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2" name="Text 8"/>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Limited risk: transparency duties (now)</a:t>
            </a:r>
            <a:endParaRPr lang="en-US" sz="1300" dirty="0"/>
          </a:p>
        </p:txBody>
      </p:sp>
      <p:sp>
        <p:nvSpPr>
          <p:cNvPr id="13" name="Text 9"/>
          <p:cNvSpPr txBox="1"/>
          <p:nvPr/>
        </p:nvSpPr>
        <p:spPr>
          <a:xfrm>
            <a:off x="502920" y="1783080"/>
            <a:ext cx="3840480" cy="16459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 chatbot must tell the user it is AI, not a person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AI-generated or manipulated content (deepfakes) must be labelled</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People must be told when an emotion-recognition or biometric-categorisation system is used on them</a:t>
            </a:r>
            <a:endParaRPr lang="en-US" sz="1150" dirty="0"/>
          </a:p>
        </p:txBody>
      </p:sp>
      <p:sp>
        <p:nvSpPr>
          <p:cNvPr id="14" name="Shape 10"/>
          <p:cNvSpPr/>
          <p:nvPr/>
        </p:nvSpPr>
        <p:spPr>
          <a:xfrm>
            <a:off x="4663440" y="1234440"/>
            <a:ext cx="4114800" cy="2286000"/>
          </a:xfrm>
          <a:prstGeom prst="roundRect">
            <a:avLst>
              <a:gd name="adj" fmla="val 3200"/>
            </a:avLst>
          </a:prstGeom>
          <a:solidFill>
            <a:srgbClr val="F3F5F8"/>
          </a:solidFill>
          <a:ln w="12700">
            <a:solidFill>
              <a:srgbClr val="F3F5F8"/>
            </a:solidFill>
            <a:prstDash val="solid"/>
          </a:ln>
        </p:spPr>
        <p:txBody>
          <a:bodyPr/>
          <a:p/>
        </p:txBody>
      </p:sp>
      <p:sp>
        <p:nvSpPr>
          <p:cNvPr id="15" name="Shape 11"/>
          <p:cNvSpPr/>
          <p:nvPr/>
        </p:nvSpPr>
        <p:spPr>
          <a:xfrm>
            <a:off x="4800600" y="1353312"/>
            <a:ext cx="347472" cy="347472"/>
          </a:xfrm>
          <a:prstGeom prst="ellipse">
            <a:avLst/>
          </a:prstGeom>
          <a:solidFill>
            <a:srgbClr val="E07A2F"/>
          </a:solidFill>
          <a:ln w="12700">
            <a:solidFill>
              <a:srgbClr val="E07A2F"/>
            </a:solidFill>
            <a:prstDash val="solid"/>
          </a:ln>
        </p:spPr>
        <p:txBody>
          <a:bodyPr/>
          <a:p/>
        </p:txBody>
      </p:sp>
      <p:pic>
        <p:nvPicPr>
          <p:cNvPr id="16"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7" name="Text 12"/>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General-purpose AI (since Aug 2025)</a:t>
            </a:r>
            <a:endParaRPr lang="en-US" sz="1300" dirty="0"/>
          </a:p>
        </p:txBody>
      </p:sp>
      <p:sp>
        <p:nvSpPr>
          <p:cNvPr id="18" name="Text 13"/>
          <p:cNvSpPr txBox="1"/>
          <p:nvPr/>
        </p:nvSpPr>
        <p:spPr>
          <a:xfrm>
            <a:off x="4800600" y="1783080"/>
            <a:ext cx="3840480" cy="16459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Model providers: technical documentation, a training-data summary, a copyright policy</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Models with "systemic risk": extra evaluation and security duties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As a deployer you rely on the provider's docs and add your own layer</a:t>
            </a:r>
            <a:endParaRPr lang="en-US" sz="1150" dirty="0"/>
          </a:p>
        </p:txBody>
      </p:sp>
      <p:sp>
        <p:nvSpPr>
          <p:cNvPr id="19" name="Shape 14"/>
          <p:cNvSpPr/>
          <p:nvPr/>
        </p:nvSpPr>
        <p:spPr>
          <a:xfrm>
            <a:off x="365760" y="370332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20" name="Image 2" descr="preencoded.png">    </p:cNvPr>
          <p:cNvPicPr>
            <a:picLocks noChangeAspect="1"/>
          </p:cNvPicPr>
          <p:nvPr/>
        </p:nvPicPr>
        <p:blipFill>
          <a:blip r:embed="rId3"/>
          <a:stretch>
            <a:fillRect/>
          </a:stretch>
        </p:blipFill>
        <p:spPr>
          <a:xfrm>
            <a:off x="502920" y="3840480"/>
            <a:ext cx="274320" cy="274320"/>
          </a:xfrm>
          <a:prstGeom prst="rect">
            <a:avLst/>
          </a:prstGeom>
        </p:spPr>
      </p:pic>
      <p:sp>
        <p:nvSpPr>
          <p:cNvPr id="21" name="Text 15"/>
          <p:cNvSpPr txBox="1"/>
          <p:nvPr/>
        </p:nvSpPr>
        <p:spPr>
          <a:xfrm>
            <a:off x="896112" y="3703320"/>
            <a:ext cx="7772400" cy="54864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The HR assistant: limited-risk as a product (tell users it is AI, log prompts, keep a human in the loop), built on a general-purpose model whose provider carries the model-level duties.</a:t>
            </a:r>
            <a:endParaRPr lang="en-US" sz="1100" dirty="0"/>
          </a:p>
        </p:txBody>
      </p:sp>
      <p:pic>
        <p:nvPicPr>
          <p:cNvPr id="22"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timeline: what applies now, and the date that moved</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3 · EU AI Act · 12–27 min</a:t>
            </a:r>
            <a:endParaRPr lang="en-US" sz="850" dirty="0"/>
          </a:p>
        </p:txBody>
      </p:sp>
      <p:sp>
        <p:nvSpPr>
          <p:cNvPr id="9" name="Shape 6"/>
          <p:cNvSpPr/>
          <p:nvPr/>
        </p:nvSpPr>
        <p:spPr>
          <a:xfrm>
            <a:off x="365760" y="1234440"/>
            <a:ext cx="1371600" cy="420624"/>
          </a:xfrm>
          <a:prstGeom prst="roundRect">
            <a:avLst>
              <a:gd name="adj" fmla="val 10870"/>
            </a:avLst>
          </a:prstGeom>
          <a:solidFill>
            <a:srgbClr val="0E7C86"/>
          </a:solidFill>
          <a:ln w="12700">
            <a:solidFill>
              <a:srgbClr val="0E7C86"/>
            </a:solidFill>
            <a:prstDash val="solid"/>
          </a:ln>
        </p:spPr>
        <p:txBody>
          <a:bodyPr/>
          <a:p/>
        </p:txBody>
      </p:sp>
      <p:sp>
        <p:nvSpPr>
          <p:cNvPr id="10" name="Text 7"/>
          <p:cNvSpPr txBox="1"/>
          <p:nvPr/>
        </p:nvSpPr>
        <p:spPr>
          <a:xfrm>
            <a:off x="365760" y="1234440"/>
            <a:ext cx="13716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Aug 2024</a:t>
            </a:r>
            <a:endParaRPr lang="en-US" sz="1200" dirty="0"/>
          </a:p>
        </p:txBody>
      </p:sp>
      <p:sp>
        <p:nvSpPr>
          <p:cNvPr id="11" name="Text 8"/>
          <p:cNvSpPr txBox="1"/>
          <p:nvPr/>
        </p:nvSpPr>
        <p:spPr>
          <a:xfrm>
            <a:off x="1828800" y="1234440"/>
            <a:ext cx="1280160" cy="420624"/>
          </a:xfrm>
          <a:prstGeom prst="rect">
            <a:avLst/>
          </a:prstGeom>
          <a:noFill/>
          <a:ln/>
        </p:spPr>
        <p:txBody>
          <a:bodyPr wrap="square" lIns="0" tIns="0" rIns="0" bIns="0" rtlCol="0" anchor="ctr"/>
          <a:lstStyle/>
          <a:p>
            <a:pPr indent="0" marL="0">
              <a:buNone/>
            </a:pPr>
            <a:r>
              <a:rPr lang="en-US" sz="1000" b="1" dirty="0">
                <a:solidFill>
                  <a:srgbClr val="0E7C86"/>
                </a:solidFill>
                <a:latin typeface="Calibri" pitchFamily="34" charset="0"/>
                <a:ea typeface="Calibri" pitchFamily="34" charset="-122"/>
                <a:cs typeface="Calibri" pitchFamily="34" charset="-120"/>
              </a:rPr>
              <a:t>In force</a:t>
            </a:r>
            <a:endParaRPr lang="en-US" sz="1000" dirty="0"/>
          </a:p>
        </p:txBody>
      </p:sp>
      <p:sp>
        <p:nvSpPr>
          <p:cNvPr id="12" name="Text 9"/>
          <p:cNvSpPr txBox="1"/>
          <p:nvPr/>
        </p:nvSpPr>
        <p:spPr>
          <a:xfrm>
            <a:off x="3108960" y="1234440"/>
            <a:ext cx="5669280" cy="420624"/>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The Act enters into force</a:t>
            </a:r>
            <a:endParaRPr lang="en-US" sz="1050" dirty="0"/>
          </a:p>
        </p:txBody>
      </p:sp>
      <p:sp>
        <p:nvSpPr>
          <p:cNvPr id="13" name="Shape 10"/>
          <p:cNvSpPr/>
          <p:nvPr/>
        </p:nvSpPr>
        <p:spPr>
          <a:xfrm>
            <a:off x="365760" y="1719072"/>
            <a:ext cx="1371600" cy="420624"/>
          </a:xfrm>
          <a:prstGeom prst="roundRect">
            <a:avLst>
              <a:gd name="adj" fmla="val 10870"/>
            </a:avLst>
          </a:prstGeom>
          <a:solidFill>
            <a:srgbClr val="0E7C86"/>
          </a:solidFill>
          <a:ln w="12700">
            <a:solidFill>
              <a:srgbClr val="0E7C86"/>
            </a:solidFill>
            <a:prstDash val="solid"/>
          </a:ln>
        </p:spPr>
        <p:txBody>
          <a:bodyPr/>
          <a:p/>
        </p:txBody>
      </p:sp>
      <p:sp>
        <p:nvSpPr>
          <p:cNvPr id="14" name="Text 11"/>
          <p:cNvSpPr txBox="1"/>
          <p:nvPr/>
        </p:nvSpPr>
        <p:spPr>
          <a:xfrm>
            <a:off x="365760" y="1719072"/>
            <a:ext cx="13716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Feb 2025</a:t>
            </a:r>
            <a:endParaRPr lang="en-US" sz="1200" dirty="0"/>
          </a:p>
        </p:txBody>
      </p:sp>
      <p:sp>
        <p:nvSpPr>
          <p:cNvPr id="15" name="Text 12"/>
          <p:cNvSpPr txBox="1"/>
          <p:nvPr/>
        </p:nvSpPr>
        <p:spPr>
          <a:xfrm>
            <a:off x="1828800" y="1719072"/>
            <a:ext cx="1280160" cy="420624"/>
          </a:xfrm>
          <a:prstGeom prst="rect">
            <a:avLst/>
          </a:prstGeom>
          <a:noFill/>
          <a:ln/>
        </p:spPr>
        <p:txBody>
          <a:bodyPr wrap="square" lIns="0" tIns="0" rIns="0" bIns="0" rtlCol="0" anchor="ctr"/>
          <a:lstStyle/>
          <a:p>
            <a:pPr indent="0" marL="0">
              <a:buNone/>
            </a:pPr>
            <a:r>
              <a:rPr lang="en-US" sz="1000" b="1" dirty="0">
                <a:solidFill>
                  <a:srgbClr val="0E7C86"/>
                </a:solidFill>
                <a:latin typeface="Calibri" pitchFamily="34" charset="0"/>
                <a:ea typeface="Calibri" pitchFamily="34" charset="-122"/>
                <a:cs typeface="Calibri" pitchFamily="34" charset="-120"/>
              </a:rPr>
              <a:t>Applies</a:t>
            </a:r>
            <a:endParaRPr lang="en-US" sz="1000" dirty="0"/>
          </a:p>
        </p:txBody>
      </p:sp>
      <p:sp>
        <p:nvSpPr>
          <p:cNvPr id="16" name="Text 13"/>
          <p:cNvSpPr txBox="1"/>
          <p:nvPr/>
        </p:nvSpPr>
        <p:spPr>
          <a:xfrm>
            <a:off x="3108960" y="1719072"/>
            <a:ext cx="5669280" cy="420624"/>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Prohibitions on unacceptable-risk systems; AI-literacy duty</a:t>
            </a:r>
            <a:endParaRPr lang="en-US" sz="1050" dirty="0"/>
          </a:p>
        </p:txBody>
      </p:sp>
      <p:sp>
        <p:nvSpPr>
          <p:cNvPr id="17" name="Shape 14"/>
          <p:cNvSpPr/>
          <p:nvPr/>
        </p:nvSpPr>
        <p:spPr>
          <a:xfrm>
            <a:off x="365760" y="2203704"/>
            <a:ext cx="1371600" cy="420624"/>
          </a:xfrm>
          <a:prstGeom prst="roundRect">
            <a:avLst>
              <a:gd name="adj" fmla="val 10870"/>
            </a:avLst>
          </a:prstGeom>
          <a:solidFill>
            <a:srgbClr val="0E7C86"/>
          </a:solidFill>
          <a:ln w="12700">
            <a:solidFill>
              <a:srgbClr val="0E7C86"/>
            </a:solidFill>
            <a:prstDash val="solid"/>
          </a:ln>
        </p:spPr>
        <p:txBody>
          <a:bodyPr/>
          <a:p/>
        </p:txBody>
      </p:sp>
      <p:sp>
        <p:nvSpPr>
          <p:cNvPr id="18" name="Text 15"/>
          <p:cNvSpPr txBox="1"/>
          <p:nvPr/>
        </p:nvSpPr>
        <p:spPr>
          <a:xfrm>
            <a:off x="365760" y="2203704"/>
            <a:ext cx="13716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Aug 2025</a:t>
            </a:r>
            <a:endParaRPr lang="en-US" sz="1200" dirty="0"/>
          </a:p>
        </p:txBody>
      </p:sp>
      <p:sp>
        <p:nvSpPr>
          <p:cNvPr id="19" name="Text 16"/>
          <p:cNvSpPr txBox="1"/>
          <p:nvPr/>
        </p:nvSpPr>
        <p:spPr>
          <a:xfrm>
            <a:off x="1828800" y="2203704"/>
            <a:ext cx="1280160" cy="420624"/>
          </a:xfrm>
          <a:prstGeom prst="rect">
            <a:avLst/>
          </a:prstGeom>
          <a:noFill/>
          <a:ln/>
        </p:spPr>
        <p:txBody>
          <a:bodyPr wrap="square" lIns="0" tIns="0" rIns="0" bIns="0" rtlCol="0" anchor="ctr"/>
          <a:lstStyle/>
          <a:p>
            <a:pPr indent="0" marL="0">
              <a:buNone/>
            </a:pPr>
            <a:r>
              <a:rPr lang="en-US" sz="1000" b="1" dirty="0">
                <a:solidFill>
                  <a:srgbClr val="0E7C86"/>
                </a:solidFill>
                <a:latin typeface="Calibri" pitchFamily="34" charset="0"/>
                <a:ea typeface="Calibri" pitchFamily="34" charset="-122"/>
                <a:cs typeface="Calibri" pitchFamily="34" charset="-120"/>
              </a:rPr>
              <a:t>Applies</a:t>
            </a:r>
            <a:endParaRPr lang="en-US" sz="1000" dirty="0"/>
          </a:p>
        </p:txBody>
      </p:sp>
      <p:sp>
        <p:nvSpPr>
          <p:cNvPr id="20" name="Text 17"/>
          <p:cNvSpPr txBox="1"/>
          <p:nvPr/>
        </p:nvSpPr>
        <p:spPr>
          <a:xfrm>
            <a:off x="3108960" y="2203704"/>
            <a:ext cx="5669280" cy="420624"/>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General-purpose AI obligations; the EU AI Office operational</a:t>
            </a:r>
            <a:endParaRPr lang="en-US" sz="1050" dirty="0"/>
          </a:p>
        </p:txBody>
      </p:sp>
      <p:sp>
        <p:nvSpPr>
          <p:cNvPr id="21" name="Shape 18"/>
          <p:cNvSpPr/>
          <p:nvPr/>
        </p:nvSpPr>
        <p:spPr>
          <a:xfrm>
            <a:off x="365760" y="2688336"/>
            <a:ext cx="1371600" cy="420624"/>
          </a:xfrm>
          <a:prstGeom prst="roundRect">
            <a:avLst>
              <a:gd name="adj" fmla="val 10870"/>
            </a:avLst>
          </a:prstGeom>
          <a:solidFill>
            <a:srgbClr val="0E7C86"/>
          </a:solidFill>
          <a:ln w="12700">
            <a:solidFill>
              <a:srgbClr val="0E7C86"/>
            </a:solidFill>
            <a:prstDash val="solid"/>
          </a:ln>
        </p:spPr>
        <p:txBody>
          <a:bodyPr/>
          <a:p/>
        </p:txBody>
      </p:sp>
      <p:sp>
        <p:nvSpPr>
          <p:cNvPr id="22" name="Text 19"/>
          <p:cNvSpPr txBox="1"/>
          <p:nvPr/>
        </p:nvSpPr>
        <p:spPr>
          <a:xfrm>
            <a:off x="365760" y="2688336"/>
            <a:ext cx="13716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Aug 2026</a:t>
            </a:r>
            <a:endParaRPr lang="en-US" sz="1200" dirty="0"/>
          </a:p>
        </p:txBody>
      </p:sp>
      <p:sp>
        <p:nvSpPr>
          <p:cNvPr id="23" name="Text 20"/>
          <p:cNvSpPr txBox="1"/>
          <p:nvPr/>
        </p:nvSpPr>
        <p:spPr>
          <a:xfrm>
            <a:off x="1828800" y="2688336"/>
            <a:ext cx="1280160" cy="420624"/>
          </a:xfrm>
          <a:prstGeom prst="rect">
            <a:avLst/>
          </a:prstGeom>
          <a:noFill/>
          <a:ln/>
        </p:spPr>
        <p:txBody>
          <a:bodyPr wrap="square" lIns="0" tIns="0" rIns="0" bIns="0" rtlCol="0" anchor="ctr"/>
          <a:lstStyle/>
          <a:p>
            <a:pPr indent="0" marL="0">
              <a:buNone/>
            </a:pPr>
            <a:r>
              <a:rPr lang="en-US" sz="1000" b="1" dirty="0">
                <a:solidFill>
                  <a:srgbClr val="0E7C86"/>
                </a:solidFill>
                <a:latin typeface="Calibri" pitchFamily="34" charset="0"/>
                <a:ea typeface="Calibri" pitchFamily="34" charset="-122"/>
                <a:cs typeface="Calibri" pitchFamily="34" charset="-120"/>
              </a:rPr>
              <a:t>Applies now</a:t>
            </a:r>
            <a:endParaRPr lang="en-US" sz="1000" dirty="0"/>
          </a:p>
        </p:txBody>
      </p:sp>
      <p:sp>
        <p:nvSpPr>
          <p:cNvPr id="24" name="Text 21"/>
          <p:cNvSpPr txBox="1"/>
          <p:nvPr/>
        </p:nvSpPr>
        <p:spPr>
          <a:xfrm>
            <a:off x="3108960" y="2688336"/>
            <a:ext cx="5669280" cy="420624"/>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Transparency duties; enforcement machinery</a:t>
            </a:r>
            <a:endParaRPr lang="en-US" sz="1050" dirty="0"/>
          </a:p>
        </p:txBody>
      </p:sp>
      <p:sp>
        <p:nvSpPr>
          <p:cNvPr id="25" name="Shape 22"/>
          <p:cNvSpPr/>
          <p:nvPr/>
        </p:nvSpPr>
        <p:spPr>
          <a:xfrm>
            <a:off x="365760" y="3172968"/>
            <a:ext cx="1371600" cy="420624"/>
          </a:xfrm>
          <a:prstGeom prst="roundRect">
            <a:avLst>
              <a:gd name="adj" fmla="val 10870"/>
            </a:avLst>
          </a:prstGeom>
          <a:solidFill>
            <a:srgbClr val="E07A2F"/>
          </a:solidFill>
          <a:ln w="12700">
            <a:solidFill>
              <a:srgbClr val="E07A2F"/>
            </a:solidFill>
            <a:prstDash val="solid"/>
          </a:ln>
        </p:spPr>
        <p:txBody>
          <a:bodyPr/>
          <a:p/>
        </p:txBody>
      </p:sp>
      <p:sp>
        <p:nvSpPr>
          <p:cNvPr id="26" name="Text 23"/>
          <p:cNvSpPr txBox="1"/>
          <p:nvPr/>
        </p:nvSpPr>
        <p:spPr>
          <a:xfrm>
            <a:off x="365760" y="3172968"/>
            <a:ext cx="13716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Dec 2027</a:t>
            </a:r>
            <a:endParaRPr lang="en-US" sz="1200" dirty="0"/>
          </a:p>
        </p:txBody>
      </p:sp>
      <p:sp>
        <p:nvSpPr>
          <p:cNvPr id="27" name="Text 24"/>
          <p:cNvSpPr txBox="1"/>
          <p:nvPr/>
        </p:nvSpPr>
        <p:spPr>
          <a:xfrm>
            <a:off x="1828800" y="3172968"/>
            <a:ext cx="1280160" cy="420624"/>
          </a:xfrm>
          <a:prstGeom prst="rect">
            <a:avLst/>
          </a:prstGeom>
          <a:noFill/>
          <a:ln/>
        </p:spPr>
        <p:txBody>
          <a:bodyPr wrap="square" lIns="0" tIns="0" rIns="0" bIns="0" rtlCol="0" anchor="ctr"/>
          <a:lstStyle/>
          <a:p>
            <a:pPr indent="0" marL="0">
              <a:buNone/>
            </a:pPr>
            <a:r>
              <a:rPr lang="en-US" sz="1000" b="1" dirty="0">
                <a:solidFill>
                  <a:srgbClr val="8A3F0C"/>
                </a:solidFill>
                <a:latin typeface="Calibri" pitchFamily="34" charset="0"/>
                <a:ea typeface="Calibri" pitchFamily="34" charset="-122"/>
                <a:cs typeface="Calibri" pitchFamily="34" charset="-120"/>
              </a:rPr>
              <a:t>Postponed to</a:t>
            </a:r>
            <a:endParaRPr lang="en-US" sz="1000" dirty="0"/>
          </a:p>
        </p:txBody>
      </p:sp>
      <p:sp>
        <p:nvSpPr>
          <p:cNvPr id="28" name="Text 25"/>
          <p:cNvSpPr txBox="1"/>
          <p:nvPr/>
        </p:nvSpPr>
        <p:spPr>
          <a:xfrm>
            <a:off x="3108960" y="3172968"/>
            <a:ext cx="5669280" cy="420624"/>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High-risk standalone systems (Annex III) — moved from Aug 2026</a:t>
            </a:r>
            <a:endParaRPr lang="en-US" sz="1050" dirty="0"/>
          </a:p>
        </p:txBody>
      </p:sp>
      <p:sp>
        <p:nvSpPr>
          <p:cNvPr id="29" name="Shape 26"/>
          <p:cNvSpPr/>
          <p:nvPr/>
        </p:nvSpPr>
        <p:spPr>
          <a:xfrm>
            <a:off x="365760" y="3657600"/>
            <a:ext cx="1371600" cy="420624"/>
          </a:xfrm>
          <a:prstGeom prst="roundRect">
            <a:avLst>
              <a:gd name="adj" fmla="val 10870"/>
            </a:avLst>
          </a:prstGeom>
          <a:solidFill>
            <a:srgbClr val="E07A2F"/>
          </a:solidFill>
          <a:ln w="12700">
            <a:solidFill>
              <a:srgbClr val="E07A2F"/>
            </a:solidFill>
            <a:prstDash val="solid"/>
          </a:ln>
        </p:spPr>
        <p:txBody>
          <a:bodyPr/>
          <a:p/>
        </p:txBody>
      </p:sp>
      <p:sp>
        <p:nvSpPr>
          <p:cNvPr id="30" name="Text 27"/>
          <p:cNvSpPr txBox="1"/>
          <p:nvPr/>
        </p:nvSpPr>
        <p:spPr>
          <a:xfrm>
            <a:off x="365760" y="3657600"/>
            <a:ext cx="13716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Aug 2028</a:t>
            </a:r>
            <a:endParaRPr lang="en-US" sz="1200" dirty="0"/>
          </a:p>
        </p:txBody>
      </p:sp>
      <p:sp>
        <p:nvSpPr>
          <p:cNvPr id="31" name="Text 28"/>
          <p:cNvSpPr txBox="1"/>
          <p:nvPr/>
        </p:nvSpPr>
        <p:spPr>
          <a:xfrm>
            <a:off x="1828800" y="3657600"/>
            <a:ext cx="1280160" cy="420624"/>
          </a:xfrm>
          <a:prstGeom prst="rect">
            <a:avLst/>
          </a:prstGeom>
          <a:noFill/>
          <a:ln/>
        </p:spPr>
        <p:txBody>
          <a:bodyPr wrap="square" lIns="0" tIns="0" rIns="0" bIns="0" rtlCol="0" anchor="ctr"/>
          <a:lstStyle/>
          <a:p>
            <a:pPr indent="0" marL="0">
              <a:buNone/>
            </a:pPr>
            <a:r>
              <a:rPr lang="en-US" sz="1000" b="1" dirty="0">
                <a:solidFill>
                  <a:srgbClr val="8A3F0C"/>
                </a:solidFill>
                <a:latin typeface="Calibri" pitchFamily="34" charset="0"/>
                <a:ea typeface="Calibri" pitchFamily="34" charset="-122"/>
                <a:cs typeface="Calibri" pitchFamily="34" charset="-120"/>
              </a:rPr>
              <a:t>Postponed to</a:t>
            </a:r>
            <a:endParaRPr lang="en-US" sz="1000" dirty="0"/>
          </a:p>
        </p:txBody>
      </p:sp>
      <p:sp>
        <p:nvSpPr>
          <p:cNvPr id="32" name="Text 29"/>
          <p:cNvSpPr txBox="1"/>
          <p:nvPr/>
        </p:nvSpPr>
        <p:spPr>
          <a:xfrm>
            <a:off x="3108960" y="3657600"/>
            <a:ext cx="5669280" cy="420624"/>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High-risk systems in regulated products (Annex I)</a:t>
            </a:r>
            <a:endParaRPr lang="en-US" sz="1050" dirty="0"/>
          </a:p>
        </p:txBody>
      </p:sp>
      <p:sp>
        <p:nvSpPr>
          <p:cNvPr id="33" name="Shape 30"/>
          <p:cNvSpPr/>
          <p:nvPr/>
        </p:nvSpPr>
        <p:spPr>
          <a:xfrm>
            <a:off x="365760" y="420624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34" name="Image 0" descr="preencoded.png">    </p:cNvPr>
          <p:cNvPicPr>
            <a:picLocks noChangeAspect="1"/>
          </p:cNvPicPr>
          <p:nvPr/>
        </p:nvPicPr>
        <p:blipFill>
          <a:blip r:embed="rId1"/>
          <a:stretch>
            <a:fillRect/>
          </a:stretch>
        </p:blipFill>
        <p:spPr>
          <a:xfrm>
            <a:off x="502920" y="4343400"/>
            <a:ext cx="274320" cy="274320"/>
          </a:xfrm>
          <a:prstGeom prst="rect">
            <a:avLst/>
          </a:prstGeom>
        </p:spPr>
      </p:pic>
      <p:sp>
        <p:nvSpPr>
          <p:cNvPr id="35" name="Text 31"/>
          <p:cNvSpPr txBox="1"/>
          <p:nvPr/>
        </p:nvSpPr>
        <p:spPr>
          <a:xfrm>
            <a:off x="896112" y="4206240"/>
            <a:ext cx="7772400" cy="54864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The high-risk deadline moved (Digital Omnibus, in force 27 July 2026). A postponement is not a reprieve: the requirements are known now. Regulation moves, so check the current dates; source in the notes.</a:t>
            </a:r>
            <a:endParaRPr lang="en-US" sz="1050" dirty="0"/>
          </a:p>
        </p:txBody>
      </p:sp>
      <p:pic>
        <p:nvPicPr>
          <p:cNvPr id="36"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Penalties, and how to place a system in one minute</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3 · EU AI Act · 12–27 min</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5029200" cy="914400"/>
        </p:xfrm>
        <a:graphic>
          <a:graphicData uri="http://schemas.openxmlformats.org/drawingml/2006/table">
            <a:tbl>
              <a:tblPr/>
              <a:tblGrid>
                <a:gridCol w="3017520"/>
                <a:gridCol w="2011680"/>
              </a:tblGrid>
              <a:tr h="420624">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Violation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Maximum fine (whichever is higher)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2062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Using a prohibited (unacceptable-risk) system</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€35 million or 7% of worldwide annual turnover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2062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Breaching high-risk or transparency obligations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€15 million or 3% of worldwide turnover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2062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Giving authorities incorrect or misleading information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€7.5 million or 1% of worldwide turnover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Text 6"/>
          <p:cNvSpPr txBox="1"/>
          <p:nvPr/>
        </p:nvSpPr>
        <p:spPr>
          <a:xfrm>
            <a:off x="365760" y="3063240"/>
            <a:ext cx="5029200" cy="822960"/>
          </a:xfrm>
          <a:prstGeom prst="rect">
            <a:avLst/>
          </a:prstGeom>
          <a:noFill/>
          <a:ln/>
        </p:spPr>
        <p:txBody>
          <a:bodyPr wrap="square" lIns="0" tIns="0" rIns="0" bIns="0" rtlCol="0" anchor="t"/>
          <a:lstStyle/>
          <a:p>
            <a:pPr algn="l" indent="0" marL="0">
              <a:buNone/>
            </a:pPr>
            <a:r>
              <a:rPr lang="en-US" sz="1000" i="1" dirty="0">
                <a:solidFill>
                  <a:srgbClr val="6B7280"/>
                </a:solidFill>
                <a:latin typeface="Calibri" pitchFamily="34" charset="0"/>
                <a:ea typeface="Calibri" pitchFamily="34" charset="-122"/>
                <a:cs typeface="Calibri" pitchFamily="34" charset="-120"/>
              </a:rPr>
              <a:t>Percentages of global turnover, like competition and privacy fines: existential for a large company — which is why governance has the board's attention.</a:t>
            </a:r>
            <a:endParaRPr lang="en-US" sz="1000" dirty="0"/>
          </a:p>
        </p:txBody>
      </p:sp>
      <p:sp>
        <p:nvSpPr>
          <p:cNvPr id="27" name="Shape 7"/>
          <p:cNvSpPr/>
          <p:nvPr/>
        </p:nvSpPr>
        <p:spPr>
          <a:xfrm>
            <a:off x="5303520" y="1325880"/>
            <a:ext cx="640080" cy="640080"/>
          </a:xfrm>
          <a:prstGeom prst="ellipse">
            <a:avLst/>
          </a:prstGeom>
          <a:solidFill>
            <a:srgbClr val="0E7C86"/>
          </a:solidFill>
          <a:ln w="12700">
            <a:solidFill>
              <a:srgbClr val="0E7C86"/>
            </a:solidFill>
            <a:prstDash val="solid"/>
          </a:ln>
        </p:spPr>
        <p:txBody>
          <a:bodyPr/>
          <a:p/>
        </p:txBody>
      </p:sp>
      <p:sp>
        <p:nvSpPr>
          <p:cNvPr id="12" name="Text 8"/>
          <p:cNvSpPr txBox="1"/>
          <p:nvPr/>
        </p:nvSpPr>
        <p:spPr>
          <a:xfrm>
            <a:off x="5303520" y="1325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3" name="Text 9"/>
          <p:cNvSpPr txBox="1"/>
          <p:nvPr/>
        </p:nvSpPr>
        <p:spPr>
          <a:xfrm>
            <a:off x="6126480" y="1234440"/>
            <a:ext cx="265176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What does it decide, about whom?</a:t>
            </a:r>
            <a:endParaRPr lang="en-US" sz="1600" dirty="0"/>
          </a:p>
        </p:txBody>
      </p:sp>
      <p:sp>
        <p:nvSpPr>
          <p:cNvPr id="14" name="Text 10"/>
          <p:cNvSpPr txBox="1"/>
          <p:nvPr/>
        </p:nvSpPr>
        <p:spPr>
          <a:xfrm>
            <a:off x="6126480" y="1645920"/>
            <a:ext cx="265176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 person's job, credit, education, health, public services → think high-risk. A prohibited use → stop.</a:t>
            </a:r>
            <a:endParaRPr lang="en-US" sz="1200" dirty="0"/>
          </a:p>
        </p:txBody>
      </p:sp>
      <p:sp>
        <p:nvSpPr>
          <p:cNvPr id="15" name="Shape 11"/>
          <p:cNvSpPr/>
          <p:nvPr/>
        </p:nvSpPr>
        <p:spPr>
          <a:xfrm>
            <a:off x="5303520" y="2331720"/>
            <a:ext cx="640080" cy="640080"/>
          </a:xfrm>
          <a:prstGeom prst="ellipse">
            <a:avLst/>
          </a:prstGeom>
          <a:solidFill>
            <a:srgbClr val="0E7C86"/>
          </a:solidFill>
          <a:ln w="12700">
            <a:solidFill>
              <a:srgbClr val="0E7C86"/>
            </a:solidFill>
            <a:prstDash val="solid"/>
          </a:ln>
        </p:spPr>
        <p:txBody>
          <a:bodyPr/>
          <a:p/>
        </p:txBody>
      </p:sp>
      <p:sp>
        <p:nvSpPr>
          <p:cNvPr id="16" name="Text 12"/>
          <p:cNvSpPr txBox="1"/>
          <p:nvPr/>
        </p:nvSpPr>
        <p:spPr>
          <a:xfrm>
            <a:off x="5303520" y="233172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7" name="Text 13"/>
          <p:cNvSpPr txBox="1"/>
          <p:nvPr/>
        </p:nvSpPr>
        <p:spPr>
          <a:xfrm>
            <a:off x="6126480" y="2240280"/>
            <a:ext cx="265176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Does it talk or make content?</a:t>
            </a:r>
            <a:endParaRPr lang="en-US" sz="1600" dirty="0"/>
          </a:p>
        </p:txBody>
      </p:sp>
      <p:sp>
        <p:nvSpPr>
          <p:cNvPr id="18" name="Text 14"/>
          <p:cNvSpPr txBox="1"/>
          <p:nvPr/>
        </p:nvSpPr>
        <p:spPr>
          <a:xfrm>
            <a:off x="6126480" y="2651760"/>
            <a:ext cx="265176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At least the transparency duty: disclose it is AI; label synthetic content.</a:t>
            </a:r>
            <a:endParaRPr lang="en-US" sz="1200" dirty="0"/>
          </a:p>
        </p:txBody>
      </p:sp>
      <p:sp>
        <p:nvSpPr>
          <p:cNvPr id="19" name="Shape 15"/>
          <p:cNvSpPr/>
          <p:nvPr/>
        </p:nvSpPr>
        <p:spPr>
          <a:xfrm>
            <a:off x="5303520" y="3337560"/>
            <a:ext cx="640080" cy="640080"/>
          </a:xfrm>
          <a:prstGeom prst="ellipse">
            <a:avLst/>
          </a:prstGeom>
          <a:solidFill>
            <a:srgbClr val="0E7C86"/>
          </a:solidFill>
          <a:ln w="12700">
            <a:solidFill>
              <a:srgbClr val="0E7C86"/>
            </a:solidFill>
            <a:prstDash val="solid"/>
          </a:ln>
        </p:spPr>
        <p:txBody>
          <a:bodyPr/>
          <a:p/>
        </p:txBody>
      </p:sp>
      <p:sp>
        <p:nvSpPr>
          <p:cNvPr id="20" name="Text 16"/>
          <p:cNvSpPr txBox="1"/>
          <p:nvPr/>
        </p:nvSpPr>
        <p:spPr>
          <a:xfrm>
            <a:off x="5303520" y="33375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1" name="Text 17"/>
          <p:cNvSpPr txBox="1"/>
          <p:nvPr/>
        </p:nvSpPr>
        <p:spPr>
          <a:xfrm>
            <a:off x="6126480" y="3246120"/>
            <a:ext cx="265176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Name one control the tier requires</a:t>
            </a:r>
            <a:endParaRPr lang="en-US" sz="1600" dirty="0"/>
          </a:p>
        </p:txBody>
      </p:sp>
      <p:sp>
        <p:nvSpPr>
          <p:cNvPr id="22" name="Text 18"/>
          <p:cNvSpPr txBox="1"/>
          <p:nvPr/>
        </p:nvSpPr>
        <p:spPr>
          <a:xfrm>
            <a:off x="6126480" y="3657600"/>
            <a:ext cx="265176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High-risk: a rights/bias assessment before release + human oversight. Limited: a disclosure.</a:t>
            </a:r>
            <a:endParaRPr lang="en-US" sz="1200" dirty="0"/>
          </a:p>
        </p:txBody>
      </p:sp>
      <p:sp>
        <p:nvSpPr>
          <p:cNvPr id="23" name="Shape 19"/>
          <p:cNvSpPr/>
          <p:nvPr/>
        </p:nvSpPr>
        <p:spPr>
          <a:xfrm>
            <a:off x="365760" y="4206240"/>
            <a:ext cx="8412480" cy="384048"/>
          </a:xfrm>
          <a:prstGeom prst="roundRect">
            <a:avLst>
              <a:gd name="adj" fmla="val 19048"/>
            </a:avLst>
          </a:prstGeom>
          <a:solidFill>
            <a:srgbClr val="E3F1F2"/>
          </a:solidFill>
          <a:ln w="12700">
            <a:solidFill>
              <a:srgbClr val="E3F1F2"/>
            </a:solidFill>
            <a:prstDash val="solid"/>
          </a:ln>
        </p:spPr>
        <p:txBody>
          <a:bodyPr/>
          <a:p/>
        </p:txBody>
      </p:sp>
      <p:pic>
        <p:nvPicPr>
          <p:cNvPr id="24" name="Image 0" descr="preencoded.png">    </p:cNvPr>
          <p:cNvPicPr>
            <a:picLocks noChangeAspect="1"/>
          </p:cNvPicPr>
          <p:nvPr/>
        </p:nvPicPr>
        <p:blipFill>
          <a:blip r:embed="rId1"/>
          <a:stretch>
            <a:fillRect/>
          </a:stretch>
        </p:blipFill>
        <p:spPr>
          <a:xfrm>
            <a:off x="502920" y="4261104"/>
            <a:ext cx="274320" cy="274320"/>
          </a:xfrm>
          <a:prstGeom prst="rect">
            <a:avLst/>
          </a:prstGeom>
        </p:spPr>
      </p:pic>
      <p:sp>
        <p:nvSpPr>
          <p:cNvPr id="25" name="Text 20"/>
          <p:cNvSpPr txBox="1"/>
          <p:nvPr/>
        </p:nvSpPr>
        <p:spPr>
          <a:xfrm>
            <a:off x="896112" y="4206240"/>
            <a:ext cx="7772400" cy="38404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The quiz skill: tier, then one control. Try it on the churn model (offer), the fraud model (block), the HR assistant.</a:t>
            </a:r>
            <a:endParaRPr lang="en-US" sz="1100" dirty="0"/>
          </a:p>
        </p:txBody>
      </p:sp>
      <p:pic>
        <p:nvPicPr>
          <p:cNvPr id="26"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NIST AI Risk Management Framework: four functions</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4 · NIST AI RMF · 27–34 min</a:t>
            </a:r>
            <a:endParaRPr lang="en-US" sz="850" dirty="0"/>
          </a:p>
        </p:txBody>
      </p:sp>
      <p:sp>
        <p:nvSpPr>
          <p:cNvPr id="9" name="Shape 6"/>
          <p:cNvSpPr/>
          <p:nvPr/>
        </p:nvSpPr>
        <p:spPr>
          <a:xfrm>
            <a:off x="365760" y="1234440"/>
            <a:ext cx="8412480" cy="685800"/>
          </a:xfrm>
          <a:prstGeom prst="roundRect">
            <a:avLst>
              <a:gd name="adj" fmla="val 8000"/>
            </a:avLst>
          </a:prstGeom>
          <a:solidFill>
            <a:srgbClr val="1B2A4A"/>
          </a:solidFill>
          <a:ln w="12700">
            <a:solidFill>
              <a:srgbClr val="1B2A4A"/>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548640" y="1371600"/>
            <a:ext cx="365760" cy="365760"/>
          </a:xfrm>
          <a:prstGeom prst="rect">
            <a:avLst/>
          </a:prstGeom>
        </p:spPr>
      </p:pic>
      <p:sp>
        <p:nvSpPr>
          <p:cNvPr id="11" name="Text 7"/>
          <p:cNvSpPr txBox="1"/>
          <p:nvPr/>
        </p:nvSpPr>
        <p:spPr>
          <a:xfrm>
            <a:off x="1051560" y="1234440"/>
            <a:ext cx="7589520" cy="6858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GOVERN  </a:t>
            </a:r>
            <a:pPr indent="0" marL="0">
              <a:buNone/>
            </a:pPr>
            <a:r>
              <a:rPr lang="en-US" sz="1100" dirty="0">
                <a:solidFill>
                  <a:srgbClr val="CADCFC"/>
                </a:solidFill>
                <a:latin typeface="Calibri" pitchFamily="34" charset="0"/>
                <a:ea typeface="Calibri" pitchFamily="34" charset="-122"/>
                <a:cs typeface="Calibri" pitchFamily="34" charset="-120"/>
              </a:rPr>
              <a:t>is there a culture and a structure for AI risk? Who owns it? — wraps the other three (accountability, made into roles and processes)</a:t>
            </a:r>
            <a:endParaRPr lang="en-US" sz="1100" dirty="0"/>
          </a:p>
        </p:txBody>
      </p:sp>
      <p:sp>
        <p:nvSpPr>
          <p:cNvPr id="12" name="Shape 8"/>
          <p:cNvSpPr/>
          <p:nvPr/>
        </p:nvSpPr>
        <p:spPr>
          <a:xfrm>
            <a:off x="365760" y="2103120"/>
            <a:ext cx="2697480" cy="2011680"/>
          </a:xfrm>
          <a:prstGeom prst="roundRect">
            <a:avLst>
              <a:gd name="adj" fmla="val 3636"/>
            </a:avLst>
          </a:prstGeom>
          <a:solidFill>
            <a:srgbClr val="F3F5F8"/>
          </a:solidFill>
          <a:ln w="12700">
            <a:solidFill>
              <a:srgbClr val="F3F5F8"/>
            </a:solidFill>
            <a:prstDash val="solid"/>
          </a:ln>
        </p:spPr>
        <p:txBody>
          <a:bodyPr/>
          <a:p/>
        </p:txBody>
      </p:sp>
      <p:sp>
        <p:nvSpPr>
          <p:cNvPr id="13" name="Shape 9"/>
          <p:cNvSpPr/>
          <p:nvPr/>
        </p:nvSpPr>
        <p:spPr>
          <a:xfrm>
            <a:off x="502920" y="222199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576072" y="2295144"/>
            <a:ext cx="201168" cy="201168"/>
          </a:xfrm>
          <a:prstGeom prst="rect">
            <a:avLst/>
          </a:prstGeom>
        </p:spPr>
      </p:pic>
      <p:sp>
        <p:nvSpPr>
          <p:cNvPr id="15" name="Text 10"/>
          <p:cNvSpPr txBox="1"/>
          <p:nvPr/>
        </p:nvSpPr>
        <p:spPr>
          <a:xfrm>
            <a:off x="932688" y="219456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Map</a:t>
            </a:r>
            <a:endParaRPr lang="en-US" sz="1300" dirty="0"/>
          </a:p>
        </p:txBody>
      </p:sp>
      <p:sp>
        <p:nvSpPr>
          <p:cNvPr id="16" name="Text 11"/>
          <p:cNvSpPr txBox="1"/>
          <p:nvPr/>
        </p:nvSpPr>
        <p:spPr>
          <a:xfrm>
            <a:off x="502920" y="2651760"/>
            <a:ext cx="2423160" cy="137160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What is the system, its context and its risks? Before building.</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Intentionality, made into an activity</a:t>
            </a:r>
            <a:endParaRPr lang="en-US" sz="1050" dirty="0"/>
          </a:p>
        </p:txBody>
      </p:sp>
      <p:sp>
        <p:nvSpPr>
          <p:cNvPr id="17" name="Shape 12"/>
          <p:cNvSpPr/>
          <p:nvPr/>
        </p:nvSpPr>
        <p:spPr>
          <a:xfrm>
            <a:off x="3090672" y="3108960"/>
            <a:ext cx="91440" cy="0"/>
          </a:xfrm>
          <a:prstGeom prst="line">
            <a:avLst/>
          </a:prstGeom>
          <a:noFill/>
          <a:ln w="19050">
            <a:solidFill>
              <a:srgbClr val="0E7C86"/>
            </a:solidFill>
            <a:prstDash val="solid"/>
            <a:tailEnd type="triangle"/>
          </a:ln>
        </p:spPr>
        <p:txBody>
          <a:bodyPr/>
          <a:p/>
        </p:txBody>
      </p:sp>
      <p:sp>
        <p:nvSpPr>
          <p:cNvPr id="18" name="Shape 13"/>
          <p:cNvSpPr/>
          <p:nvPr/>
        </p:nvSpPr>
        <p:spPr>
          <a:xfrm>
            <a:off x="3218688" y="2103120"/>
            <a:ext cx="2697480" cy="2011680"/>
          </a:xfrm>
          <a:prstGeom prst="roundRect">
            <a:avLst>
              <a:gd name="adj" fmla="val 3636"/>
            </a:avLst>
          </a:prstGeom>
          <a:solidFill>
            <a:srgbClr val="F3F5F8"/>
          </a:solidFill>
          <a:ln w="12700">
            <a:solidFill>
              <a:srgbClr val="F3F5F8"/>
            </a:solidFill>
            <a:prstDash val="solid"/>
          </a:ln>
        </p:spPr>
        <p:txBody>
          <a:bodyPr/>
          <a:p/>
        </p:txBody>
      </p:sp>
      <p:sp>
        <p:nvSpPr>
          <p:cNvPr id="19" name="Shape 14"/>
          <p:cNvSpPr/>
          <p:nvPr/>
        </p:nvSpPr>
        <p:spPr>
          <a:xfrm>
            <a:off x="3355848" y="2221992"/>
            <a:ext cx="347472" cy="347472"/>
          </a:xfrm>
          <a:prstGeom prst="ellipse">
            <a:avLst/>
          </a:prstGeom>
          <a:solidFill>
            <a:srgbClr val="0E7C86"/>
          </a:solidFill>
          <a:ln w="12700">
            <a:solidFill>
              <a:srgbClr val="0E7C86"/>
            </a:solidFill>
            <a:prstDash val="solid"/>
          </a:ln>
        </p:spPr>
        <p:txBody>
          <a:bodyPr/>
          <a:p/>
        </p:txBody>
      </p:sp>
      <p:pic>
        <p:nvPicPr>
          <p:cNvPr id="20" name="Image 2" descr="preencoded.png">    </p:cNvPr>
          <p:cNvPicPr>
            <a:picLocks noChangeAspect="1"/>
          </p:cNvPicPr>
          <p:nvPr/>
        </p:nvPicPr>
        <p:blipFill>
          <a:blip r:embed="rId3"/>
          <a:stretch>
            <a:fillRect/>
          </a:stretch>
        </p:blipFill>
        <p:spPr>
          <a:xfrm>
            <a:off x="3429000" y="2295144"/>
            <a:ext cx="201168" cy="201168"/>
          </a:xfrm>
          <a:prstGeom prst="rect">
            <a:avLst/>
          </a:prstGeom>
        </p:spPr>
      </p:pic>
      <p:sp>
        <p:nvSpPr>
          <p:cNvPr id="21" name="Text 15"/>
          <p:cNvSpPr txBox="1"/>
          <p:nvPr/>
        </p:nvSpPr>
        <p:spPr>
          <a:xfrm>
            <a:off x="3785616" y="219456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Measure</a:t>
            </a:r>
            <a:endParaRPr lang="en-US" sz="1300" dirty="0"/>
          </a:p>
        </p:txBody>
      </p:sp>
      <p:sp>
        <p:nvSpPr>
          <p:cNvPr id="22" name="Text 16"/>
          <p:cNvSpPr txBox="1"/>
          <p:nvPr/>
        </p:nvSpPr>
        <p:spPr>
          <a:xfrm>
            <a:off x="3355848" y="2651760"/>
            <a:ext cx="2423160" cy="137160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How do we assess the risks, with numbers? Accuracy, bias, robustness, security.</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Your evaluation and monitoring (S5, S7, V1)</a:t>
            </a:r>
            <a:endParaRPr lang="en-US" sz="1050" dirty="0"/>
          </a:p>
        </p:txBody>
      </p:sp>
      <p:sp>
        <p:nvSpPr>
          <p:cNvPr id="23" name="Shape 17"/>
          <p:cNvSpPr/>
          <p:nvPr/>
        </p:nvSpPr>
        <p:spPr>
          <a:xfrm>
            <a:off x="5943600" y="3108960"/>
            <a:ext cx="91440" cy="0"/>
          </a:xfrm>
          <a:prstGeom prst="line">
            <a:avLst/>
          </a:prstGeom>
          <a:noFill/>
          <a:ln w="19050">
            <a:solidFill>
              <a:srgbClr val="0E7C86"/>
            </a:solidFill>
            <a:prstDash val="solid"/>
            <a:tailEnd type="triangle"/>
          </a:ln>
        </p:spPr>
        <p:txBody>
          <a:bodyPr/>
          <a:p/>
        </p:txBody>
      </p:sp>
      <p:sp>
        <p:nvSpPr>
          <p:cNvPr id="24" name="Shape 18"/>
          <p:cNvSpPr/>
          <p:nvPr/>
        </p:nvSpPr>
        <p:spPr>
          <a:xfrm>
            <a:off x="6071616" y="2103120"/>
            <a:ext cx="2697480" cy="2011680"/>
          </a:xfrm>
          <a:prstGeom prst="roundRect">
            <a:avLst>
              <a:gd name="adj" fmla="val 3636"/>
            </a:avLst>
          </a:prstGeom>
          <a:solidFill>
            <a:srgbClr val="F3F5F8"/>
          </a:solidFill>
          <a:ln w="12700">
            <a:solidFill>
              <a:srgbClr val="F3F5F8"/>
            </a:solidFill>
            <a:prstDash val="solid"/>
          </a:ln>
        </p:spPr>
        <p:txBody>
          <a:bodyPr/>
          <a:p/>
        </p:txBody>
      </p:sp>
      <p:sp>
        <p:nvSpPr>
          <p:cNvPr id="25" name="Shape 19"/>
          <p:cNvSpPr/>
          <p:nvPr/>
        </p:nvSpPr>
        <p:spPr>
          <a:xfrm>
            <a:off x="6208776" y="2221992"/>
            <a:ext cx="347472" cy="347472"/>
          </a:xfrm>
          <a:prstGeom prst="ellipse">
            <a:avLst/>
          </a:prstGeom>
          <a:solidFill>
            <a:srgbClr val="0E7C86"/>
          </a:solidFill>
          <a:ln w="12700">
            <a:solidFill>
              <a:srgbClr val="0E7C86"/>
            </a:solidFill>
            <a:prstDash val="solid"/>
          </a:ln>
        </p:spPr>
        <p:txBody>
          <a:bodyPr/>
          <a:p/>
        </p:txBody>
      </p:sp>
      <p:pic>
        <p:nvPicPr>
          <p:cNvPr id="26" name="Image 3" descr="preencoded.png">    </p:cNvPr>
          <p:cNvPicPr>
            <a:picLocks noChangeAspect="1"/>
          </p:cNvPicPr>
          <p:nvPr/>
        </p:nvPicPr>
        <p:blipFill>
          <a:blip r:embed="rId4"/>
          <a:stretch>
            <a:fillRect/>
          </a:stretch>
        </p:blipFill>
        <p:spPr>
          <a:xfrm>
            <a:off x="6281928" y="2295144"/>
            <a:ext cx="201168" cy="201168"/>
          </a:xfrm>
          <a:prstGeom prst="rect">
            <a:avLst/>
          </a:prstGeom>
        </p:spPr>
      </p:pic>
      <p:sp>
        <p:nvSpPr>
          <p:cNvPr id="27" name="Text 20"/>
          <p:cNvSpPr txBox="1"/>
          <p:nvPr/>
        </p:nvSpPr>
        <p:spPr>
          <a:xfrm>
            <a:off x="6638544" y="219456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Manage</a:t>
            </a:r>
            <a:endParaRPr lang="en-US" sz="1300" dirty="0"/>
          </a:p>
        </p:txBody>
      </p:sp>
      <p:sp>
        <p:nvSpPr>
          <p:cNvPr id="28" name="Text 21"/>
          <p:cNvSpPr txBox="1"/>
          <p:nvPr/>
        </p:nvSpPr>
        <p:spPr>
          <a:xfrm>
            <a:off x="6208776" y="2651760"/>
            <a:ext cx="2423160" cy="137160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What do we do about them, and in what priority? Mitigate, monitor, respond.</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Your rollout, alerting, incident response (S5, S7)</a:t>
            </a:r>
            <a:endParaRPr lang="en-US" sz="1050" dirty="0"/>
          </a:p>
        </p:txBody>
      </p:sp>
      <p:sp>
        <p:nvSpPr>
          <p:cNvPr id="29" name="Shape 22"/>
          <p:cNvSpPr/>
          <p:nvPr/>
        </p:nvSpPr>
        <p:spPr>
          <a:xfrm>
            <a:off x="365760" y="425196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30" name="Image 4" descr="preencoded.png">    </p:cNvPr>
          <p:cNvPicPr>
            <a:picLocks noChangeAspect="1"/>
          </p:cNvPicPr>
          <p:nvPr/>
        </p:nvPicPr>
        <p:blipFill>
          <a:blip r:embed="rId5"/>
          <a:stretch>
            <a:fillRect/>
          </a:stretch>
        </p:blipFill>
        <p:spPr>
          <a:xfrm>
            <a:off x="502920" y="4343400"/>
            <a:ext cx="274320" cy="274320"/>
          </a:xfrm>
          <a:prstGeom prst="rect">
            <a:avLst/>
          </a:prstGeom>
        </p:spPr>
      </p:pic>
      <p:sp>
        <p:nvSpPr>
          <p:cNvPr id="31" name="Text 23"/>
          <p:cNvSpPr txBox="1"/>
          <p:nvPr/>
        </p:nvSpPr>
        <p:spPr>
          <a:xfrm>
            <a:off x="896112" y="4251960"/>
            <a:ext cx="7772400" cy="45720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Each function is something you already do; NIST insists you do all four, in order, with a named owner. You cannot measure a risk you have not mapped, or manage one you have not measured.</a:t>
            </a:r>
            <a:endParaRPr lang="en-US" sz="1050" dirty="0"/>
          </a:p>
        </p:txBody>
      </p:sp>
      <p:pic>
        <p:nvPicPr>
          <p:cNvPr id="32" name="IE University logo" descr="IE University, School of Science &amp; Technology"/>
          <p:cNvPicPr>
            <a:picLocks noChangeAspect="1"/>
          </p:cNvPicPr>
          <p:nvPr/>
        </p:nvPicPr>
        <p:blipFill>
          <a:blip r:embed="rId8"/>
          <a:stretch>
            <a:fillRect/>
          </a:stretch>
        </p:blipFill>
        <p:spPr>
          <a:xfrm>
            <a:off x="8013607" y="92634"/>
            <a:ext cx="764633" cy="2627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How the two fit together, and the generative-AI profile</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4 · NIST AI RMF · 27–34 min</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554480"/>
                <a:gridCol w="3291840"/>
                <a:gridCol w="3566160"/>
              </a:tblGrid>
              <a:tr h="402336">
                <a:tc>
                  <a:txBody>
                    <a:bodyPr/>
                    <a:lstStyle/>
                    <a:p>
                      <a:pPr algn="l" indent="0" marL="0">
                        <a:buNone/>
                      </a:pP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EU AI Act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NIST AI RMF</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02336">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What it is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Binding law (EU)</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Voluntary framework (US, used worldwide)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02336">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What it answers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What you MUST do, and by when</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HOW to organise doing it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02336">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Structure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Risk tiers, obligations, deadlines, fines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Four functions: Govern, Map, Measure, Manage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02336">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Enforcement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Authorities, penalties up to 7% of turnover</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None; reputational and contractual pull</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365760" y="3200400"/>
            <a:ext cx="4114800" cy="1234440"/>
          </a:xfrm>
          <a:prstGeom prst="roundRect">
            <a:avLst>
              <a:gd name="adj" fmla="val 5926"/>
            </a:avLst>
          </a:prstGeom>
          <a:solidFill>
            <a:srgbClr val="F3F5F8"/>
          </a:solidFill>
          <a:ln w="12700">
            <a:solidFill>
              <a:srgbClr val="F3F5F8"/>
            </a:solidFill>
            <a:prstDash val="solid"/>
          </a:ln>
        </p:spPr>
        <p:txBody>
          <a:bodyPr/>
          <a:p/>
        </p:txBody>
      </p:sp>
      <p:sp>
        <p:nvSpPr>
          <p:cNvPr id="11" name="Shape 7"/>
          <p:cNvSpPr/>
          <p:nvPr/>
        </p:nvSpPr>
        <p:spPr>
          <a:xfrm>
            <a:off x="502920" y="3319272"/>
            <a:ext cx="347472" cy="347472"/>
          </a:xfrm>
          <a:prstGeom prst="ellipse">
            <a:avLst/>
          </a:prstGeom>
          <a:solidFill>
            <a:srgbClr val="0E7C86"/>
          </a:solidFill>
          <a:ln w="12700">
            <a:solidFill>
              <a:srgbClr val="0E7C86"/>
            </a:solidFill>
            <a:prstDash val="solid"/>
          </a:ln>
        </p:spPr>
        <p:txBody>
          <a:bodyPr/>
          <a:p/>
        </p:txBody>
      </p:sp>
      <p:pic>
        <p:nvPicPr>
          <p:cNvPr id="12" name="Image 0" descr="preencoded.png">    </p:cNvPr>
          <p:cNvPicPr>
            <a:picLocks noChangeAspect="1"/>
          </p:cNvPicPr>
          <p:nvPr/>
        </p:nvPicPr>
        <p:blipFill>
          <a:blip r:embed="rId1"/>
          <a:stretch>
            <a:fillRect/>
          </a:stretch>
        </p:blipFill>
        <p:spPr>
          <a:xfrm>
            <a:off x="576072" y="3392424"/>
            <a:ext cx="201168" cy="201168"/>
          </a:xfrm>
          <a:prstGeom prst="rect">
            <a:avLst/>
          </a:prstGeom>
        </p:spPr>
      </p:pic>
      <p:sp>
        <p:nvSpPr>
          <p:cNvPr id="21" name="Text 8"/>
          <p:cNvSpPr txBox="1"/>
          <p:nvPr/>
        </p:nvSpPr>
        <p:spPr>
          <a:xfrm>
            <a:off x="932688" y="329184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 common enterprise pattern</a:t>
            </a:r>
            <a:endParaRPr lang="en-US" sz="1300" dirty="0"/>
          </a:p>
        </p:txBody>
      </p:sp>
      <p:sp>
        <p:nvSpPr>
          <p:cNvPr id="14" name="Text 9"/>
          <p:cNvSpPr txBox="1"/>
          <p:nvPr/>
        </p:nvSpPr>
        <p:spPr>
          <a:xfrm>
            <a:off x="502920" y="3749040"/>
            <a:ext cx="3840480" cy="594360"/>
          </a:xfrm>
          <a:prstGeom prst="rect">
            <a:avLst/>
          </a:prstGeom>
          <a:noFill/>
          <a:ln/>
        </p:spPr>
        <p:txBody>
          <a:bodyPr wrap="square" lIns="0" tIns="0" rIns="0" bIns="0"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Run the NIST four functions as the operating model; treat the AI Act's requirements as a mandatory input to Map and Measure.</a:t>
            </a:r>
            <a:endParaRPr lang="en-US" sz="1100" dirty="0"/>
          </a:p>
        </p:txBody>
      </p:sp>
      <p:sp>
        <p:nvSpPr>
          <p:cNvPr id="15" name="Shape 10"/>
          <p:cNvSpPr/>
          <p:nvPr/>
        </p:nvSpPr>
        <p:spPr>
          <a:xfrm>
            <a:off x="4663440" y="3200400"/>
            <a:ext cx="4114800" cy="1234440"/>
          </a:xfrm>
          <a:prstGeom prst="roundRect">
            <a:avLst>
              <a:gd name="adj" fmla="val 5926"/>
            </a:avLst>
          </a:prstGeom>
          <a:solidFill>
            <a:srgbClr val="F3F5F8"/>
          </a:solidFill>
          <a:ln w="12700">
            <a:solidFill>
              <a:srgbClr val="F3F5F8"/>
            </a:solidFill>
            <a:prstDash val="solid"/>
          </a:ln>
        </p:spPr>
        <p:txBody>
          <a:bodyPr/>
          <a:p/>
        </p:txBody>
      </p:sp>
      <p:sp>
        <p:nvSpPr>
          <p:cNvPr id="16" name="Shape 11"/>
          <p:cNvSpPr/>
          <p:nvPr/>
        </p:nvSpPr>
        <p:spPr>
          <a:xfrm>
            <a:off x="4800600" y="3319272"/>
            <a:ext cx="347472" cy="347472"/>
          </a:xfrm>
          <a:prstGeom prst="ellipse">
            <a:avLst/>
          </a:prstGeom>
          <a:solidFill>
            <a:srgbClr val="E07A2F"/>
          </a:solidFill>
          <a:ln w="12700">
            <a:solidFill>
              <a:srgbClr val="E07A2F"/>
            </a:solidFill>
            <a:prstDash val="solid"/>
          </a:ln>
        </p:spPr>
        <p:txBody>
          <a:bodyPr/>
          <a:p/>
        </p:txBody>
      </p:sp>
      <p:pic>
        <p:nvPicPr>
          <p:cNvPr id="17" name="Image 1" descr="preencoded.png">    </p:cNvPr>
          <p:cNvPicPr>
            <a:picLocks noChangeAspect="1"/>
          </p:cNvPicPr>
          <p:nvPr/>
        </p:nvPicPr>
        <p:blipFill>
          <a:blip r:embed="rId2"/>
          <a:stretch>
            <a:fillRect/>
          </a:stretch>
        </p:blipFill>
        <p:spPr>
          <a:xfrm>
            <a:off x="4873752" y="3392424"/>
            <a:ext cx="201168" cy="201168"/>
          </a:xfrm>
          <a:prstGeom prst="rect">
            <a:avLst/>
          </a:prstGeom>
        </p:spPr>
      </p:pic>
      <p:sp>
        <p:nvSpPr>
          <p:cNvPr id="18" name="Text 12"/>
          <p:cNvSpPr txBox="1"/>
          <p:nvPr/>
        </p:nvSpPr>
        <p:spPr>
          <a:xfrm>
            <a:off x="5230368" y="329184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GenAI Profile (NIST, 2024)</a:t>
            </a:r>
            <a:endParaRPr lang="en-US" sz="1300" dirty="0"/>
          </a:p>
        </p:txBody>
      </p:sp>
      <p:sp>
        <p:nvSpPr>
          <p:cNvPr id="19" name="Text 13"/>
          <p:cNvSpPr txBox="1"/>
          <p:nvPr/>
        </p:nvSpPr>
        <p:spPr>
          <a:xfrm>
            <a:off x="4800600" y="3749040"/>
            <a:ext cx="3840480" cy="594360"/>
          </a:xfrm>
          <a:prstGeom prst="rect">
            <a:avLst/>
          </a:prstGeom>
          <a:noFill/>
          <a:ln/>
        </p:spPr>
        <p:txBody>
          <a:bodyPr wrap="square" lIns="0" tIns="0" rIns="0" bIns="0"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The four functions for generative risks: confabulation, dangerous content, data privacy, hard evaluation. Know it exists; it is the RAG checklist.</a:t>
            </a:r>
            <a:endParaRPr lang="en-US" sz="1100" dirty="0"/>
          </a:p>
        </p:txBody>
      </p:sp>
      <p:pic>
        <p:nvPicPr>
          <p:cNvPr id="20"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documents that prove governance happened: three artefacts</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5 · Documentation · 34–41 min</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737360"/>
                <a:gridCol w="2286000"/>
                <a:gridCol w="2377440"/>
                <a:gridCol w="1188720"/>
                <a:gridCol w="822960"/>
              </a:tblGrid>
              <a:tr h="64008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Artefact</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Answers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What it contains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Who writes it</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When</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64008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Datasheet for a dataset</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What data is this, and may we use it?</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Origin, collection method, consent, licensing, known gaps and biases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data owner</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At data acquisition, before training</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64008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Model card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What is this model, and when should it NOT be used?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What it predicts, training data, performance by group, limits, intended use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data scientist</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At release; updated every version</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64008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Decision log / record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What did it do, and can we explain one case?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Inputs, output, model version, and the reason where required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system, automatically</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Continuously, in production</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365760" y="4160520"/>
            <a:ext cx="8412480" cy="502920"/>
          </a:xfrm>
          <a:prstGeom prst="roundRect">
            <a:avLst>
              <a:gd name="adj" fmla="val 14545"/>
            </a:avLst>
          </a:prstGeom>
          <a:solidFill>
            <a:srgbClr val="E3F1F2"/>
          </a:solidFill>
          <a:ln w="12700">
            <a:solidFill>
              <a:srgbClr val="E3F1F2"/>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02920" y="4274820"/>
            <a:ext cx="274320" cy="274320"/>
          </a:xfrm>
          <a:prstGeom prst="rect">
            <a:avLst/>
          </a:prstGeom>
        </p:spPr>
      </p:pic>
      <p:sp>
        <p:nvSpPr>
          <p:cNvPr id="12" name="Text 7"/>
          <p:cNvSpPr txBox="1"/>
          <p:nvPr/>
        </p:nvSpPr>
        <p:spPr>
          <a:xfrm>
            <a:off x="896112" y="4160520"/>
            <a:ext cx="7772400" cy="5029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Read the "when" column: acquisition, release, production — the lifecycle you built all course. The Act's "technical documentation" and "record-keeping" duties are these three, kept up to date.</a:t>
            </a:r>
            <a:endParaRPr lang="en-US" sz="1050" dirty="0"/>
          </a:p>
        </p:txBody>
      </p:sp>
      <p:pic>
        <p:nvPicPr>
          <p:cNvPr id="15"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One filled-in model card: the TelcoNova churn model</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5 · Documentation · 34–41 min</a:t>
            </a:r>
            <a:endParaRPr lang="en-US" sz="850" dirty="0"/>
          </a:p>
        </p:txBody>
      </p:sp>
      <p:sp>
        <p:nvSpPr>
          <p:cNvPr id="9" name="Shape 6"/>
          <p:cNvSpPr/>
          <p:nvPr/>
        </p:nvSpPr>
        <p:spPr>
          <a:xfrm>
            <a:off x="365760" y="1234440"/>
            <a:ext cx="2286000" cy="384048"/>
          </a:xfrm>
          <a:prstGeom prst="roundRect">
            <a:avLst>
              <a:gd name="adj" fmla="val 11905"/>
            </a:avLst>
          </a:prstGeom>
          <a:solidFill>
            <a:srgbClr val="F3F5F8"/>
          </a:solidFill>
          <a:ln w="12700">
            <a:solidFill>
              <a:srgbClr val="F3F5F8"/>
            </a:solidFill>
            <a:prstDash val="solid"/>
          </a:ln>
        </p:spPr>
        <p:txBody>
          <a:bodyPr/>
          <a:p/>
        </p:txBody>
      </p:sp>
      <p:sp>
        <p:nvSpPr>
          <p:cNvPr id="10" name="Text 7"/>
          <p:cNvSpPr txBox="1"/>
          <p:nvPr/>
        </p:nvSpPr>
        <p:spPr>
          <a:xfrm>
            <a:off x="457200" y="1234440"/>
            <a:ext cx="2148840" cy="38404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Model</a:t>
            </a:r>
            <a:endParaRPr lang="en-US" sz="1050" dirty="0"/>
          </a:p>
        </p:txBody>
      </p:sp>
      <p:sp>
        <p:nvSpPr>
          <p:cNvPr id="11" name="Text 8"/>
          <p:cNvSpPr txBox="1"/>
          <p:nvPr/>
        </p:nvSpPr>
        <p:spPr>
          <a:xfrm>
            <a:off x="2788920" y="1234440"/>
            <a:ext cx="5989320" cy="384048"/>
          </a:xfrm>
          <a:prstGeom prst="rect">
            <a:avLst/>
          </a:prstGeom>
          <a:noFill/>
          <a:ln/>
        </p:spPr>
        <p:txBody>
          <a:bodyPr wrap="square" lIns="0" tIns="0" rIns="0" bIns="0" rtlCol="0" anchor="ctr"/>
          <a:lstStyle/>
          <a:p>
            <a:pPr indent="0" marL="0">
              <a:buNone/>
            </a:pPr>
            <a:r>
              <a:rPr lang="en-US" sz="1050" dirty="0">
                <a:solidFill>
                  <a:srgbClr val="0E7C86"/>
                </a:solidFill>
                <a:latin typeface="Calibri" pitchFamily="34" charset="0"/>
                <a:ea typeface="Calibri" pitchFamily="34" charset="-122"/>
                <a:cs typeface="Calibri" pitchFamily="34" charset="-120"/>
              </a:rPr>
              <a:t>churn-model v1.1 · TelcoNova retention</a:t>
            </a:r>
            <a:endParaRPr lang="en-US" sz="1050" dirty="0"/>
          </a:p>
        </p:txBody>
      </p:sp>
      <p:sp>
        <p:nvSpPr>
          <p:cNvPr id="12" name="Shape 9"/>
          <p:cNvSpPr/>
          <p:nvPr/>
        </p:nvSpPr>
        <p:spPr>
          <a:xfrm>
            <a:off x="365760" y="1673352"/>
            <a:ext cx="2286000" cy="384048"/>
          </a:xfrm>
          <a:prstGeom prst="roundRect">
            <a:avLst>
              <a:gd name="adj" fmla="val 11905"/>
            </a:avLst>
          </a:prstGeom>
          <a:solidFill>
            <a:srgbClr val="F3F5F8"/>
          </a:solidFill>
          <a:ln w="12700">
            <a:solidFill>
              <a:srgbClr val="F3F5F8"/>
            </a:solidFill>
            <a:prstDash val="solid"/>
          </a:ln>
        </p:spPr>
        <p:txBody>
          <a:bodyPr/>
          <a:p/>
        </p:txBody>
      </p:sp>
      <p:sp>
        <p:nvSpPr>
          <p:cNvPr id="13" name="Text 10"/>
          <p:cNvSpPr txBox="1"/>
          <p:nvPr/>
        </p:nvSpPr>
        <p:spPr>
          <a:xfrm>
            <a:off x="457200" y="1673352"/>
            <a:ext cx="2148840" cy="38404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Intended use</a:t>
            </a:r>
            <a:endParaRPr lang="en-US" sz="1050" dirty="0"/>
          </a:p>
        </p:txBody>
      </p:sp>
      <p:sp>
        <p:nvSpPr>
          <p:cNvPr id="14" name="Text 11"/>
          <p:cNvSpPr txBox="1"/>
          <p:nvPr/>
        </p:nvSpPr>
        <p:spPr>
          <a:xfrm>
            <a:off x="2788920" y="1673352"/>
            <a:ext cx="5989320" cy="384048"/>
          </a:xfrm>
          <a:prstGeom prst="rect">
            <a:avLst/>
          </a:prstGeom>
          <a:noFill/>
          <a:ln/>
        </p:spPr>
        <p:txBody>
          <a:bodyPr wrap="square" lIns="0" tIns="0" rIns="0" bIns="0" rtlCol="0" anchor="ctr"/>
          <a:lstStyle/>
          <a:p>
            <a:pPr indent="0" marL="0">
              <a:buNone/>
            </a:pPr>
            <a:r>
              <a:rPr lang="en-US" sz="1050" dirty="0">
                <a:solidFill>
                  <a:srgbClr val="0E7C86"/>
                </a:solidFill>
                <a:latin typeface="Calibri" pitchFamily="34" charset="0"/>
                <a:ea typeface="Calibri" pitchFamily="34" charset="-122"/>
                <a:cs typeface="Calibri" pitchFamily="34" charset="-120"/>
              </a:rPr>
              <a:t>Rank residential customers by churn risk to prioritise retention calls</a:t>
            </a:r>
            <a:endParaRPr lang="en-US" sz="1050" dirty="0"/>
          </a:p>
        </p:txBody>
      </p:sp>
      <p:sp>
        <p:nvSpPr>
          <p:cNvPr id="15" name="Shape 12"/>
          <p:cNvSpPr/>
          <p:nvPr/>
        </p:nvSpPr>
        <p:spPr>
          <a:xfrm>
            <a:off x="365760" y="2112264"/>
            <a:ext cx="2286000" cy="384048"/>
          </a:xfrm>
          <a:prstGeom prst="roundRect">
            <a:avLst>
              <a:gd name="adj" fmla="val 11905"/>
            </a:avLst>
          </a:prstGeom>
          <a:solidFill>
            <a:srgbClr val="F3F5F8"/>
          </a:solidFill>
          <a:ln w="12700">
            <a:solidFill>
              <a:srgbClr val="F3F5F8"/>
            </a:solidFill>
            <a:prstDash val="solid"/>
          </a:ln>
        </p:spPr>
        <p:txBody>
          <a:bodyPr/>
          <a:p/>
        </p:txBody>
      </p:sp>
      <p:sp>
        <p:nvSpPr>
          <p:cNvPr id="16" name="Text 13"/>
          <p:cNvSpPr txBox="1"/>
          <p:nvPr/>
        </p:nvSpPr>
        <p:spPr>
          <a:xfrm>
            <a:off x="457200" y="2112264"/>
            <a:ext cx="2148840" cy="38404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NOT for</a:t>
            </a:r>
            <a:endParaRPr lang="en-US" sz="1050" dirty="0"/>
          </a:p>
        </p:txBody>
      </p:sp>
      <p:sp>
        <p:nvSpPr>
          <p:cNvPr id="17" name="Text 14"/>
          <p:cNvSpPr txBox="1"/>
          <p:nvPr/>
        </p:nvSpPr>
        <p:spPr>
          <a:xfrm>
            <a:off x="2788920" y="2112264"/>
            <a:ext cx="5989320" cy="384048"/>
          </a:xfrm>
          <a:prstGeom prst="rect">
            <a:avLst/>
          </a:prstGeom>
          <a:noFill/>
          <a:ln/>
        </p:spPr>
        <p:txBody>
          <a:bodyPr wrap="square" lIns="0" tIns="0" rIns="0" bIns="0" rtlCol="0" anchor="ctr"/>
          <a:lstStyle/>
          <a:p>
            <a:pPr indent="0" marL="0">
              <a:buNone/>
            </a:pPr>
            <a:r>
              <a:rPr lang="en-US" sz="1050" b="1" dirty="0">
                <a:solidFill>
                  <a:srgbClr val="E07A2F"/>
                </a:solidFill>
                <a:latin typeface="Calibri" pitchFamily="34" charset="0"/>
                <a:ea typeface="Calibri" pitchFamily="34" charset="-122"/>
                <a:cs typeface="Calibri" pitchFamily="34" charset="-120"/>
              </a:rPr>
              <a:t>Pricing · credit · any decision about an individual's access to a service</a:t>
            </a:r>
            <a:endParaRPr lang="en-US" sz="1050" dirty="0"/>
          </a:p>
        </p:txBody>
      </p:sp>
      <p:sp>
        <p:nvSpPr>
          <p:cNvPr id="18" name="Shape 15"/>
          <p:cNvSpPr/>
          <p:nvPr/>
        </p:nvSpPr>
        <p:spPr>
          <a:xfrm>
            <a:off x="365760" y="2551176"/>
            <a:ext cx="2286000" cy="384048"/>
          </a:xfrm>
          <a:prstGeom prst="roundRect">
            <a:avLst>
              <a:gd name="adj" fmla="val 11905"/>
            </a:avLst>
          </a:prstGeom>
          <a:solidFill>
            <a:srgbClr val="F3F5F8"/>
          </a:solidFill>
          <a:ln w="12700">
            <a:solidFill>
              <a:srgbClr val="F3F5F8"/>
            </a:solidFill>
            <a:prstDash val="solid"/>
          </a:ln>
        </p:spPr>
        <p:txBody>
          <a:bodyPr/>
          <a:p/>
        </p:txBody>
      </p:sp>
      <p:sp>
        <p:nvSpPr>
          <p:cNvPr id="19" name="Text 16"/>
          <p:cNvSpPr txBox="1"/>
          <p:nvPr/>
        </p:nvSpPr>
        <p:spPr>
          <a:xfrm>
            <a:off x="457200" y="2551176"/>
            <a:ext cx="2148840" cy="38404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Training data</a:t>
            </a:r>
            <a:endParaRPr lang="en-US" sz="1050" dirty="0"/>
          </a:p>
        </p:txBody>
      </p:sp>
      <p:sp>
        <p:nvSpPr>
          <p:cNvPr id="20" name="Text 17"/>
          <p:cNvSpPr txBox="1"/>
          <p:nvPr/>
        </p:nvSpPr>
        <p:spPr>
          <a:xfrm>
            <a:off x="2788920" y="2551176"/>
            <a:ext cx="5989320" cy="384048"/>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12 months to June 2026 (datasheet linked) · 2M customers</a:t>
            </a:r>
            <a:endParaRPr lang="en-US" sz="1050" dirty="0"/>
          </a:p>
        </p:txBody>
      </p:sp>
      <p:sp>
        <p:nvSpPr>
          <p:cNvPr id="21" name="Shape 18"/>
          <p:cNvSpPr/>
          <p:nvPr/>
        </p:nvSpPr>
        <p:spPr>
          <a:xfrm>
            <a:off x="365760" y="2990088"/>
            <a:ext cx="2286000" cy="384048"/>
          </a:xfrm>
          <a:prstGeom prst="roundRect">
            <a:avLst>
              <a:gd name="adj" fmla="val 11905"/>
            </a:avLst>
          </a:prstGeom>
          <a:solidFill>
            <a:srgbClr val="F3F5F8"/>
          </a:solidFill>
          <a:ln w="12700">
            <a:solidFill>
              <a:srgbClr val="F3F5F8"/>
            </a:solidFill>
            <a:prstDash val="solid"/>
          </a:ln>
        </p:spPr>
        <p:txBody>
          <a:bodyPr/>
          <a:p/>
        </p:txBody>
      </p:sp>
      <p:sp>
        <p:nvSpPr>
          <p:cNvPr id="22" name="Text 19"/>
          <p:cNvSpPr txBox="1"/>
          <p:nvPr/>
        </p:nvSpPr>
        <p:spPr>
          <a:xfrm>
            <a:off x="457200" y="2990088"/>
            <a:ext cx="2148840" cy="38404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Performance</a:t>
            </a:r>
            <a:endParaRPr lang="en-US" sz="1050" dirty="0"/>
          </a:p>
        </p:txBody>
      </p:sp>
      <p:sp>
        <p:nvSpPr>
          <p:cNvPr id="23" name="Text 20"/>
          <p:cNvSpPr txBox="1"/>
          <p:nvPr/>
        </p:nvSpPr>
        <p:spPr>
          <a:xfrm>
            <a:off x="2788920" y="2990088"/>
            <a:ext cx="5989320" cy="384048"/>
          </a:xfrm>
          <a:prstGeom prst="rect">
            <a:avLst/>
          </a:prstGeom>
          <a:noFill/>
          <a:ln/>
        </p:spPr>
        <p:txBody>
          <a:bodyPr wrap="square" lIns="0" tIns="0" rIns="0" bIns="0" rtlCol="0" anchor="ctr"/>
          <a:lstStyle/>
          <a:p>
            <a:pPr indent="0" marL="0">
              <a:buNone/>
            </a:pPr>
            <a:r>
              <a:rPr lang="en-US" sz="1050" dirty="0">
                <a:solidFill>
                  <a:srgbClr val="222222"/>
                </a:solidFill>
                <a:latin typeface="Calibri" pitchFamily="34" charset="0"/>
                <a:ea typeface="Calibri" pitchFamily="34" charset="-122"/>
                <a:cs typeface="Calibri" pitchFamily="34" charset="-120"/>
              </a:rPr>
              <a:t>Accuracy 82% overall · by segment: 89% → 65% (North, tenure &gt; 3y, after the competitor)</a:t>
            </a:r>
            <a:endParaRPr lang="en-US" sz="1050" dirty="0"/>
          </a:p>
        </p:txBody>
      </p:sp>
      <p:sp>
        <p:nvSpPr>
          <p:cNvPr id="24" name="Shape 21"/>
          <p:cNvSpPr/>
          <p:nvPr/>
        </p:nvSpPr>
        <p:spPr>
          <a:xfrm>
            <a:off x="365760" y="3429000"/>
            <a:ext cx="2286000" cy="384048"/>
          </a:xfrm>
          <a:prstGeom prst="roundRect">
            <a:avLst>
              <a:gd name="adj" fmla="val 11905"/>
            </a:avLst>
          </a:prstGeom>
          <a:solidFill>
            <a:srgbClr val="F3F5F8"/>
          </a:solidFill>
          <a:ln w="12700">
            <a:solidFill>
              <a:srgbClr val="F3F5F8"/>
            </a:solidFill>
            <a:prstDash val="solid"/>
          </a:ln>
        </p:spPr>
        <p:txBody>
          <a:bodyPr/>
          <a:p/>
        </p:txBody>
      </p:sp>
      <p:sp>
        <p:nvSpPr>
          <p:cNvPr id="25" name="Text 22"/>
          <p:cNvSpPr txBox="1"/>
          <p:nvPr/>
        </p:nvSpPr>
        <p:spPr>
          <a:xfrm>
            <a:off x="457200" y="3429000"/>
            <a:ext cx="2148840" cy="38404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Limits</a:t>
            </a:r>
            <a:endParaRPr lang="en-US" sz="1050" dirty="0"/>
          </a:p>
        </p:txBody>
      </p:sp>
      <p:sp>
        <p:nvSpPr>
          <p:cNvPr id="26" name="Text 23"/>
          <p:cNvSpPr txBox="1"/>
          <p:nvPr/>
        </p:nvSpPr>
        <p:spPr>
          <a:xfrm>
            <a:off x="2788920" y="3429000"/>
            <a:ext cx="5989320" cy="384048"/>
          </a:xfrm>
          <a:prstGeom prst="rect">
            <a:avLst/>
          </a:prstGeom>
          <a:noFill/>
          <a:ln/>
        </p:spPr>
        <p:txBody>
          <a:bodyPr wrap="square" lIns="0" tIns="0" rIns="0" bIns="0" rtlCol="0" anchor="ctr"/>
          <a:lstStyle/>
          <a:p>
            <a:pPr indent="0" marL="0">
              <a:buNone/>
            </a:pPr>
            <a:r>
              <a:rPr lang="en-US" sz="1050" b="1" dirty="0">
                <a:solidFill>
                  <a:srgbClr val="E07A2F"/>
                </a:solidFill>
                <a:latin typeface="Calibri" pitchFamily="34" charset="0"/>
                <a:ea typeface="Calibri" pitchFamily="34" charset="-122"/>
                <a:cs typeface="Calibri" pitchFamily="34" charset="-120"/>
              </a:rPr>
              <a:t>Labels 30 days late · not calibrated below 20% · not for tenure &lt; 6 months</a:t>
            </a:r>
            <a:endParaRPr lang="en-US" sz="1050" dirty="0"/>
          </a:p>
        </p:txBody>
      </p:sp>
      <p:sp>
        <p:nvSpPr>
          <p:cNvPr id="27" name="Shape 24"/>
          <p:cNvSpPr/>
          <p:nvPr/>
        </p:nvSpPr>
        <p:spPr>
          <a:xfrm>
            <a:off x="365760" y="3867912"/>
            <a:ext cx="2286000" cy="384048"/>
          </a:xfrm>
          <a:prstGeom prst="roundRect">
            <a:avLst>
              <a:gd name="adj" fmla="val 11905"/>
            </a:avLst>
          </a:prstGeom>
          <a:solidFill>
            <a:srgbClr val="F3F5F8"/>
          </a:solidFill>
          <a:ln w="12700">
            <a:solidFill>
              <a:srgbClr val="F3F5F8"/>
            </a:solidFill>
            <a:prstDash val="solid"/>
          </a:ln>
        </p:spPr>
        <p:txBody>
          <a:bodyPr/>
          <a:p/>
        </p:txBody>
      </p:sp>
      <p:sp>
        <p:nvSpPr>
          <p:cNvPr id="28" name="Text 25"/>
          <p:cNvSpPr txBox="1"/>
          <p:nvPr/>
        </p:nvSpPr>
        <p:spPr>
          <a:xfrm>
            <a:off x="457200" y="3867912"/>
            <a:ext cx="2148840" cy="38404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Owner · trigger · review</a:t>
            </a:r>
            <a:endParaRPr lang="en-US" sz="1050" dirty="0"/>
          </a:p>
        </p:txBody>
      </p:sp>
      <p:sp>
        <p:nvSpPr>
          <p:cNvPr id="29" name="Text 26"/>
          <p:cNvSpPr txBox="1"/>
          <p:nvPr/>
        </p:nvSpPr>
        <p:spPr>
          <a:xfrm>
            <a:off x="2788920" y="3867912"/>
            <a:ext cx="5989320" cy="384048"/>
          </a:xfrm>
          <a:prstGeom prst="rect">
            <a:avLst/>
          </a:prstGeom>
          <a:noFill/>
          <a:ln/>
        </p:spPr>
        <p:txBody>
          <a:bodyPr wrap="square" lIns="0" tIns="0" rIns="0" bIns="0" rtlCol="0" anchor="ctr"/>
          <a:lstStyle/>
          <a:p>
            <a:pPr indent="0" marL="0">
              <a:buNone/>
            </a:pPr>
            <a:r>
              <a:rPr lang="en-US" sz="1050" dirty="0">
                <a:solidFill>
                  <a:srgbClr val="0E7C86"/>
                </a:solidFill>
                <a:latin typeface="Calibri" pitchFamily="34" charset="0"/>
                <a:ea typeface="Calibri" pitchFamily="34" charset="-122"/>
                <a:cs typeface="Calibri" pitchFamily="34" charset="-120"/>
              </a:rPr>
              <a:t>Product owner (named) · retrain below 75% or segment below 70% · reviewed monthly</a:t>
            </a:r>
            <a:endParaRPr lang="en-US" sz="1050" dirty="0"/>
          </a:p>
        </p:txBody>
      </p:sp>
      <p:sp>
        <p:nvSpPr>
          <p:cNvPr id="30" name="Shape 27"/>
          <p:cNvSpPr/>
          <p:nvPr/>
        </p:nvSpPr>
        <p:spPr>
          <a:xfrm>
            <a:off x="365760" y="4297680"/>
            <a:ext cx="8412480" cy="384048"/>
          </a:xfrm>
          <a:prstGeom prst="roundRect">
            <a:avLst>
              <a:gd name="adj" fmla="val 19048"/>
            </a:avLst>
          </a:prstGeom>
          <a:solidFill>
            <a:srgbClr val="E3F1F2"/>
          </a:solidFill>
          <a:ln w="12700">
            <a:solidFill>
              <a:srgbClr val="E3F1F2"/>
            </a:solidFill>
            <a:prstDash val="solid"/>
          </a:ln>
        </p:spPr>
        <p:txBody>
          <a:bodyPr/>
          <a:p/>
        </p:txBody>
      </p:sp>
      <p:pic>
        <p:nvPicPr>
          <p:cNvPr id="31" name="Image 0" descr="preencoded.png">    </p:cNvPr>
          <p:cNvPicPr>
            <a:picLocks noChangeAspect="1"/>
          </p:cNvPicPr>
          <p:nvPr/>
        </p:nvPicPr>
        <p:blipFill>
          <a:blip r:embed="rId1"/>
          <a:stretch>
            <a:fillRect/>
          </a:stretch>
        </p:blipFill>
        <p:spPr>
          <a:xfrm>
            <a:off x="502920" y="4352544"/>
            <a:ext cx="274320" cy="274320"/>
          </a:xfrm>
          <a:prstGeom prst="rect">
            <a:avLst/>
          </a:prstGeom>
        </p:spPr>
      </p:pic>
      <p:sp>
        <p:nvSpPr>
          <p:cNvPr id="32" name="Text 28"/>
          <p:cNvSpPr txBox="1"/>
          <p:nvPr/>
        </p:nvSpPr>
        <p:spPr>
          <a:xfrm>
            <a:off x="896112" y="4297680"/>
            <a:ext cx="7772400" cy="38404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A card that says "performs well" is marketing. One that says "89% overall, 65% in this segment, do not use below 20%" is governance. The most useful artefact you can take into a job.</a:t>
            </a:r>
            <a:endParaRPr lang="en-US" sz="1050" dirty="0"/>
          </a:p>
        </p:txBody>
      </p:sp>
      <p:pic>
        <p:nvPicPr>
          <p:cNvPr id="33"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Accountability and human oversight: who answers, and how a person stays in control</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6 · Oversight &amp; GenAI · 41–49 min</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5120640" cy="914400"/>
        </p:xfrm>
        <a:graphic>
          <a:graphicData uri="http://schemas.openxmlformats.org/drawingml/2006/table">
            <a:tbl>
              <a:tblPr/>
              <a:tblGrid>
                <a:gridCol w="1554480"/>
                <a:gridCol w="1051560"/>
                <a:gridCol w="1280160"/>
                <a:gridCol w="1234440"/>
              </a:tblGrid>
              <a:tr h="420624">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Control (churn model)</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Responsible</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Accountable</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Consulted / Informed</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20624">
                <a:tc>
                  <a:txBody>
                    <a:bodyPr/>
                    <a:lstStyle/>
                    <a:p>
                      <a:pPr algn="l" indent="0" marL="0">
                        <a:buNone/>
                      </a:pPr>
                      <a:r>
                        <a:rPr lang="en-US" sz="850" b="1" dirty="0">
                          <a:solidFill>
                            <a:srgbClr val="222222"/>
                          </a:solidFill>
                          <a:latin typeface="Calibri" pitchFamily="34" charset="0"/>
                          <a:ea typeface="Calibri" pitchFamily="34" charset="-122"/>
                          <a:cs typeface="Calibri" pitchFamily="34" charset="-120"/>
                        </a:rPr>
                        <a:t>Data validation at ingestion</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ML engineer</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Product owner</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Data team / Risk</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20624">
                <a:tc>
                  <a:txBody>
                    <a:bodyPr/>
                    <a:lstStyle/>
                    <a:p>
                      <a:pPr algn="l" indent="0" marL="0">
                        <a:buNone/>
                      </a:pPr>
                      <a:r>
                        <a:rPr lang="en-US" sz="850" b="1" dirty="0">
                          <a:solidFill>
                            <a:srgbClr val="222222"/>
                          </a:solidFill>
                          <a:latin typeface="Calibri" pitchFamily="34" charset="0"/>
                          <a:ea typeface="Calibri" pitchFamily="34" charset="-122"/>
                          <a:cs typeface="Calibri" pitchFamily="34" charset="-120"/>
                        </a:rPr>
                        <a:t>Bias check before release</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Data scientist</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Risk &amp; Compliance</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Product owner</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20624">
                <a:tc>
                  <a:txBody>
                    <a:bodyPr/>
                    <a:lstStyle/>
                    <a:p>
                      <a:pPr algn="l" indent="0" marL="0">
                        <a:buNone/>
                      </a:pPr>
                      <a:r>
                        <a:rPr lang="en-US" sz="850" b="1" dirty="0">
                          <a:solidFill>
                            <a:srgbClr val="222222"/>
                          </a:solidFill>
                          <a:latin typeface="Calibri" pitchFamily="34" charset="0"/>
                          <a:ea typeface="Calibri" pitchFamily="34" charset="-122"/>
                          <a:cs typeface="Calibri" pitchFamily="34" charset="-120"/>
                        </a:rPr>
                        <a:t>The retention decision</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Retention team</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Retention manager (not the model)</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Data scientist</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20624">
                <a:tc>
                  <a:txBody>
                    <a:bodyPr/>
                    <a:lstStyle/>
                    <a:p>
                      <a:pPr algn="l" indent="0" marL="0">
                        <a:buNone/>
                      </a:pPr>
                      <a:r>
                        <a:rPr lang="en-US" sz="850" b="1" dirty="0">
                          <a:solidFill>
                            <a:srgbClr val="222222"/>
                          </a:solidFill>
                          <a:latin typeface="Calibri" pitchFamily="34" charset="0"/>
                          <a:ea typeface="Calibri" pitchFamily="34" charset="-122"/>
                          <a:cs typeface="Calibri" pitchFamily="34" charset="-120"/>
                        </a:rPr>
                        <a:t>Incident response</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ML engineer on call</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Product owner</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IT / Legal</a:t>
                      </a:r>
                      <a:endParaRPr lang="en-US" sz="8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Text 6"/>
          <p:cNvSpPr txBox="1"/>
          <p:nvPr/>
        </p:nvSpPr>
        <p:spPr>
          <a:xfrm>
            <a:off x="365760" y="3337560"/>
            <a:ext cx="5120640" cy="457200"/>
          </a:xfrm>
          <a:prstGeom prst="rect">
            <a:avLst/>
          </a:prstGeom>
          <a:noFill/>
          <a:ln/>
        </p:spPr>
        <p:txBody>
          <a:bodyPr wrap="square" lIns="0" tIns="0" rIns="0" bIns="0" rtlCol="0" anchor="t"/>
          <a:lstStyle/>
          <a:p>
            <a:pPr algn="l" indent="0" marL="0">
              <a:buNone/>
            </a:pPr>
            <a:r>
              <a:rPr lang="en-US" sz="1000" b="1" i="1" dirty="0">
                <a:solidFill>
                  <a:srgbClr val="E07A2F"/>
                </a:solidFill>
                <a:latin typeface="Calibri" pitchFamily="34" charset="0"/>
                <a:ea typeface="Calibri" pitchFamily="34" charset="-122"/>
                <a:cs typeface="Calibri" pitchFamily="34" charset="-120"/>
              </a:rPr>
              <a:t>The column empty in every Session 10 failure: "Accountable". Fill it and half of governance is done.</a:t>
            </a:r>
            <a:endParaRPr lang="en-US" sz="1000" dirty="0"/>
          </a:p>
        </p:txBody>
      </p:sp>
      <p:sp>
        <p:nvSpPr>
          <p:cNvPr id="11" name="Shape 7"/>
          <p:cNvSpPr/>
          <p:nvPr/>
        </p:nvSpPr>
        <p:spPr>
          <a:xfrm>
            <a:off x="5486400" y="1234440"/>
            <a:ext cx="3291840" cy="1417320"/>
          </a:xfrm>
          <a:prstGeom prst="roundRect">
            <a:avLst>
              <a:gd name="adj" fmla="val 5161"/>
            </a:avLst>
          </a:prstGeom>
          <a:solidFill>
            <a:srgbClr val="F3F5F8"/>
          </a:solidFill>
          <a:ln w="12700">
            <a:solidFill>
              <a:srgbClr val="F3F5F8"/>
            </a:solidFill>
            <a:prstDash val="solid"/>
          </a:ln>
        </p:spPr>
        <p:txBody>
          <a:bodyPr/>
          <a:p/>
        </p:txBody>
      </p:sp>
      <p:sp>
        <p:nvSpPr>
          <p:cNvPr id="12" name="Shape 8"/>
          <p:cNvSpPr/>
          <p:nvPr/>
        </p:nvSpPr>
        <p:spPr>
          <a:xfrm>
            <a:off x="5623560" y="1353312"/>
            <a:ext cx="347472" cy="347472"/>
          </a:xfrm>
          <a:prstGeom prst="ellipse">
            <a:avLst/>
          </a:prstGeom>
          <a:solidFill>
            <a:srgbClr val="0E7C86"/>
          </a:solidFill>
          <a:ln w="12700">
            <a:solidFill>
              <a:srgbClr val="0E7C86"/>
            </a:solidFill>
            <a:prstDash val="solid"/>
          </a:ln>
        </p:spPr>
        <p:txBody>
          <a:bodyPr/>
          <a:p/>
        </p:txBody>
      </p:sp>
      <p:pic>
        <p:nvPicPr>
          <p:cNvPr id="13" name="Image 0" descr="preencoded.png">    </p:cNvPr>
          <p:cNvPicPr>
            <a:picLocks noChangeAspect="1"/>
          </p:cNvPicPr>
          <p:nvPr/>
        </p:nvPicPr>
        <p:blipFill>
          <a:blip r:embed="rId1"/>
          <a:stretch>
            <a:fillRect/>
          </a:stretch>
        </p:blipFill>
        <p:spPr>
          <a:xfrm>
            <a:off x="5696712" y="1426464"/>
            <a:ext cx="201168" cy="201168"/>
          </a:xfrm>
          <a:prstGeom prst="rect">
            <a:avLst/>
          </a:prstGeom>
        </p:spPr>
      </p:pic>
      <p:sp>
        <p:nvSpPr>
          <p:cNvPr id="14" name="Text 9"/>
          <p:cNvSpPr txBox="1"/>
          <p:nvPr/>
        </p:nvSpPr>
        <p:spPr>
          <a:xfrm>
            <a:off x="6053328" y="1325880"/>
            <a:ext cx="260604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Human-in-the-loop</a:t>
            </a:r>
            <a:endParaRPr lang="en-US" sz="1300" dirty="0"/>
          </a:p>
        </p:txBody>
      </p:sp>
      <p:sp>
        <p:nvSpPr>
          <p:cNvPr id="15" name="Text 10"/>
          <p:cNvSpPr txBox="1"/>
          <p:nvPr/>
        </p:nvSpPr>
        <p:spPr>
          <a:xfrm>
            <a:off x="5623560" y="1783080"/>
            <a:ext cx="3017520" cy="77724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A person approves each decision before it takes effect. Slow; for high-stakes, low-volume (a large loan, a medical flag).</a:t>
            </a:r>
            <a:endParaRPr lang="en-US" sz="1050" dirty="0"/>
          </a:p>
        </p:txBody>
      </p:sp>
      <p:sp>
        <p:nvSpPr>
          <p:cNvPr id="25" name="Shape 11"/>
          <p:cNvSpPr/>
          <p:nvPr/>
        </p:nvSpPr>
        <p:spPr>
          <a:xfrm>
            <a:off x="5486400" y="2743200"/>
            <a:ext cx="3291840" cy="1417320"/>
          </a:xfrm>
          <a:prstGeom prst="roundRect">
            <a:avLst>
              <a:gd name="adj" fmla="val 5161"/>
            </a:avLst>
          </a:prstGeom>
          <a:solidFill>
            <a:srgbClr val="F3F5F8"/>
          </a:solidFill>
          <a:ln w="12700">
            <a:solidFill>
              <a:srgbClr val="F3F5F8"/>
            </a:solidFill>
            <a:prstDash val="solid"/>
          </a:ln>
        </p:spPr>
        <p:txBody>
          <a:bodyPr/>
          <a:p/>
        </p:txBody>
      </p:sp>
      <p:sp>
        <p:nvSpPr>
          <p:cNvPr id="17" name="Shape 12"/>
          <p:cNvSpPr/>
          <p:nvPr/>
        </p:nvSpPr>
        <p:spPr>
          <a:xfrm>
            <a:off x="5623560" y="2862072"/>
            <a:ext cx="347472" cy="347472"/>
          </a:xfrm>
          <a:prstGeom prst="ellipse">
            <a:avLst/>
          </a:prstGeom>
          <a:solidFill>
            <a:srgbClr val="E07A2F"/>
          </a:solidFill>
          <a:ln w="12700">
            <a:solidFill>
              <a:srgbClr val="E07A2F"/>
            </a:solidFill>
            <a:prstDash val="solid"/>
          </a:ln>
        </p:spPr>
        <p:txBody>
          <a:bodyPr/>
          <a:p/>
        </p:txBody>
      </p:sp>
      <p:pic>
        <p:nvPicPr>
          <p:cNvPr id="18" name="Image 1" descr="preencoded.png">    </p:cNvPr>
          <p:cNvPicPr>
            <a:picLocks noChangeAspect="1"/>
          </p:cNvPicPr>
          <p:nvPr/>
        </p:nvPicPr>
        <p:blipFill>
          <a:blip r:embed="rId2"/>
          <a:stretch>
            <a:fillRect/>
          </a:stretch>
        </p:blipFill>
        <p:spPr>
          <a:xfrm>
            <a:off x="5696712" y="2935224"/>
            <a:ext cx="201168" cy="201168"/>
          </a:xfrm>
          <a:prstGeom prst="rect">
            <a:avLst/>
          </a:prstGeom>
        </p:spPr>
      </p:pic>
      <p:sp>
        <p:nvSpPr>
          <p:cNvPr id="19" name="Text 13"/>
          <p:cNvSpPr txBox="1"/>
          <p:nvPr/>
        </p:nvSpPr>
        <p:spPr>
          <a:xfrm>
            <a:off x="6053328" y="2834640"/>
            <a:ext cx="260604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Human-on-the-loop</a:t>
            </a:r>
            <a:endParaRPr lang="en-US" sz="1300" dirty="0"/>
          </a:p>
        </p:txBody>
      </p:sp>
      <p:sp>
        <p:nvSpPr>
          <p:cNvPr id="20" name="Text 14"/>
          <p:cNvSpPr txBox="1"/>
          <p:nvPr/>
        </p:nvSpPr>
        <p:spPr>
          <a:xfrm>
            <a:off x="5623560" y="3291840"/>
            <a:ext cx="3017520" cy="77724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The system acts; a person monitors and can stop it. For high-volume (fraud, moderation), with a fast override and a kill switch.</a:t>
            </a:r>
            <a:endParaRPr lang="en-US" sz="1050" dirty="0"/>
          </a:p>
        </p:txBody>
      </p:sp>
      <p:sp>
        <p:nvSpPr>
          <p:cNvPr id="21" name="Shape 15"/>
          <p:cNvSpPr/>
          <p:nvPr/>
        </p:nvSpPr>
        <p:spPr>
          <a:xfrm>
            <a:off x="365760" y="425196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22" name="Image 2" descr="preencoded.png">    </p:cNvPr>
          <p:cNvPicPr>
            <a:picLocks noChangeAspect="1"/>
          </p:cNvPicPr>
          <p:nvPr/>
        </p:nvPicPr>
        <p:blipFill>
          <a:blip r:embed="rId3"/>
          <a:stretch>
            <a:fillRect/>
          </a:stretch>
        </p:blipFill>
        <p:spPr>
          <a:xfrm>
            <a:off x="502920" y="4343400"/>
            <a:ext cx="274320" cy="274320"/>
          </a:xfrm>
          <a:prstGeom prst="rect">
            <a:avLst/>
          </a:prstGeom>
        </p:spPr>
      </p:pic>
      <p:sp>
        <p:nvSpPr>
          <p:cNvPr id="23" name="Text 16"/>
          <p:cNvSpPr txBox="1"/>
          <p:nvPr/>
        </p:nvSpPr>
        <p:spPr>
          <a:xfrm>
            <a:off x="896112" y="4251960"/>
            <a:ext cx="7772400" cy="457200"/>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Match oversight to stakes and volume; the churn retrain-and-redeploy loop needs an in-the-loop gate (the Session 7 poll). The Act's duty is satisfied by choosing, and documenting, the right one.</a:t>
            </a:r>
            <a:endParaRPr lang="en-US" sz="1000" dirty="0"/>
          </a:p>
        </p:txBody>
      </p:sp>
      <p:pic>
        <p:nvPicPr>
          <p:cNvPr id="24"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Governing a generative-AI assistant: what to add for the HR bot</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6 · Oversight &amp; GenAI · 41–49 min</a:t>
            </a:r>
            <a:endParaRPr lang="en-US" sz="850" dirty="0"/>
          </a:p>
        </p:txBody>
      </p:sp>
      <p:sp>
        <p:nvSpPr>
          <p:cNvPr id="9" name="Shape 6"/>
          <p:cNvSpPr/>
          <p:nvPr/>
        </p:nvSpPr>
        <p:spPr>
          <a:xfrm>
            <a:off x="365760" y="1234440"/>
            <a:ext cx="420624" cy="420624"/>
          </a:xfrm>
          <a:prstGeom prst="ellipse">
            <a:avLst/>
          </a:prstGeom>
          <a:solidFill>
            <a:srgbClr val="0E7C86"/>
          </a:solidFill>
          <a:ln w="12700">
            <a:solidFill>
              <a:srgbClr val="0E7C86"/>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457200" y="1325880"/>
            <a:ext cx="237744" cy="237744"/>
          </a:xfrm>
          <a:prstGeom prst="rect">
            <a:avLst/>
          </a:prstGeom>
        </p:spPr>
      </p:pic>
      <p:sp>
        <p:nvSpPr>
          <p:cNvPr id="11" name="Text 7"/>
          <p:cNvSpPr txBox="1"/>
          <p:nvPr/>
        </p:nvSpPr>
        <p:spPr>
          <a:xfrm>
            <a:off x="914400" y="1216152"/>
            <a:ext cx="78638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Content provenance and grounding</a:t>
            </a:r>
            <a:endParaRPr lang="en-US" sz="1200" dirty="0"/>
          </a:p>
        </p:txBody>
      </p:sp>
      <p:sp>
        <p:nvSpPr>
          <p:cNvPr id="12" name="Text 8"/>
          <p:cNvSpPr txBox="1"/>
          <p:nvPr/>
        </p:nvSpPr>
        <p:spPr>
          <a:xfrm>
            <a:off x="914400" y="1472184"/>
            <a:ext cx="786384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The answer comes from the approved documents, and you can show which (the S10 groundedness guardrail is a governance control)</a:t>
            </a:r>
            <a:endParaRPr lang="en-US" sz="1100" dirty="0"/>
          </a:p>
        </p:txBody>
      </p:sp>
      <p:sp>
        <p:nvSpPr>
          <p:cNvPr id="13" name="Shape 9"/>
          <p:cNvSpPr/>
          <p:nvPr/>
        </p:nvSpPr>
        <p:spPr>
          <a:xfrm>
            <a:off x="365760" y="1801368"/>
            <a:ext cx="420624" cy="420624"/>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57200" y="1892808"/>
            <a:ext cx="237744" cy="237744"/>
          </a:xfrm>
          <a:prstGeom prst="rect">
            <a:avLst/>
          </a:prstGeom>
        </p:spPr>
      </p:pic>
      <p:sp>
        <p:nvSpPr>
          <p:cNvPr id="15" name="Text 10"/>
          <p:cNvSpPr txBox="1"/>
          <p:nvPr/>
        </p:nvSpPr>
        <p:spPr>
          <a:xfrm>
            <a:off x="914400" y="1783080"/>
            <a:ext cx="78638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An acceptable-use policy</a:t>
            </a:r>
            <a:endParaRPr lang="en-US" sz="1200" dirty="0"/>
          </a:p>
        </p:txBody>
      </p:sp>
      <p:sp>
        <p:nvSpPr>
          <p:cNvPr id="16" name="Text 11"/>
          <p:cNvSpPr txBox="1"/>
          <p:nvPr/>
        </p:nvSpPr>
        <p:spPr>
          <a:xfrm>
            <a:off x="914400" y="2039112"/>
            <a:ext cx="786384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What it may be asked, and what it must refuse: salary decisions, legal advice, anything about a named person</a:t>
            </a:r>
            <a:endParaRPr lang="en-US" sz="1100" dirty="0"/>
          </a:p>
        </p:txBody>
      </p:sp>
      <p:sp>
        <p:nvSpPr>
          <p:cNvPr id="17" name="Shape 12"/>
          <p:cNvSpPr/>
          <p:nvPr/>
        </p:nvSpPr>
        <p:spPr>
          <a:xfrm>
            <a:off x="365760" y="2368296"/>
            <a:ext cx="420624" cy="420624"/>
          </a:xfrm>
          <a:prstGeom prst="ellipse">
            <a:avLst/>
          </a:prstGeom>
          <a:solidFill>
            <a:srgbClr val="0E7C86"/>
          </a:solidFill>
          <a:ln w="12700">
            <a:solidFill>
              <a:srgbClr val="0E7C86"/>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457200" y="2459736"/>
            <a:ext cx="237744" cy="237744"/>
          </a:xfrm>
          <a:prstGeom prst="rect">
            <a:avLst/>
          </a:prstGeom>
        </p:spPr>
      </p:pic>
      <p:sp>
        <p:nvSpPr>
          <p:cNvPr id="19" name="Text 13"/>
          <p:cNvSpPr txBox="1"/>
          <p:nvPr/>
        </p:nvSpPr>
        <p:spPr>
          <a:xfrm>
            <a:off x="914400" y="2350008"/>
            <a:ext cx="78638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Logging of prompts and outputs</a:t>
            </a:r>
            <a:endParaRPr lang="en-US" sz="1200" dirty="0"/>
          </a:p>
        </p:txBody>
      </p:sp>
      <p:sp>
        <p:nvSpPr>
          <p:cNvPr id="20" name="Text 14"/>
          <p:cNvSpPr txBox="1"/>
          <p:nvPr/>
        </p:nvSpPr>
        <p:spPr>
          <a:xfrm>
            <a:off x="914400" y="2606040"/>
            <a:ext cx="786384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Every interaction, with prompt and document versions; the log holds personal data, so the log itself is governed</a:t>
            </a:r>
            <a:endParaRPr lang="en-US" sz="1100" dirty="0"/>
          </a:p>
        </p:txBody>
      </p:sp>
      <p:sp>
        <p:nvSpPr>
          <p:cNvPr id="21" name="Shape 15"/>
          <p:cNvSpPr/>
          <p:nvPr/>
        </p:nvSpPr>
        <p:spPr>
          <a:xfrm>
            <a:off x="365760" y="2935224"/>
            <a:ext cx="420624" cy="420624"/>
          </a:xfrm>
          <a:prstGeom prst="ellipse">
            <a:avLst/>
          </a:prstGeom>
          <a:solidFill>
            <a:srgbClr val="0E7C86"/>
          </a:solidFill>
          <a:ln w="12700">
            <a:solidFill>
              <a:srgbClr val="0E7C86"/>
            </a:solidFill>
            <a:prstDash val="solid"/>
          </a:ln>
        </p:spPr>
        <p:txBody>
          <a:bodyPr/>
          <a:p/>
        </p:txBody>
      </p:sp>
      <p:pic>
        <p:nvPicPr>
          <p:cNvPr id="22" name="Image 3" descr="preencoded.png">    </p:cNvPr>
          <p:cNvPicPr>
            <a:picLocks noChangeAspect="1"/>
          </p:cNvPicPr>
          <p:nvPr/>
        </p:nvPicPr>
        <p:blipFill>
          <a:blip r:embed="rId4"/>
          <a:stretch>
            <a:fillRect/>
          </a:stretch>
        </p:blipFill>
        <p:spPr>
          <a:xfrm>
            <a:off x="457200" y="3026664"/>
            <a:ext cx="237744" cy="237744"/>
          </a:xfrm>
          <a:prstGeom prst="rect">
            <a:avLst/>
          </a:prstGeom>
        </p:spPr>
      </p:pic>
      <p:sp>
        <p:nvSpPr>
          <p:cNvPr id="23" name="Text 16"/>
          <p:cNvSpPr txBox="1"/>
          <p:nvPr/>
        </p:nvSpPr>
        <p:spPr>
          <a:xfrm>
            <a:off x="914400" y="2916936"/>
            <a:ext cx="78638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Human escalation</a:t>
            </a:r>
            <a:endParaRPr lang="en-US" sz="1200" dirty="0"/>
          </a:p>
        </p:txBody>
      </p:sp>
      <p:sp>
        <p:nvSpPr>
          <p:cNvPr id="24" name="Text 17"/>
          <p:cNvSpPr txBox="1"/>
          <p:nvPr/>
        </p:nvSpPr>
        <p:spPr>
          <a:xfrm>
            <a:off x="914400" y="3172968"/>
            <a:ext cx="786384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A clear path from the bot to a person, and a rule for when it must escalate rather than answer</a:t>
            </a:r>
            <a:endParaRPr lang="en-US" sz="1100" dirty="0"/>
          </a:p>
        </p:txBody>
      </p:sp>
      <p:sp>
        <p:nvSpPr>
          <p:cNvPr id="25" name="Shape 18"/>
          <p:cNvSpPr/>
          <p:nvPr/>
        </p:nvSpPr>
        <p:spPr>
          <a:xfrm>
            <a:off x="365760" y="3502152"/>
            <a:ext cx="420624" cy="420624"/>
          </a:xfrm>
          <a:prstGeom prst="ellipse">
            <a:avLst/>
          </a:prstGeom>
          <a:solidFill>
            <a:srgbClr val="E07A2F"/>
          </a:solidFill>
          <a:ln w="12700">
            <a:solidFill>
              <a:srgbClr val="E07A2F"/>
            </a:solidFill>
            <a:prstDash val="solid"/>
          </a:ln>
        </p:spPr>
        <p:txBody>
          <a:bodyPr/>
          <a:p/>
        </p:txBody>
      </p:sp>
      <p:pic>
        <p:nvPicPr>
          <p:cNvPr id="26" name="Image 4" descr="preencoded.png">    </p:cNvPr>
          <p:cNvPicPr>
            <a:picLocks noChangeAspect="1"/>
          </p:cNvPicPr>
          <p:nvPr/>
        </p:nvPicPr>
        <p:blipFill>
          <a:blip r:embed="rId5"/>
          <a:stretch>
            <a:fillRect/>
          </a:stretch>
        </p:blipFill>
        <p:spPr>
          <a:xfrm>
            <a:off x="457200" y="3593592"/>
            <a:ext cx="237744" cy="237744"/>
          </a:xfrm>
          <a:prstGeom prst="rect">
            <a:avLst/>
          </a:prstGeom>
        </p:spPr>
      </p:pic>
      <p:sp>
        <p:nvSpPr>
          <p:cNvPr id="27" name="Text 19"/>
          <p:cNvSpPr txBox="1"/>
          <p:nvPr/>
        </p:nvSpPr>
        <p:spPr>
          <a:xfrm>
            <a:off x="914400" y="3483864"/>
            <a:ext cx="786384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Data-protection alignment</a:t>
            </a:r>
            <a:endParaRPr lang="en-US" sz="1200" dirty="0"/>
          </a:p>
        </p:txBody>
      </p:sp>
      <p:sp>
        <p:nvSpPr>
          <p:cNvPr id="28" name="Text 20"/>
          <p:cNvSpPr txBox="1"/>
          <p:nvPr/>
        </p:nvSpPr>
        <p:spPr>
          <a:xfrm>
            <a:off x="914400" y="3739896"/>
            <a:ext cx="786384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It sits on your GDPR duties: a leaked salary is a data-protection incident, not only a quality bug (the S10 PII leak)</a:t>
            </a:r>
            <a:endParaRPr lang="en-US" sz="1100" dirty="0"/>
          </a:p>
        </p:txBody>
      </p:sp>
      <p:sp>
        <p:nvSpPr>
          <p:cNvPr id="29" name="Shape 21"/>
          <p:cNvSpPr/>
          <p:nvPr/>
        </p:nvSpPr>
        <p:spPr>
          <a:xfrm>
            <a:off x="365760" y="4206240"/>
            <a:ext cx="8412480" cy="502920"/>
          </a:xfrm>
          <a:prstGeom prst="roundRect">
            <a:avLst>
              <a:gd name="adj" fmla="val 14545"/>
            </a:avLst>
          </a:prstGeom>
          <a:solidFill>
            <a:srgbClr val="E3F1F2"/>
          </a:solidFill>
          <a:ln w="12700">
            <a:solidFill>
              <a:srgbClr val="E3F1F2"/>
            </a:solidFill>
            <a:prstDash val="solid"/>
          </a:ln>
        </p:spPr>
        <p:txBody>
          <a:bodyPr/>
          <a:p/>
        </p:txBody>
      </p:sp>
      <p:pic>
        <p:nvPicPr>
          <p:cNvPr id="30" name="Image 5" descr="preencoded.png">    </p:cNvPr>
          <p:cNvPicPr>
            <a:picLocks noChangeAspect="1"/>
          </p:cNvPicPr>
          <p:nvPr/>
        </p:nvPicPr>
        <p:blipFill>
          <a:blip r:embed="rId6"/>
          <a:stretch>
            <a:fillRect/>
          </a:stretch>
        </p:blipFill>
        <p:spPr>
          <a:xfrm>
            <a:off x="502920" y="4320540"/>
            <a:ext cx="274320" cy="274320"/>
          </a:xfrm>
          <a:prstGeom prst="rect">
            <a:avLst/>
          </a:prstGeom>
        </p:spPr>
      </p:pic>
      <p:sp>
        <p:nvSpPr>
          <p:cNvPr id="31" name="Text 22"/>
          <p:cNvSpPr txBox="1"/>
          <p:nvPr/>
        </p:nvSpPr>
        <p:spPr>
          <a:xfrm>
            <a:off x="896112" y="4206240"/>
            <a:ext cx="7772400" cy="5029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Everything that made the assistant good in Session 10 — grounding, refusal, logging, a human path, PII detection — is what makes it governed. Quality and governance are the same controls from two angles.</a:t>
            </a:r>
            <a:endParaRPr lang="en-US" sz="1100" dirty="0"/>
          </a:p>
        </p:txBody>
      </p:sp>
      <p:pic>
        <p:nvPicPr>
          <p:cNvPr id="32" name="IE University logo" descr="IE University, School of Science &amp; Technology"/>
          <p:cNvPicPr>
            <a:picLocks noChangeAspect="1"/>
          </p:cNvPicPr>
          <p:nvPr/>
        </p:nvPicPr>
        <p:blipFill>
          <a:blip r:embed="rId9"/>
          <a:stretch>
            <a:fillRect/>
          </a:stretch>
        </p:blipFill>
        <p:spPr>
          <a:xfrm>
            <a:off x="8013607" y="92634"/>
            <a:ext cx="764633" cy="2627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From requirement to control point: governance mapped onto the pipeline</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7 · Control points · 49–57 min</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2194560"/>
                <a:gridCol w="2194560"/>
                <a:gridCol w="2194560"/>
                <a:gridCol w="2194560"/>
              </a:tblGrid>
              <a:tr h="45720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Governance requirement</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Enforced at (pipeline step)</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Proven by (artefact)</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Watched by (monitor)</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5720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Use appropriate, unbiased data</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Data ingestion + validation (S3)</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Dataset datasheet; bias-check report</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Input-drift, missing-value monitors (V1)</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Perform as claimed, for everyone</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Validation gate before release (S5)</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Model card: performance by segment</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Performance-by-segment monitor (S7)</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A human can understand and override</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Approval gate in the deploy pipeline (S5)</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Decision log; RACI</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Override and incident log</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Explain a decision / be transparent</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Generation + logging (S10)</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Decision log; the explanation (SHAP/LIME, S7)</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Groundedness, explanation-drift (V1)</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Stay accurate and secure over time</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CI/CD/CT; monitoring (S5, S7)</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Test reports; retrain records</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Drift, accuracy, latency, error alerts</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Be accountable</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Every step has an owner</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RACI; model card owner field</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Alerts route to a named person</a:t>
                      </a:r>
                      <a:endParaRPr lang="en-US" sz="9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365760" y="434340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02920" y="4434840"/>
            <a:ext cx="274320" cy="274320"/>
          </a:xfrm>
          <a:prstGeom prst="rect">
            <a:avLst/>
          </a:prstGeom>
        </p:spPr>
      </p:pic>
      <p:sp>
        <p:nvSpPr>
          <p:cNvPr id="12" name="Text 7"/>
          <p:cNvSpPr txBox="1"/>
          <p:nvPr/>
        </p:nvSpPr>
        <p:spPr>
          <a:xfrm>
            <a:off x="896112" y="4343400"/>
            <a:ext cx="7772400" cy="457200"/>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Not one control is new: you built every step, artefact and monitor across nine sessions. Governance named the requirements and pointed at the steps. No step, artefact and monitor → not governed, however good the policy.</a:t>
            </a:r>
            <a:endParaRPr lang="en-US" sz="1000" dirty="0"/>
          </a:p>
        </p:txBody>
      </p:sp>
      <p:pic>
        <p:nvPicPr>
          <p:cNvPr id="19"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governance loop: the lifecycle, once more, with the controls on it</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7 · Control points · 49–57 min</a:t>
            </a:r>
            <a:endParaRPr lang="en-US" sz="850" dirty="0"/>
          </a:p>
        </p:txBody>
      </p:sp>
      <p:sp>
        <p:nvSpPr>
          <p:cNvPr id="9" name="Shape 6"/>
          <p:cNvSpPr/>
          <p:nvPr/>
        </p:nvSpPr>
        <p:spPr>
          <a:xfrm>
            <a:off x="365760" y="1463040"/>
            <a:ext cx="1115568" cy="502920"/>
          </a:xfrm>
          <a:prstGeom prst="roundRect">
            <a:avLst>
              <a:gd name="adj" fmla="val 9091"/>
            </a:avLst>
          </a:prstGeom>
          <a:solidFill>
            <a:srgbClr val="0E7C86"/>
          </a:solidFill>
          <a:ln w="12700">
            <a:solidFill>
              <a:srgbClr val="FFFFFF"/>
            </a:solidFill>
            <a:prstDash val="solid"/>
          </a:ln>
        </p:spPr>
        <p:txBody>
          <a:bodyPr/>
          <a:p/>
        </p:txBody>
      </p:sp>
      <p:sp>
        <p:nvSpPr>
          <p:cNvPr id="10" name="Text 7"/>
          <p:cNvSpPr txBox="1"/>
          <p:nvPr/>
        </p:nvSpPr>
        <p:spPr>
          <a:xfrm>
            <a:off x="365760" y="1463040"/>
            <a:ext cx="1115568" cy="502920"/>
          </a:xfrm>
          <a:prstGeom prst="rect">
            <a:avLst/>
          </a:prstGeom>
          <a:noFill/>
          <a:ln/>
        </p:spPr>
        <p:txBody>
          <a:bodyPr wrap="square" lIns="254" tIns="254" rIns="254" bIns="254"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Define</a:t>
            </a:r>
            <a:endParaRPr lang="en-US" sz="950" dirty="0"/>
          </a:p>
        </p:txBody>
      </p:sp>
      <p:sp>
        <p:nvSpPr>
          <p:cNvPr id="11" name="Text 8"/>
          <p:cNvSpPr txBox="1"/>
          <p:nvPr/>
        </p:nvSpPr>
        <p:spPr>
          <a:xfrm>
            <a:off x="347472" y="2011680"/>
            <a:ext cx="1170432" cy="822960"/>
          </a:xfrm>
          <a:prstGeom prst="rect">
            <a:avLst/>
          </a:prstGeom>
          <a:noFill/>
          <a:ln/>
        </p:spPr>
        <p:txBody>
          <a:bodyPr wrap="square" lIns="0" tIns="0" rIns="0" bIns="0" rtlCol="0" anchor="t"/>
          <a:lstStyle/>
          <a:p>
            <a:pPr algn="ctr" indent="0" marL="0">
              <a:buNone/>
            </a:pPr>
            <a:r>
              <a:rPr lang="en-US" sz="800" dirty="0">
                <a:solidFill>
                  <a:srgbClr val="222222"/>
                </a:solidFill>
                <a:latin typeface="Calibri" pitchFamily="34" charset="0"/>
                <a:ea typeface="Calibri" pitchFamily="34" charset="-122"/>
                <a:cs typeface="Calibri" pitchFamily="34" charset="-120"/>
              </a:rPr>
              <a:t>model card intended use · risk tier</a:t>
            </a:r>
            <a:endParaRPr lang="en-US" sz="800" dirty="0"/>
          </a:p>
        </p:txBody>
      </p:sp>
      <p:sp>
        <p:nvSpPr>
          <p:cNvPr id="12" name="Shape 9"/>
          <p:cNvSpPr/>
          <p:nvPr/>
        </p:nvSpPr>
        <p:spPr>
          <a:xfrm>
            <a:off x="1481328" y="1709928"/>
            <a:ext cx="91440" cy="0"/>
          </a:xfrm>
          <a:prstGeom prst="line">
            <a:avLst/>
          </a:prstGeom>
          <a:noFill/>
          <a:ln w="15240">
            <a:solidFill>
              <a:srgbClr val="0E7C86"/>
            </a:solidFill>
            <a:prstDash val="solid"/>
            <a:tailEnd type="triangle"/>
          </a:ln>
        </p:spPr>
        <p:txBody>
          <a:bodyPr/>
          <a:p/>
        </p:txBody>
      </p:sp>
      <p:sp>
        <p:nvSpPr>
          <p:cNvPr id="13" name="Shape 10"/>
          <p:cNvSpPr/>
          <p:nvPr/>
        </p:nvSpPr>
        <p:spPr>
          <a:xfrm>
            <a:off x="1572768" y="1463040"/>
            <a:ext cx="1115568" cy="502920"/>
          </a:xfrm>
          <a:prstGeom prst="roundRect">
            <a:avLst>
              <a:gd name="adj" fmla="val 9091"/>
            </a:avLst>
          </a:prstGeom>
          <a:solidFill>
            <a:srgbClr val="1B2A4A"/>
          </a:solidFill>
          <a:ln w="12700">
            <a:solidFill>
              <a:srgbClr val="FFFFFF"/>
            </a:solidFill>
            <a:prstDash val="solid"/>
          </a:ln>
        </p:spPr>
        <p:txBody>
          <a:bodyPr/>
          <a:p/>
        </p:txBody>
      </p:sp>
      <p:sp>
        <p:nvSpPr>
          <p:cNvPr id="14" name="Text 11"/>
          <p:cNvSpPr txBox="1"/>
          <p:nvPr/>
        </p:nvSpPr>
        <p:spPr>
          <a:xfrm>
            <a:off x="1572768" y="1463040"/>
            <a:ext cx="1115568" cy="502920"/>
          </a:xfrm>
          <a:prstGeom prst="rect">
            <a:avLst/>
          </a:prstGeom>
          <a:noFill/>
          <a:ln/>
        </p:spPr>
        <p:txBody>
          <a:bodyPr wrap="square" lIns="254" tIns="254" rIns="254" bIns="254"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p>
        </p:txBody>
      </p:sp>
      <p:sp>
        <p:nvSpPr>
          <p:cNvPr id="15" name="Text 12"/>
          <p:cNvSpPr txBox="1"/>
          <p:nvPr/>
        </p:nvSpPr>
        <p:spPr>
          <a:xfrm>
            <a:off x="1554480" y="2011680"/>
            <a:ext cx="1170432" cy="822960"/>
          </a:xfrm>
          <a:prstGeom prst="rect">
            <a:avLst/>
          </a:prstGeom>
          <a:noFill/>
          <a:ln/>
        </p:spPr>
        <p:txBody>
          <a:bodyPr wrap="square" lIns="0" tIns="0" rIns="0" bIns="0" rtlCol="0" anchor="t"/>
          <a:lstStyle/>
          <a:p>
            <a:pPr algn="ctr" indent="0" marL="0">
              <a:buNone/>
            </a:pPr>
            <a:r>
              <a:rPr lang="en-US" sz="800" dirty="0">
                <a:solidFill>
                  <a:srgbClr val="222222"/>
                </a:solidFill>
                <a:latin typeface="Calibri" pitchFamily="34" charset="0"/>
                <a:ea typeface="Calibri" pitchFamily="34" charset="-122"/>
                <a:cs typeface="Calibri" pitchFamily="34" charset="-120"/>
              </a:rPr>
              <a:t>datasheet · consent · bias check</a:t>
            </a:r>
            <a:endParaRPr lang="en-US" sz="800" dirty="0"/>
          </a:p>
        </p:txBody>
      </p:sp>
      <p:sp>
        <p:nvSpPr>
          <p:cNvPr id="16" name="Shape 13"/>
          <p:cNvSpPr/>
          <p:nvPr/>
        </p:nvSpPr>
        <p:spPr>
          <a:xfrm>
            <a:off x="2688336" y="1709928"/>
            <a:ext cx="91440" cy="0"/>
          </a:xfrm>
          <a:prstGeom prst="line">
            <a:avLst/>
          </a:prstGeom>
          <a:noFill/>
          <a:ln w="15240">
            <a:solidFill>
              <a:srgbClr val="0E7C86"/>
            </a:solidFill>
            <a:prstDash val="solid"/>
            <a:tailEnd type="triangle"/>
          </a:ln>
        </p:spPr>
        <p:txBody>
          <a:bodyPr/>
          <a:p/>
        </p:txBody>
      </p:sp>
      <p:sp>
        <p:nvSpPr>
          <p:cNvPr id="17" name="Shape 14"/>
          <p:cNvSpPr/>
          <p:nvPr/>
        </p:nvSpPr>
        <p:spPr>
          <a:xfrm>
            <a:off x="2779776" y="1463040"/>
            <a:ext cx="1115568" cy="502920"/>
          </a:xfrm>
          <a:prstGeom prst="roundRect">
            <a:avLst>
              <a:gd name="adj" fmla="val 9091"/>
            </a:avLst>
          </a:prstGeom>
          <a:solidFill>
            <a:srgbClr val="0E7C86"/>
          </a:solidFill>
          <a:ln w="12700">
            <a:solidFill>
              <a:srgbClr val="FFFFFF"/>
            </a:solidFill>
            <a:prstDash val="solid"/>
          </a:ln>
        </p:spPr>
        <p:txBody>
          <a:bodyPr/>
          <a:p/>
        </p:txBody>
      </p:sp>
      <p:sp>
        <p:nvSpPr>
          <p:cNvPr id="18" name="Text 15"/>
          <p:cNvSpPr txBox="1"/>
          <p:nvPr/>
        </p:nvSpPr>
        <p:spPr>
          <a:xfrm>
            <a:off x="2779776" y="1463040"/>
            <a:ext cx="1115568" cy="502920"/>
          </a:xfrm>
          <a:prstGeom prst="rect">
            <a:avLst/>
          </a:prstGeom>
          <a:noFill/>
          <a:ln/>
        </p:spPr>
        <p:txBody>
          <a:bodyPr wrap="square" lIns="254" tIns="254" rIns="254" bIns="254"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Train / tune</a:t>
            </a:r>
            <a:endParaRPr lang="en-US" sz="950" dirty="0"/>
          </a:p>
        </p:txBody>
      </p:sp>
      <p:sp>
        <p:nvSpPr>
          <p:cNvPr id="19" name="Text 16"/>
          <p:cNvSpPr txBox="1"/>
          <p:nvPr/>
        </p:nvSpPr>
        <p:spPr>
          <a:xfrm>
            <a:off x="2761488" y="2011680"/>
            <a:ext cx="1170432" cy="822960"/>
          </a:xfrm>
          <a:prstGeom prst="rect">
            <a:avLst/>
          </a:prstGeom>
          <a:noFill/>
          <a:ln/>
        </p:spPr>
        <p:txBody>
          <a:bodyPr wrap="square" lIns="0" tIns="0" rIns="0" bIns="0" rtlCol="0" anchor="t"/>
          <a:lstStyle/>
          <a:p>
            <a:pPr algn="ctr" indent="0" marL="0">
              <a:buNone/>
            </a:pPr>
            <a:r>
              <a:rPr lang="en-US" sz="800" dirty="0">
                <a:solidFill>
                  <a:srgbClr val="222222"/>
                </a:solidFill>
                <a:latin typeface="Calibri" pitchFamily="34" charset="0"/>
                <a:ea typeface="Calibri" pitchFamily="34" charset="-122"/>
                <a:cs typeface="Calibri" pitchFamily="34" charset="-120"/>
              </a:rPr>
              <a:t>experiments · fairness constraints</a:t>
            </a:r>
            <a:endParaRPr lang="en-US" sz="800" dirty="0"/>
          </a:p>
        </p:txBody>
      </p:sp>
      <p:sp>
        <p:nvSpPr>
          <p:cNvPr id="20" name="Shape 17"/>
          <p:cNvSpPr/>
          <p:nvPr/>
        </p:nvSpPr>
        <p:spPr>
          <a:xfrm>
            <a:off x="3895344" y="1709928"/>
            <a:ext cx="91440" cy="0"/>
          </a:xfrm>
          <a:prstGeom prst="line">
            <a:avLst/>
          </a:prstGeom>
          <a:noFill/>
          <a:ln w="15240">
            <a:solidFill>
              <a:srgbClr val="0E7C86"/>
            </a:solidFill>
            <a:prstDash val="solid"/>
            <a:tailEnd type="triangle"/>
          </a:ln>
        </p:spPr>
        <p:txBody>
          <a:bodyPr/>
          <a:p/>
        </p:txBody>
      </p:sp>
      <p:sp>
        <p:nvSpPr>
          <p:cNvPr id="21" name="Shape 18"/>
          <p:cNvSpPr/>
          <p:nvPr/>
        </p:nvSpPr>
        <p:spPr>
          <a:xfrm>
            <a:off x="3986784" y="1463040"/>
            <a:ext cx="1115568" cy="502920"/>
          </a:xfrm>
          <a:prstGeom prst="roundRect">
            <a:avLst>
              <a:gd name="adj" fmla="val 9091"/>
            </a:avLst>
          </a:prstGeom>
          <a:solidFill>
            <a:srgbClr val="1B2A4A"/>
          </a:solidFill>
          <a:ln w="12700">
            <a:solidFill>
              <a:srgbClr val="FFFFFF"/>
            </a:solidFill>
            <a:prstDash val="solid"/>
          </a:ln>
        </p:spPr>
        <p:txBody>
          <a:bodyPr/>
          <a:p/>
        </p:txBody>
      </p:sp>
      <p:sp>
        <p:nvSpPr>
          <p:cNvPr id="22" name="Text 19"/>
          <p:cNvSpPr txBox="1"/>
          <p:nvPr/>
        </p:nvSpPr>
        <p:spPr>
          <a:xfrm>
            <a:off x="3986784" y="1463040"/>
            <a:ext cx="1115568" cy="502920"/>
          </a:xfrm>
          <a:prstGeom prst="rect">
            <a:avLst/>
          </a:prstGeom>
          <a:noFill/>
          <a:ln/>
        </p:spPr>
        <p:txBody>
          <a:bodyPr wrap="square" lIns="254" tIns="254" rIns="254" bIns="254"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Validate</a:t>
            </a:r>
            <a:endParaRPr lang="en-US" sz="950" dirty="0"/>
          </a:p>
        </p:txBody>
      </p:sp>
      <p:sp>
        <p:nvSpPr>
          <p:cNvPr id="23" name="Text 20"/>
          <p:cNvSpPr txBox="1"/>
          <p:nvPr/>
        </p:nvSpPr>
        <p:spPr>
          <a:xfrm>
            <a:off x="3968496" y="2011680"/>
            <a:ext cx="1170432" cy="822960"/>
          </a:xfrm>
          <a:prstGeom prst="rect">
            <a:avLst/>
          </a:prstGeom>
          <a:noFill/>
          <a:ln/>
        </p:spPr>
        <p:txBody>
          <a:bodyPr wrap="square" lIns="0" tIns="0" rIns="0" bIns="0" rtlCol="0" anchor="t"/>
          <a:lstStyle/>
          <a:p>
            <a:pPr algn="ctr" indent="0" marL="0">
              <a:buNone/>
            </a:pPr>
            <a:r>
              <a:rPr lang="en-US" sz="800" dirty="0">
                <a:solidFill>
                  <a:srgbClr val="222222"/>
                </a:solidFill>
                <a:latin typeface="Calibri" pitchFamily="34" charset="0"/>
                <a:ea typeface="Calibri" pitchFamily="34" charset="-122"/>
                <a:cs typeface="Calibri" pitchFamily="34" charset="-120"/>
              </a:rPr>
              <a:t>gate · by-segment · sign-off</a:t>
            </a:r>
            <a:endParaRPr lang="en-US" sz="800" dirty="0"/>
          </a:p>
        </p:txBody>
      </p:sp>
      <p:sp>
        <p:nvSpPr>
          <p:cNvPr id="24" name="Shape 21"/>
          <p:cNvSpPr/>
          <p:nvPr/>
        </p:nvSpPr>
        <p:spPr>
          <a:xfrm>
            <a:off x="5102352" y="1709928"/>
            <a:ext cx="91440" cy="0"/>
          </a:xfrm>
          <a:prstGeom prst="line">
            <a:avLst/>
          </a:prstGeom>
          <a:noFill/>
          <a:ln w="15240">
            <a:solidFill>
              <a:srgbClr val="0E7C86"/>
            </a:solidFill>
            <a:prstDash val="solid"/>
            <a:tailEnd type="triangle"/>
          </a:ln>
        </p:spPr>
        <p:txBody>
          <a:bodyPr/>
          <a:p/>
        </p:txBody>
      </p:sp>
      <p:sp>
        <p:nvSpPr>
          <p:cNvPr id="25" name="Shape 22"/>
          <p:cNvSpPr/>
          <p:nvPr/>
        </p:nvSpPr>
        <p:spPr>
          <a:xfrm>
            <a:off x="5193792" y="1463040"/>
            <a:ext cx="1115568" cy="502920"/>
          </a:xfrm>
          <a:prstGeom prst="roundRect">
            <a:avLst>
              <a:gd name="adj" fmla="val 9091"/>
            </a:avLst>
          </a:prstGeom>
          <a:solidFill>
            <a:srgbClr val="0E7C86"/>
          </a:solidFill>
          <a:ln w="12700">
            <a:solidFill>
              <a:srgbClr val="FFFFFF"/>
            </a:solidFill>
            <a:prstDash val="solid"/>
          </a:ln>
        </p:spPr>
        <p:txBody>
          <a:bodyPr/>
          <a:p/>
        </p:txBody>
      </p:sp>
      <p:sp>
        <p:nvSpPr>
          <p:cNvPr id="26" name="Text 23"/>
          <p:cNvSpPr txBox="1"/>
          <p:nvPr/>
        </p:nvSpPr>
        <p:spPr>
          <a:xfrm>
            <a:off x="5193792" y="1463040"/>
            <a:ext cx="1115568" cy="502920"/>
          </a:xfrm>
          <a:prstGeom prst="rect">
            <a:avLst/>
          </a:prstGeom>
          <a:noFill/>
          <a:ln/>
        </p:spPr>
        <p:txBody>
          <a:bodyPr wrap="square" lIns="254" tIns="254" rIns="254" bIns="254"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Deploy</a:t>
            </a:r>
            <a:endParaRPr lang="en-US" sz="950" dirty="0"/>
          </a:p>
        </p:txBody>
      </p:sp>
      <p:sp>
        <p:nvSpPr>
          <p:cNvPr id="27" name="Text 24"/>
          <p:cNvSpPr txBox="1"/>
          <p:nvPr/>
        </p:nvSpPr>
        <p:spPr>
          <a:xfrm>
            <a:off x="5175504" y="2011680"/>
            <a:ext cx="1170432" cy="822960"/>
          </a:xfrm>
          <a:prstGeom prst="rect">
            <a:avLst/>
          </a:prstGeom>
          <a:noFill/>
          <a:ln/>
        </p:spPr>
        <p:txBody>
          <a:bodyPr wrap="square" lIns="0" tIns="0" rIns="0" bIns="0" rtlCol="0" anchor="t"/>
          <a:lstStyle/>
          <a:p>
            <a:pPr algn="ctr" indent="0" marL="0">
              <a:buNone/>
            </a:pPr>
            <a:r>
              <a:rPr lang="en-US" sz="800" dirty="0">
                <a:solidFill>
                  <a:srgbClr val="222222"/>
                </a:solidFill>
                <a:latin typeface="Calibri" pitchFamily="34" charset="0"/>
                <a:ea typeface="Calibri" pitchFamily="34" charset="-122"/>
                <a:cs typeface="Calibri" pitchFamily="34" charset="-120"/>
              </a:rPr>
              <a:t>approval · rollout · oversight choice</a:t>
            </a:r>
            <a:endParaRPr lang="en-US" sz="800" dirty="0"/>
          </a:p>
        </p:txBody>
      </p:sp>
      <p:sp>
        <p:nvSpPr>
          <p:cNvPr id="28" name="Shape 25"/>
          <p:cNvSpPr/>
          <p:nvPr/>
        </p:nvSpPr>
        <p:spPr>
          <a:xfrm>
            <a:off x="6309360" y="1709928"/>
            <a:ext cx="91440" cy="0"/>
          </a:xfrm>
          <a:prstGeom prst="line">
            <a:avLst/>
          </a:prstGeom>
          <a:noFill/>
          <a:ln w="15240">
            <a:solidFill>
              <a:srgbClr val="0E7C86"/>
            </a:solidFill>
            <a:prstDash val="solid"/>
            <a:tailEnd type="triangle"/>
          </a:ln>
        </p:spPr>
        <p:txBody>
          <a:bodyPr/>
          <a:p/>
        </p:txBody>
      </p:sp>
      <p:sp>
        <p:nvSpPr>
          <p:cNvPr id="29" name="Shape 26"/>
          <p:cNvSpPr/>
          <p:nvPr/>
        </p:nvSpPr>
        <p:spPr>
          <a:xfrm>
            <a:off x="6400800" y="1463040"/>
            <a:ext cx="1115568" cy="502920"/>
          </a:xfrm>
          <a:prstGeom prst="roundRect">
            <a:avLst>
              <a:gd name="adj" fmla="val 9091"/>
            </a:avLst>
          </a:prstGeom>
          <a:solidFill>
            <a:srgbClr val="1B2A4A"/>
          </a:solidFill>
          <a:ln w="12700">
            <a:solidFill>
              <a:srgbClr val="FFFFFF"/>
            </a:solidFill>
            <a:prstDash val="solid"/>
          </a:ln>
        </p:spPr>
        <p:txBody>
          <a:bodyPr/>
          <a:p/>
        </p:txBody>
      </p:sp>
      <p:sp>
        <p:nvSpPr>
          <p:cNvPr id="30" name="Text 27"/>
          <p:cNvSpPr txBox="1"/>
          <p:nvPr/>
        </p:nvSpPr>
        <p:spPr>
          <a:xfrm>
            <a:off x="6400800" y="1463040"/>
            <a:ext cx="1115568" cy="502920"/>
          </a:xfrm>
          <a:prstGeom prst="rect">
            <a:avLst/>
          </a:prstGeom>
          <a:noFill/>
          <a:ln/>
        </p:spPr>
        <p:txBody>
          <a:bodyPr wrap="square" lIns="254" tIns="254" rIns="254" bIns="254"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Monitor</a:t>
            </a:r>
            <a:endParaRPr lang="en-US" sz="950" dirty="0"/>
          </a:p>
        </p:txBody>
      </p:sp>
      <p:sp>
        <p:nvSpPr>
          <p:cNvPr id="31" name="Text 28"/>
          <p:cNvSpPr txBox="1"/>
          <p:nvPr/>
        </p:nvSpPr>
        <p:spPr>
          <a:xfrm>
            <a:off x="6382512" y="2011680"/>
            <a:ext cx="1170432" cy="822960"/>
          </a:xfrm>
          <a:prstGeom prst="rect">
            <a:avLst/>
          </a:prstGeom>
          <a:noFill/>
          <a:ln/>
        </p:spPr>
        <p:txBody>
          <a:bodyPr wrap="square" lIns="0" tIns="0" rIns="0" bIns="0" rtlCol="0" anchor="t"/>
          <a:lstStyle/>
          <a:p>
            <a:pPr algn="ctr" indent="0" marL="0">
              <a:buNone/>
            </a:pPr>
            <a:r>
              <a:rPr lang="en-US" sz="800" dirty="0">
                <a:solidFill>
                  <a:srgbClr val="222222"/>
                </a:solidFill>
                <a:latin typeface="Calibri" pitchFamily="34" charset="0"/>
                <a:ea typeface="Calibri" pitchFamily="34" charset="-122"/>
                <a:cs typeface="Calibri" pitchFamily="34" charset="-120"/>
              </a:rPr>
              <a:t>thresholds · alerts to a person</a:t>
            </a:r>
            <a:endParaRPr lang="en-US" sz="800" dirty="0"/>
          </a:p>
        </p:txBody>
      </p:sp>
      <p:sp>
        <p:nvSpPr>
          <p:cNvPr id="32" name="Shape 29"/>
          <p:cNvSpPr/>
          <p:nvPr/>
        </p:nvSpPr>
        <p:spPr>
          <a:xfrm>
            <a:off x="7516368" y="1709928"/>
            <a:ext cx="91440" cy="0"/>
          </a:xfrm>
          <a:prstGeom prst="line">
            <a:avLst/>
          </a:prstGeom>
          <a:noFill/>
          <a:ln w="15240">
            <a:solidFill>
              <a:srgbClr val="0E7C86"/>
            </a:solidFill>
            <a:prstDash val="solid"/>
            <a:tailEnd type="triangle"/>
          </a:ln>
        </p:spPr>
        <p:txBody>
          <a:bodyPr/>
          <a:p/>
        </p:txBody>
      </p:sp>
      <p:sp>
        <p:nvSpPr>
          <p:cNvPr id="33" name="Shape 30"/>
          <p:cNvSpPr/>
          <p:nvPr/>
        </p:nvSpPr>
        <p:spPr>
          <a:xfrm>
            <a:off x="7607808" y="1463040"/>
            <a:ext cx="1115568" cy="502920"/>
          </a:xfrm>
          <a:prstGeom prst="roundRect">
            <a:avLst>
              <a:gd name="adj" fmla="val 9091"/>
            </a:avLst>
          </a:prstGeom>
          <a:solidFill>
            <a:srgbClr val="0E7C86"/>
          </a:solidFill>
          <a:ln w="12700">
            <a:solidFill>
              <a:srgbClr val="FFFFFF"/>
            </a:solidFill>
            <a:prstDash val="solid"/>
          </a:ln>
        </p:spPr>
        <p:txBody>
          <a:bodyPr/>
          <a:p/>
        </p:txBody>
      </p:sp>
      <p:sp>
        <p:nvSpPr>
          <p:cNvPr id="34" name="Text 31"/>
          <p:cNvSpPr txBox="1"/>
          <p:nvPr/>
        </p:nvSpPr>
        <p:spPr>
          <a:xfrm>
            <a:off x="7607808" y="1463040"/>
            <a:ext cx="1115568" cy="502920"/>
          </a:xfrm>
          <a:prstGeom prst="rect">
            <a:avLst/>
          </a:prstGeom>
          <a:noFill/>
          <a:ln/>
        </p:spPr>
        <p:txBody>
          <a:bodyPr wrap="square" lIns="254" tIns="254" rIns="254" bIns="254"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Feedback / retrain</a:t>
            </a:r>
            <a:endParaRPr lang="en-US" sz="950" dirty="0"/>
          </a:p>
        </p:txBody>
      </p:sp>
      <p:sp>
        <p:nvSpPr>
          <p:cNvPr id="35" name="Text 32"/>
          <p:cNvSpPr txBox="1"/>
          <p:nvPr/>
        </p:nvSpPr>
        <p:spPr>
          <a:xfrm>
            <a:off x="7589520" y="2011680"/>
            <a:ext cx="1170432" cy="822960"/>
          </a:xfrm>
          <a:prstGeom prst="rect">
            <a:avLst/>
          </a:prstGeom>
          <a:noFill/>
          <a:ln/>
        </p:spPr>
        <p:txBody>
          <a:bodyPr wrap="square" lIns="0" tIns="0" rIns="0" bIns="0" rtlCol="0" anchor="t"/>
          <a:lstStyle/>
          <a:p>
            <a:pPr algn="ctr" indent="0" marL="0">
              <a:buNone/>
            </a:pPr>
            <a:r>
              <a:rPr lang="en-US" sz="800" dirty="0">
                <a:solidFill>
                  <a:srgbClr val="222222"/>
                </a:solidFill>
                <a:latin typeface="Calibri" pitchFamily="34" charset="0"/>
                <a:ea typeface="Calibri" pitchFamily="34" charset="-122"/>
                <a:cs typeface="Calibri" pitchFamily="34" charset="-120"/>
              </a:rPr>
              <a:t>trigger · in-the-loop gate</a:t>
            </a:r>
            <a:endParaRPr lang="en-US" sz="800" dirty="0"/>
          </a:p>
        </p:txBody>
      </p:sp>
      <p:sp>
        <p:nvSpPr>
          <p:cNvPr id="36" name="Shape 33"/>
          <p:cNvSpPr/>
          <p:nvPr/>
        </p:nvSpPr>
        <p:spPr>
          <a:xfrm>
            <a:off x="365760" y="3063240"/>
            <a:ext cx="8412480" cy="594360"/>
          </a:xfrm>
          <a:prstGeom prst="roundRect">
            <a:avLst>
              <a:gd name="adj" fmla="val 9231"/>
            </a:avLst>
          </a:prstGeom>
          <a:solidFill>
            <a:srgbClr val="FBE9DC"/>
          </a:solidFill>
          <a:ln w="12700">
            <a:solidFill>
              <a:srgbClr val="FBE9DC"/>
            </a:solidFill>
            <a:prstDash val="solid"/>
          </a:ln>
        </p:spPr>
        <p:txBody>
          <a:bodyPr/>
          <a:p/>
        </p:txBody>
      </p:sp>
      <p:sp>
        <p:nvSpPr>
          <p:cNvPr id="37" name="Text 34"/>
          <p:cNvSpPr txBox="1"/>
          <p:nvPr/>
        </p:nvSpPr>
        <p:spPr>
          <a:xfrm>
            <a:off x="548640" y="3063240"/>
            <a:ext cx="8046720" cy="594360"/>
          </a:xfrm>
          <a:prstGeom prst="rect">
            <a:avLst/>
          </a:prstGeom>
          <a:noFill/>
          <a:ln/>
        </p:spPr>
        <p:txBody>
          <a:bodyPr wrap="square" lIns="0" tIns="0" rIns="0" bIns="0" rtlCol="0" anchor="ctr"/>
          <a:lstStyle/>
          <a:p>
            <a:pPr algn="ctr" indent="0" marL="0">
              <a:buNone/>
            </a:pPr>
            <a:r>
              <a:rPr lang="en-US" sz="1200" b="1" dirty="0">
                <a:solidFill>
                  <a:srgbClr val="8A3F0C"/>
                </a:solidFill>
                <a:latin typeface="Calibri" pitchFamily="34" charset="0"/>
                <a:ea typeface="Calibri" pitchFamily="34" charset="-122"/>
                <a:cs typeface="Calibri" pitchFamily="34" charset="-120"/>
              </a:rPr>
              <a:t>Wrapping every stage: a named owner (accountability) and a log of what happened (evidence).</a:t>
            </a:r>
            <a:endParaRPr lang="en-US" sz="1200" dirty="0"/>
          </a:p>
        </p:txBody>
      </p:sp>
      <p:sp>
        <p:nvSpPr>
          <p:cNvPr id="38" name="Shape 35"/>
          <p:cNvSpPr/>
          <p:nvPr/>
        </p:nvSpPr>
        <p:spPr>
          <a:xfrm>
            <a:off x="365760" y="3886200"/>
            <a:ext cx="8412480" cy="502920"/>
          </a:xfrm>
          <a:prstGeom prst="roundRect">
            <a:avLst>
              <a:gd name="adj" fmla="val 14545"/>
            </a:avLst>
          </a:prstGeom>
          <a:solidFill>
            <a:srgbClr val="E3F1F2"/>
          </a:solidFill>
          <a:ln w="12700">
            <a:solidFill>
              <a:srgbClr val="E3F1F2"/>
            </a:solidFill>
            <a:prstDash val="solid"/>
          </a:ln>
        </p:spPr>
        <p:txBody>
          <a:bodyPr/>
          <a:p/>
        </p:txBody>
      </p:sp>
      <p:pic>
        <p:nvPicPr>
          <p:cNvPr id="39" name="Image 0" descr="preencoded.png">    </p:cNvPr>
          <p:cNvPicPr>
            <a:picLocks noChangeAspect="1"/>
          </p:cNvPicPr>
          <p:nvPr/>
        </p:nvPicPr>
        <p:blipFill>
          <a:blip r:embed="rId1"/>
          <a:stretch>
            <a:fillRect/>
          </a:stretch>
        </p:blipFill>
        <p:spPr>
          <a:xfrm>
            <a:off x="502920" y="4000500"/>
            <a:ext cx="274320" cy="274320"/>
          </a:xfrm>
          <a:prstGeom prst="rect">
            <a:avLst/>
          </a:prstGeom>
        </p:spPr>
      </p:pic>
      <p:sp>
        <p:nvSpPr>
          <p:cNvPr id="40" name="Text 36"/>
          <p:cNvSpPr txBox="1"/>
          <p:nvPr/>
        </p:nvSpPr>
        <p:spPr>
          <a:xfrm>
            <a:off x="896112" y="3886200"/>
            <a:ext cx="7772400" cy="50292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Governance is not a gate at the end; it is a property of every stage — the same loop you know, held to account. That is the whole of Module 4.</a:t>
            </a:r>
            <a:endParaRPr lang="en-US" sz="1150" dirty="0"/>
          </a:p>
        </p:txBody>
      </p:sp>
      <p:pic>
        <p:nvPicPr>
          <p:cNvPr id="41"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Three things to remember</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8 · Wrap-up · 57–60 min</a:t>
            </a:r>
            <a:endParaRPr lang="en-US" sz="850" dirty="0"/>
          </a:p>
        </p:txBody>
      </p:sp>
      <p:sp>
        <p:nvSpPr>
          <p:cNvPr id="9" name="Shape 6"/>
          <p:cNvSpPr/>
          <p:nvPr/>
        </p:nvSpPr>
        <p:spPr>
          <a:xfrm>
            <a:off x="365760" y="1325880"/>
            <a:ext cx="640080" cy="640080"/>
          </a:xfrm>
          <a:prstGeom prst="ellipse">
            <a:avLst/>
          </a:prstGeom>
          <a:solidFill>
            <a:srgbClr val="0E7C86"/>
          </a:solidFill>
          <a:ln w="12700">
            <a:solidFill>
              <a:srgbClr val="0E7C86"/>
            </a:solidFill>
            <a:prstDash val="solid"/>
          </a:ln>
        </p:spPr>
        <p:txBody>
          <a:bodyPr/>
          <a:p/>
        </p:txBody>
      </p:sp>
      <p:sp>
        <p:nvSpPr>
          <p:cNvPr id="10" name="Text 7"/>
          <p:cNvSpPr txBox="1"/>
          <p:nvPr/>
        </p:nvSpPr>
        <p:spPr>
          <a:xfrm>
            <a:off x="365760" y="1325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1" name="Text 8"/>
          <p:cNvSpPr txBox="1"/>
          <p:nvPr/>
        </p:nvSpPr>
        <p:spPr>
          <a:xfrm>
            <a:off x="1188720" y="123444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Governance is controls, not documents.</a:t>
            </a:r>
            <a:endParaRPr lang="en-US" sz="1600" dirty="0"/>
          </a:p>
        </p:txBody>
      </p:sp>
      <p:sp>
        <p:nvSpPr>
          <p:cNvPr id="12" name="Text 9"/>
          <p:cNvSpPr txBox="1"/>
          <p:nvPr/>
        </p:nvSpPr>
        <p:spPr>
          <a:xfrm>
            <a:off x="1188720" y="164592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The test: which step enforces it, which artefact proves it, which monitor catches it failing? A policy with none of the three is intention. Every Session 10 company had the policy.</a:t>
            </a:r>
            <a:endParaRPr lang="en-US" sz="1200" dirty="0"/>
          </a:p>
        </p:txBody>
      </p:sp>
      <p:sp>
        <p:nvSpPr>
          <p:cNvPr id="13" name="Shape 10"/>
          <p:cNvSpPr/>
          <p:nvPr/>
        </p:nvSpPr>
        <p:spPr>
          <a:xfrm>
            <a:off x="365760" y="2377440"/>
            <a:ext cx="640080" cy="640080"/>
          </a:xfrm>
          <a:prstGeom prst="ellipse">
            <a:avLst/>
          </a:prstGeom>
          <a:solidFill>
            <a:srgbClr val="0E7C86"/>
          </a:solidFill>
          <a:ln w="12700">
            <a:solidFill>
              <a:srgbClr val="0E7C86"/>
            </a:solidFill>
            <a:prstDash val="solid"/>
          </a:ln>
        </p:spPr>
        <p:txBody>
          <a:bodyPr/>
          <a:p/>
        </p:txBody>
      </p:sp>
      <p:sp>
        <p:nvSpPr>
          <p:cNvPr id="14" name="Text 11"/>
          <p:cNvSpPr txBox="1"/>
          <p:nvPr/>
        </p:nvSpPr>
        <p:spPr>
          <a:xfrm>
            <a:off x="365760" y="23774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5" name="Text 12"/>
          <p:cNvSpPr txBox="1"/>
          <p:nvPr/>
        </p:nvSpPr>
        <p:spPr>
          <a:xfrm>
            <a:off x="1188720" y="228600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Two frameworks, one skill.</a:t>
            </a:r>
            <a:endParaRPr lang="en-US" sz="1600" dirty="0"/>
          </a:p>
        </p:txBody>
      </p:sp>
      <p:sp>
        <p:nvSpPr>
          <p:cNvPr id="16" name="Text 13"/>
          <p:cNvSpPr txBox="1"/>
          <p:nvPr/>
        </p:nvSpPr>
        <p:spPr>
          <a:xfrm>
            <a:off x="1188720" y="269748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EU AI Act: the law — four risk tiers, fines to 7% of global turnover, high-risk now due Dec 2027. NIST: the how — Govern, Map, Measure, Manage. The skill: place a system, then name one control.</a:t>
            </a:r>
            <a:endParaRPr lang="en-US" sz="1200" dirty="0"/>
          </a:p>
        </p:txBody>
      </p:sp>
      <p:sp>
        <p:nvSpPr>
          <p:cNvPr id="17" name="Shape 14"/>
          <p:cNvSpPr/>
          <p:nvPr/>
        </p:nvSpPr>
        <p:spPr>
          <a:xfrm>
            <a:off x="365760" y="3429000"/>
            <a:ext cx="640080" cy="640080"/>
          </a:xfrm>
          <a:prstGeom prst="ellipse">
            <a:avLst/>
          </a:prstGeom>
          <a:solidFill>
            <a:srgbClr val="0E7C86"/>
          </a:solidFill>
          <a:ln w="12700">
            <a:solidFill>
              <a:srgbClr val="0E7C86"/>
            </a:solidFill>
            <a:prstDash val="solid"/>
          </a:ln>
        </p:spPr>
        <p:txBody>
          <a:bodyPr/>
          <a:p/>
        </p:txBody>
      </p:sp>
      <p:sp>
        <p:nvSpPr>
          <p:cNvPr id="18" name="Text 15"/>
          <p:cNvSpPr txBox="1"/>
          <p:nvPr/>
        </p:nvSpPr>
        <p:spPr>
          <a:xfrm>
            <a:off x="365760" y="34290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9" name="Text 16"/>
          <p:cNvSpPr txBox="1"/>
          <p:nvPr/>
        </p:nvSpPr>
        <p:spPr>
          <a:xfrm>
            <a:off x="1188720" y="333756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It is the same loop, held to account.</a:t>
            </a:r>
            <a:endParaRPr lang="en-US" sz="1600" dirty="0"/>
          </a:p>
        </p:txBody>
      </p:sp>
      <p:sp>
        <p:nvSpPr>
          <p:cNvPr id="20" name="Text 17"/>
          <p:cNvSpPr txBox="1"/>
          <p:nvPr/>
        </p:nvSpPr>
        <p:spPr>
          <a:xfrm>
            <a:off x="1188720" y="374904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Every control maps to a step, an artefact and a monitor you already built; a named owner and a log wrap every stage. Governance named the requirements and made someone answer.</a:t>
            </a:r>
            <a:endParaRPr lang="en-US" sz="1200" dirty="0"/>
          </a:p>
        </p:txBody>
      </p:sp>
      <p:pic>
        <p:nvPicPr>
          <p:cNvPr id="21"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2 (Session 12) · AI Governance &amp; Regulatory Readiness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knowledge check, and the end of the course</a:t>
            </a:r>
            <a:endParaRPr lang="en-US" sz="2400" dirty="0"/>
          </a:p>
        </p:txBody>
      </p:sp>
      <p:sp>
        <p:nvSpPr>
          <p:cNvPr id="7" name="Shape 4"/>
          <p:cNvSpPr/>
          <p:nvPr/>
        </p:nvSpPr>
        <p:spPr>
          <a:xfrm>
            <a:off x="4950367" y="82296"/>
            <a:ext cx="297180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4950367" y="82296"/>
            <a:ext cx="297180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8 · Wrap-up · 57–60 min</a:t>
            </a:r>
            <a:endParaRPr lang="en-US" sz="850" dirty="0"/>
          </a:p>
        </p:txBody>
      </p:sp>
      <p:sp>
        <p:nvSpPr>
          <p:cNvPr id="9" name="Shape 6"/>
          <p:cNvSpPr/>
          <p:nvPr/>
        </p:nvSpPr>
        <p:spPr>
          <a:xfrm>
            <a:off x="365760" y="1234440"/>
            <a:ext cx="4114800" cy="2468880"/>
          </a:xfrm>
          <a:prstGeom prst="roundRect">
            <a:avLst>
              <a:gd name="adj" fmla="val 2963"/>
            </a:avLst>
          </a:prstGeom>
          <a:solidFill>
            <a:srgbClr val="F3F5F8"/>
          </a:solidFill>
          <a:ln w="12700">
            <a:solidFill>
              <a:srgbClr val="F3F5F8"/>
            </a:solidFill>
            <a:prstDash val="solid"/>
          </a:ln>
        </p:spPr>
        <p:txBody>
          <a:bodyPr/>
          <a:p/>
        </p:txBody>
      </p:sp>
      <p:sp>
        <p:nvSpPr>
          <p:cNvPr id="10" name="Shape 7"/>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2" name="Text 8"/>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knowledge check</a:t>
            </a:r>
            <a:endParaRPr lang="en-US" sz="1300" dirty="0"/>
          </a:p>
        </p:txBody>
      </p:sp>
      <p:sp>
        <p:nvSpPr>
          <p:cNvPr id="13" name="Text 9"/>
          <p:cNvSpPr txBox="1"/>
          <p:nvPr/>
        </p:nvSpPr>
        <p:spPr>
          <a:xfrm>
            <a:off x="502920" y="1783080"/>
            <a:ext cx="3840480" cy="182880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10 multiple-choice questions, about 12 minutes; on the campus, closes Friday 6 November</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Each: an AI use case in two sentences → its EU AI Act risk tier and one required control</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Two questions ask which NIST function an activity belongs to</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Individual; no AI tools; counts towards continuous assessment</a:t>
            </a:r>
            <a:endParaRPr lang="en-US" sz="1100" dirty="0"/>
          </a:p>
        </p:txBody>
      </p:sp>
      <p:sp>
        <p:nvSpPr>
          <p:cNvPr id="14" name="Shape 10"/>
          <p:cNvSpPr/>
          <p:nvPr/>
        </p:nvSpPr>
        <p:spPr>
          <a:xfrm>
            <a:off x="4663440" y="1234440"/>
            <a:ext cx="4114800" cy="2468880"/>
          </a:xfrm>
          <a:prstGeom prst="roundRect">
            <a:avLst>
              <a:gd name="adj" fmla="val 2963"/>
            </a:avLst>
          </a:prstGeom>
          <a:solidFill>
            <a:srgbClr val="F3F5F8"/>
          </a:solidFill>
          <a:ln w="12700">
            <a:solidFill>
              <a:srgbClr val="F3F5F8"/>
            </a:solidFill>
            <a:prstDash val="solid"/>
          </a:ln>
        </p:spPr>
        <p:txBody>
          <a:bodyPr/>
          <a:p/>
        </p:txBody>
      </p:sp>
      <p:sp>
        <p:nvSpPr>
          <p:cNvPr id="15" name="Shape 11"/>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6"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7" name="Text 12"/>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How to prepare</a:t>
            </a:r>
            <a:endParaRPr lang="en-US" sz="1300" dirty="0"/>
          </a:p>
        </p:txBody>
      </p:sp>
      <p:sp>
        <p:nvSpPr>
          <p:cNvPr id="18" name="Text 13"/>
          <p:cNvSpPr txBox="1"/>
          <p:nvPr/>
        </p:nvSpPr>
        <p:spPr>
          <a:xfrm>
            <a:off x="4800600" y="1783080"/>
            <a:ext cx="3840480" cy="182880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The risk pyramid (four tiers) and the prohibited list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The seven high-risk obligations, and provider vs deployer</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The four NIST functions: Govern, Map, Measure, Manage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The habit: place a system, then name one control</a:t>
            </a:r>
            <a:endParaRPr lang="en-US" sz="1100" dirty="0"/>
          </a:p>
        </p:txBody>
      </p:sp>
      <p:sp>
        <p:nvSpPr>
          <p:cNvPr id="19" name="Shape 14"/>
          <p:cNvSpPr/>
          <p:nvPr/>
        </p:nvSpPr>
        <p:spPr>
          <a:xfrm>
            <a:off x="365760" y="3840480"/>
            <a:ext cx="8412480" cy="777240"/>
          </a:xfrm>
          <a:prstGeom prst="roundRect">
            <a:avLst>
              <a:gd name="adj" fmla="val 9412"/>
            </a:avLst>
          </a:prstGeom>
          <a:solidFill>
            <a:srgbClr val="1B2A4A"/>
          </a:solidFill>
          <a:ln w="12700">
            <a:solidFill>
              <a:srgbClr val="1B2A4A"/>
            </a:solidFill>
            <a:prstDash val="solid"/>
          </a:ln>
        </p:spPr>
        <p:txBody>
          <a:bodyPr/>
          <a:p/>
        </p:txBody>
      </p:sp>
      <p:sp>
        <p:nvSpPr>
          <p:cNvPr id="20" name="Text 15"/>
          <p:cNvSpPr txBox="1"/>
          <p:nvPr/>
        </p:nvSpPr>
        <p:spPr>
          <a:xfrm>
            <a:off x="548640" y="3886200"/>
            <a:ext cx="8046720" cy="6858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The end of the course: place any AI system in its lifecycle, ship it safely, monitor it, and govern it so someone is accountable. The four modules are the four questions on Session 10's last slide — and what the exam and the project ask. Thank you.</a:t>
            </a:r>
            <a:endParaRPr lang="en-US" sz="1150" dirty="0"/>
          </a:p>
        </p:txBody>
      </p:sp>
      <p:pic>
        <p:nvPicPr>
          <p:cNvPr id="21"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Video 2 – AI Governance &amp; Regulatory Readiness</dc:title>
  <dc:subject>PptxGenJS Presentation</dc:subject>
  <dc:creator>Juan Manuel Ramírez García</dc:creator>
  <cp:lastModifiedBy>Juan Manuel Ramírez García</cp:lastModifiedBy>
  <cp:revision>1</cp:revision>
  <dcterms:created xsi:type="dcterms:W3CDTF">2026-09-03T09:43:25Z</dcterms:created>
  <dcterms:modified xsi:type="dcterms:W3CDTF">2026-09-03T09:43:25Z</dcterms:modified>
</cp:coreProperties>
</file>
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88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5 minutes before. As people join: "what would you need to measure every month to know whether the retrain trigger was crossed?" in chat.
Opening line (1 min): "The model is live. Today is about what happens next: the world moves, the model stays still, and somebody has to notice. And when the model decides something about a person, somebody has to be able to explain why."
Rhythm as always; break at 46; one breakout; closing trio. Mention that Video 1 opens today with the metrics in depth and a quiz that counts. Leave this slide by minute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two or three Forum 3 quotes on Friday night. Misconception of the week from Forum 3: accuracy as the A/B metric for a model that blocks 0.4% of transactions. Say it will come back today and in Video 1.
Then outcomes and agenda. Timing: minute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Harvest the preparation task (90 seconds). Typical answers: "the accuracy", "how many customers churned", "compare predictions to reality". Draw out the hidden requirements: you need the labels (who really churned), which arrive a month later; you need to keep the predictions you made a month ago; you need to match the two, customer by customer; you need a sample big enough; and you need someone who looks at the number and is allowed to act. Five things for one line in a model card.
Timing: minute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Treveil. Resource level (IT): is the system alive, CPU, memory, disk, are requests processed at the expected rate. Performance level (data science): is the model still an accurate representation of the incoming data; is it performing as well as at design time. Business level (KPIs): is the model delivering value; is it helping the goals. NorthRetail watched the first level only ("green, 40 ms"). IberBank's hotfix weekend needed the second. Most companies never build the third.
Timing: minute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8. The image for this block: the model is a photograph of the world taken in June; the world keeps moving; the photograph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slide of the session, with the churn model. Data drift: the inputs changed. A new pricing plan moved monthly charges up for many customers; the model sees numbers it rarely saw in training. You can detect it without any labels, by comparing distributions. Concept drift: the relationship between inputs and outcome changed. A competitor launched fibre in the North; long-tenure customers who never churned now do; the inputs look the same, the behaviour does not. You cannot see it in the inputs; you need the labels. Performance decay: the measured result got worse, whatever the cause: accuracy, or the business KPI. It is the symptom; the other two are causes.
Responses differ: data drift may need only a data fix or a re-scale, or retraining on recent data; concept drift needs retraining with new labels, sometimes new features (region mattered zero in June); decay tells you to look for which of the two. Forum 4 Q2 asks exactly this.
Timing: minute 8–11.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truth is the correct answer to the question the model was asked: did the customer churn, was the transaction fraud. Sometimes it arrives in seconds (did the user click the ad), often it arrives late (chargebacks in 60 days, churn at month end) or never (a rejected loan: we never learn whether it would have been repaid). Ground-truth evaluation: when labels arrive, compute the metric and compare with the training metric; if the gap exceeds a threshold, retrain. Input drift: compare recent requests with the training data; if they look different, performance is probably compromised; the beauty is that all the data already exists, no waiting.
How often to retrain: no universal answer; it depends on the domain (cybersecurity and trading move daily; mortgage risk yearly), the cost (a week of pipeline for 1% is not worth it) and the data (some problems have few new labels). Not if, but when.
Timing: minute 11–13.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challenges. Late: for some models teams wait months for labels; if the model degrades faster than the lag, you lose money before you can know; drift is not forecastable, so models with long lags need mitigation (input drift monitoring, shorter proxies). Decoupled: to compute performance you must match each prediction with its outcome; in many companies the two are generated and stored in different systems at different times, and nobody kept the prediction. Partial: labelling every case is too expensive, so you label a sample, and choosing the sample introduces bias (you only learn the truth about the customers the campaign called). Also: for low-cost, short-lived models, automated ground-truth collection may not be worth it, which is risky.
Timing: minute 13–16.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16. This block contains the demo and the poll, and produces the template for the activity and Forum 4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causes from Treveil. Sample selection bias: the training sample was never representative of the population; often the data collection pipeline itself (you built a discount model on the customers who received the best discounts: the best clients). Hard to fix because the problematic features are often unknown or unavailable. Non-stationary environment: the training data came from a population that the target population no longer resembles; typical of time-dependent tasks with seasonality (a model learned in one month does not generalise to another). The first is a mistake at birth; the second is the world moving. Both look the same in a drift report.
Timing: minute 16–18.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no formulas. Univariate tests, one feature at a time: for a numeric feature, compare the two distributions and get a distance and a p-value (Kolmogorov–Smirnov, Wasserstein); for a categorical feature, compare the frequencies (chi-squared, Jensen–Shannon). Advantage: fast detection. Drawback: on large datasets they flag tiny, harmless changes, so the drift score matters more than the yes/no. Domain classifier: train a model to tell training rows from production rows; if it can (high accuracy), the data has drifted, and its feature importance says which features are responsible. The appendix has the formulas; the demo shows the first family.
Timing: minute 18–20.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template for the activity and Forum 4 Q1. Four columns: metric; what it detects (data drift, concept drift, performance decay, or system health); threshold (a number and a window); action (alert whom, retrain, roll back, investigate). Walk the four example rows. The rule: a metric without a threshold is a chart; a threshold without an action is an alarm nobody answers. Thresholds come from the cost of being wrong in both directions (Session 5's rollback trigger was one row of this table).
Timing: minute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recurring diagram of this session. Monitoring produces metrics; a threshold crossing raises an alert; the alert triggers retraining on recent data (Session 5's continuous training); the new candidate goes through validation (the model tests: not worse than production, fairness by segment); a human approves (the gate from Session 3); the rollout follows a strategy (Session 5); and the loop starts again. The three components of the feedback loop from Treveil: a logging system that collects production data; a model evaluation store that versions and compares versions; a comparison in production (shadow or A/B).
The human gate is the argument for the poll in two slides. Timing: minute 22–24.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demo (8 minutes): three pre-rendered artefacts, browser only. The Evidently drift report comparing June training data with October requests; the performance-by-segment chart that shows what the drift report cannot see; and a SHAP waterfall for one customer. Script in MLOps_S07_Demo_Script.md.
Timing: minute 24–32 including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demo in memory with the chart on the slide. Three things. The report flagged three of seven features (charges, promotions, and the model's own predictions) but declared "dataset drift not detected" because its default rule needs half the features to move: thresholds are decisions, not facts. The chart: overall accuracy fell two points, from 82% to 80%; in one segment, North customers with more than three years' tenure, it fell to 65%; the drift report could not see it because tenure and region did not move: the behaviour moved. The explanation: the model gave zero weight to region because in June region did not matter; now it does. Concept drift, made visible by an explanation.
Timing: minute 32–33.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threshold trades two errors. Too sensitive: alerts every week, a retrain that costs two days of a data scientist and a review, and after the third false alarm the team stops reading the alerts (alert fatigue). Too lax: NorthRetail, four months. Set thresholds from the cost of each error, and review them: an alert that never fires and an alert that fires weekly are both wrong. Then the chat poll (2 minutes): "If the drift monitor fires, the model should retrain and redeploy automatically, no human needed." AGREE/DISAGREE plus one line. Do not resolve; it is Theme A of Forum 4. The honest answer: automatic retraining is fine; automatic redeployment without validation and a gate is how you deploy a model trained on a broken extract (the rejected run in Session 3).
Timing: minute 33–35.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35. The framing: explanations are asked for by four people, and three of them are not data scientists.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from last year (many models are functionally black boxes; trust) recast as who asks. The customer: "why was I rejected?" The regulator: "show me that this decision is not discriminatory" (GDPR, the EU AI Act, Session 12). The business owner: "why did the campaign target these customers?" The data scientist debugging drift: "why did the North segment collapse?" (the demo). Three of the four are not technical; the explanation must be understandable by them. Explanations serve three purposes: trust (can I rely on this prediction?), prediction of behaviour (how will it act on new data?), improvement (can the model be made better?).
Timing: minute 35–37.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year's four reasons, one slide. Identify and mitigate bias: bias can be present in any dataset; it often becomes visible only when the relation between predictions and inputs is analysed. Account for the context: the dataset is a rough representation; an interpretable model helps you see what it does not include and act accordingly. Generalise and perform better: understanding the model usually leads to a model that generalises better; interpretability is not about every detail. Ethical and legal: finance and healthcare must audit decisions; GDPR; applications where a single wrong prediction has a large impact must be verifiable.
Timing: minute 37–39.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routes to interpretability, from last year. Transparency: the model is simple enough to follow (a human could compute it; each input and parameter is understandable; the algorithm itself is understood). Post-hoc explanations: the model is complex, and a method explains its behaviour afterwards: feature importance in words, visualisations, representative examples, or local explanations around one prediction (LIME, SHAP). The chart is a SHAP waterfall for the customer in the demo: start from the average risk (24%), each feature pushes the score up (red) or down (blue), ending at 70%. Three support tickets and high charges pushed it up; long tenure pulled it down; region did nothing. A retention manager can read this without knowing what a random forest is.
Timing: minute 39–41.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optionally with the browser: open lime_customer.html from S07/demo for the interactive version (script in MLOps_S07_Demo_Script.md, section 3, "Tab 4").
Left: LIME on the same customer as the SHAP waterfall. LIME works differently: it generates thousands of small variations of this customer, asks the model to score them, and fits a simple rule-like model around her; the bars are that simple model's weights. Read the story: more than two support tickets, a monthly contract and charges above €76 push towards churn; tenure between three and four and a half years pulls away; region and promotions: nothing. The same story as SHAP, by a different route. When two methods agree, trust the explanation more; when they disagree, that disagreement is itself information about how fragile the explanation is.
Right: what LIME does best, text. A support message classified as "about to cancel" with 89% confidence; LIME highlights the words that made the difference: "switching", "drops", "unless", "price", "provider"; "fixed" and "week" pull the other way. A support manager reads this in five seconds. Session 10: this is the seed of monitoring a language model, where "explain the output" becomes "which part of the input drove it".
Timing: minute 41–43.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year's caveats. A post-hoc explanation is itself a model of the model: a simplified copy around one point. It can be wrong: the model may not be locally linear; the interpretable features may not be the ones the model actually uses; too many important features make the explanation unreadable; it takes time to compute for each prediction. And an explanation can be true and useless: "your score is high because of feature 37". The operational rule: explanations are evidence, not proof; store them with the prediction, check them by segment, and treat a shift in explanations as a monitoring signal (the demo: region at zero).
Timing: minute 43–44.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plain language. Bias enters with the data (who is in it, who is missing, which labels were recorded by whom), through the training (the objective rewards the majority), and at the output (a threshold that affects groups differently). It can be mitigated at each point: pre-processing (rebalance, remove or neutralise protected attributes and their proxies), in-processing (constraints during training), post-processing (different thresholds or corrections on the output). Two fairness numbers a non-technical person can demand: equal error rates across groups (is the model wrong as often for men as for women, for the North as for the South?), and equal selection rates (does it flag or approve groups at similar rates, and if not, is the difference justified by the outcome?). They can conflict; choosing between them is a business and legal decision, not a technical one. Forum 4 Q3 asks for one fairness risk and one audit method in credit scoring.
Timing: minute 44–46. Then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Five-minute break at minute 46. Check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51. Seven minutes: what Responsible AI means operationally, the RACI revisited, a preview of the risk questionnaire that Video 2 develops. Then the activity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Treveil. Intentionality: models are designed and behave in line with their purpose; data comes from compliant, unbiased sources; a collaborative approach with multiple checks on bias; results explainable by humans, ideally not only the ones who built the system. Accountability: a central view of which teams use what data, how, in which models; trust that data is reliable and collected within regulations; traceability: if something goes wrong, can you find where in the pipeline it happened (Session 3's lineage). Say: everything in this course so far is one of these two.
Timing: minute 51–53.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Responsible AI onto the loop from earlier. Before training: a data-use check (allowed? PII? protected attributes?) as a pipeline step that can stop the run. At validation: fairness tests by segment as model tests (Session 5's pyramid), with thresholds. At approval: a human gate with a named accountable owner, and Risk &amp; Compliance consulted for high-impact models. In production: fairness and explanation drift monitored like accuracy, in the monitoring plan. Periodically: an audit that re-runs the checks on stored predictions and explanations. The RACI from Session 1 gets a new column of responsibilities: who owns each guardrail.
Timing: minute 53–55.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one-minute preview of last year's risk questionnaire, which Video 2 develops into the EU AI Act and NIST frameworks. Eight headings, each a question a non-technical owner can ask: compliance (is this an algorithmic decision system? does it follow privacy rules?), objective and proportionality (is personal data processed, and is it necessary?), reliability (could it produce unreliable output?), fairness (potential for discrimination?), transparency and explainability (can the output be understood?), contestability (can an affected person challenge the result?), accountability (are the people in charge of development, deployment and monitoring clearly defined?), human-centred values and wellbeing (could inaccurate outputs, hallucinations, manipulation cause harm?). The activity's bonus question uses this list.
Timing: minute 55–58. Then the activity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before the rooms. Every room gets the same case: TelcoNova's churn model, with its cadence, its lag and two recent changes (a pricing change, a competitor in two regions). They fill the monitoring plan: two data-drift metrics, one concept-drift signal, one performance metric by segment, one operational metric, each with a threshold and an action, plus who receives the alert. Bonus: one fairness check and one row from the risk questionnaire that applies. Output: one slide or whiteboard; three rooms present.
Timing: brief 58–60; case 60–61; rooms 61–76; debrief 76–86.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facts once, aloud. The two changes are designed to be one data drift (pricing) and one concept drift (competitor), so that the rooms must propose different signals for each. Full text on campus. Send them to rooms at minute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rooms present (76–82), then synthesis (82–86) with the table.
Expected: data drift, share of drifted features weekly (more than 30%, two weeks running → alert the ML engineer, check the extract with the data team, retrain on recent data if confirmed) and distribution of monthly charges vs training (mean up more than €8 → same); concept drift, an early signal before labels: distribution of predicted risk by region and tenure band (a segment's mean prediction moving more than 5 points, or the call list's composition changing sharply by region → investigate with the business: "what changed in the North?"), and the saved-customers count per campaign as the business KPI (down more than 10% → escalate to the product owner); performance, accuracy on the month's labels by region and tenure band (below 75% overall or below 70% in any segment over 200 customers → retrain with new labels, include region interactions, product owner approves); operational, the batch finishing before the retention team starts (not by 6 a.m. → page IT) and the share of customers with missing features. Fairness: selection rate of the call list by region and by tenure band, with a justification if unequal. Risk question: contestability (can a customer who was not called complain?) or fairness.
Correct: rooms that propose "retrain every month automatically" (costs two days each time, and would have trained on the September pricing data without anyone knowing why); rooms with thresholds without windows; rooms without a segment.
Close: "Monitoring is not a dashboard. It is a list of numbers, each with a line and a person behind it."
Timing: minute 76–86.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Cheat-sheet material. Timing: minute 86–87.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from the syllabus. Q1 = the monitoring plan template and the activity; Q2 = the taxonomy slide; Q3 = the bias slide and the four-people slide. Video 1 opens today: the metrics in depth, 60 minutes, and a ten-question knowledge check that counts towards continuous assessment; point them to it for the metric definitions so the forum stays on decisions and thresholds. The poll is Theme A.
Timing: minute 87–89.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six failure briefs posted on campus, one page each; every team will be allocated one of them for the workshop and must arrive having read it. Huyen, AI Engineering (2025), chapters 1 and 4 (introduction; evaluation) for those who want the LLM background. Watch Video 1 and do its quiz by Friday. Preview: Session 10 is LLMOps, what changes when the model is a language model, plus the failure-case workshop and the course synthesis. Thank them; stop on time. Minute 89–90.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Not covered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Kolmogorov–Smirnov for continuous features: a non-parametric test of whether two samples come from the same distribution; it measures the largest vertical distance between the two cumulative distribution curves; a small p-value says the difference is unlikely to be chance. Chi-squared for categorical features: compares the observed frequencies of each category in the new data with the frequencies expected from the training data. Advantage of p-values: they detect drift quickly. Drawback: they detect an effect but do not measure its size; on large datasets they flag tiny, harmless changes, which is why tools also report a distance (Wasserstein, Jensen–Shannon) and let you set a threshold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Train a model whose target is the origin of each row: training set or production set (optionally including the model's prediction as a feature). If it cannot tell them apart (accuracy near 50%), no drift. If it can, the data has drifted, and its accuracy is a single drift score for the whole dataset, unlike the one-feature-at-a-time tests. Its feature importance ranks the features responsible for the drift, which tells you where to look. Cost: training a model for each check; benefit: it captures changes in combinations of features that univariate tests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LIME (Local Interpretable Model-agnostic Explanations): to explain one prediction, generate many small variations of that input, ask the model to score them, and fit a simple linear model to those scores around the point; the linear model's weights are the explanation; works for any model, including text and images; can surprise you about what the model really uses. Cons: the local linear model can be a poor fit; results vary with the sampling. SHAP (SHapley Additive exPlanations): from game theory; each feature's contribution is its average marginal effect over all possible orderings of the features; contributions add up exactly to the difference between the prediction and the average prediction, which is why the waterfall works; exact and fast for tree models (TreeExplainer), approximate for others. Plots: waterfall (one prediction), force, bar and beeswarm (many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unless someone asks "how much code is that report?" (or open s7_demo_setup.py in an editor). Left: the seven lines that produced drift_report.html. Two DataFrames, reference and current, with the model's prediction added as a column so prediction drift is checked too; a DataDefinition that says which columns are numbers and which are categories; the two Datasets; a Report with the DataDriftPreset; run; save. Right: the same report as tests, which is what the Video 1 monitoring job does: instead of a preset you list metrics, each with a test (lte, lt), and the snapshot returns PASS or FAIL per test, so a scheduler can act on it. Point out that the model is not touched in either column; monitoring code sits beside the model, not inside it. Version used: evidently 0.7.x; the class names changed in 0.5 and again in 0.7, so older tutorials look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unless someone asks "how did you make the waterfall?". Left, SHAP: one explainer object built from the trained model (TreeExplainer, exact and fast for tree models; shap.Explainer picks a method for anything else); call it on one row for one customer, or on a sample for the beeswarm; for a binary classifier the result has a third dimension, and index 1 is the "churns" class; then one plotting call each. Right, LIME: the tabular explainer needs the training data to learn what "normal variations" look like, the feature names for the labels, and which columns are categorical; explain_instance takes the row and the model's predict_proba function, generates 5,000 variations and fits the local model; save_to_file writes the interactive HTML. For text, three lines: the explainer with the class names, explain_instance with the message and the pipeline's predict_proba, and save. Both libraries only need a predict function: they work with any model, which is why they are the standard pair. Versions: shap 0.51, lime 0.2 (lime needs setuptools&lt;70 to install; the pre-rendered files in S07/demo mean you do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 Id="rId7"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 Id="rId7"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 Id="rId8"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 Id="rId7"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 Id="rId7"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 Id="rId6"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 Id="rId6"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 Id="rId6"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 Id="rId5"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 Id="rId6"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 Id="rId5"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a:t>
            </a:r>
            <a:endParaRPr lang="en-US" sz="800" dirty="0"/>
          </a:p>
        </p:txBody>
      </p:sp>
      <p:sp>
        <p:nvSpPr>
          <p:cNvPr id="5" name="Text 3"/>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MLOps: Machine Learning Operations</a:t>
            </a:r>
            <a:endParaRPr lang="en-US" sz="1600" dirty="0"/>
          </a:p>
        </p:txBody>
      </p:sp>
      <p:sp>
        <p:nvSpPr>
          <p:cNvPr id="6" name="Text 4"/>
          <p:cNvSpPr txBox="1"/>
          <p:nvPr/>
        </p:nvSpPr>
        <p:spPr>
          <a:xfrm>
            <a:off x="548640" y="1280160"/>
            <a:ext cx="8046720" cy="457200"/>
          </a:xfrm>
          <a:prstGeom prst="rect">
            <a:avLst/>
          </a:prstGeom>
          <a:noFill/>
          <a:ln/>
        </p:spPr>
        <p:txBody>
          <a:bodyPr wrap="square" lIns="0" tIns="0" rIns="0" bIns="0" rtlCol="0" anchor="ctr"/>
          <a:lstStyle/>
          <a:p>
            <a:pPr indent="0" marL="0">
              <a:buNone/>
            </a:pPr>
            <a:r>
              <a:rPr lang="en-US" sz="2000" b="1" dirty="0">
                <a:solidFill>
                  <a:srgbClr val="CADCFC"/>
                </a:solidFill>
                <a:latin typeface="Calibri" pitchFamily="34" charset="0"/>
                <a:ea typeface="Calibri" pitchFamily="34" charset="-122"/>
                <a:cs typeface="Calibri" pitchFamily="34" charset="-120"/>
              </a:rPr>
              <a:t>Session 7</a:t>
            </a:r>
            <a:endParaRPr lang="en-US" sz="2000" dirty="0"/>
          </a:p>
        </p:txBody>
      </p:sp>
      <p:sp>
        <p:nvSpPr>
          <p:cNvPr id="7" name="Text 5"/>
          <p:cNvSpPr txBox="1"/>
          <p:nvPr/>
        </p:nvSpPr>
        <p:spPr>
          <a:xfrm>
            <a:off x="548640" y="1737360"/>
            <a:ext cx="804672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Monitoring, Explainability &amp; Responsible AI</a:t>
            </a:r>
            <a:endParaRPr lang="en-US" sz="3600" dirty="0"/>
          </a:p>
        </p:txBody>
      </p:sp>
      <p:sp>
        <p:nvSpPr>
          <p:cNvPr id="8" name="Text 6"/>
          <p:cNvSpPr txBox="1"/>
          <p:nvPr/>
        </p:nvSpPr>
        <p:spPr>
          <a:xfrm>
            <a:off x="548640" y="3017520"/>
            <a:ext cx="80467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Juan Manuel Ramírez García · jramirezg@faculty.ie.edu</a:t>
            </a:r>
            <a:endParaRPr lang="en-US" sz="1400" dirty="0"/>
          </a:p>
        </p:txBody>
      </p:sp>
      <p:sp>
        <p:nvSpPr>
          <p:cNvPr id="9" name="Text 7"/>
          <p:cNvSpPr txBox="1"/>
          <p:nvPr/>
        </p:nvSpPr>
        <p:spPr>
          <a:xfrm>
            <a:off x="548640" y="3383280"/>
            <a:ext cx="8046720" cy="3657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Live online session · Saturday 24 October 2026 · 90 minutes</a:t>
            </a:r>
            <a:endParaRPr lang="en-US" sz="1200" dirty="0"/>
          </a:p>
        </p:txBody>
      </p:sp>
      <p:sp>
        <p:nvSpPr>
          <p:cNvPr id="10" name="Shape 8"/>
          <p:cNvSpPr/>
          <p:nvPr/>
        </p:nvSpPr>
        <p:spPr>
          <a:xfrm>
            <a:off x="54864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1" name="Text 9"/>
          <p:cNvSpPr txBox="1"/>
          <p:nvPr/>
        </p:nvSpPr>
        <p:spPr>
          <a:xfrm>
            <a:off x="54864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12" name="Shape 10"/>
          <p:cNvSpPr/>
          <p:nvPr/>
        </p:nvSpPr>
        <p:spPr>
          <a:xfrm>
            <a:off x="144881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3" name="Text 11"/>
          <p:cNvSpPr txBox="1"/>
          <p:nvPr/>
        </p:nvSpPr>
        <p:spPr>
          <a:xfrm>
            <a:off x="144881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4" name="Shape 12"/>
          <p:cNvSpPr/>
          <p:nvPr/>
        </p:nvSpPr>
        <p:spPr>
          <a:xfrm>
            <a:off x="234899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5" name="Text 13"/>
          <p:cNvSpPr txBox="1"/>
          <p:nvPr/>
        </p:nvSpPr>
        <p:spPr>
          <a:xfrm>
            <a:off x="234899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6" name="Shape 14"/>
          <p:cNvSpPr/>
          <p:nvPr/>
        </p:nvSpPr>
        <p:spPr>
          <a:xfrm>
            <a:off x="3249168"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7" name="Text 15"/>
          <p:cNvSpPr txBox="1"/>
          <p:nvPr/>
        </p:nvSpPr>
        <p:spPr>
          <a:xfrm>
            <a:off x="3249168"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8" name="Shape 16"/>
          <p:cNvSpPr/>
          <p:nvPr/>
        </p:nvSpPr>
        <p:spPr>
          <a:xfrm>
            <a:off x="4149344"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9" name="Text 17"/>
          <p:cNvSpPr txBox="1"/>
          <p:nvPr/>
        </p:nvSpPr>
        <p:spPr>
          <a:xfrm>
            <a:off x="4149344"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20" name="Shape 18"/>
          <p:cNvSpPr/>
          <p:nvPr/>
        </p:nvSpPr>
        <p:spPr>
          <a:xfrm>
            <a:off x="504952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1" name="Text 19"/>
          <p:cNvSpPr txBox="1"/>
          <p:nvPr/>
        </p:nvSpPr>
        <p:spPr>
          <a:xfrm>
            <a:off x="504952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22" name="Shape 20"/>
          <p:cNvSpPr/>
          <p:nvPr/>
        </p:nvSpPr>
        <p:spPr>
          <a:xfrm>
            <a:off x="594969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3" name="Text 21"/>
          <p:cNvSpPr txBox="1"/>
          <p:nvPr/>
        </p:nvSpPr>
        <p:spPr>
          <a:xfrm>
            <a:off x="594969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4" name="Shape 22"/>
          <p:cNvSpPr/>
          <p:nvPr/>
        </p:nvSpPr>
        <p:spPr>
          <a:xfrm>
            <a:off x="684987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5" name="Text 23"/>
          <p:cNvSpPr txBox="1"/>
          <p:nvPr/>
        </p:nvSpPr>
        <p:spPr>
          <a:xfrm>
            <a:off x="684987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6" name="Shape 24"/>
          <p:cNvSpPr/>
          <p:nvPr/>
        </p:nvSpPr>
        <p:spPr>
          <a:xfrm>
            <a:off x="7750048"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7" name="Text 25"/>
          <p:cNvSpPr txBox="1"/>
          <p:nvPr/>
        </p:nvSpPr>
        <p:spPr>
          <a:xfrm>
            <a:off x="7750048"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pic>
        <p:nvPicPr>
          <p:cNvPr id="28"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Where we are: what Forum 3 said, and what today adds</a:t>
            </a:r>
            <a:endParaRPr lang="en-US" sz="2400" dirty="0"/>
          </a:p>
        </p:txBody>
      </p:sp>
      <p:sp>
        <p:nvSpPr>
          <p:cNvPr id="7" name="Text 4"/>
          <p:cNvSpPr txBox="1"/>
          <p:nvPr/>
        </p:nvSpPr>
        <p:spPr>
          <a:xfrm>
            <a:off x="365760" y="114300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From Forum 3 (paste 2–3 quotes on Friday)</a:t>
            </a:r>
            <a:endParaRPr lang="en-US" sz="1300" dirty="0"/>
          </a:p>
        </p:txBody>
      </p:sp>
      <p:sp>
        <p:nvSpPr>
          <p:cNvPr id="8" name="Shape 5"/>
          <p:cNvSpPr/>
          <p:nvPr/>
        </p:nvSpPr>
        <p:spPr>
          <a:xfrm>
            <a:off x="365760" y="1463040"/>
            <a:ext cx="4023360" cy="1417320"/>
          </a:xfrm>
          <a:prstGeom prst="roundRect">
            <a:avLst>
              <a:gd name="adj" fmla="val 5161"/>
            </a:avLst>
          </a:prstGeom>
          <a:solidFill>
            <a:srgbClr val="F3F5F8"/>
          </a:solidFill>
          <a:ln w="12700">
            <a:solidFill>
              <a:srgbClr val="F3F5F8"/>
            </a:solidFill>
            <a:prstDash val="solid"/>
          </a:ln>
        </p:spPr>
        <p:txBody>
          <a:bodyPr/>
          <a:p/>
        </p:txBody>
      </p:sp>
      <p:sp>
        <p:nvSpPr>
          <p:cNvPr id="9" name="Text 6"/>
          <p:cNvSpPr txBox="1"/>
          <p:nvPr/>
        </p:nvSpPr>
        <p:spPr>
          <a:xfrm>
            <a:off x="502920" y="1554480"/>
            <a:ext cx="374904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What you said</a:t>
            </a:r>
            <a:endParaRPr lang="en-US" sz="1300" dirty="0"/>
          </a:p>
        </p:txBody>
      </p:sp>
      <p:sp>
        <p:nvSpPr>
          <p:cNvPr id="10" name="Text 7"/>
          <p:cNvSpPr txBox="1"/>
          <p:nvPr/>
        </p:nvSpPr>
        <p:spPr>
          <a:xfrm>
            <a:off x="502920" y="1920240"/>
            <a:ext cx="3749040" cy="8686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 — [student]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 — [student]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Misconception of the week: accuracy as the metric for a rare event</a:t>
            </a:r>
            <a:endParaRPr lang="en-US" sz="1100" dirty="0"/>
          </a:p>
        </p:txBody>
      </p:sp>
      <p:sp>
        <p:nvSpPr>
          <p:cNvPr id="11" name="Text 8"/>
          <p:cNvSpPr txBox="1"/>
          <p:nvPr/>
        </p:nvSpPr>
        <p:spPr>
          <a:xfrm>
            <a:off x="365760" y="301752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By the end of this session you can…</a:t>
            </a:r>
            <a:endParaRPr lang="en-US" sz="1300" dirty="0"/>
          </a:p>
        </p:txBody>
      </p:sp>
      <p:sp>
        <p:nvSpPr>
          <p:cNvPr id="12" name="Shape 9"/>
          <p:cNvSpPr/>
          <p:nvPr/>
        </p:nvSpPr>
        <p:spPr>
          <a:xfrm>
            <a:off x="365760" y="3337560"/>
            <a:ext cx="420624" cy="420624"/>
          </a:xfrm>
          <a:prstGeom prst="ellipse">
            <a:avLst/>
          </a:prstGeom>
          <a:solidFill>
            <a:srgbClr val="0E7C86"/>
          </a:solidFill>
          <a:ln w="12700">
            <a:solidFill>
              <a:srgbClr val="0E7C86"/>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457200" y="3429000"/>
            <a:ext cx="237744" cy="237744"/>
          </a:xfrm>
          <a:prstGeom prst="rect">
            <a:avLst/>
          </a:prstGeom>
        </p:spPr>
      </p:pic>
      <p:sp>
        <p:nvSpPr>
          <p:cNvPr id="14" name="Text 10"/>
          <p:cNvSpPr txBox="1"/>
          <p:nvPr/>
        </p:nvSpPr>
        <p:spPr>
          <a:xfrm>
            <a:off x="914400" y="33192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Tell three kinds of "worse" apart</a:t>
            </a:r>
            <a:endParaRPr lang="en-US" sz="1300" dirty="0"/>
          </a:p>
        </p:txBody>
      </p:sp>
      <p:sp>
        <p:nvSpPr>
          <p:cNvPr id="15" name="Text 11"/>
          <p:cNvSpPr txBox="1"/>
          <p:nvPr/>
        </p:nvSpPr>
        <p:spPr>
          <a:xfrm>
            <a:off x="914400" y="3575304"/>
            <a:ext cx="34747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Data drift, concept drift, performance decay, and respond to each.</a:t>
            </a:r>
            <a:endParaRPr lang="en-US" sz="1100" dirty="0"/>
          </a:p>
        </p:txBody>
      </p:sp>
      <p:sp>
        <p:nvSpPr>
          <p:cNvPr id="16" name="Shape 12"/>
          <p:cNvSpPr/>
          <p:nvPr/>
        </p:nvSpPr>
        <p:spPr>
          <a:xfrm>
            <a:off x="365760" y="3977640"/>
            <a:ext cx="420624" cy="420624"/>
          </a:xfrm>
          <a:prstGeom prst="ellipse">
            <a:avLst/>
          </a:prstGeom>
          <a:solidFill>
            <a:srgbClr val="0E7C86"/>
          </a:solidFill>
          <a:ln w="12700">
            <a:solidFill>
              <a:srgbClr val="0E7C86"/>
            </a:solidFill>
            <a:prstDash val="solid"/>
          </a:ln>
        </p:spPr>
        <p:txBody>
          <a:bodyPr/>
          <a:p/>
        </p:txBody>
      </p:sp>
      <p:pic>
        <p:nvPicPr>
          <p:cNvPr id="17" name="Image 1" descr="preencoded.png">    </p:cNvPr>
          <p:cNvPicPr>
            <a:picLocks noChangeAspect="1"/>
          </p:cNvPicPr>
          <p:nvPr/>
        </p:nvPicPr>
        <p:blipFill>
          <a:blip r:embed="rId2"/>
          <a:stretch>
            <a:fillRect/>
          </a:stretch>
        </p:blipFill>
        <p:spPr>
          <a:xfrm>
            <a:off x="457200" y="4069080"/>
            <a:ext cx="237744" cy="237744"/>
          </a:xfrm>
          <a:prstGeom prst="rect">
            <a:avLst/>
          </a:prstGeom>
        </p:spPr>
      </p:pic>
      <p:sp>
        <p:nvSpPr>
          <p:cNvPr id="18" name="Text 13"/>
          <p:cNvSpPr txBox="1"/>
          <p:nvPr/>
        </p:nvSpPr>
        <p:spPr>
          <a:xfrm>
            <a:off x="914400" y="395935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Write a monitoring plan; demand an explanation</a:t>
            </a:r>
            <a:endParaRPr lang="en-US" sz="1300" dirty="0"/>
          </a:p>
        </p:txBody>
      </p:sp>
      <p:sp>
        <p:nvSpPr>
          <p:cNvPr id="19" name="Text 14"/>
          <p:cNvSpPr txBox="1"/>
          <p:nvPr/>
        </p:nvSpPr>
        <p:spPr>
          <a:xfrm>
            <a:off x="914400" y="4215384"/>
            <a:ext cx="34747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Metrics, thresholds, actions; and why explanations are operational, not academic.</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754880" y="1143000"/>
          <a:ext cx="4023360" cy="914400"/>
        </p:xfrm>
        <a:graphic>
          <a:graphicData uri="http://schemas.openxmlformats.org/drawingml/2006/table">
            <a:tbl>
              <a:tblPr/>
              <a:tblGrid>
                <a:gridCol w="822960"/>
                <a:gridCol w="3200400"/>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Minute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Block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Recap, outcomes, "what would you measure?", three levels of monitoring</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8–16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The world moves: drift and decay; ground truth</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16–35</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Detecting and deciding: causes, tests, the plan, the loop (+ 8-min demo, + poll)</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35–46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Explainability as an operational requirement (SHAP and LIME); bias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46–51</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Break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51–58</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Responsible AI in the loop</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58–76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Activity: a monitoring plan for a churn model</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76–86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Debrief</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86–90</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Three things, your forum, Video 1, your reading</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"Accuracy below 0.85 on the monthly labelled sample": what would you have to measure?</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algn="l" indent="0" marL="0">
              <a:buNone/>
            </a:pPr>
            <a:r>
              <a:rPr lang="en-US" sz="1300" b="1" dirty="0">
                <a:solidFill>
                  <a:srgbClr val="E07A2F"/>
                </a:solidFill>
                <a:latin typeface="Calibri" pitchFamily="34" charset="0"/>
                <a:ea typeface="Calibri" pitchFamily="34" charset="-122"/>
                <a:cs typeface="Calibri" pitchFamily="34" charset="-120"/>
              </a:rPr>
              <a:t>One line in the model card…</a:t>
            </a:r>
            <a:endParaRPr lang="en-US" sz="1300" dirty="0"/>
          </a:p>
        </p:txBody>
      </p:sp>
      <p:sp>
        <p:nvSpPr>
          <p:cNvPr id="8" name="Shape 5"/>
          <p:cNvSpPr/>
          <p:nvPr/>
        </p:nvSpPr>
        <p:spPr>
          <a:xfrm>
            <a:off x="365760" y="1554480"/>
            <a:ext cx="4023360" cy="1005840"/>
          </a:xfrm>
          <a:prstGeom prst="roundRect">
            <a:avLst>
              <a:gd name="adj" fmla="val 7273"/>
            </a:avLst>
          </a:prstGeom>
          <a:solidFill>
            <a:srgbClr val="FBE9DC"/>
          </a:solidFill>
          <a:ln w="12700">
            <a:solidFill>
              <a:srgbClr val="FBE9DC"/>
            </a:solidFill>
            <a:prstDash val="solid"/>
          </a:ln>
        </p:spPr>
        <p:txBody>
          <a:bodyPr/>
          <a:p/>
        </p:txBody>
      </p:sp>
      <p:sp>
        <p:nvSpPr>
          <p:cNvPr id="9" name="Text 6"/>
          <p:cNvSpPr txBox="1"/>
          <p:nvPr/>
        </p:nvSpPr>
        <p:spPr>
          <a:xfrm>
            <a:off x="502920" y="1600200"/>
            <a:ext cx="3749040" cy="914400"/>
          </a:xfrm>
          <a:prstGeom prst="rect">
            <a:avLst/>
          </a:prstGeom>
          <a:noFill/>
          <a:ln/>
        </p:spPr>
        <p:txBody>
          <a:bodyPr wrap="square" lIns="0" tIns="0" rIns="0" bIns="0" rtlCol="0" anchor="ctr"/>
          <a:lstStyle/>
          <a:p>
            <a:pPr indent="0" marL="0">
              <a:buNone/>
            </a:pPr>
            <a:r>
              <a:rPr lang="en-US" sz="1300" dirty="0">
                <a:solidFill>
                  <a:srgbClr val="1B2A4A"/>
                </a:solidFill>
                <a:latin typeface="Courier New" pitchFamily="34" charset="0"/>
                <a:ea typeface="Courier New" pitchFamily="34" charset="-122"/>
                <a:cs typeface="Courier New" pitchFamily="34" charset="-120"/>
              </a:rPr>
              <a:t>Retrain trigger: accuracy below 0.85 on the monthly labelled sample</a:t>
            </a:r>
            <a:endParaRPr lang="en-US" sz="1300" dirty="0"/>
          </a:p>
        </p:txBody>
      </p:sp>
      <p:sp>
        <p:nvSpPr>
          <p:cNvPr id="10" name="Text 7"/>
          <p:cNvSpPr txBox="1"/>
          <p:nvPr/>
        </p:nvSpPr>
        <p:spPr>
          <a:xfrm>
            <a:off x="365760" y="2697480"/>
            <a:ext cx="4023360" cy="731520"/>
          </a:xfrm>
          <a:prstGeom prst="rect">
            <a:avLst/>
          </a:prstGeom>
          <a:noFill/>
          <a:ln/>
        </p:spPr>
        <p:txBody>
          <a:bodyPr wrap="square" lIns="0" tIns="0" rIns="0" bIns="0" rtlCol="0" anchor="t"/>
          <a:lstStyle/>
          <a:p>
            <a:pPr algn="l" indent="0" marL="0">
              <a:buNone/>
            </a:pPr>
            <a:r>
              <a:rPr lang="en-US" sz="1150" i="1" dirty="0">
                <a:solidFill>
                  <a:srgbClr val="6B7280"/>
                </a:solidFill>
                <a:latin typeface="Calibri" pitchFamily="34" charset="0"/>
                <a:ea typeface="Calibri" pitchFamily="34" charset="-122"/>
                <a:cs typeface="Calibri" pitchFamily="34" charset="-120"/>
              </a:rPr>
              <a:t>What students usually answer: "measure the accuracy", "compare predictions with reality".</a:t>
            </a:r>
            <a:endParaRPr lang="en-US" sz="1150" dirty="0"/>
          </a:p>
        </p:txBody>
      </p:sp>
      <p:sp>
        <p:nvSpPr>
          <p:cNvPr id="11" name="Text 8"/>
          <p:cNvSpPr txBox="1"/>
          <p:nvPr/>
        </p:nvSpPr>
        <p:spPr>
          <a:xfrm>
            <a:off x="4754880" y="118872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…needs five things nobody wrote down</a:t>
            </a:r>
            <a:endParaRPr lang="en-US" sz="1300" dirty="0"/>
          </a:p>
        </p:txBody>
      </p:sp>
      <p:sp>
        <p:nvSpPr>
          <p:cNvPr id="12" name="Shape 9"/>
          <p:cNvSpPr/>
          <p:nvPr/>
        </p:nvSpPr>
        <p:spPr>
          <a:xfrm>
            <a:off x="4754880" y="1581912"/>
            <a:ext cx="411480" cy="411480"/>
          </a:xfrm>
          <a:prstGeom prst="ellipse">
            <a:avLst/>
          </a:prstGeom>
          <a:solidFill>
            <a:srgbClr val="0E7C86"/>
          </a:solidFill>
          <a:ln w="12700">
            <a:solidFill>
              <a:srgbClr val="0E7C86"/>
            </a:solidFill>
            <a:prstDash val="solid"/>
          </a:ln>
        </p:spPr>
        <p:txBody>
          <a:bodyPr/>
          <a:p/>
        </p:txBody>
      </p:sp>
      <p:sp>
        <p:nvSpPr>
          <p:cNvPr id="13" name="Text 10"/>
          <p:cNvSpPr txBox="1"/>
          <p:nvPr/>
        </p:nvSpPr>
        <p:spPr>
          <a:xfrm>
            <a:off x="4754880" y="158191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1"/>
          <p:cNvSpPr txBox="1"/>
          <p:nvPr/>
        </p:nvSpPr>
        <p:spPr>
          <a:xfrm>
            <a:off x="5303520" y="1536192"/>
            <a:ext cx="34747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labels</a:t>
            </a:r>
            <a:endParaRPr lang="en-US" sz="1200" dirty="0"/>
          </a:p>
        </p:txBody>
      </p:sp>
      <p:sp>
        <p:nvSpPr>
          <p:cNvPr id="15" name="Text 12"/>
          <p:cNvSpPr txBox="1"/>
          <p:nvPr/>
        </p:nvSpPr>
        <p:spPr>
          <a:xfrm>
            <a:off x="5303520" y="1792224"/>
            <a:ext cx="3474720" cy="329184"/>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Who really churned: they arrive 30 days later.</a:t>
            </a:r>
            <a:endParaRPr lang="en-US" sz="1000" dirty="0"/>
          </a:p>
        </p:txBody>
      </p:sp>
      <p:sp>
        <p:nvSpPr>
          <p:cNvPr id="16" name="Shape 13"/>
          <p:cNvSpPr/>
          <p:nvPr/>
        </p:nvSpPr>
        <p:spPr>
          <a:xfrm>
            <a:off x="4754880" y="2185416"/>
            <a:ext cx="411480" cy="411480"/>
          </a:xfrm>
          <a:prstGeom prst="ellipse">
            <a:avLst/>
          </a:prstGeom>
          <a:solidFill>
            <a:srgbClr val="0E7C86"/>
          </a:solidFill>
          <a:ln w="12700">
            <a:solidFill>
              <a:srgbClr val="0E7C86"/>
            </a:solidFill>
            <a:prstDash val="solid"/>
          </a:ln>
        </p:spPr>
        <p:txBody>
          <a:bodyPr/>
          <a:p/>
        </p:txBody>
      </p:sp>
      <p:sp>
        <p:nvSpPr>
          <p:cNvPr id="17" name="Text 14"/>
          <p:cNvSpPr txBox="1"/>
          <p:nvPr/>
        </p:nvSpPr>
        <p:spPr>
          <a:xfrm>
            <a:off x="4754880" y="218541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txBox="1"/>
          <p:nvPr/>
        </p:nvSpPr>
        <p:spPr>
          <a:xfrm>
            <a:off x="5303520" y="2139696"/>
            <a:ext cx="34747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predictions from 30 days ago</a:t>
            </a:r>
            <a:endParaRPr lang="en-US" sz="1200" dirty="0"/>
          </a:p>
        </p:txBody>
      </p:sp>
      <p:sp>
        <p:nvSpPr>
          <p:cNvPr id="19" name="Text 16"/>
          <p:cNvSpPr txBox="1"/>
          <p:nvPr/>
        </p:nvSpPr>
        <p:spPr>
          <a:xfrm>
            <a:off x="5303520" y="2395728"/>
            <a:ext cx="3474720" cy="329184"/>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Stored, with the customer id and the model version.</a:t>
            </a:r>
            <a:endParaRPr lang="en-US" sz="1000" dirty="0"/>
          </a:p>
        </p:txBody>
      </p:sp>
      <p:sp>
        <p:nvSpPr>
          <p:cNvPr id="20" name="Shape 17"/>
          <p:cNvSpPr/>
          <p:nvPr/>
        </p:nvSpPr>
        <p:spPr>
          <a:xfrm>
            <a:off x="4754880" y="2788920"/>
            <a:ext cx="411480" cy="411480"/>
          </a:xfrm>
          <a:prstGeom prst="ellipse">
            <a:avLst/>
          </a:prstGeom>
          <a:solidFill>
            <a:srgbClr val="0E7C86"/>
          </a:solidFill>
          <a:ln w="12700">
            <a:solidFill>
              <a:srgbClr val="0E7C86"/>
            </a:solidFill>
            <a:prstDash val="solid"/>
          </a:ln>
        </p:spPr>
        <p:txBody>
          <a:bodyPr/>
          <a:p/>
        </p:txBody>
      </p:sp>
      <p:sp>
        <p:nvSpPr>
          <p:cNvPr id="21" name="Text 18"/>
          <p:cNvSpPr txBox="1"/>
          <p:nvPr/>
        </p:nvSpPr>
        <p:spPr>
          <a:xfrm>
            <a:off x="4754880" y="27889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5303520" y="2743200"/>
            <a:ext cx="34747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 match, customer by customer</a:t>
            </a:r>
            <a:endParaRPr lang="en-US" sz="1200" dirty="0"/>
          </a:p>
        </p:txBody>
      </p:sp>
      <p:sp>
        <p:nvSpPr>
          <p:cNvPr id="23" name="Text 20"/>
          <p:cNvSpPr txBox="1"/>
          <p:nvPr/>
        </p:nvSpPr>
        <p:spPr>
          <a:xfrm>
            <a:off x="5303520" y="2999232"/>
            <a:ext cx="3474720" cy="329184"/>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Prediction and outcome live in different systems, with different timestamps.</a:t>
            </a:r>
            <a:endParaRPr lang="en-US" sz="1000" dirty="0"/>
          </a:p>
        </p:txBody>
      </p:sp>
      <p:sp>
        <p:nvSpPr>
          <p:cNvPr id="24" name="Shape 21"/>
          <p:cNvSpPr/>
          <p:nvPr/>
        </p:nvSpPr>
        <p:spPr>
          <a:xfrm>
            <a:off x="4754880" y="3392424"/>
            <a:ext cx="411480" cy="411480"/>
          </a:xfrm>
          <a:prstGeom prst="ellipse">
            <a:avLst/>
          </a:prstGeom>
          <a:solidFill>
            <a:srgbClr val="0E7C86"/>
          </a:solidFill>
          <a:ln w="12700">
            <a:solidFill>
              <a:srgbClr val="0E7C86"/>
            </a:solidFill>
            <a:prstDash val="solid"/>
          </a:ln>
        </p:spPr>
        <p:txBody>
          <a:bodyPr/>
          <a:p/>
        </p:txBody>
      </p:sp>
      <p:sp>
        <p:nvSpPr>
          <p:cNvPr id="25" name="Text 22"/>
          <p:cNvSpPr txBox="1"/>
          <p:nvPr/>
        </p:nvSpPr>
        <p:spPr>
          <a:xfrm>
            <a:off x="4754880" y="33924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5303520" y="3346704"/>
            <a:ext cx="34747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 sample big enough</a:t>
            </a:r>
            <a:endParaRPr lang="en-US" sz="1200" dirty="0"/>
          </a:p>
        </p:txBody>
      </p:sp>
      <p:sp>
        <p:nvSpPr>
          <p:cNvPr id="27" name="Text 24"/>
          <p:cNvSpPr txBox="1"/>
          <p:nvPr/>
        </p:nvSpPr>
        <p:spPr>
          <a:xfrm>
            <a:off x="5303520" y="3602736"/>
            <a:ext cx="3474720" cy="329184"/>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And representative: not only the customers the campaign called.</a:t>
            </a:r>
            <a:endParaRPr lang="en-US" sz="1000" dirty="0"/>
          </a:p>
        </p:txBody>
      </p:sp>
      <p:sp>
        <p:nvSpPr>
          <p:cNvPr id="28" name="Shape 25"/>
          <p:cNvSpPr/>
          <p:nvPr/>
        </p:nvSpPr>
        <p:spPr>
          <a:xfrm>
            <a:off x="4754880" y="3995928"/>
            <a:ext cx="411480" cy="411480"/>
          </a:xfrm>
          <a:prstGeom prst="ellipse">
            <a:avLst/>
          </a:prstGeom>
          <a:solidFill>
            <a:srgbClr val="0E7C86"/>
          </a:solidFill>
          <a:ln w="12700">
            <a:solidFill>
              <a:srgbClr val="0E7C86"/>
            </a:solidFill>
            <a:prstDash val="solid"/>
          </a:ln>
        </p:spPr>
        <p:txBody>
          <a:bodyPr/>
          <a:p/>
        </p:txBody>
      </p:sp>
      <p:sp>
        <p:nvSpPr>
          <p:cNvPr id="29" name="Text 26"/>
          <p:cNvSpPr txBox="1"/>
          <p:nvPr/>
        </p:nvSpPr>
        <p:spPr>
          <a:xfrm>
            <a:off x="4754880" y="39959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7"/>
          <p:cNvSpPr txBox="1"/>
          <p:nvPr/>
        </p:nvSpPr>
        <p:spPr>
          <a:xfrm>
            <a:off x="5303520" y="3950208"/>
            <a:ext cx="34747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Someone allowed to act</a:t>
            </a:r>
            <a:endParaRPr lang="en-US" sz="1200" dirty="0"/>
          </a:p>
        </p:txBody>
      </p:sp>
      <p:sp>
        <p:nvSpPr>
          <p:cNvPr id="31" name="Text 28"/>
          <p:cNvSpPr txBox="1"/>
          <p:nvPr/>
        </p:nvSpPr>
        <p:spPr>
          <a:xfrm>
            <a:off x="5303520" y="4206240"/>
            <a:ext cx="3474720" cy="329184"/>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Who reads the number, when, and what they may do.</a:t>
            </a:r>
            <a:endParaRPr lang="en-US" sz="1000" dirty="0"/>
          </a:p>
        </p:txBody>
      </p:sp>
      <p:pic>
        <p:nvPicPr>
          <p:cNvPr id="32"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Monitoring at three levels: the machine, the model, the business</a:t>
            </a:r>
            <a:endParaRPr lang="en-US" sz="2400" dirty="0"/>
          </a:p>
        </p:txBody>
      </p:sp>
      <p:sp>
        <p:nvSpPr>
          <p:cNvPr id="7" name="Shape 4"/>
          <p:cNvSpPr/>
          <p:nvPr/>
        </p:nvSpPr>
        <p:spPr>
          <a:xfrm>
            <a:off x="365760" y="1234440"/>
            <a:ext cx="2697480" cy="2286000"/>
          </a:xfrm>
          <a:prstGeom prst="roundRect">
            <a:avLst>
              <a:gd name="adj" fmla="val 3200"/>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Resources · IT</a:t>
            </a:r>
            <a:endParaRPr lang="en-US" sz="1300" dirty="0"/>
          </a:p>
        </p:txBody>
      </p:sp>
      <p:sp>
        <p:nvSpPr>
          <p:cNvPr id="11" name="Text 7"/>
          <p:cNvSpPr txBox="1"/>
          <p:nvPr/>
        </p:nvSpPr>
        <p:spPr>
          <a:xfrm>
            <a:off x="502920" y="1783080"/>
            <a:ext cx="2423160" cy="164592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Is the system alive? CPU, memory, disk, network as expected? Requests processed at the expected rate?</a:t>
            </a:r>
            <a:endParaRPr lang="en-US" sz="1150" dirty="0"/>
          </a:p>
        </p:txBody>
      </p:sp>
      <p:sp>
        <p:nvSpPr>
          <p:cNvPr id="12" name="Text 8"/>
          <p:cNvSpPr txBox="1"/>
          <p:nvPr/>
        </p:nvSpPr>
        <p:spPr>
          <a:xfrm>
            <a:off x="502920" y="2880360"/>
            <a:ext cx="2423160" cy="548640"/>
          </a:xfrm>
          <a:prstGeom prst="rect">
            <a:avLst/>
          </a:prstGeom>
          <a:noFill/>
          <a:ln/>
        </p:spPr>
        <p:txBody>
          <a:bodyPr wrap="square" lIns="0" tIns="0" rIns="0" bIns="0" rtlCol="0" anchor="ctr"/>
          <a:lstStyle/>
          <a:p>
            <a:pPr indent="0" marL="0">
              <a:buNone/>
            </a:pPr>
            <a:r>
              <a:rPr lang="en-US" sz="1050" i="1" dirty="0">
                <a:solidFill>
                  <a:srgbClr val="0E7C86"/>
                </a:solidFill>
                <a:latin typeface="Calibri" pitchFamily="34" charset="0"/>
                <a:ea typeface="Calibri" pitchFamily="34" charset="-122"/>
                <a:cs typeface="Calibri" pitchFamily="34" charset="-120"/>
              </a:rPr>
              <a:t>NorthRetail watched only this: "green, 40 ms".</a:t>
            </a:r>
            <a:endParaRPr lang="en-US" sz="1050" dirty="0"/>
          </a:p>
        </p:txBody>
      </p:sp>
      <p:sp>
        <p:nvSpPr>
          <p:cNvPr id="13" name="Shape 9"/>
          <p:cNvSpPr/>
          <p:nvPr/>
        </p:nvSpPr>
        <p:spPr>
          <a:xfrm>
            <a:off x="3218688" y="1234440"/>
            <a:ext cx="2697480" cy="2286000"/>
          </a:xfrm>
          <a:prstGeom prst="roundRect">
            <a:avLst>
              <a:gd name="adj" fmla="val 3200"/>
            </a:avLst>
          </a:prstGeom>
          <a:solidFill>
            <a:srgbClr val="F3F5F8"/>
          </a:solidFill>
          <a:ln w="12700">
            <a:solidFill>
              <a:srgbClr val="F3F5F8"/>
            </a:solidFill>
            <a:prstDash val="solid"/>
          </a:ln>
        </p:spPr>
        <p:txBody>
          <a:bodyPr/>
          <a:p/>
        </p:txBody>
      </p:sp>
      <p:sp>
        <p:nvSpPr>
          <p:cNvPr id="14" name="Shape 10"/>
          <p:cNvSpPr/>
          <p:nvPr/>
        </p:nvSpPr>
        <p:spPr>
          <a:xfrm>
            <a:off x="3355848" y="1353312"/>
            <a:ext cx="347472" cy="347472"/>
          </a:xfrm>
          <a:prstGeom prst="ellipse">
            <a:avLst/>
          </a:prstGeom>
          <a:solidFill>
            <a:srgbClr val="0E7C86"/>
          </a:solidFill>
          <a:ln w="12700">
            <a:solidFill>
              <a:srgbClr val="0E7C86"/>
            </a:solidFill>
            <a:prstDash val="solid"/>
          </a:ln>
        </p:spPr>
        <p:txBody>
          <a:bodyPr/>
          <a:p/>
        </p:txBody>
      </p:sp>
      <p:pic>
        <p:nvPicPr>
          <p:cNvPr id="15"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6" name="Text 11"/>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Model · data science</a:t>
            </a:r>
            <a:endParaRPr lang="en-US" sz="1300" dirty="0"/>
          </a:p>
        </p:txBody>
      </p:sp>
      <p:sp>
        <p:nvSpPr>
          <p:cNvPr id="17" name="Text 12"/>
          <p:cNvSpPr txBox="1"/>
          <p:nvPr/>
        </p:nvSpPr>
        <p:spPr>
          <a:xfrm>
            <a:off x="3355848" y="1783080"/>
            <a:ext cx="2423160" cy="164592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Is the model still an accurate representation of the incoming data? Is it performing as well as at design time?</a:t>
            </a:r>
            <a:endParaRPr lang="en-US" sz="1150" dirty="0"/>
          </a:p>
        </p:txBody>
      </p:sp>
      <p:sp>
        <p:nvSpPr>
          <p:cNvPr id="18" name="Text 13"/>
          <p:cNvSpPr txBox="1"/>
          <p:nvPr/>
        </p:nvSpPr>
        <p:spPr>
          <a:xfrm>
            <a:off x="3355848" y="2880360"/>
            <a:ext cx="2423160" cy="548640"/>
          </a:xfrm>
          <a:prstGeom prst="rect">
            <a:avLst/>
          </a:prstGeom>
          <a:noFill/>
          <a:ln/>
        </p:spPr>
        <p:txBody>
          <a:bodyPr wrap="square" lIns="0" tIns="0" rIns="0" bIns="0" rtlCol="0" anchor="ctr"/>
          <a:lstStyle/>
          <a:p>
            <a:pPr indent="0" marL="0">
              <a:buNone/>
            </a:pPr>
            <a:r>
              <a:rPr lang="en-US" sz="1050" i="1" dirty="0">
                <a:solidFill>
                  <a:srgbClr val="0E7C86"/>
                </a:solidFill>
                <a:latin typeface="Calibri" pitchFamily="34" charset="0"/>
                <a:ea typeface="Calibri" pitchFamily="34" charset="-122"/>
                <a:cs typeface="Calibri" pitchFamily="34" charset="-120"/>
              </a:rPr>
              <a:t>IberBank's hotfix weekend needed this.</a:t>
            </a:r>
            <a:endParaRPr lang="en-US" sz="1050" dirty="0"/>
          </a:p>
        </p:txBody>
      </p:sp>
      <p:sp>
        <p:nvSpPr>
          <p:cNvPr id="19" name="Shape 14"/>
          <p:cNvSpPr/>
          <p:nvPr/>
        </p:nvSpPr>
        <p:spPr>
          <a:xfrm>
            <a:off x="6071616" y="1234440"/>
            <a:ext cx="2697480" cy="2286000"/>
          </a:xfrm>
          <a:prstGeom prst="roundRect">
            <a:avLst>
              <a:gd name="adj" fmla="val 3200"/>
            </a:avLst>
          </a:prstGeom>
          <a:solidFill>
            <a:srgbClr val="F3F5F8"/>
          </a:solidFill>
          <a:ln w="12700">
            <a:solidFill>
              <a:srgbClr val="F3F5F8"/>
            </a:solidFill>
            <a:prstDash val="solid"/>
          </a:ln>
        </p:spPr>
        <p:txBody>
          <a:bodyPr/>
          <a:p/>
        </p:txBody>
      </p:sp>
      <p:sp>
        <p:nvSpPr>
          <p:cNvPr id="20" name="Shape 15"/>
          <p:cNvSpPr/>
          <p:nvPr/>
        </p:nvSpPr>
        <p:spPr>
          <a:xfrm>
            <a:off x="6208776" y="1353312"/>
            <a:ext cx="347472" cy="347472"/>
          </a:xfrm>
          <a:prstGeom prst="ellipse">
            <a:avLst/>
          </a:prstGeom>
          <a:solidFill>
            <a:srgbClr val="0E7C86"/>
          </a:solidFill>
          <a:ln w="12700">
            <a:solidFill>
              <a:srgbClr val="0E7C86"/>
            </a:solidFill>
            <a:prstDash val="solid"/>
          </a:ln>
        </p:spPr>
        <p:txBody>
          <a:bodyPr/>
          <a:p/>
        </p:txBody>
      </p:sp>
      <p:pic>
        <p:nvPicPr>
          <p:cNvPr id="21" name="Image 2" descr="preencoded.png">    </p:cNvPr>
          <p:cNvPicPr>
            <a:picLocks noChangeAspect="1"/>
          </p:cNvPicPr>
          <p:nvPr/>
        </p:nvPicPr>
        <p:blipFill>
          <a:blip r:embed="rId3"/>
          <a:stretch>
            <a:fillRect/>
          </a:stretch>
        </p:blipFill>
        <p:spPr>
          <a:xfrm>
            <a:off x="6281928" y="1426464"/>
            <a:ext cx="201168" cy="201168"/>
          </a:xfrm>
          <a:prstGeom prst="rect">
            <a:avLst/>
          </a:prstGeom>
        </p:spPr>
      </p:pic>
      <p:sp>
        <p:nvSpPr>
          <p:cNvPr id="22" name="Text 16"/>
          <p:cNvSpPr txBox="1"/>
          <p:nvPr/>
        </p:nvSpPr>
        <p:spPr>
          <a:xfrm>
            <a:off x="6638544"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Business · KPIs</a:t>
            </a:r>
            <a:endParaRPr lang="en-US" sz="1300" dirty="0"/>
          </a:p>
        </p:txBody>
      </p:sp>
      <p:sp>
        <p:nvSpPr>
          <p:cNvPr id="23" name="Text 17"/>
          <p:cNvSpPr txBox="1"/>
          <p:nvPr/>
        </p:nvSpPr>
        <p:spPr>
          <a:xfrm>
            <a:off x="6208776" y="1783080"/>
            <a:ext cx="2423160" cy="164592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Is the model delivering value? Is it helping to achieve the goals it was built for?</a:t>
            </a:r>
            <a:endParaRPr lang="en-US" sz="1150" dirty="0"/>
          </a:p>
        </p:txBody>
      </p:sp>
      <p:sp>
        <p:nvSpPr>
          <p:cNvPr id="24" name="Text 18"/>
          <p:cNvSpPr txBox="1"/>
          <p:nvPr/>
        </p:nvSpPr>
        <p:spPr>
          <a:xfrm>
            <a:off x="6208776" y="2880360"/>
            <a:ext cx="2423160" cy="548640"/>
          </a:xfrm>
          <a:prstGeom prst="rect">
            <a:avLst/>
          </a:prstGeom>
          <a:noFill/>
          <a:ln/>
        </p:spPr>
        <p:txBody>
          <a:bodyPr wrap="square" lIns="0" tIns="0" rIns="0" bIns="0" rtlCol="0" anchor="ctr"/>
          <a:lstStyle/>
          <a:p>
            <a:pPr indent="0" marL="0">
              <a:buNone/>
            </a:pPr>
            <a:r>
              <a:rPr lang="en-US" sz="1050" i="1" dirty="0">
                <a:solidFill>
                  <a:srgbClr val="0E7C86"/>
                </a:solidFill>
                <a:latin typeface="Calibri" pitchFamily="34" charset="0"/>
                <a:ea typeface="Calibri" pitchFamily="34" charset="-122"/>
                <a:cs typeface="Calibri" pitchFamily="34" charset="-120"/>
              </a:rPr>
              <a:t>Most companies never build this level.</a:t>
            </a:r>
            <a:endParaRPr lang="en-US" sz="1050" dirty="0"/>
          </a:p>
        </p:txBody>
      </p:sp>
      <p:sp>
        <p:nvSpPr>
          <p:cNvPr id="25" name="Shape 19"/>
          <p:cNvSpPr/>
          <p:nvPr/>
        </p:nvSpPr>
        <p:spPr>
          <a:xfrm>
            <a:off x="365760" y="370332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26" name="Image 3" descr="preencoded.png">    </p:cNvPr>
          <p:cNvPicPr>
            <a:picLocks noChangeAspect="1"/>
          </p:cNvPicPr>
          <p:nvPr/>
        </p:nvPicPr>
        <p:blipFill>
          <a:blip r:embed="rId4"/>
          <a:stretch>
            <a:fillRect/>
          </a:stretch>
        </p:blipFill>
        <p:spPr>
          <a:xfrm>
            <a:off x="502920" y="3840480"/>
            <a:ext cx="274320" cy="274320"/>
          </a:xfrm>
          <a:prstGeom prst="rect">
            <a:avLst/>
          </a:prstGeom>
        </p:spPr>
      </p:pic>
      <p:sp>
        <p:nvSpPr>
          <p:cNvPr id="27" name="Text 20"/>
          <p:cNvSpPr txBox="1"/>
          <p:nvPr/>
        </p:nvSpPr>
        <p:spPr>
          <a:xfrm>
            <a:off x="896112" y="3703320"/>
            <a:ext cx="7772400" cy="54864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Today and Video 1 are about the second level. The first is IT's job; the third is yours as a business owner: define the KPI before the model exists (Session 1).</a:t>
            </a:r>
            <a:endParaRPr lang="en-US" sz="1150" dirty="0"/>
          </a:p>
        </p:txBody>
      </p:sp>
      <p:sp>
        <p:nvSpPr>
          <p:cNvPr id="28" name="Text 21"/>
          <p:cNvSpPr txBox="1"/>
          <p:nvPr/>
        </p:nvSpPr>
        <p:spPr>
          <a:xfrm>
            <a:off x="365760" y="434340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Source: Treveil et al., Introducing MLOps (O'Reilly, 2020)</a:t>
            </a:r>
            <a:endParaRPr lang="en-US" sz="900" dirty="0"/>
          </a:p>
        </p:txBody>
      </p:sp>
      <p:pic>
        <p:nvPicPr>
          <p:cNvPr id="29"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5</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world moves: drift and decay</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Three ways a model gets worse, and why the truth arrives late</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Three different things hide behind "the model got worse"</a:t>
            </a:r>
            <a:endParaRPr lang="en-US" sz="2400" dirty="0"/>
          </a:p>
        </p:txBody>
      </p:sp>
      <p:sp>
        <p:nvSpPr>
          <p:cNvPr id="7" name="Shape 4"/>
          <p:cNvSpPr/>
          <p:nvPr/>
        </p:nvSpPr>
        <p:spPr>
          <a:xfrm>
            <a:off x="365760" y="1234440"/>
            <a:ext cx="8412480" cy="932688"/>
          </a:xfrm>
          <a:prstGeom prst="roundRect">
            <a:avLst>
              <a:gd name="adj" fmla="val 7843"/>
            </a:avLst>
          </a:prstGeom>
          <a:solidFill>
            <a:srgbClr val="F3F5F8"/>
          </a:solidFill>
          <a:ln w="12700">
            <a:solidFill>
              <a:srgbClr val="F3F5F8"/>
            </a:solidFill>
            <a:prstDash val="solid"/>
          </a:ln>
        </p:spPr>
        <p:txBody>
          <a:bodyPr/>
          <a:p/>
        </p:txBody>
      </p:sp>
      <p:sp>
        <p:nvSpPr>
          <p:cNvPr id="8" name="Shape 5"/>
          <p:cNvSpPr/>
          <p:nvPr/>
        </p:nvSpPr>
        <p:spPr>
          <a:xfrm>
            <a:off x="365760" y="1234440"/>
            <a:ext cx="1737360" cy="932688"/>
          </a:xfrm>
          <a:prstGeom prst="roundRect">
            <a:avLst>
              <a:gd name="adj" fmla="val 7843"/>
            </a:avLst>
          </a:prstGeom>
          <a:solidFill>
            <a:srgbClr val="0E7C86"/>
          </a:solidFill>
          <a:ln w="12700">
            <a:solidFill>
              <a:srgbClr val="0E7C86"/>
            </a:solidFill>
            <a:prstDash val="solid"/>
          </a:ln>
        </p:spPr>
        <p:txBody>
          <a:bodyPr/>
          <a:p/>
        </p:txBody>
      </p:sp>
      <p:sp>
        <p:nvSpPr>
          <p:cNvPr id="9" name="Text 6"/>
          <p:cNvSpPr txBox="1"/>
          <p:nvPr/>
        </p:nvSpPr>
        <p:spPr>
          <a:xfrm>
            <a:off x="457200" y="1280160"/>
            <a:ext cx="15544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drift</a:t>
            </a:r>
            <a:endParaRPr lang="en-US" sz="1300" dirty="0"/>
          </a:p>
        </p:txBody>
      </p:sp>
      <p:sp>
        <p:nvSpPr>
          <p:cNvPr id="10" name="Text 7"/>
          <p:cNvSpPr txBox="1"/>
          <p:nvPr/>
        </p:nvSpPr>
        <p:spPr>
          <a:xfrm>
            <a:off x="457200" y="1691640"/>
            <a:ext cx="1554480" cy="41148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The inputs changed.</a:t>
            </a:r>
            <a:endParaRPr lang="en-US" sz="1050" dirty="0"/>
          </a:p>
        </p:txBody>
      </p:sp>
      <p:sp>
        <p:nvSpPr>
          <p:cNvPr id="11" name="Text 8"/>
          <p:cNvSpPr txBox="1"/>
          <p:nvPr/>
        </p:nvSpPr>
        <p:spPr>
          <a:xfrm>
            <a:off x="2240280" y="1307592"/>
            <a:ext cx="3108960" cy="822960"/>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A new pricing plan: monthly charges moved up for many customers. The model sees numbers it rarely saw in training.</a:t>
            </a:r>
            <a:endParaRPr lang="en-US" sz="1000" dirty="0"/>
          </a:p>
        </p:txBody>
      </p:sp>
      <p:sp>
        <p:nvSpPr>
          <p:cNvPr id="12" name="Text 9"/>
          <p:cNvSpPr txBox="1"/>
          <p:nvPr/>
        </p:nvSpPr>
        <p:spPr>
          <a:xfrm>
            <a:off x="5486400" y="1307592"/>
            <a:ext cx="1554480" cy="822960"/>
          </a:xfrm>
          <a:prstGeom prst="rect">
            <a:avLst/>
          </a:prstGeom>
          <a:noFill/>
          <a:ln/>
        </p:spPr>
        <p:txBody>
          <a:bodyPr wrap="square" lIns="0" tIns="0" rIns="0" bIns="0" rtlCol="0" anchor="t"/>
          <a:lstStyle/>
          <a:p>
            <a:pPr indent="0" marL="0">
              <a:buNone/>
            </a:pPr>
            <a:r>
              <a:rPr lang="en-US" sz="1000" b="1" dirty="0">
                <a:solidFill>
                  <a:srgbClr val="222222"/>
                </a:solidFill>
                <a:latin typeface="Calibri" pitchFamily="34" charset="0"/>
                <a:ea typeface="Calibri" pitchFamily="34" charset="-122"/>
                <a:cs typeface="Calibri" pitchFamily="34" charset="-120"/>
              </a:rPr>
              <a:t>Seen by: </a:t>
            </a:r>
            <a:pPr indent="0" marL="0">
              <a:buNone/>
            </a:pPr>
            <a:r>
              <a:rPr lang="en-US" sz="1000" dirty="0">
                <a:solidFill>
                  <a:srgbClr val="222222"/>
                </a:solidFill>
                <a:latin typeface="Calibri" pitchFamily="34" charset="0"/>
                <a:ea typeface="Calibri" pitchFamily="34" charset="-122"/>
                <a:cs typeface="Calibri" pitchFamily="34" charset="-120"/>
              </a:rPr>
              <a:t>Detectable without labels, by comparing distributions.</a:t>
            </a:r>
            <a:endParaRPr lang="en-US" sz="1000" dirty="0"/>
          </a:p>
        </p:txBody>
      </p:sp>
      <p:sp>
        <p:nvSpPr>
          <p:cNvPr id="13" name="Text 10"/>
          <p:cNvSpPr txBox="1"/>
          <p:nvPr/>
        </p:nvSpPr>
        <p:spPr>
          <a:xfrm>
            <a:off x="7132320" y="1307592"/>
            <a:ext cx="1554480" cy="822960"/>
          </a:xfrm>
          <a:prstGeom prst="rect">
            <a:avLst/>
          </a:prstGeom>
          <a:noFill/>
          <a:ln/>
        </p:spPr>
        <p:txBody>
          <a:bodyPr wrap="square" lIns="0" tIns="0" rIns="0" bIns="0" rtlCol="0" anchor="t"/>
          <a:lstStyle/>
          <a:p>
            <a:pPr indent="0" marL="0">
              <a:buNone/>
            </a:pPr>
            <a:r>
              <a:rPr lang="en-US" sz="1000" b="1" dirty="0">
                <a:solidFill>
                  <a:srgbClr val="0E7C86"/>
                </a:solidFill>
                <a:latin typeface="Calibri" pitchFamily="34" charset="0"/>
                <a:ea typeface="Calibri" pitchFamily="34" charset="-122"/>
                <a:cs typeface="Calibri" pitchFamily="34" charset="-120"/>
              </a:rPr>
              <a:t>Response: </a:t>
            </a:r>
            <a:pPr indent="0" marL="0">
              <a:buNone/>
            </a:pPr>
            <a:r>
              <a:rPr lang="en-US" sz="1000" dirty="0">
                <a:solidFill>
                  <a:srgbClr val="0E7C86"/>
                </a:solidFill>
                <a:latin typeface="Calibri" pitchFamily="34" charset="0"/>
                <a:ea typeface="Calibri" pitchFamily="34" charset="-122"/>
                <a:cs typeface="Calibri" pitchFamily="34" charset="-120"/>
              </a:rPr>
              <a:t>Check the data; re-scale or retrain on recent data.</a:t>
            </a:r>
            <a:endParaRPr lang="en-US" sz="1000" dirty="0"/>
          </a:p>
        </p:txBody>
      </p:sp>
      <p:sp>
        <p:nvSpPr>
          <p:cNvPr id="14" name="Shape 11"/>
          <p:cNvSpPr/>
          <p:nvPr/>
        </p:nvSpPr>
        <p:spPr>
          <a:xfrm>
            <a:off x="365760" y="2258568"/>
            <a:ext cx="8412480" cy="932688"/>
          </a:xfrm>
          <a:prstGeom prst="roundRect">
            <a:avLst>
              <a:gd name="adj" fmla="val 7843"/>
            </a:avLst>
          </a:prstGeom>
          <a:solidFill>
            <a:srgbClr val="F3F5F8"/>
          </a:solidFill>
          <a:ln w="12700">
            <a:solidFill>
              <a:srgbClr val="F3F5F8"/>
            </a:solidFill>
            <a:prstDash val="solid"/>
          </a:ln>
        </p:spPr>
        <p:txBody>
          <a:bodyPr/>
          <a:p/>
        </p:txBody>
      </p:sp>
      <p:sp>
        <p:nvSpPr>
          <p:cNvPr id="15" name="Shape 12"/>
          <p:cNvSpPr/>
          <p:nvPr/>
        </p:nvSpPr>
        <p:spPr>
          <a:xfrm>
            <a:off x="365760" y="2258568"/>
            <a:ext cx="1737360" cy="932688"/>
          </a:xfrm>
          <a:prstGeom prst="roundRect">
            <a:avLst>
              <a:gd name="adj" fmla="val 7843"/>
            </a:avLst>
          </a:prstGeom>
          <a:solidFill>
            <a:srgbClr val="E07A2F"/>
          </a:solidFill>
          <a:ln w="12700">
            <a:solidFill>
              <a:srgbClr val="E07A2F"/>
            </a:solidFill>
            <a:prstDash val="solid"/>
          </a:ln>
        </p:spPr>
        <p:txBody>
          <a:bodyPr/>
          <a:p/>
        </p:txBody>
      </p:sp>
      <p:sp>
        <p:nvSpPr>
          <p:cNvPr id="16" name="Text 13"/>
          <p:cNvSpPr txBox="1"/>
          <p:nvPr/>
        </p:nvSpPr>
        <p:spPr>
          <a:xfrm>
            <a:off x="457200" y="2304288"/>
            <a:ext cx="15544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Concept drift</a:t>
            </a:r>
            <a:endParaRPr lang="en-US" sz="1300" dirty="0"/>
          </a:p>
        </p:txBody>
      </p:sp>
      <p:sp>
        <p:nvSpPr>
          <p:cNvPr id="17" name="Text 14"/>
          <p:cNvSpPr txBox="1"/>
          <p:nvPr/>
        </p:nvSpPr>
        <p:spPr>
          <a:xfrm>
            <a:off x="457200" y="2715768"/>
            <a:ext cx="1554480" cy="41148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The relationship changed.</a:t>
            </a:r>
            <a:endParaRPr lang="en-US" sz="1050" dirty="0"/>
          </a:p>
        </p:txBody>
      </p:sp>
      <p:sp>
        <p:nvSpPr>
          <p:cNvPr id="18" name="Text 15"/>
          <p:cNvSpPr txBox="1"/>
          <p:nvPr/>
        </p:nvSpPr>
        <p:spPr>
          <a:xfrm>
            <a:off x="2240280" y="2331720"/>
            <a:ext cx="3108960" cy="822960"/>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A competitor launched fibre in the North: long-tenure customers who never churned now do. Same inputs, different behaviour.</a:t>
            </a:r>
            <a:endParaRPr lang="en-US" sz="1000" dirty="0"/>
          </a:p>
        </p:txBody>
      </p:sp>
      <p:sp>
        <p:nvSpPr>
          <p:cNvPr id="19" name="Text 16"/>
          <p:cNvSpPr txBox="1"/>
          <p:nvPr/>
        </p:nvSpPr>
        <p:spPr>
          <a:xfrm>
            <a:off x="5486400" y="2331720"/>
            <a:ext cx="1554480" cy="822960"/>
          </a:xfrm>
          <a:prstGeom prst="rect">
            <a:avLst/>
          </a:prstGeom>
          <a:noFill/>
          <a:ln/>
        </p:spPr>
        <p:txBody>
          <a:bodyPr wrap="square" lIns="0" tIns="0" rIns="0" bIns="0" rtlCol="0" anchor="t"/>
          <a:lstStyle/>
          <a:p>
            <a:pPr indent="0" marL="0">
              <a:buNone/>
            </a:pPr>
            <a:r>
              <a:rPr lang="en-US" sz="1000" b="1" dirty="0">
                <a:solidFill>
                  <a:srgbClr val="222222"/>
                </a:solidFill>
                <a:latin typeface="Calibri" pitchFamily="34" charset="0"/>
                <a:ea typeface="Calibri" pitchFamily="34" charset="-122"/>
                <a:cs typeface="Calibri" pitchFamily="34" charset="-120"/>
              </a:rPr>
              <a:t>Seen by: </a:t>
            </a:r>
            <a:pPr indent="0" marL="0">
              <a:buNone/>
            </a:pPr>
            <a:r>
              <a:rPr lang="en-US" sz="1000" dirty="0">
                <a:solidFill>
                  <a:srgbClr val="222222"/>
                </a:solidFill>
                <a:latin typeface="Calibri" pitchFamily="34" charset="0"/>
                <a:ea typeface="Calibri" pitchFamily="34" charset="-122"/>
                <a:cs typeface="Calibri" pitchFamily="34" charset="-120"/>
              </a:rPr>
              <a:t>Invisible in the inputs; needs the labels.</a:t>
            </a:r>
            <a:endParaRPr lang="en-US" sz="1000" dirty="0"/>
          </a:p>
        </p:txBody>
      </p:sp>
      <p:sp>
        <p:nvSpPr>
          <p:cNvPr id="20" name="Text 17"/>
          <p:cNvSpPr txBox="1"/>
          <p:nvPr/>
        </p:nvSpPr>
        <p:spPr>
          <a:xfrm>
            <a:off x="7132320" y="2331720"/>
            <a:ext cx="1554480" cy="822960"/>
          </a:xfrm>
          <a:prstGeom prst="rect">
            <a:avLst/>
          </a:prstGeom>
          <a:noFill/>
          <a:ln/>
        </p:spPr>
        <p:txBody>
          <a:bodyPr wrap="square" lIns="0" tIns="0" rIns="0" bIns="0" rtlCol="0" anchor="t"/>
          <a:lstStyle/>
          <a:p>
            <a:pPr indent="0" marL="0">
              <a:buNone/>
            </a:pPr>
            <a:r>
              <a:rPr lang="en-US" sz="1000" b="1" dirty="0">
                <a:solidFill>
                  <a:srgbClr val="0E7C86"/>
                </a:solidFill>
                <a:latin typeface="Calibri" pitchFamily="34" charset="0"/>
                <a:ea typeface="Calibri" pitchFamily="34" charset="-122"/>
                <a:cs typeface="Calibri" pitchFamily="34" charset="-120"/>
              </a:rPr>
              <a:t>Response: </a:t>
            </a:r>
            <a:pPr indent="0" marL="0">
              <a:buNone/>
            </a:pPr>
            <a:r>
              <a:rPr lang="en-US" sz="1000" dirty="0">
                <a:solidFill>
                  <a:srgbClr val="0E7C86"/>
                </a:solidFill>
                <a:latin typeface="Calibri" pitchFamily="34" charset="0"/>
                <a:ea typeface="Calibri" pitchFamily="34" charset="-122"/>
                <a:cs typeface="Calibri" pitchFamily="34" charset="-120"/>
              </a:rPr>
              <a:t>Retrain with new labels; sometimes new features (region mattered zero in June).</a:t>
            </a:r>
            <a:endParaRPr lang="en-US" sz="1000" dirty="0"/>
          </a:p>
        </p:txBody>
      </p:sp>
      <p:sp>
        <p:nvSpPr>
          <p:cNvPr id="21" name="Shape 18"/>
          <p:cNvSpPr/>
          <p:nvPr/>
        </p:nvSpPr>
        <p:spPr>
          <a:xfrm>
            <a:off x="365760" y="3282696"/>
            <a:ext cx="8412480" cy="932688"/>
          </a:xfrm>
          <a:prstGeom prst="roundRect">
            <a:avLst>
              <a:gd name="adj" fmla="val 7843"/>
            </a:avLst>
          </a:prstGeom>
          <a:solidFill>
            <a:srgbClr val="F3F5F8"/>
          </a:solidFill>
          <a:ln w="12700">
            <a:solidFill>
              <a:srgbClr val="F3F5F8"/>
            </a:solidFill>
            <a:prstDash val="solid"/>
          </a:ln>
        </p:spPr>
        <p:txBody>
          <a:bodyPr/>
          <a:p/>
        </p:txBody>
      </p:sp>
      <p:sp>
        <p:nvSpPr>
          <p:cNvPr id="22" name="Shape 19"/>
          <p:cNvSpPr/>
          <p:nvPr/>
        </p:nvSpPr>
        <p:spPr>
          <a:xfrm>
            <a:off x="365760" y="3282696"/>
            <a:ext cx="1737360" cy="932688"/>
          </a:xfrm>
          <a:prstGeom prst="roundRect">
            <a:avLst>
              <a:gd name="adj" fmla="val 7843"/>
            </a:avLst>
          </a:prstGeom>
          <a:solidFill>
            <a:srgbClr val="B42318"/>
          </a:solidFill>
          <a:ln w="12700">
            <a:solidFill>
              <a:srgbClr val="B42318"/>
            </a:solidFill>
            <a:prstDash val="solid"/>
          </a:ln>
        </p:spPr>
        <p:txBody>
          <a:bodyPr/>
          <a:p/>
        </p:txBody>
      </p:sp>
      <p:sp>
        <p:nvSpPr>
          <p:cNvPr id="23" name="Text 20"/>
          <p:cNvSpPr txBox="1"/>
          <p:nvPr/>
        </p:nvSpPr>
        <p:spPr>
          <a:xfrm>
            <a:off x="457200" y="3328416"/>
            <a:ext cx="15544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Performance decay</a:t>
            </a:r>
            <a:endParaRPr lang="en-US" sz="1300" dirty="0"/>
          </a:p>
        </p:txBody>
      </p:sp>
      <p:sp>
        <p:nvSpPr>
          <p:cNvPr id="24" name="Text 21"/>
          <p:cNvSpPr txBox="1"/>
          <p:nvPr/>
        </p:nvSpPr>
        <p:spPr>
          <a:xfrm>
            <a:off x="457200" y="3739896"/>
            <a:ext cx="1554480" cy="411480"/>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The result got worse.</a:t>
            </a:r>
            <a:endParaRPr lang="en-US" sz="1050" dirty="0"/>
          </a:p>
        </p:txBody>
      </p:sp>
      <p:sp>
        <p:nvSpPr>
          <p:cNvPr id="25" name="Text 22"/>
          <p:cNvSpPr txBox="1"/>
          <p:nvPr/>
        </p:nvSpPr>
        <p:spPr>
          <a:xfrm>
            <a:off x="2240280" y="3355848"/>
            <a:ext cx="3108960" cy="822960"/>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Accuracy from 82% to 80% overall; to 65% in one segment. Or the business KPI: saved customers per campaign fell.</a:t>
            </a:r>
            <a:endParaRPr lang="en-US" sz="1000" dirty="0"/>
          </a:p>
        </p:txBody>
      </p:sp>
      <p:sp>
        <p:nvSpPr>
          <p:cNvPr id="26" name="Text 23"/>
          <p:cNvSpPr txBox="1"/>
          <p:nvPr/>
        </p:nvSpPr>
        <p:spPr>
          <a:xfrm>
            <a:off x="5486400" y="3355848"/>
            <a:ext cx="1554480" cy="822960"/>
          </a:xfrm>
          <a:prstGeom prst="rect">
            <a:avLst/>
          </a:prstGeom>
          <a:noFill/>
          <a:ln/>
        </p:spPr>
        <p:txBody>
          <a:bodyPr wrap="square" lIns="0" tIns="0" rIns="0" bIns="0" rtlCol="0" anchor="t"/>
          <a:lstStyle/>
          <a:p>
            <a:pPr indent="0" marL="0">
              <a:buNone/>
            </a:pPr>
            <a:r>
              <a:rPr lang="en-US" sz="1000" b="1" dirty="0">
                <a:solidFill>
                  <a:srgbClr val="222222"/>
                </a:solidFill>
                <a:latin typeface="Calibri" pitchFamily="34" charset="0"/>
                <a:ea typeface="Calibri" pitchFamily="34" charset="-122"/>
                <a:cs typeface="Calibri" pitchFamily="34" charset="-120"/>
              </a:rPr>
              <a:t>Seen by: </a:t>
            </a:r>
            <a:pPr indent="0" marL="0">
              <a:buNone/>
            </a:pPr>
            <a:r>
              <a:rPr lang="en-US" sz="1000" dirty="0">
                <a:solidFill>
                  <a:srgbClr val="222222"/>
                </a:solidFill>
                <a:latin typeface="Calibri" pitchFamily="34" charset="0"/>
                <a:ea typeface="Calibri" pitchFamily="34" charset="-122"/>
                <a:cs typeface="Calibri" pitchFamily="34" charset="-120"/>
              </a:rPr>
              <a:t>Measured against labels, late; or against the business KPI.</a:t>
            </a:r>
            <a:endParaRPr lang="en-US" sz="1000" dirty="0"/>
          </a:p>
        </p:txBody>
      </p:sp>
      <p:sp>
        <p:nvSpPr>
          <p:cNvPr id="27" name="Text 24"/>
          <p:cNvSpPr txBox="1"/>
          <p:nvPr/>
        </p:nvSpPr>
        <p:spPr>
          <a:xfrm>
            <a:off x="7132320" y="3355848"/>
            <a:ext cx="1554480" cy="822960"/>
          </a:xfrm>
          <a:prstGeom prst="rect">
            <a:avLst/>
          </a:prstGeom>
          <a:noFill/>
          <a:ln/>
        </p:spPr>
        <p:txBody>
          <a:bodyPr wrap="square" lIns="0" tIns="0" rIns="0" bIns="0" rtlCol="0" anchor="t"/>
          <a:lstStyle/>
          <a:p>
            <a:pPr indent="0" marL="0">
              <a:buNone/>
            </a:pPr>
            <a:r>
              <a:rPr lang="en-US" sz="1000" b="1" dirty="0">
                <a:solidFill>
                  <a:srgbClr val="0E7C86"/>
                </a:solidFill>
                <a:latin typeface="Calibri" pitchFamily="34" charset="0"/>
                <a:ea typeface="Calibri" pitchFamily="34" charset="-122"/>
                <a:cs typeface="Calibri" pitchFamily="34" charset="-120"/>
              </a:rPr>
              <a:t>Response: </a:t>
            </a:r>
            <a:pPr indent="0" marL="0">
              <a:buNone/>
            </a:pPr>
            <a:r>
              <a:rPr lang="en-US" sz="1000" dirty="0">
                <a:solidFill>
                  <a:srgbClr val="0E7C86"/>
                </a:solidFill>
                <a:latin typeface="Calibri" pitchFamily="34" charset="0"/>
                <a:ea typeface="Calibri" pitchFamily="34" charset="-122"/>
                <a:cs typeface="Calibri" pitchFamily="34" charset="-120"/>
              </a:rPr>
              <a:t>The symptom: find which of the two causes, then act.</a:t>
            </a:r>
            <a:endParaRPr lang="en-US" sz="1000" dirty="0"/>
          </a:p>
        </p:txBody>
      </p:sp>
      <p:sp>
        <p:nvSpPr>
          <p:cNvPr id="28" name="Shape 25"/>
          <p:cNvSpPr/>
          <p:nvPr/>
        </p:nvSpPr>
        <p:spPr>
          <a:xfrm>
            <a:off x="365760" y="4343400"/>
            <a:ext cx="8412480" cy="365760"/>
          </a:xfrm>
          <a:prstGeom prst="roundRect">
            <a:avLst>
              <a:gd name="adj" fmla="val 20000"/>
            </a:avLst>
          </a:prstGeom>
          <a:solidFill>
            <a:srgbClr val="E3F1F2"/>
          </a:solidFill>
          <a:ln w="12700">
            <a:solidFill>
              <a:srgbClr val="E3F1F2"/>
            </a:solidFill>
            <a:prstDash val="solid"/>
          </a:ln>
        </p:spPr>
        <p:txBody>
          <a:bodyPr/>
          <a:p/>
        </p:txBody>
      </p:sp>
      <p:pic>
        <p:nvPicPr>
          <p:cNvPr id="29" name="Image 0" descr="preencoded.png">    </p:cNvPr>
          <p:cNvPicPr>
            <a:picLocks noChangeAspect="1"/>
          </p:cNvPicPr>
          <p:nvPr/>
        </p:nvPicPr>
        <p:blipFill>
          <a:blip r:embed="rId1"/>
          <a:stretch>
            <a:fillRect/>
          </a:stretch>
        </p:blipFill>
        <p:spPr>
          <a:xfrm>
            <a:off x="502920" y="4389120"/>
            <a:ext cx="274320" cy="274320"/>
          </a:xfrm>
          <a:prstGeom prst="rect">
            <a:avLst/>
          </a:prstGeom>
        </p:spPr>
      </p:pic>
      <p:sp>
        <p:nvSpPr>
          <p:cNvPr id="30" name="Text 26"/>
          <p:cNvSpPr txBox="1"/>
          <p:nvPr/>
        </p:nvSpPr>
        <p:spPr>
          <a:xfrm>
            <a:off x="896112" y="4343400"/>
            <a:ext cx="7772400" cy="36576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Forum 4, Q2 is this slide: an example of each, and why the operational response differs.</a:t>
            </a:r>
            <a:endParaRPr lang="en-US" sz="1100" dirty="0"/>
          </a:p>
        </p:txBody>
      </p:sp>
      <p:pic>
        <p:nvPicPr>
          <p:cNvPr id="31"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Two ways to know: wait for the truth, or watch the inputs</a:t>
            </a:r>
            <a:endParaRPr lang="en-US" sz="2400" dirty="0"/>
          </a:p>
        </p:txBody>
      </p:sp>
      <p:sp>
        <p:nvSpPr>
          <p:cNvPr id="7" name="Shape 4"/>
          <p:cNvSpPr/>
          <p:nvPr/>
        </p:nvSpPr>
        <p:spPr>
          <a:xfrm>
            <a:off x="365760" y="1234440"/>
            <a:ext cx="4114800" cy="2194560"/>
          </a:xfrm>
          <a:prstGeom prst="roundRect">
            <a:avLst>
              <a:gd name="adj" fmla="val 3333"/>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Ground truth: wait for the answer</a:t>
            </a:r>
            <a:endParaRPr lang="en-US" sz="1300" dirty="0"/>
          </a:p>
        </p:txBody>
      </p:sp>
      <p:sp>
        <p:nvSpPr>
          <p:cNvPr id="11" name="Text 7"/>
          <p:cNvSpPr txBox="1"/>
          <p:nvPr/>
        </p:nvSpPr>
        <p:spPr>
          <a:xfrm>
            <a:off x="50292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correct answer to the model's question: did they churn? was it fraud?</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Arrives in seconds (a click), in weeks (a chargeback), or never (a rejected loan)</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When it arrives: compute the metric, compare with training, retrain if the gap exceeds a threshold</a:t>
            </a:r>
            <a:endParaRPr lang="en-US" sz="1100" dirty="0"/>
          </a:p>
        </p:txBody>
      </p:sp>
      <p:sp>
        <p:nvSpPr>
          <p:cNvPr id="12" name="Shape 8"/>
          <p:cNvSpPr/>
          <p:nvPr/>
        </p:nvSpPr>
        <p:spPr>
          <a:xfrm>
            <a:off x="4663440" y="1234440"/>
            <a:ext cx="4114800" cy="2194560"/>
          </a:xfrm>
          <a:prstGeom prst="roundRect">
            <a:avLst>
              <a:gd name="adj" fmla="val 3333"/>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Input drift: watch what comes in</a:t>
            </a:r>
            <a:endParaRPr lang="en-US" sz="1300" dirty="0"/>
          </a:p>
        </p:txBody>
      </p:sp>
      <p:sp>
        <p:nvSpPr>
          <p:cNvPr id="16" name="Text 11"/>
          <p:cNvSpPr txBox="1"/>
          <p:nvPr/>
        </p:nvSpPr>
        <p:spPr>
          <a:xfrm>
            <a:off x="480060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 model predicts well only if today's data resembles the training data</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Compare recent requests with the training set: if they differ, performance is probably compromised</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All the data already exists: no waiting, no labels needed</a:t>
            </a:r>
            <a:endParaRPr lang="en-US" sz="1100" dirty="0"/>
          </a:p>
        </p:txBody>
      </p:sp>
      <p:sp>
        <p:nvSpPr>
          <p:cNvPr id="17" name="Shape 12"/>
          <p:cNvSpPr/>
          <p:nvPr/>
        </p:nvSpPr>
        <p:spPr>
          <a:xfrm>
            <a:off x="365760" y="3611880"/>
            <a:ext cx="8412480" cy="640080"/>
          </a:xfrm>
          <a:prstGeom prst="roundRect">
            <a:avLst>
              <a:gd name="adj" fmla="val 11429"/>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794760"/>
            <a:ext cx="274320" cy="274320"/>
          </a:xfrm>
          <a:prstGeom prst="rect">
            <a:avLst/>
          </a:prstGeom>
        </p:spPr>
      </p:pic>
      <p:sp>
        <p:nvSpPr>
          <p:cNvPr id="19" name="Text 13"/>
          <p:cNvSpPr txBox="1"/>
          <p:nvPr/>
        </p:nvSpPr>
        <p:spPr>
          <a:xfrm>
            <a:off x="896112" y="3611880"/>
            <a:ext cx="7772400" cy="64008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How often to retrain? Depends on the domain (trading: daily; mortgage risk: yearly), the cost (a week of pipeline for 1%?) and the labels available. Not if, but when.</a:t>
            </a:r>
            <a:endParaRPr lang="en-US" sz="1150" dirty="0"/>
          </a:p>
        </p:txBody>
      </p:sp>
      <p:sp>
        <p:nvSpPr>
          <p:cNvPr id="20" name="Text 14"/>
          <p:cNvSpPr txBox="1"/>
          <p:nvPr/>
        </p:nvSpPr>
        <p:spPr>
          <a:xfrm>
            <a:off x="365760" y="434340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Source: Treveil et al., Introducing MLOps (O'Reilly, 2020)</a:t>
            </a:r>
            <a:endParaRPr lang="en-US" sz="900" dirty="0"/>
          </a:p>
        </p:txBody>
      </p:sp>
      <p:pic>
        <p:nvPicPr>
          <p:cNvPr id="21"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Why the truth is hard to use: late, decoupled, partial</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Late</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Months for some models. If the model degrades faster than the lag, the loss happens before you can know. Long lags need input-drift monitoring and early proxies.</a:t>
            </a:r>
            <a:endParaRPr lang="en-US" sz="1200" dirty="0"/>
          </a:p>
        </p:txBody>
      </p:sp>
      <p:sp>
        <p:nvSpPr>
          <p:cNvPr id="11" name="Shape 8"/>
          <p:cNvSpPr/>
          <p:nvPr/>
        </p:nvSpPr>
        <p:spPr>
          <a:xfrm>
            <a:off x="365760" y="2286000"/>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286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19456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Decoupled</a:t>
            </a:r>
            <a:endParaRPr lang="en-US" sz="1600" dirty="0"/>
          </a:p>
        </p:txBody>
      </p:sp>
      <p:sp>
        <p:nvSpPr>
          <p:cNvPr id="14" name="Text 11"/>
          <p:cNvSpPr txBox="1"/>
          <p:nvPr/>
        </p:nvSpPr>
        <p:spPr>
          <a:xfrm>
            <a:off x="1188720" y="260604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prediction lives in one system, the outcome in another, with different timestamps. Matching them customer by customer is engineering work, and someone must have kept the predictions.</a:t>
            </a:r>
            <a:endParaRPr lang="en-US" sz="1200" dirty="0"/>
          </a:p>
        </p:txBody>
      </p:sp>
      <p:sp>
        <p:nvSpPr>
          <p:cNvPr id="15" name="Shape 12"/>
          <p:cNvSpPr/>
          <p:nvPr/>
        </p:nvSpPr>
        <p:spPr>
          <a:xfrm>
            <a:off x="365760" y="3246120"/>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365760" y="32461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15468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Partial</a:t>
            </a:r>
            <a:endParaRPr lang="en-US" sz="1600" dirty="0"/>
          </a:p>
        </p:txBody>
      </p:sp>
      <p:sp>
        <p:nvSpPr>
          <p:cNvPr id="18" name="Text 15"/>
          <p:cNvSpPr txBox="1"/>
          <p:nvPr/>
        </p:nvSpPr>
        <p:spPr>
          <a:xfrm>
            <a:off x="1188720" y="356616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Labelling everything is too expensive, so you label a sample. Choosing the sample introduces bias: you learn the truth only about the customers the campaign called.</a:t>
            </a:r>
            <a:endParaRPr lang="en-US" sz="1200" dirty="0"/>
          </a:p>
        </p:txBody>
      </p:sp>
      <p:sp>
        <p:nvSpPr>
          <p:cNvPr id="19" name="Shape 16"/>
          <p:cNvSpPr/>
          <p:nvPr/>
        </p:nvSpPr>
        <p:spPr>
          <a:xfrm>
            <a:off x="365760" y="416052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20" name="Image 0" descr="preencoded.png">    </p:cNvPr>
          <p:cNvPicPr>
            <a:picLocks noChangeAspect="1"/>
          </p:cNvPicPr>
          <p:nvPr/>
        </p:nvPicPr>
        <p:blipFill>
          <a:blip r:embed="rId1"/>
          <a:stretch>
            <a:fillRect/>
          </a:stretch>
        </p:blipFill>
        <p:spPr>
          <a:xfrm>
            <a:off x="502920" y="4274820"/>
            <a:ext cx="274320" cy="274320"/>
          </a:xfrm>
          <a:prstGeom prst="rect">
            <a:avLst/>
          </a:prstGeom>
        </p:spPr>
      </p:pic>
      <p:sp>
        <p:nvSpPr>
          <p:cNvPr id="21" name="Text 17"/>
          <p:cNvSpPr txBox="1"/>
          <p:nvPr/>
        </p:nvSpPr>
        <p:spPr>
          <a:xfrm>
            <a:off x="896112" y="4160520"/>
            <a:ext cx="7772400" cy="5029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Design the monitoring before deployment: which predictions to store, where the outcomes come from, how they are matched, who samples what. Nobody does this after the fact.</a:t>
            </a:r>
            <a:endParaRPr lang="en-US" sz="1100" dirty="0"/>
          </a:p>
        </p:txBody>
      </p:sp>
      <p:pic>
        <p:nvPicPr>
          <p:cNvPr id="22"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9</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Detecting it, and deciding what to do</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Causes, tests in plain words, the monitoring plan, and the loop that closes</a:t>
            </a:r>
            <a:endParaRPr lang="en-US" sz="1600" dirty="0"/>
          </a:p>
        </p:txBody>
      </p:sp>
      <p:sp>
        <p:nvSpPr>
          <p:cNvPr id="7" name="Shape 5"/>
          <p:cNvSpPr/>
          <p:nvPr/>
        </p:nvSpPr>
        <p:spPr>
          <a:xfrm>
            <a:off x="548640"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Where drift comes from: a biased sample, or a world that moved</a:t>
            </a:r>
            <a:endParaRPr lang="en-US" sz="2400" dirty="0"/>
          </a:p>
        </p:txBody>
      </p:sp>
      <p:sp>
        <p:nvSpPr>
          <p:cNvPr id="7" name="Shape 4"/>
          <p:cNvSpPr/>
          <p:nvPr/>
        </p:nvSpPr>
        <p:spPr>
          <a:xfrm>
            <a:off x="36576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Sample selection bias: wrong at birth</a:t>
            </a:r>
            <a:endParaRPr lang="en-US" sz="1300" dirty="0"/>
          </a:p>
        </p:txBody>
      </p:sp>
      <p:sp>
        <p:nvSpPr>
          <p:cNvPr id="11" name="Text 7"/>
          <p:cNvSpPr txBox="1"/>
          <p:nvPr/>
        </p:nvSpPr>
        <p:spPr>
          <a:xfrm>
            <a:off x="50292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training sample never represented the population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Often the collection pipeline itself: a discount model trained on the customers who got the best discounts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Hard to fix: the problematic features are often unknown or unavailable</a:t>
            </a:r>
            <a:endParaRPr lang="en-US" sz="1150" dirty="0"/>
          </a:p>
        </p:txBody>
      </p:sp>
      <p:sp>
        <p:nvSpPr>
          <p:cNvPr id="12" name="Shape 8"/>
          <p:cNvSpPr/>
          <p:nvPr/>
        </p:nvSpPr>
        <p:spPr>
          <a:xfrm>
            <a:off x="466344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Non-stationary environment: the world moved</a:t>
            </a:r>
            <a:endParaRPr lang="en-US" sz="1300" dirty="0"/>
          </a:p>
        </p:txBody>
      </p:sp>
      <p:sp>
        <p:nvSpPr>
          <p:cNvPr id="16" name="Text 11"/>
          <p:cNvSpPr txBox="1"/>
          <p:nvPr/>
        </p:nvSpPr>
        <p:spPr>
          <a:xfrm>
            <a:off x="480060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Training data from a population the target no longer resembles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Time-dependent tasks with seasonality: a model learned in one month does not generalise to another</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normal case; expected, plan for it</a:t>
            </a:r>
            <a:endParaRPr lang="en-US" sz="1150" dirty="0"/>
          </a:p>
        </p:txBody>
      </p:sp>
      <p:sp>
        <p:nvSpPr>
          <p:cNvPr id="17" name="Shape 12"/>
          <p:cNvSpPr/>
          <p:nvPr/>
        </p:nvSpPr>
        <p:spPr>
          <a:xfrm>
            <a:off x="365760" y="379476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931920"/>
            <a:ext cx="274320" cy="274320"/>
          </a:xfrm>
          <a:prstGeom prst="rect">
            <a:avLst/>
          </a:prstGeom>
        </p:spPr>
      </p:pic>
      <p:sp>
        <p:nvSpPr>
          <p:cNvPr id="19" name="Text 13"/>
          <p:cNvSpPr txBox="1"/>
          <p:nvPr/>
        </p:nvSpPr>
        <p:spPr>
          <a:xfrm>
            <a:off x="896112" y="3794760"/>
            <a:ext cx="7772400" cy="54864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Both look the same in a drift report. The difference is in the fix: the first needs new data collection; the second needs retraining on a schedule.</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Detecting drift, in plain words: does today's data look like the training data?</a:t>
            </a:r>
            <a:endParaRPr lang="en-US" sz="2400" dirty="0"/>
          </a:p>
        </p:txBody>
      </p:sp>
      <p:sp>
        <p:nvSpPr>
          <p:cNvPr id="7" name="Shape 4"/>
          <p:cNvSpPr/>
          <p:nvPr/>
        </p:nvSpPr>
        <p:spPr>
          <a:xfrm>
            <a:off x="36576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One feature at a time</a:t>
            </a:r>
            <a:endParaRPr lang="en-US" sz="1300" dirty="0"/>
          </a:p>
        </p:txBody>
      </p:sp>
      <p:sp>
        <p:nvSpPr>
          <p:cNvPr id="11" name="Text 7"/>
          <p:cNvSpPr txBox="1"/>
          <p:nvPr/>
        </p:nvSpPr>
        <p:spPr>
          <a:xfrm>
            <a:off x="50292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Numeric: compare the two curves; get a distance and a p-value (Kolmogorov–Smirnov, Wasserstein)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Categorical: compare the frequencies (chi-squared, Jensen–Shannon)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Fast; but on big data it flags tiny, harmless changes: read the score, not only the yes/no</a:t>
            </a:r>
            <a:endParaRPr lang="en-US" sz="1150" dirty="0"/>
          </a:p>
        </p:txBody>
      </p:sp>
      <p:sp>
        <p:nvSpPr>
          <p:cNvPr id="12" name="Shape 8"/>
          <p:cNvSpPr/>
          <p:nvPr/>
        </p:nvSpPr>
        <p:spPr>
          <a:xfrm>
            <a:off x="466344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 model that tells the two apart</a:t>
            </a:r>
            <a:endParaRPr lang="en-US" sz="1300" dirty="0"/>
          </a:p>
        </p:txBody>
      </p:sp>
      <p:sp>
        <p:nvSpPr>
          <p:cNvPr id="16" name="Text 11"/>
          <p:cNvSpPr txBox="1"/>
          <p:nvPr/>
        </p:nvSpPr>
        <p:spPr>
          <a:xfrm>
            <a:off x="480060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Train a classifier: "is this row from training or from production?"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If it succeeds, the data has drifted; its accuracy is the drift score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Its feature importance tells you which features moved</a:t>
            </a:r>
            <a:endParaRPr lang="en-US" sz="1150" dirty="0"/>
          </a:p>
        </p:txBody>
      </p:sp>
      <p:sp>
        <p:nvSpPr>
          <p:cNvPr id="17" name="Shape 12"/>
          <p:cNvSpPr/>
          <p:nvPr/>
        </p:nvSpPr>
        <p:spPr>
          <a:xfrm>
            <a:off x="365760" y="379476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909060"/>
            <a:ext cx="274320" cy="274320"/>
          </a:xfrm>
          <a:prstGeom prst="rect">
            <a:avLst/>
          </a:prstGeom>
        </p:spPr>
      </p:pic>
      <p:sp>
        <p:nvSpPr>
          <p:cNvPr id="19" name="Text 13"/>
          <p:cNvSpPr txBox="1"/>
          <p:nvPr/>
        </p:nvSpPr>
        <p:spPr>
          <a:xfrm>
            <a:off x="896112" y="3794760"/>
            <a:ext cx="7772400" cy="50292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Formulas in the appendix, not in the exam. The demo in a few minutes shows the first family on the churn model.</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monitoring plan: one row per metric, and every row ends in an action</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2103120"/>
                <a:gridCol w="1554480"/>
                <a:gridCol w="2286000"/>
                <a:gridCol w="2468880"/>
              </a:tblGrid>
              <a:tr h="56692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detects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Threshold (number + window)</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Share of drifted input features (weekly)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Data drift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More than 30% of features drifted, two weeks running</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Alert the ML engineer; check the upstream extract; consider retraining on recent data</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Distribution of predicted churn risk (weekly)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Data or concept drift, early</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Mean predicted risk moves more than 5 points vs training</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Investigate before labels arrive; compare by segment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Accuracy on the monthly labelled sample, by segment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Performance decay (and hidden concept drift)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Below 0.75 overall, or below 0.70 in any segment with more than 200 customers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Retrain with the new labels; product owner approves the new version</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66928">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Scoring latency, 95th percentile; failed requests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System health</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Above 500 ms, or more than 0.5% failures, for 10 minutes</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Page IT on call; roll back if it followed a deployment</a:t>
                      </a:r>
                      <a:endParaRPr lang="en-US" sz="100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16052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274820"/>
            <a:ext cx="274320" cy="274320"/>
          </a:xfrm>
          <a:prstGeom prst="rect">
            <a:avLst/>
          </a:prstGeom>
        </p:spPr>
      </p:pic>
      <p:sp>
        <p:nvSpPr>
          <p:cNvPr id="10" name="Text 5"/>
          <p:cNvSpPr txBox="1"/>
          <p:nvPr/>
        </p:nvSpPr>
        <p:spPr>
          <a:xfrm>
            <a:off x="896112" y="4160520"/>
            <a:ext cx="7772400" cy="50292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 metric without a threshold is a chart. A threshold without an action is an alarm nobody answers. Session 5's rollback trigger was one row of this table.</a:t>
            </a:r>
            <a:endParaRPr lang="en-US" sz="1100" dirty="0"/>
          </a:p>
        </p:txBody>
      </p:sp>
      <p:pic>
        <p:nvPicPr>
          <p:cNvPr id="14"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loop that closes: monitor → alert → retrain → validate → redeploy, with a human at the gate</a:t>
            </a:r>
            <a:endParaRPr lang="en-US" sz="2400" dirty="0"/>
          </a:p>
        </p:txBody>
      </p:sp>
      <p:sp>
        <p:nvSpPr>
          <p:cNvPr id="7" name="Shape 4"/>
          <p:cNvSpPr/>
          <p:nvPr/>
        </p:nvSpPr>
        <p:spPr>
          <a:xfrm>
            <a:off x="365760" y="1325880"/>
            <a:ext cx="1447800" cy="685800"/>
          </a:xfrm>
          <a:prstGeom prst="chevron">
            <a:avLst/>
          </a:prstGeom>
          <a:solidFill>
            <a:srgbClr val="0E7C86"/>
          </a:solidFill>
          <a:ln w="12700">
            <a:solidFill>
              <a:srgbClr val="FFFFFF"/>
            </a:solidFill>
            <a:prstDash val="solid"/>
          </a:ln>
        </p:spPr>
        <p:txBody>
          <a:bodyPr/>
          <a:p/>
        </p:txBody>
      </p:sp>
      <p:sp>
        <p:nvSpPr>
          <p:cNvPr id="8" name="Text 5"/>
          <p:cNvSpPr txBox="1"/>
          <p:nvPr/>
        </p:nvSpPr>
        <p:spPr>
          <a:xfrm>
            <a:off x="502920" y="1325880"/>
            <a:ext cx="121920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Monitor</a:t>
            </a:r>
            <a:endParaRPr lang="en-US" sz="1100" dirty="0"/>
          </a:p>
        </p:txBody>
      </p:sp>
      <p:sp>
        <p:nvSpPr>
          <p:cNvPr id="9" name="Shape 6"/>
          <p:cNvSpPr/>
          <p:nvPr/>
        </p:nvSpPr>
        <p:spPr>
          <a:xfrm>
            <a:off x="1767840" y="1325880"/>
            <a:ext cx="1447800" cy="685800"/>
          </a:xfrm>
          <a:prstGeom prst="chevron">
            <a:avLst/>
          </a:prstGeom>
          <a:solidFill>
            <a:srgbClr val="E07A2F"/>
          </a:solidFill>
          <a:ln w="12700">
            <a:solidFill>
              <a:srgbClr val="FFFFFF"/>
            </a:solidFill>
            <a:prstDash val="solid"/>
          </a:ln>
        </p:spPr>
        <p:txBody>
          <a:bodyPr/>
          <a:p/>
        </p:txBody>
      </p:sp>
      <p:sp>
        <p:nvSpPr>
          <p:cNvPr id="10" name="Text 7"/>
          <p:cNvSpPr txBox="1"/>
          <p:nvPr/>
        </p:nvSpPr>
        <p:spPr>
          <a:xfrm>
            <a:off x="1905000" y="1325880"/>
            <a:ext cx="121920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Alert</a:t>
            </a:r>
            <a:endParaRPr lang="en-US" sz="1100" dirty="0"/>
          </a:p>
        </p:txBody>
      </p:sp>
      <p:sp>
        <p:nvSpPr>
          <p:cNvPr id="11" name="Shape 8"/>
          <p:cNvSpPr/>
          <p:nvPr/>
        </p:nvSpPr>
        <p:spPr>
          <a:xfrm>
            <a:off x="3169920" y="1325880"/>
            <a:ext cx="1447800" cy="685800"/>
          </a:xfrm>
          <a:prstGeom prst="chevron">
            <a:avLst/>
          </a:prstGeom>
          <a:solidFill>
            <a:srgbClr val="1B2A4A"/>
          </a:solidFill>
          <a:ln w="12700">
            <a:solidFill>
              <a:srgbClr val="FFFFFF"/>
            </a:solidFill>
            <a:prstDash val="solid"/>
          </a:ln>
        </p:spPr>
        <p:txBody>
          <a:bodyPr/>
          <a:p/>
        </p:txBody>
      </p:sp>
      <p:sp>
        <p:nvSpPr>
          <p:cNvPr id="12" name="Text 9"/>
          <p:cNvSpPr txBox="1"/>
          <p:nvPr/>
        </p:nvSpPr>
        <p:spPr>
          <a:xfrm>
            <a:off x="3307080" y="1325880"/>
            <a:ext cx="121920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Retrain</a:t>
            </a:r>
            <a:endParaRPr lang="en-US" sz="1100" dirty="0"/>
          </a:p>
        </p:txBody>
      </p:sp>
      <p:sp>
        <p:nvSpPr>
          <p:cNvPr id="13" name="Shape 10"/>
          <p:cNvSpPr/>
          <p:nvPr/>
        </p:nvSpPr>
        <p:spPr>
          <a:xfrm>
            <a:off x="4572000" y="1325880"/>
            <a:ext cx="1447800" cy="685800"/>
          </a:xfrm>
          <a:prstGeom prst="chevron">
            <a:avLst/>
          </a:prstGeom>
          <a:solidFill>
            <a:srgbClr val="1B2A4A"/>
          </a:solidFill>
          <a:ln w="12700">
            <a:solidFill>
              <a:srgbClr val="FFFFFF"/>
            </a:solidFill>
            <a:prstDash val="solid"/>
          </a:ln>
        </p:spPr>
        <p:txBody>
          <a:bodyPr/>
          <a:p/>
        </p:txBody>
      </p:sp>
      <p:sp>
        <p:nvSpPr>
          <p:cNvPr id="14" name="Text 11"/>
          <p:cNvSpPr txBox="1"/>
          <p:nvPr/>
        </p:nvSpPr>
        <p:spPr>
          <a:xfrm>
            <a:off x="4709160" y="1325880"/>
            <a:ext cx="121920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Validate</a:t>
            </a:r>
            <a:endParaRPr lang="en-US" sz="1100" dirty="0"/>
          </a:p>
        </p:txBody>
      </p:sp>
      <p:sp>
        <p:nvSpPr>
          <p:cNvPr id="15" name="Shape 12"/>
          <p:cNvSpPr/>
          <p:nvPr/>
        </p:nvSpPr>
        <p:spPr>
          <a:xfrm>
            <a:off x="5974080" y="1325880"/>
            <a:ext cx="1447800" cy="685800"/>
          </a:xfrm>
          <a:prstGeom prst="chevron">
            <a:avLst/>
          </a:prstGeom>
          <a:solidFill>
            <a:srgbClr val="B42318"/>
          </a:solidFill>
          <a:ln w="12700">
            <a:solidFill>
              <a:srgbClr val="FFFFFF"/>
            </a:solidFill>
            <a:prstDash val="solid"/>
          </a:ln>
        </p:spPr>
        <p:txBody>
          <a:bodyPr/>
          <a:p/>
        </p:txBody>
      </p:sp>
      <p:sp>
        <p:nvSpPr>
          <p:cNvPr id="16" name="Text 13"/>
          <p:cNvSpPr txBox="1"/>
          <p:nvPr/>
        </p:nvSpPr>
        <p:spPr>
          <a:xfrm>
            <a:off x="6111240" y="1325880"/>
            <a:ext cx="121920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Approve</a:t>
            </a:r>
            <a:endParaRPr lang="en-US" sz="1100" dirty="0"/>
          </a:p>
        </p:txBody>
      </p:sp>
      <p:sp>
        <p:nvSpPr>
          <p:cNvPr id="17" name="Shape 14"/>
          <p:cNvSpPr/>
          <p:nvPr/>
        </p:nvSpPr>
        <p:spPr>
          <a:xfrm>
            <a:off x="7376160" y="1325880"/>
            <a:ext cx="1447800" cy="685800"/>
          </a:xfrm>
          <a:prstGeom prst="chevron">
            <a:avLst/>
          </a:prstGeom>
          <a:solidFill>
            <a:srgbClr val="0E7C86"/>
          </a:solidFill>
          <a:ln w="12700">
            <a:solidFill>
              <a:srgbClr val="FFFFFF"/>
            </a:solidFill>
            <a:prstDash val="solid"/>
          </a:ln>
        </p:spPr>
        <p:txBody>
          <a:bodyPr/>
          <a:p/>
        </p:txBody>
      </p:sp>
      <p:sp>
        <p:nvSpPr>
          <p:cNvPr id="18" name="Text 15"/>
          <p:cNvSpPr txBox="1"/>
          <p:nvPr/>
        </p:nvSpPr>
        <p:spPr>
          <a:xfrm>
            <a:off x="7513320" y="1325880"/>
            <a:ext cx="121920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Redeploy</a:t>
            </a:r>
            <a:endParaRPr lang="en-US" sz="1100" dirty="0"/>
          </a:p>
        </p:txBody>
      </p:sp>
      <p:sp>
        <p:nvSpPr>
          <p:cNvPr id="19" name="Shape 16"/>
          <p:cNvSpPr/>
          <p:nvPr/>
        </p:nvSpPr>
        <p:spPr>
          <a:xfrm flipH="1">
            <a:off x="822960" y="2240280"/>
            <a:ext cx="7498080" cy="0"/>
          </a:xfrm>
          <a:prstGeom prst="line">
            <a:avLst/>
          </a:prstGeom>
          <a:noFill/>
          <a:ln w="19050">
            <a:solidFill>
              <a:srgbClr val="0E7C86"/>
            </a:solidFill>
            <a:prstDash val="solid"/>
            <a:tailEnd type="triangle"/>
          </a:ln>
        </p:spPr>
        <p:txBody>
          <a:bodyPr/>
          <a:p/>
        </p:txBody>
      </p:sp>
      <p:sp>
        <p:nvSpPr>
          <p:cNvPr id="20" name="Text 17"/>
          <p:cNvSpPr txBox="1"/>
          <p:nvPr/>
        </p:nvSpPr>
        <p:spPr>
          <a:xfrm>
            <a:off x="822960" y="2286000"/>
            <a:ext cx="3657600" cy="274320"/>
          </a:xfrm>
          <a:prstGeom prst="rect">
            <a:avLst/>
          </a:prstGeom>
          <a:noFill/>
          <a:ln/>
        </p:spPr>
        <p:txBody>
          <a:bodyPr wrap="square" lIns="0" tIns="0" rIns="0" bIns="0" rtlCol="0" anchor="t"/>
          <a:lstStyle/>
          <a:p>
            <a:pPr algn="l" indent="0" marL="0">
              <a:buNone/>
            </a:pPr>
            <a:r>
              <a:rPr lang="en-US" sz="1000" i="1" dirty="0">
                <a:solidFill>
                  <a:srgbClr val="0E7C86"/>
                </a:solidFill>
                <a:latin typeface="Calibri" pitchFamily="34" charset="0"/>
                <a:ea typeface="Calibri" pitchFamily="34" charset="-122"/>
                <a:cs typeface="Calibri" pitchFamily="34" charset="-120"/>
              </a:rPr>
              <a:t>…and the loop starts again</a:t>
            </a:r>
            <a:endParaRPr lang="en-US" sz="1000" dirty="0"/>
          </a:p>
        </p:txBody>
      </p:sp>
      <p:sp>
        <p:nvSpPr>
          <p:cNvPr id="21" name="Text 18"/>
          <p:cNvSpPr txBox="1"/>
          <p:nvPr/>
        </p:nvSpPr>
        <p:spPr>
          <a:xfrm>
            <a:off x="411480" y="2560320"/>
            <a:ext cx="1264920" cy="54864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Metrics from the plan</a:t>
            </a:r>
            <a:endParaRPr lang="en-US" sz="950" dirty="0"/>
          </a:p>
        </p:txBody>
      </p:sp>
      <p:sp>
        <p:nvSpPr>
          <p:cNvPr id="22" name="Text 19"/>
          <p:cNvSpPr txBox="1"/>
          <p:nvPr/>
        </p:nvSpPr>
        <p:spPr>
          <a:xfrm>
            <a:off x="1813560" y="2560320"/>
            <a:ext cx="1264920" cy="54864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A threshold crossed</a:t>
            </a:r>
            <a:endParaRPr lang="en-US" sz="950" dirty="0"/>
          </a:p>
        </p:txBody>
      </p:sp>
      <p:sp>
        <p:nvSpPr>
          <p:cNvPr id="23" name="Text 20"/>
          <p:cNvSpPr txBox="1"/>
          <p:nvPr/>
        </p:nvSpPr>
        <p:spPr>
          <a:xfrm>
            <a:off x="3215640" y="2560320"/>
            <a:ext cx="1264920" cy="54864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On recent data, with new labels (S5: CT)</a:t>
            </a:r>
            <a:endParaRPr lang="en-US" sz="950" dirty="0"/>
          </a:p>
        </p:txBody>
      </p:sp>
      <p:sp>
        <p:nvSpPr>
          <p:cNvPr id="24" name="Text 21"/>
          <p:cNvSpPr txBox="1"/>
          <p:nvPr/>
        </p:nvSpPr>
        <p:spPr>
          <a:xfrm>
            <a:off x="4617720" y="2560320"/>
            <a:ext cx="1264920" cy="54864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Model tests: not worse, fair by segment</a:t>
            </a:r>
            <a:endParaRPr lang="en-US" sz="950" dirty="0"/>
          </a:p>
        </p:txBody>
      </p:sp>
      <p:sp>
        <p:nvSpPr>
          <p:cNvPr id="25" name="Text 22"/>
          <p:cNvSpPr txBox="1"/>
          <p:nvPr/>
        </p:nvSpPr>
        <p:spPr>
          <a:xfrm>
            <a:off x="6019800" y="2560320"/>
            <a:ext cx="1264920" cy="54864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A person signs the gate (S3)</a:t>
            </a:r>
            <a:endParaRPr lang="en-US" sz="950" dirty="0"/>
          </a:p>
        </p:txBody>
      </p:sp>
      <p:sp>
        <p:nvSpPr>
          <p:cNvPr id="26" name="Text 23"/>
          <p:cNvSpPr txBox="1"/>
          <p:nvPr/>
        </p:nvSpPr>
        <p:spPr>
          <a:xfrm>
            <a:off x="7421880" y="2560320"/>
            <a:ext cx="1264920" cy="548640"/>
          </a:xfrm>
          <a:prstGeom prst="rect">
            <a:avLst/>
          </a:prstGeom>
          <a:noFill/>
          <a:ln/>
        </p:spPr>
        <p:txBody>
          <a:bodyPr wrap="square" lIns="0" tIns="0" rIns="0" bIns="0" rtlCol="0" anchor="t"/>
          <a:lstStyle/>
          <a:p>
            <a:pPr algn="l" indent="0" marL="0">
              <a:buNone/>
            </a:pPr>
            <a:r>
              <a:rPr lang="en-US" sz="950" dirty="0">
                <a:solidFill>
                  <a:srgbClr val="222222"/>
                </a:solidFill>
                <a:latin typeface="Calibri" pitchFamily="34" charset="0"/>
                <a:ea typeface="Calibri" pitchFamily="34" charset="-122"/>
                <a:cs typeface="Calibri" pitchFamily="34" charset="-120"/>
              </a:rPr>
              <a:t>Shadow, canary, A/B (S5)</a:t>
            </a:r>
            <a:endParaRPr lang="en-US" sz="950" dirty="0"/>
          </a:p>
        </p:txBody>
      </p:sp>
      <p:sp>
        <p:nvSpPr>
          <p:cNvPr id="27" name="Shape 24"/>
          <p:cNvSpPr/>
          <p:nvPr/>
        </p:nvSpPr>
        <p:spPr>
          <a:xfrm>
            <a:off x="365760" y="3200400"/>
            <a:ext cx="2697480" cy="1371600"/>
          </a:xfrm>
          <a:prstGeom prst="roundRect">
            <a:avLst>
              <a:gd name="adj" fmla="val 5333"/>
            </a:avLst>
          </a:prstGeom>
          <a:solidFill>
            <a:srgbClr val="F3F5F8"/>
          </a:solidFill>
          <a:ln w="12700">
            <a:solidFill>
              <a:srgbClr val="F3F5F8"/>
            </a:solidFill>
            <a:prstDash val="solid"/>
          </a:ln>
        </p:spPr>
        <p:txBody>
          <a:bodyPr/>
          <a:p/>
        </p:txBody>
      </p:sp>
      <p:sp>
        <p:nvSpPr>
          <p:cNvPr id="28" name="Shape 25"/>
          <p:cNvSpPr/>
          <p:nvPr/>
        </p:nvSpPr>
        <p:spPr>
          <a:xfrm>
            <a:off x="502920" y="3319272"/>
            <a:ext cx="347472" cy="347472"/>
          </a:xfrm>
          <a:prstGeom prst="ellipse">
            <a:avLst/>
          </a:prstGeom>
          <a:solidFill>
            <a:srgbClr val="0E7C86"/>
          </a:solidFill>
          <a:ln w="12700">
            <a:solidFill>
              <a:srgbClr val="0E7C86"/>
            </a:solidFill>
            <a:prstDash val="solid"/>
          </a:ln>
        </p:spPr>
        <p:txBody>
          <a:bodyPr/>
          <a:p/>
        </p:txBody>
      </p:sp>
      <p:pic>
        <p:nvPicPr>
          <p:cNvPr id="29" name="Image 0" descr="preencoded.png">    </p:cNvPr>
          <p:cNvPicPr>
            <a:picLocks noChangeAspect="1"/>
          </p:cNvPicPr>
          <p:nvPr/>
        </p:nvPicPr>
        <p:blipFill>
          <a:blip r:embed="rId1"/>
          <a:stretch>
            <a:fillRect/>
          </a:stretch>
        </p:blipFill>
        <p:spPr>
          <a:xfrm>
            <a:off x="576072" y="3392424"/>
            <a:ext cx="201168" cy="201168"/>
          </a:xfrm>
          <a:prstGeom prst="rect">
            <a:avLst/>
          </a:prstGeom>
        </p:spPr>
      </p:pic>
      <p:sp>
        <p:nvSpPr>
          <p:cNvPr id="30" name="Text 26"/>
          <p:cNvSpPr txBox="1"/>
          <p:nvPr/>
        </p:nvSpPr>
        <p:spPr>
          <a:xfrm>
            <a:off x="932688" y="329184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Logging system</a:t>
            </a:r>
            <a:endParaRPr lang="en-US" sz="1300" dirty="0"/>
          </a:p>
        </p:txBody>
      </p:sp>
      <p:sp>
        <p:nvSpPr>
          <p:cNvPr id="31" name="Text 27"/>
          <p:cNvSpPr txBox="1"/>
          <p:nvPr/>
        </p:nvSpPr>
        <p:spPr>
          <a:xfrm>
            <a:off x="502920" y="3749040"/>
            <a:ext cx="2423160" cy="73152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Collects what happened in production: requests, predictions, later the outcomes.</a:t>
            </a:r>
            <a:endParaRPr lang="en-US" sz="1050" dirty="0"/>
          </a:p>
        </p:txBody>
      </p:sp>
      <p:sp>
        <p:nvSpPr>
          <p:cNvPr id="32" name="Shape 28"/>
          <p:cNvSpPr/>
          <p:nvPr/>
        </p:nvSpPr>
        <p:spPr>
          <a:xfrm>
            <a:off x="3218688" y="3200400"/>
            <a:ext cx="2697480" cy="1371600"/>
          </a:xfrm>
          <a:prstGeom prst="roundRect">
            <a:avLst>
              <a:gd name="adj" fmla="val 5333"/>
            </a:avLst>
          </a:prstGeom>
          <a:solidFill>
            <a:srgbClr val="F3F5F8"/>
          </a:solidFill>
          <a:ln w="12700">
            <a:solidFill>
              <a:srgbClr val="F3F5F8"/>
            </a:solidFill>
            <a:prstDash val="solid"/>
          </a:ln>
        </p:spPr>
        <p:txBody>
          <a:bodyPr/>
          <a:p/>
        </p:txBody>
      </p:sp>
      <p:sp>
        <p:nvSpPr>
          <p:cNvPr id="33" name="Shape 29"/>
          <p:cNvSpPr/>
          <p:nvPr/>
        </p:nvSpPr>
        <p:spPr>
          <a:xfrm>
            <a:off x="3355848" y="3319272"/>
            <a:ext cx="347472" cy="347472"/>
          </a:xfrm>
          <a:prstGeom prst="ellipse">
            <a:avLst/>
          </a:prstGeom>
          <a:solidFill>
            <a:srgbClr val="0E7C86"/>
          </a:solidFill>
          <a:ln w="12700">
            <a:solidFill>
              <a:srgbClr val="0E7C86"/>
            </a:solidFill>
            <a:prstDash val="solid"/>
          </a:ln>
        </p:spPr>
        <p:txBody>
          <a:bodyPr/>
          <a:p/>
        </p:txBody>
      </p:sp>
      <p:pic>
        <p:nvPicPr>
          <p:cNvPr id="34" name="Image 1" descr="preencoded.png">    </p:cNvPr>
          <p:cNvPicPr>
            <a:picLocks noChangeAspect="1"/>
          </p:cNvPicPr>
          <p:nvPr/>
        </p:nvPicPr>
        <p:blipFill>
          <a:blip r:embed="rId2"/>
          <a:stretch>
            <a:fillRect/>
          </a:stretch>
        </p:blipFill>
        <p:spPr>
          <a:xfrm>
            <a:off x="3429000" y="3392424"/>
            <a:ext cx="201168" cy="201168"/>
          </a:xfrm>
          <a:prstGeom prst="rect">
            <a:avLst/>
          </a:prstGeom>
        </p:spPr>
      </p:pic>
      <p:sp>
        <p:nvSpPr>
          <p:cNvPr id="35" name="Text 30"/>
          <p:cNvSpPr txBox="1"/>
          <p:nvPr/>
        </p:nvSpPr>
        <p:spPr>
          <a:xfrm>
            <a:off x="3785616" y="329184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Model evaluation store</a:t>
            </a:r>
            <a:endParaRPr lang="en-US" sz="1300" dirty="0"/>
          </a:p>
        </p:txBody>
      </p:sp>
      <p:sp>
        <p:nvSpPr>
          <p:cNvPr id="36" name="Text 31"/>
          <p:cNvSpPr txBox="1"/>
          <p:nvPr/>
        </p:nvSpPr>
        <p:spPr>
          <a:xfrm>
            <a:off x="3355848" y="3749040"/>
            <a:ext cx="2423160" cy="73152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Versions and compares model versions on the same data over time (S3: the registry).</a:t>
            </a:r>
            <a:endParaRPr lang="en-US" sz="1050" dirty="0"/>
          </a:p>
        </p:txBody>
      </p:sp>
      <p:sp>
        <p:nvSpPr>
          <p:cNvPr id="37" name="Shape 32"/>
          <p:cNvSpPr/>
          <p:nvPr/>
        </p:nvSpPr>
        <p:spPr>
          <a:xfrm>
            <a:off x="6080760" y="3200400"/>
            <a:ext cx="2697480" cy="1371600"/>
          </a:xfrm>
          <a:prstGeom prst="roundRect">
            <a:avLst>
              <a:gd name="adj" fmla="val 5333"/>
            </a:avLst>
          </a:prstGeom>
          <a:solidFill>
            <a:srgbClr val="F3F5F8"/>
          </a:solidFill>
          <a:ln w="12700">
            <a:solidFill>
              <a:srgbClr val="F3F5F8"/>
            </a:solidFill>
            <a:prstDash val="solid"/>
          </a:ln>
        </p:spPr>
        <p:txBody>
          <a:bodyPr/>
          <a:p/>
        </p:txBody>
      </p:sp>
      <p:sp>
        <p:nvSpPr>
          <p:cNvPr id="38" name="Shape 33"/>
          <p:cNvSpPr/>
          <p:nvPr/>
        </p:nvSpPr>
        <p:spPr>
          <a:xfrm>
            <a:off x="6217920" y="3319272"/>
            <a:ext cx="347472" cy="347472"/>
          </a:xfrm>
          <a:prstGeom prst="ellipse">
            <a:avLst/>
          </a:prstGeom>
          <a:solidFill>
            <a:srgbClr val="0E7C86"/>
          </a:solidFill>
          <a:ln w="12700">
            <a:solidFill>
              <a:srgbClr val="0E7C86"/>
            </a:solidFill>
            <a:prstDash val="solid"/>
          </a:ln>
        </p:spPr>
        <p:txBody>
          <a:bodyPr/>
          <a:p/>
        </p:txBody>
      </p:sp>
      <p:pic>
        <p:nvPicPr>
          <p:cNvPr id="39" name="Image 2" descr="preencoded.png">    </p:cNvPr>
          <p:cNvPicPr>
            <a:picLocks noChangeAspect="1"/>
          </p:cNvPicPr>
          <p:nvPr/>
        </p:nvPicPr>
        <p:blipFill>
          <a:blip r:embed="rId3"/>
          <a:stretch>
            <a:fillRect/>
          </a:stretch>
        </p:blipFill>
        <p:spPr>
          <a:xfrm>
            <a:off x="6291072" y="3392424"/>
            <a:ext cx="201168" cy="201168"/>
          </a:xfrm>
          <a:prstGeom prst="rect">
            <a:avLst/>
          </a:prstGeom>
        </p:spPr>
      </p:pic>
      <p:sp>
        <p:nvSpPr>
          <p:cNvPr id="40" name="Text 34"/>
          <p:cNvSpPr txBox="1"/>
          <p:nvPr/>
        </p:nvSpPr>
        <p:spPr>
          <a:xfrm>
            <a:off x="6647688" y="329184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Comparison in production</a:t>
            </a:r>
            <a:endParaRPr lang="en-US" sz="1300" dirty="0"/>
          </a:p>
        </p:txBody>
      </p:sp>
      <p:sp>
        <p:nvSpPr>
          <p:cNvPr id="41" name="Text 35"/>
          <p:cNvSpPr txBox="1"/>
          <p:nvPr/>
        </p:nvSpPr>
        <p:spPr>
          <a:xfrm>
            <a:off x="6217920" y="3749040"/>
            <a:ext cx="2423160" cy="73152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Champion/challenger in shadow, or an A/B test (S5).</a:t>
            </a:r>
            <a:endParaRPr lang="en-US" sz="1050" dirty="0"/>
          </a:p>
        </p:txBody>
      </p:sp>
      <p:pic>
        <p:nvPicPr>
          <p:cNvPr id="42"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a drift report looks like</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p/>
        </p:txBody>
      </p:sp>
      <p:pic>
        <p:nvPicPr>
          <p:cNvPr id="8" name="Image 0" descr="preencoded.png">    </p:cNvPr>
          <p:cNvPicPr>
            <a:picLocks noChangeAspect="1"/>
          </p:cNvPicPr>
          <p:nvPr/>
        </p:nvPicPr>
        <p:blipFill>
          <a:blip r:embed="rId1"/>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 drift report</a:t>
            </a:r>
            <a:endParaRPr lang="en-US" sz="1300" dirty="0"/>
          </a:p>
        </p:txBody>
      </p:sp>
      <p:sp>
        <p:nvSpPr>
          <p:cNvPr id="10" name="Text 6"/>
          <p:cNvSpPr txBox="1"/>
          <p:nvPr/>
        </p:nvSpPr>
        <p:spPr>
          <a:xfrm>
            <a:off x="914400" y="151790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June training data against October requests, feature by feature: which moved, how much, and a verdict.</a:t>
            </a:r>
            <a:endParaRPr lang="en-US" sz="1100" dirty="0"/>
          </a:p>
        </p:txBody>
      </p:sp>
      <p:sp>
        <p:nvSpPr>
          <p:cNvPr id="11" name="Shape 7"/>
          <p:cNvSpPr/>
          <p:nvPr/>
        </p:nvSpPr>
        <p:spPr>
          <a:xfrm>
            <a:off x="365760" y="2240280"/>
            <a:ext cx="420624" cy="420624"/>
          </a:xfrm>
          <a:prstGeom prst="ellipse">
            <a:avLst/>
          </a:prstGeom>
          <a:solidFill>
            <a:srgbClr val="E07A2F"/>
          </a:solidFill>
          <a:ln w="12700">
            <a:solidFill>
              <a:srgbClr val="E07A2F"/>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57200" y="2331720"/>
            <a:ext cx="237744" cy="237744"/>
          </a:xfrm>
          <a:prstGeom prst="rect">
            <a:avLst/>
          </a:prstGeom>
        </p:spPr>
      </p:pic>
      <p:sp>
        <p:nvSpPr>
          <p:cNvPr id="13" name="Text 8"/>
          <p:cNvSpPr txBox="1"/>
          <p:nvPr/>
        </p:nvSpPr>
        <p:spPr>
          <a:xfrm>
            <a:off x="914400" y="222199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What the report cannot see</a:t>
            </a:r>
            <a:endParaRPr lang="en-US" sz="1300" dirty="0"/>
          </a:p>
        </p:txBody>
      </p:sp>
      <p:sp>
        <p:nvSpPr>
          <p:cNvPr id="14" name="Text 9"/>
          <p:cNvSpPr txBox="1"/>
          <p:nvPr/>
        </p:nvSpPr>
        <p:spPr>
          <a:xfrm>
            <a:off x="914400" y="247802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Accuracy by segment when the October labels arrive: a fall the drift report never showed.</a:t>
            </a:r>
            <a:endParaRPr lang="en-US" sz="1100" dirty="0"/>
          </a:p>
        </p:txBody>
      </p:sp>
      <p:sp>
        <p:nvSpPr>
          <p:cNvPr id="15" name="Shape 10"/>
          <p:cNvSpPr/>
          <p:nvPr/>
        </p:nvSpPr>
        <p:spPr>
          <a:xfrm>
            <a:off x="365760" y="3200400"/>
            <a:ext cx="420624" cy="420624"/>
          </a:xfrm>
          <a:prstGeom prst="ellipse">
            <a:avLst/>
          </a:prstGeom>
          <a:solidFill>
            <a:srgbClr val="0E7C86"/>
          </a:solidFill>
          <a:ln w="12700">
            <a:solidFill>
              <a:srgbClr val="0E7C86"/>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7200" y="3291840"/>
            <a:ext cx="237744" cy="237744"/>
          </a:xfrm>
          <a:prstGeom prst="rect">
            <a:avLst/>
          </a:prstGeom>
        </p:spPr>
      </p:pic>
      <p:sp>
        <p:nvSpPr>
          <p:cNvPr id="17" name="Text 11"/>
          <p:cNvSpPr txBox="1"/>
          <p:nvPr/>
        </p:nvSpPr>
        <p:spPr>
          <a:xfrm>
            <a:off x="914400" y="318211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One explanation</a:t>
            </a:r>
            <a:endParaRPr lang="en-US" sz="1300" dirty="0"/>
          </a:p>
        </p:txBody>
      </p:sp>
      <p:sp>
        <p:nvSpPr>
          <p:cNvPr id="18" name="Text 12"/>
          <p:cNvSpPr txBox="1"/>
          <p:nvPr/>
        </p:nvSpPr>
        <p:spPr>
          <a:xfrm>
            <a:off x="914400" y="3438144"/>
            <a:ext cx="3474720" cy="54864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Why one customer scores 70% churn risk: which features pushed the score up, which pulled it down.</a:t>
            </a:r>
            <a:endParaRPr lang="en-US" sz="1100" dirty="0"/>
          </a:p>
        </p:txBody>
      </p:sp>
      <p:sp>
        <p:nvSpPr>
          <p:cNvPr id="19" name="Shape 13"/>
          <p:cNvSpPr/>
          <p:nvPr/>
        </p:nvSpPr>
        <p:spPr>
          <a:xfrm>
            <a:off x="4754880" y="1234440"/>
            <a:ext cx="4023360" cy="3108960"/>
          </a:xfrm>
          <a:prstGeom prst="roundRect">
            <a:avLst>
              <a:gd name="adj" fmla="val 2353"/>
            </a:avLst>
          </a:prstGeom>
          <a:solidFill>
            <a:srgbClr val="1B2A4A"/>
          </a:solidFill>
          <a:ln w="12700">
            <a:solidFill>
              <a:srgbClr val="1B2A4A"/>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6309360" y="1463040"/>
            <a:ext cx="914400" cy="914400"/>
          </a:xfrm>
          <a:prstGeom prst="rect">
            <a:avLst/>
          </a:prstGeom>
        </p:spPr>
      </p:pic>
      <p:sp>
        <p:nvSpPr>
          <p:cNvPr id="21" name="Text 14"/>
          <p:cNvSpPr txBox="1"/>
          <p:nvPr/>
        </p:nvSpPr>
        <p:spPr>
          <a:xfrm>
            <a:off x="4937760" y="2468880"/>
            <a:ext cx="36576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Live demo · 8 minutes</a:t>
            </a:r>
            <a:endParaRPr lang="en-US" sz="1600" dirty="0"/>
          </a:p>
        </p:txBody>
      </p:sp>
      <p:sp>
        <p:nvSpPr>
          <p:cNvPr id="22" name="Text 15"/>
          <p:cNvSpPr txBox="1"/>
          <p:nvPr/>
        </p:nvSpPr>
        <p:spPr>
          <a:xfrm>
            <a:off x="5029200" y="2880360"/>
            <a:ext cx="3474720" cy="137160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Evidently drift report, a segment chart, a SHAP waterfall. Pre-rendered; browser only. Tools: Evidently, SHAP; the cloud platforms and IBM watsonx.governance do the same in dashboards.</a:t>
            </a:r>
            <a:endParaRPr lang="en-US" sz="1200" dirty="0"/>
          </a:p>
        </p:txBody>
      </p:sp>
      <p:pic>
        <p:nvPicPr>
          <p:cNvPr id="23"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you just saw</a:t>
            </a:r>
            <a:endParaRPr lang="en-US" sz="2400" dirty="0"/>
          </a:p>
        </p:txBody>
      </p:sp>
      <p:pic>
        <p:nvPicPr>
          <p:cNvPr id="7" name="Image 0" descr="/root/work/s7/demo/performance_by_segment.png">    </p:cNvPr>
          <p:cNvPicPr>
            <a:picLocks noChangeAspect="1"/>
          </p:cNvPicPr>
          <p:nvPr/>
        </p:nvPicPr>
        <p:blipFill>
          <a:blip r:embed="rId1"/>
          <a:stretch>
            <a:fillRect/>
          </a:stretch>
        </p:blipFill>
        <p:spPr>
          <a:xfrm>
            <a:off x="365760" y="1188720"/>
            <a:ext cx="5120640" cy="2615184"/>
          </a:xfrm>
          <a:prstGeom prst="rect">
            <a:avLst/>
          </a:prstGeom>
        </p:spPr>
      </p:pic>
      <p:sp>
        <p:nvSpPr>
          <p:cNvPr id="8" name="Shape 4"/>
          <p:cNvSpPr/>
          <p:nvPr/>
        </p:nvSpPr>
        <p:spPr>
          <a:xfrm>
            <a:off x="5669280" y="1188720"/>
            <a:ext cx="3108960" cy="1234440"/>
          </a:xfrm>
          <a:prstGeom prst="roundRect">
            <a:avLst>
              <a:gd name="adj" fmla="val 5926"/>
            </a:avLst>
          </a:prstGeom>
          <a:solidFill>
            <a:srgbClr val="F3F5F8"/>
          </a:solidFill>
          <a:ln w="12700">
            <a:solidFill>
              <a:srgbClr val="F3F5F8"/>
            </a:solidFill>
            <a:prstDash val="solid"/>
          </a:ln>
        </p:spPr>
        <p:txBody>
          <a:bodyPr/>
          <a:p/>
        </p:txBody>
      </p:sp>
      <p:sp>
        <p:nvSpPr>
          <p:cNvPr id="9" name="Shape 5"/>
          <p:cNvSpPr/>
          <p:nvPr/>
        </p:nvSpPr>
        <p:spPr>
          <a:xfrm>
            <a:off x="5806440" y="1307592"/>
            <a:ext cx="347472" cy="347472"/>
          </a:xfrm>
          <a:prstGeom prst="ellipse">
            <a:avLst/>
          </a:prstGeom>
          <a:solidFill>
            <a:srgbClr val="0E7C86"/>
          </a:solidFill>
          <a:ln w="12700">
            <a:solidFill>
              <a:srgbClr val="0E7C86"/>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5879592" y="1380744"/>
            <a:ext cx="201168" cy="201168"/>
          </a:xfrm>
          <a:prstGeom prst="rect">
            <a:avLst/>
          </a:prstGeom>
        </p:spPr>
      </p:pic>
      <p:sp>
        <p:nvSpPr>
          <p:cNvPr id="11" name="Text 6"/>
          <p:cNvSpPr txBox="1"/>
          <p:nvPr/>
        </p:nvSpPr>
        <p:spPr>
          <a:xfrm>
            <a:off x="6236208" y="1280160"/>
            <a:ext cx="242316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3 of 7 drifted, verdict "no drift"</a:t>
            </a:r>
            <a:endParaRPr lang="en-US" sz="1300" dirty="0"/>
          </a:p>
        </p:txBody>
      </p:sp>
      <p:sp>
        <p:nvSpPr>
          <p:cNvPr id="12" name="Text 7"/>
          <p:cNvSpPr txBox="1"/>
          <p:nvPr/>
        </p:nvSpPr>
        <p:spPr>
          <a:xfrm>
            <a:off x="5806440" y="1737360"/>
            <a:ext cx="2834640" cy="5943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The default rule needs half the features to move. Thresholds are decisions, not facts.</a:t>
            </a:r>
            <a:endParaRPr lang="en-US" sz="1050" dirty="0"/>
          </a:p>
        </p:txBody>
      </p:sp>
      <p:sp>
        <p:nvSpPr>
          <p:cNvPr id="13" name="Shape 8"/>
          <p:cNvSpPr/>
          <p:nvPr/>
        </p:nvSpPr>
        <p:spPr>
          <a:xfrm>
            <a:off x="5669280" y="2560320"/>
            <a:ext cx="3108960" cy="1234440"/>
          </a:xfrm>
          <a:prstGeom prst="roundRect">
            <a:avLst>
              <a:gd name="adj" fmla="val 5926"/>
            </a:avLst>
          </a:prstGeom>
          <a:solidFill>
            <a:srgbClr val="F3F5F8"/>
          </a:solidFill>
          <a:ln w="12700">
            <a:solidFill>
              <a:srgbClr val="F3F5F8"/>
            </a:solidFill>
            <a:prstDash val="solid"/>
          </a:ln>
        </p:spPr>
        <p:txBody>
          <a:bodyPr/>
          <a:p/>
        </p:txBody>
      </p:sp>
      <p:sp>
        <p:nvSpPr>
          <p:cNvPr id="14" name="Shape 9"/>
          <p:cNvSpPr/>
          <p:nvPr/>
        </p:nvSpPr>
        <p:spPr>
          <a:xfrm>
            <a:off x="5806440" y="2679192"/>
            <a:ext cx="347472" cy="347472"/>
          </a:xfrm>
          <a:prstGeom prst="ellipse">
            <a:avLst/>
          </a:prstGeom>
          <a:solidFill>
            <a:srgbClr val="E07A2F"/>
          </a:solidFill>
          <a:ln w="12700">
            <a:solidFill>
              <a:srgbClr val="E07A2F"/>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5879592" y="2752344"/>
            <a:ext cx="201168" cy="201168"/>
          </a:xfrm>
          <a:prstGeom prst="rect">
            <a:avLst/>
          </a:prstGeom>
        </p:spPr>
      </p:pic>
      <p:sp>
        <p:nvSpPr>
          <p:cNvPr id="16" name="Text 10"/>
          <p:cNvSpPr txBox="1"/>
          <p:nvPr/>
        </p:nvSpPr>
        <p:spPr>
          <a:xfrm>
            <a:off x="6236208" y="2651760"/>
            <a:ext cx="242316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Two points overall, seventeen in a segment</a:t>
            </a:r>
            <a:endParaRPr lang="en-US" sz="1300" dirty="0"/>
          </a:p>
        </p:txBody>
      </p:sp>
      <p:sp>
        <p:nvSpPr>
          <p:cNvPr id="17" name="Text 11"/>
          <p:cNvSpPr txBox="1"/>
          <p:nvPr/>
        </p:nvSpPr>
        <p:spPr>
          <a:xfrm>
            <a:off x="5806440" y="3108960"/>
            <a:ext cx="2834640" cy="5943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Tenure and region did not move; the behaviour did. Only labels, by segment, show it.</a:t>
            </a:r>
            <a:endParaRPr lang="en-US" sz="1050" dirty="0"/>
          </a:p>
        </p:txBody>
      </p:sp>
      <p:sp>
        <p:nvSpPr>
          <p:cNvPr id="18" name="Shape 12"/>
          <p:cNvSpPr/>
          <p:nvPr/>
        </p:nvSpPr>
        <p:spPr>
          <a:xfrm>
            <a:off x="365760" y="397764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502920" y="4114800"/>
            <a:ext cx="274320" cy="274320"/>
          </a:xfrm>
          <a:prstGeom prst="rect">
            <a:avLst/>
          </a:prstGeom>
        </p:spPr>
      </p:pic>
      <p:sp>
        <p:nvSpPr>
          <p:cNvPr id="20" name="Text 13"/>
          <p:cNvSpPr txBox="1"/>
          <p:nvPr/>
        </p:nvSpPr>
        <p:spPr>
          <a:xfrm>
            <a:off x="896112" y="3977640"/>
            <a:ext cx="7772400" cy="54864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The explanation gave region zero weight: in June region did not matter. Now it does. Concept drift, made visible by an explanation.</a:t>
            </a:r>
            <a:endParaRPr lang="en-US" sz="1150" dirty="0"/>
          </a:p>
        </p:txBody>
      </p:sp>
      <p:pic>
        <p:nvPicPr>
          <p:cNvPr id="21"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cost of a false alarm, and the cost of a missed one</a:t>
            </a:r>
            <a:endParaRPr lang="en-US" sz="2400" dirty="0"/>
          </a:p>
        </p:txBody>
      </p:sp>
      <p:sp>
        <p:nvSpPr>
          <p:cNvPr id="7" name="Shape 4"/>
          <p:cNvSpPr/>
          <p:nvPr/>
        </p:nvSpPr>
        <p:spPr>
          <a:xfrm>
            <a:off x="365760" y="123444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Too sensitive</a:t>
            </a:r>
            <a:endParaRPr lang="en-US" sz="1300" dirty="0"/>
          </a:p>
        </p:txBody>
      </p:sp>
      <p:sp>
        <p:nvSpPr>
          <p:cNvPr id="11" name="Text 7"/>
          <p:cNvSpPr txBox="1"/>
          <p:nvPr/>
        </p:nvSpPr>
        <p:spPr>
          <a:xfrm>
            <a:off x="50292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Alerts every week; each one costs two days of a data scientist and a review</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After the third false alarm nobody reads them: alert fatigue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monitor is switched off "temporarily"</a:t>
            </a:r>
            <a:endParaRPr lang="en-US" sz="1150" dirty="0"/>
          </a:p>
        </p:txBody>
      </p:sp>
      <p:sp>
        <p:nvSpPr>
          <p:cNvPr id="12" name="Shape 8"/>
          <p:cNvSpPr/>
          <p:nvPr/>
        </p:nvSpPr>
        <p:spPr>
          <a:xfrm>
            <a:off x="4663440" y="123444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B42318"/>
          </a:solidFill>
          <a:ln w="12700">
            <a:solidFill>
              <a:srgbClr val="B42318"/>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Too lax</a:t>
            </a:r>
            <a:endParaRPr lang="en-US" sz="1300" dirty="0"/>
          </a:p>
        </p:txBody>
      </p:sp>
      <p:sp>
        <p:nvSpPr>
          <p:cNvPr id="16" name="Text 11"/>
          <p:cNvSpPr txBox="1"/>
          <p:nvPr/>
        </p:nvSpPr>
        <p:spPr>
          <a:xfrm>
            <a:off x="480060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NorthRetail: four months, €2.1M</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threshold that never fires is a threshold nobody tested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dashboard is green; the business is not</a:t>
            </a:r>
            <a:endParaRPr lang="en-US" sz="1150" dirty="0"/>
          </a:p>
        </p:txBody>
      </p:sp>
      <p:sp>
        <p:nvSpPr>
          <p:cNvPr id="17" name="Shape 12"/>
          <p:cNvSpPr/>
          <p:nvPr/>
        </p:nvSpPr>
        <p:spPr>
          <a:xfrm>
            <a:off x="365760" y="3474720"/>
            <a:ext cx="8412480" cy="685800"/>
          </a:xfrm>
          <a:prstGeom prst="roundRect">
            <a:avLst>
              <a:gd name="adj" fmla="val 10667"/>
            </a:avLst>
          </a:prstGeom>
          <a:solidFill>
            <a:srgbClr val="FBE9DC"/>
          </a:solidFill>
          <a:ln w="12700">
            <a:solidFill>
              <a:srgbClr val="FBE9DC"/>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680460"/>
            <a:ext cx="274320" cy="274320"/>
          </a:xfrm>
          <a:prstGeom prst="rect">
            <a:avLst/>
          </a:prstGeom>
        </p:spPr>
      </p:pic>
      <p:sp>
        <p:nvSpPr>
          <p:cNvPr id="19" name="Text 13"/>
          <p:cNvSpPr txBox="1"/>
          <p:nvPr/>
        </p:nvSpPr>
        <p:spPr>
          <a:xfrm>
            <a:off x="896112" y="3474720"/>
            <a:ext cx="7772400" cy="68580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Chat poll (2 min): "If the drift monitor fires, the model should retrain and redeploy automatically, no human needed." AGREE or DISAGREE, one line why.</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17</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Explainability: an operational requirement, not an academic one</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Who asks for an explanation, what one looks like, and where it can mislead</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Four people ask "why did the model do that?", and only one of them is a data scientist</a:t>
            </a:r>
            <a:endParaRPr lang="en-US" sz="2400" dirty="0"/>
          </a:p>
        </p:txBody>
      </p:sp>
      <p:sp>
        <p:nvSpPr>
          <p:cNvPr id="7" name="Shape 4"/>
          <p:cNvSpPr/>
          <p:nvPr/>
        </p:nvSpPr>
        <p:spPr>
          <a:xfrm>
            <a:off x="365760" y="1280160"/>
            <a:ext cx="420624" cy="420624"/>
          </a:xfrm>
          <a:prstGeom prst="ellipse">
            <a:avLst/>
          </a:prstGeom>
          <a:solidFill>
            <a:srgbClr val="E07A2F"/>
          </a:solidFill>
          <a:ln w="12700">
            <a:solidFill>
              <a:srgbClr val="E07A2F"/>
            </a:solidFill>
            <a:prstDash val="solid"/>
          </a:ln>
        </p:spPr>
        <p:txBody>
          <a:bodyPr/>
          <a:p/>
        </p:txBody>
      </p:sp>
      <p:pic>
        <p:nvPicPr>
          <p:cNvPr id="8" name="Image 0" descr="preencoded.png">    </p:cNvPr>
          <p:cNvPicPr>
            <a:picLocks noChangeAspect="1"/>
          </p:cNvPicPr>
          <p:nvPr/>
        </p:nvPicPr>
        <p:blipFill>
          <a:blip r:embed="rId1"/>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customer</a:t>
            </a:r>
            <a:endParaRPr lang="en-US" sz="1300" dirty="0"/>
          </a:p>
        </p:txBody>
      </p:sp>
      <p:sp>
        <p:nvSpPr>
          <p:cNvPr id="10" name="Text 6"/>
          <p:cNvSpPr txBox="1"/>
          <p:nvPr/>
        </p:nvSpPr>
        <p:spPr>
          <a:xfrm>
            <a:off x="914400" y="1517904"/>
            <a:ext cx="3474720" cy="64008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"Why was I rejected?" A right, under GDPR, to meaningful information about the logic.</a:t>
            </a:r>
            <a:endParaRPr lang="en-US" sz="1100" dirty="0"/>
          </a:p>
        </p:txBody>
      </p:sp>
      <p:sp>
        <p:nvSpPr>
          <p:cNvPr id="11" name="Shape 7"/>
          <p:cNvSpPr/>
          <p:nvPr/>
        </p:nvSpPr>
        <p:spPr>
          <a:xfrm>
            <a:off x="4709160" y="1280160"/>
            <a:ext cx="420624" cy="420624"/>
          </a:xfrm>
          <a:prstGeom prst="ellipse">
            <a:avLst/>
          </a:prstGeom>
          <a:solidFill>
            <a:srgbClr val="E07A2F"/>
          </a:solidFill>
          <a:ln w="12700">
            <a:solidFill>
              <a:srgbClr val="E07A2F"/>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800600" y="1371600"/>
            <a:ext cx="237744" cy="237744"/>
          </a:xfrm>
          <a:prstGeom prst="rect">
            <a:avLst/>
          </a:prstGeom>
        </p:spPr>
      </p:pic>
      <p:sp>
        <p:nvSpPr>
          <p:cNvPr id="13" name="Text 8"/>
          <p:cNvSpPr txBox="1"/>
          <p:nvPr/>
        </p:nvSpPr>
        <p:spPr>
          <a:xfrm>
            <a:off x="5257800" y="12618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regulator</a:t>
            </a:r>
            <a:endParaRPr lang="en-US" sz="1300" dirty="0"/>
          </a:p>
        </p:txBody>
      </p:sp>
      <p:sp>
        <p:nvSpPr>
          <p:cNvPr id="14" name="Text 9"/>
          <p:cNvSpPr txBox="1"/>
          <p:nvPr/>
        </p:nvSpPr>
        <p:spPr>
          <a:xfrm>
            <a:off x="5257800" y="1517904"/>
            <a:ext cx="3474720" cy="64008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"Show me this decision is not discriminatory." Credit, hiring, insurance; the EU AI Act (Session 12).</a:t>
            </a:r>
            <a:endParaRPr lang="en-US" sz="1100" dirty="0"/>
          </a:p>
        </p:txBody>
      </p:sp>
      <p:sp>
        <p:nvSpPr>
          <p:cNvPr id="15" name="Shape 10"/>
          <p:cNvSpPr/>
          <p:nvPr/>
        </p:nvSpPr>
        <p:spPr>
          <a:xfrm>
            <a:off x="365760" y="2331720"/>
            <a:ext cx="420624" cy="420624"/>
          </a:xfrm>
          <a:prstGeom prst="ellipse">
            <a:avLst/>
          </a:prstGeom>
          <a:solidFill>
            <a:srgbClr val="E07A2F"/>
          </a:solidFill>
          <a:ln w="12700">
            <a:solidFill>
              <a:srgbClr val="E07A2F"/>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7200" y="2423160"/>
            <a:ext cx="237744" cy="237744"/>
          </a:xfrm>
          <a:prstGeom prst="rect">
            <a:avLst/>
          </a:prstGeom>
        </p:spPr>
      </p:pic>
      <p:sp>
        <p:nvSpPr>
          <p:cNvPr id="17" name="Text 11"/>
          <p:cNvSpPr txBox="1"/>
          <p:nvPr/>
        </p:nvSpPr>
        <p:spPr>
          <a:xfrm>
            <a:off x="914400" y="231343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business owner</a:t>
            </a:r>
            <a:endParaRPr lang="en-US" sz="1300" dirty="0"/>
          </a:p>
        </p:txBody>
      </p:sp>
      <p:sp>
        <p:nvSpPr>
          <p:cNvPr id="18" name="Text 12"/>
          <p:cNvSpPr txBox="1"/>
          <p:nvPr/>
        </p:nvSpPr>
        <p:spPr>
          <a:xfrm>
            <a:off x="914400" y="2569464"/>
            <a:ext cx="3474720" cy="64008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"Why did the campaign target these customers and not those?" Trust before budget.</a:t>
            </a:r>
            <a:endParaRPr lang="en-US" sz="1100" dirty="0"/>
          </a:p>
        </p:txBody>
      </p:sp>
      <p:sp>
        <p:nvSpPr>
          <p:cNvPr id="19" name="Shape 13"/>
          <p:cNvSpPr/>
          <p:nvPr/>
        </p:nvSpPr>
        <p:spPr>
          <a:xfrm>
            <a:off x="4709160" y="2331720"/>
            <a:ext cx="420624" cy="420624"/>
          </a:xfrm>
          <a:prstGeom prst="ellipse">
            <a:avLst/>
          </a:prstGeom>
          <a:solidFill>
            <a:srgbClr val="0E7C86"/>
          </a:solidFill>
          <a:ln w="12700">
            <a:solidFill>
              <a:srgbClr val="0E7C86"/>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4800600" y="2423160"/>
            <a:ext cx="237744" cy="237744"/>
          </a:xfrm>
          <a:prstGeom prst="rect">
            <a:avLst/>
          </a:prstGeom>
        </p:spPr>
      </p:pic>
      <p:sp>
        <p:nvSpPr>
          <p:cNvPr id="21" name="Text 14"/>
          <p:cNvSpPr txBox="1"/>
          <p:nvPr/>
        </p:nvSpPr>
        <p:spPr>
          <a:xfrm>
            <a:off x="5257800" y="231343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data scientist</a:t>
            </a:r>
            <a:endParaRPr lang="en-US" sz="1300" dirty="0"/>
          </a:p>
        </p:txBody>
      </p:sp>
      <p:sp>
        <p:nvSpPr>
          <p:cNvPr id="22" name="Text 15"/>
          <p:cNvSpPr txBox="1"/>
          <p:nvPr/>
        </p:nvSpPr>
        <p:spPr>
          <a:xfrm>
            <a:off x="5257800" y="2569464"/>
            <a:ext cx="3474720" cy="64008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"Why did the North segment collapse?" Debugging drift; the demo.</a:t>
            </a:r>
            <a:endParaRPr lang="en-US" sz="1100" dirty="0"/>
          </a:p>
        </p:txBody>
      </p:sp>
      <p:sp>
        <p:nvSpPr>
          <p:cNvPr id="23" name="Shape 16"/>
          <p:cNvSpPr/>
          <p:nvPr/>
        </p:nvSpPr>
        <p:spPr>
          <a:xfrm>
            <a:off x="365760" y="352044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502920" y="3657600"/>
            <a:ext cx="274320" cy="274320"/>
          </a:xfrm>
          <a:prstGeom prst="rect">
            <a:avLst/>
          </a:prstGeom>
        </p:spPr>
      </p:pic>
      <p:sp>
        <p:nvSpPr>
          <p:cNvPr id="25" name="Text 17"/>
          <p:cNvSpPr txBox="1"/>
          <p:nvPr/>
        </p:nvSpPr>
        <p:spPr>
          <a:xfrm>
            <a:off x="896112" y="3520440"/>
            <a:ext cx="7772400" cy="54864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Three of the four are not technical. An explanation nobody but its author understands is not an explanation. Purposes: trust, predict behaviour, improve.</a:t>
            </a:r>
            <a:endParaRPr lang="en-US" sz="1150" dirty="0"/>
          </a:p>
        </p:txBody>
      </p:sp>
      <p:sp>
        <p:nvSpPr>
          <p:cNvPr id="26" name="Text 18"/>
          <p:cNvSpPr txBox="1"/>
          <p:nvPr/>
        </p:nvSpPr>
        <p:spPr>
          <a:xfrm>
            <a:off x="365760" y="420624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Adapted from Ribeiro et al. (LIME, 2016) and Treveil et al. (2020)</a:t>
            </a:r>
            <a:endParaRPr lang="en-US" sz="900" dirty="0"/>
          </a:p>
        </p:txBody>
      </p:sp>
      <p:pic>
        <p:nvPicPr>
          <p:cNvPr id="27"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Four reasons interpretability is needed</a:t>
            </a:r>
            <a:endParaRPr lang="en-US" sz="2400" dirty="0"/>
          </a:p>
        </p:txBody>
      </p:sp>
      <p:sp>
        <p:nvSpPr>
          <p:cNvPr id="7" name="Shape 4"/>
          <p:cNvSpPr/>
          <p:nvPr/>
        </p:nvSpPr>
        <p:spPr>
          <a:xfrm>
            <a:off x="365760" y="1234440"/>
            <a:ext cx="4114800" cy="1463040"/>
          </a:xfrm>
          <a:prstGeom prst="roundRect">
            <a:avLst>
              <a:gd name="adj" fmla="val 5000"/>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1 · Identify and mitigate bias</a:t>
            </a:r>
            <a:endParaRPr lang="en-US" sz="1300" dirty="0"/>
          </a:p>
        </p:txBody>
      </p:sp>
      <p:sp>
        <p:nvSpPr>
          <p:cNvPr id="11" name="Text 7"/>
          <p:cNvSpPr txBox="1"/>
          <p:nvPr/>
        </p:nvSpPr>
        <p:spPr>
          <a:xfrm>
            <a:off x="502920" y="1783080"/>
            <a:ext cx="3840480" cy="82296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Bias hides in any dataset and often shows only when you look at how predictions relate to inputs.</a:t>
            </a:r>
            <a:endParaRPr lang="en-US" sz="1150" dirty="0"/>
          </a:p>
        </p:txBody>
      </p:sp>
      <p:sp>
        <p:nvSpPr>
          <p:cNvPr id="12" name="Shape 8"/>
          <p:cNvSpPr/>
          <p:nvPr/>
        </p:nvSpPr>
        <p:spPr>
          <a:xfrm>
            <a:off x="4663440" y="1234440"/>
            <a:ext cx="4114800" cy="1463040"/>
          </a:xfrm>
          <a:prstGeom prst="roundRect">
            <a:avLst>
              <a:gd name="adj" fmla="val 5000"/>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2 · Account for the context</a:t>
            </a:r>
            <a:endParaRPr lang="en-US" sz="1300" dirty="0"/>
          </a:p>
        </p:txBody>
      </p:sp>
      <p:sp>
        <p:nvSpPr>
          <p:cNvPr id="16" name="Text 11"/>
          <p:cNvSpPr txBox="1"/>
          <p:nvPr/>
        </p:nvSpPr>
        <p:spPr>
          <a:xfrm>
            <a:off x="4800600" y="1783080"/>
            <a:ext cx="3840480" cy="82296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The data is a rough picture of the problem. Knowing what the model does not include changes what you do with its output.</a:t>
            </a:r>
            <a:endParaRPr lang="en-US" sz="1150" dirty="0"/>
          </a:p>
        </p:txBody>
      </p:sp>
      <p:sp>
        <p:nvSpPr>
          <p:cNvPr id="17" name="Shape 12"/>
          <p:cNvSpPr/>
          <p:nvPr/>
        </p:nvSpPr>
        <p:spPr>
          <a:xfrm>
            <a:off x="365760" y="2834640"/>
            <a:ext cx="4114800" cy="1463040"/>
          </a:xfrm>
          <a:prstGeom prst="roundRect">
            <a:avLst>
              <a:gd name="adj" fmla="val 5000"/>
            </a:avLst>
          </a:prstGeom>
          <a:solidFill>
            <a:srgbClr val="F3F5F8"/>
          </a:solidFill>
          <a:ln w="12700">
            <a:solidFill>
              <a:srgbClr val="F3F5F8"/>
            </a:solidFill>
            <a:prstDash val="solid"/>
          </a:ln>
        </p:spPr>
        <p:txBody>
          <a:bodyPr/>
          <a:p/>
        </p:txBody>
      </p:sp>
      <p:sp>
        <p:nvSpPr>
          <p:cNvPr id="18" name="Shape 13"/>
          <p:cNvSpPr/>
          <p:nvPr/>
        </p:nvSpPr>
        <p:spPr>
          <a:xfrm>
            <a:off x="502920" y="2953512"/>
            <a:ext cx="347472" cy="347472"/>
          </a:xfrm>
          <a:prstGeom prst="ellipse">
            <a:avLst/>
          </a:prstGeom>
          <a:solidFill>
            <a:srgbClr val="0E7C86"/>
          </a:solidFill>
          <a:ln w="12700">
            <a:solidFill>
              <a:srgbClr val="0E7C86"/>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576072" y="3026664"/>
            <a:ext cx="201168" cy="201168"/>
          </a:xfrm>
          <a:prstGeom prst="rect">
            <a:avLst/>
          </a:prstGeom>
        </p:spPr>
      </p:pic>
      <p:sp>
        <p:nvSpPr>
          <p:cNvPr id="20" name="Text 14"/>
          <p:cNvSpPr txBox="1"/>
          <p:nvPr/>
        </p:nvSpPr>
        <p:spPr>
          <a:xfrm>
            <a:off x="932688" y="29260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3 · Generalise and perform better</a:t>
            </a:r>
            <a:endParaRPr lang="en-US" sz="1300" dirty="0"/>
          </a:p>
        </p:txBody>
      </p:sp>
      <p:sp>
        <p:nvSpPr>
          <p:cNvPr id="21" name="Text 15"/>
          <p:cNvSpPr txBox="1"/>
          <p:nvPr/>
        </p:nvSpPr>
        <p:spPr>
          <a:xfrm>
            <a:off x="502920" y="3383280"/>
            <a:ext cx="3840480" cy="82296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Understanding the model usually produces a model that holds up on new data. Not every detail; the shape of the reasoning.</a:t>
            </a:r>
            <a:endParaRPr lang="en-US" sz="1150" dirty="0"/>
          </a:p>
        </p:txBody>
      </p:sp>
      <p:sp>
        <p:nvSpPr>
          <p:cNvPr id="22" name="Shape 16"/>
          <p:cNvSpPr/>
          <p:nvPr/>
        </p:nvSpPr>
        <p:spPr>
          <a:xfrm>
            <a:off x="4663440" y="2834640"/>
            <a:ext cx="4114800" cy="1463040"/>
          </a:xfrm>
          <a:prstGeom prst="roundRect">
            <a:avLst>
              <a:gd name="adj" fmla="val 5000"/>
            </a:avLst>
          </a:prstGeom>
          <a:solidFill>
            <a:srgbClr val="F3F5F8"/>
          </a:solidFill>
          <a:ln w="12700">
            <a:solidFill>
              <a:srgbClr val="F3F5F8"/>
            </a:solidFill>
            <a:prstDash val="solid"/>
          </a:ln>
        </p:spPr>
        <p:txBody>
          <a:bodyPr/>
          <a:p/>
        </p:txBody>
      </p:sp>
      <p:sp>
        <p:nvSpPr>
          <p:cNvPr id="23" name="Shape 17"/>
          <p:cNvSpPr/>
          <p:nvPr/>
        </p:nvSpPr>
        <p:spPr>
          <a:xfrm>
            <a:off x="4800600" y="2953512"/>
            <a:ext cx="347472" cy="347472"/>
          </a:xfrm>
          <a:prstGeom prst="ellipse">
            <a:avLst/>
          </a:prstGeom>
          <a:solidFill>
            <a:srgbClr val="E07A2F"/>
          </a:solidFill>
          <a:ln w="12700">
            <a:solidFill>
              <a:srgbClr val="E07A2F"/>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4873752" y="3026664"/>
            <a:ext cx="201168" cy="201168"/>
          </a:xfrm>
          <a:prstGeom prst="rect">
            <a:avLst/>
          </a:prstGeom>
        </p:spPr>
      </p:pic>
      <p:sp>
        <p:nvSpPr>
          <p:cNvPr id="25" name="Text 18"/>
          <p:cNvSpPr txBox="1"/>
          <p:nvPr/>
        </p:nvSpPr>
        <p:spPr>
          <a:xfrm>
            <a:off x="5230368" y="29260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4 · Ethical and legal reasons</a:t>
            </a:r>
            <a:endParaRPr lang="en-US" sz="1300" dirty="0"/>
          </a:p>
        </p:txBody>
      </p:sp>
      <p:sp>
        <p:nvSpPr>
          <p:cNvPr id="26" name="Text 19"/>
          <p:cNvSpPr txBox="1"/>
          <p:nvPr/>
        </p:nvSpPr>
        <p:spPr>
          <a:xfrm>
            <a:off x="4800600" y="3383280"/>
            <a:ext cx="3840480" cy="82296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Finance and healthcare must audit decisions. GDPR. Where one wrong prediction has a large impact, the system must be verifiable.</a:t>
            </a:r>
            <a:endParaRPr lang="en-US" sz="1150" dirty="0"/>
          </a:p>
        </p:txBody>
      </p:sp>
      <p:pic>
        <p:nvPicPr>
          <p:cNvPr id="27"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an explanation looks like: one customer, six features, one score</a:t>
            </a:r>
            <a:endParaRPr lang="en-US" sz="2400" dirty="0"/>
          </a:p>
        </p:txBody>
      </p:sp>
      <p:pic>
        <p:nvPicPr>
          <p:cNvPr id="7" name="Image 0" descr="/root/work/s7/demo/shap_waterfall.png">    </p:cNvPr>
          <p:cNvPicPr>
            <a:picLocks noChangeAspect="1"/>
          </p:cNvPicPr>
          <p:nvPr/>
        </p:nvPicPr>
        <p:blipFill>
          <a:blip r:embed="rId1"/>
          <a:stretch>
            <a:fillRect/>
          </a:stretch>
        </p:blipFill>
        <p:spPr>
          <a:xfrm>
            <a:off x="365760" y="1188720"/>
            <a:ext cx="5029200" cy="2697480"/>
          </a:xfrm>
          <a:prstGeom prst="rect">
            <a:avLst/>
          </a:prstGeom>
        </p:spPr>
      </p:pic>
      <p:sp>
        <p:nvSpPr>
          <p:cNvPr id="8" name="Shape 4"/>
          <p:cNvSpPr/>
          <p:nvPr/>
        </p:nvSpPr>
        <p:spPr>
          <a:xfrm>
            <a:off x="5577840" y="1188720"/>
            <a:ext cx="3200400" cy="1280160"/>
          </a:xfrm>
          <a:prstGeom prst="roundRect">
            <a:avLst>
              <a:gd name="adj" fmla="val 5714"/>
            </a:avLst>
          </a:prstGeom>
          <a:solidFill>
            <a:srgbClr val="F3F5F8"/>
          </a:solidFill>
          <a:ln w="12700">
            <a:solidFill>
              <a:srgbClr val="F3F5F8"/>
            </a:solidFill>
            <a:prstDash val="solid"/>
          </a:ln>
        </p:spPr>
        <p:txBody>
          <a:bodyPr/>
          <a:p/>
        </p:txBody>
      </p:sp>
      <p:sp>
        <p:nvSpPr>
          <p:cNvPr id="9" name="Shape 5"/>
          <p:cNvSpPr/>
          <p:nvPr/>
        </p:nvSpPr>
        <p:spPr>
          <a:xfrm>
            <a:off x="5715000" y="1307592"/>
            <a:ext cx="347472" cy="347472"/>
          </a:xfrm>
          <a:prstGeom prst="ellipse">
            <a:avLst/>
          </a:prstGeom>
          <a:solidFill>
            <a:srgbClr val="0E7C86"/>
          </a:solidFill>
          <a:ln w="12700">
            <a:solidFill>
              <a:srgbClr val="0E7C86"/>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5788152" y="1380744"/>
            <a:ext cx="201168" cy="201168"/>
          </a:xfrm>
          <a:prstGeom prst="rect">
            <a:avLst/>
          </a:prstGeom>
        </p:spPr>
      </p:pic>
      <p:sp>
        <p:nvSpPr>
          <p:cNvPr id="11" name="Text 6"/>
          <p:cNvSpPr txBox="1"/>
          <p:nvPr/>
        </p:nvSpPr>
        <p:spPr>
          <a:xfrm>
            <a:off x="6144768" y="1280160"/>
            <a:ext cx="25146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Transparent models</a:t>
            </a:r>
            <a:endParaRPr lang="en-US" sz="1300" dirty="0"/>
          </a:p>
        </p:txBody>
      </p:sp>
      <p:sp>
        <p:nvSpPr>
          <p:cNvPr id="12" name="Text 7"/>
          <p:cNvSpPr txBox="1"/>
          <p:nvPr/>
        </p:nvSpPr>
        <p:spPr>
          <a:xfrm>
            <a:off x="5715000" y="1737360"/>
            <a:ext cx="2926080" cy="64008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Simple enough to follow: a human could compute the prediction; each input and weight is understandable.</a:t>
            </a:r>
            <a:endParaRPr lang="en-US" sz="1050" dirty="0"/>
          </a:p>
        </p:txBody>
      </p:sp>
      <p:sp>
        <p:nvSpPr>
          <p:cNvPr id="13" name="Shape 8"/>
          <p:cNvSpPr/>
          <p:nvPr/>
        </p:nvSpPr>
        <p:spPr>
          <a:xfrm>
            <a:off x="5577840" y="2606040"/>
            <a:ext cx="3200400" cy="1280160"/>
          </a:xfrm>
          <a:prstGeom prst="roundRect">
            <a:avLst>
              <a:gd name="adj" fmla="val 5714"/>
            </a:avLst>
          </a:prstGeom>
          <a:solidFill>
            <a:srgbClr val="F3F5F8"/>
          </a:solidFill>
          <a:ln w="12700">
            <a:solidFill>
              <a:srgbClr val="F3F5F8"/>
            </a:solidFill>
            <a:prstDash val="solid"/>
          </a:ln>
        </p:spPr>
        <p:txBody>
          <a:bodyPr/>
          <a:p/>
        </p:txBody>
      </p:sp>
      <p:sp>
        <p:nvSpPr>
          <p:cNvPr id="14" name="Shape 9"/>
          <p:cNvSpPr/>
          <p:nvPr/>
        </p:nvSpPr>
        <p:spPr>
          <a:xfrm>
            <a:off x="5715000" y="2724912"/>
            <a:ext cx="347472" cy="347472"/>
          </a:xfrm>
          <a:prstGeom prst="ellipse">
            <a:avLst/>
          </a:prstGeom>
          <a:solidFill>
            <a:srgbClr val="E07A2F"/>
          </a:solidFill>
          <a:ln w="12700">
            <a:solidFill>
              <a:srgbClr val="E07A2F"/>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5788152" y="2798064"/>
            <a:ext cx="201168" cy="201168"/>
          </a:xfrm>
          <a:prstGeom prst="rect">
            <a:avLst/>
          </a:prstGeom>
        </p:spPr>
      </p:pic>
      <p:sp>
        <p:nvSpPr>
          <p:cNvPr id="16" name="Text 10"/>
          <p:cNvSpPr txBox="1"/>
          <p:nvPr/>
        </p:nvSpPr>
        <p:spPr>
          <a:xfrm>
            <a:off x="6144768" y="2697480"/>
            <a:ext cx="25146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Post-hoc explanations</a:t>
            </a:r>
            <a:endParaRPr lang="en-US" sz="1300" dirty="0"/>
          </a:p>
        </p:txBody>
      </p:sp>
      <p:sp>
        <p:nvSpPr>
          <p:cNvPr id="17" name="Text 11"/>
          <p:cNvSpPr txBox="1"/>
          <p:nvPr/>
        </p:nvSpPr>
        <p:spPr>
          <a:xfrm>
            <a:off x="5715000" y="3154680"/>
            <a:ext cx="2926080" cy="64008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The model is complex; a method explains it afterwards: importance in words, visuals, examples, or one prediction at a time (LIME, SHAP).</a:t>
            </a:r>
            <a:endParaRPr lang="en-US" sz="1050" dirty="0"/>
          </a:p>
        </p:txBody>
      </p:sp>
      <p:sp>
        <p:nvSpPr>
          <p:cNvPr id="18" name="Shape 12"/>
          <p:cNvSpPr/>
          <p:nvPr/>
        </p:nvSpPr>
        <p:spPr>
          <a:xfrm>
            <a:off x="365760" y="402336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502920" y="4160520"/>
            <a:ext cx="274320" cy="274320"/>
          </a:xfrm>
          <a:prstGeom prst="rect">
            <a:avLst/>
          </a:prstGeom>
        </p:spPr>
      </p:pic>
      <p:sp>
        <p:nvSpPr>
          <p:cNvPr id="20" name="Text 13"/>
          <p:cNvSpPr txBox="1"/>
          <p:nvPr/>
        </p:nvSpPr>
        <p:spPr>
          <a:xfrm>
            <a:off x="896112" y="4023360"/>
            <a:ext cx="7772400" cy="548640"/>
          </a:xfrm>
          <a:prstGeom prst="rect">
            <a:avLst/>
          </a:prstGeom>
          <a:noFill/>
          <a:ln/>
        </p:spPr>
        <p:txBody>
          <a:bodyPr wrap="square" lIns="0" tIns="0" rIns="0" bIns="0" rtlCol="0" anchor="ctr"/>
          <a:lstStyle/>
          <a:p>
            <a:pPr indent="0" marL="0">
              <a:buNone/>
            </a:pPr>
            <a:r>
              <a:rPr lang="en-US" sz="1100" dirty="0">
                <a:solidFill>
                  <a:srgbClr val="1B2A4A"/>
                </a:solidFill>
                <a:latin typeface="Calibri" pitchFamily="34" charset="0"/>
                <a:ea typeface="Calibri" pitchFamily="34" charset="-122"/>
                <a:cs typeface="Calibri" pitchFamily="34" charset="-120"/>
              </a:rPr>
              <a:t>Read it like a receipt: start from the average (24%), each feature adds or subtracts, arrive at 70%. A retention manager can read this without knowing what a random forest is.</a:t>
            </a:r>
            <a:endParaRPr lang="en-US" sz="1100" dirty="0"/>
          </a:p>
        </p:txBody>
      </p:sp>
      <p:pic>
        <p:nvPicPr>
          <p:cNvPr id="21"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 second opinion: LIME explains the same customer, and it can explain text</a:t>
            </a:r>
            <a:endParaRPr lang="en-US" sz="2400" dirty="0"/>
          </a:p>
        </p:txBody>
      </p:sp>
      <p:pic>
        <p:nvPicPr>
          <p:cNvPr id="7" name="Image 0" descr="/root/work/s7/demo/lime_customer.png">    </p:cNvPr>
          <p:cNvPicPr>
            <a:picLocks noChangeAspect="1"/>
          </p:cNvPicPr>
          <p:nvPr/>
        </p:nvPicPr>
        <p:blipFill>
          <a:blip r:embed="rId1"/>
          <a:stretch>
            <a:fillRect/>
          </a:stretch>
        </p:blipFill>
        <p:spPr>
          <a:xfrm>
            <a:off x="365760" y="1188720"/>
            <a:ext cx="4160520" cy="2148840"/>
          </a:xfrm>
          <a:prstGeom prst="rect">
            <a:avLst/>
          </a:prstGeom>
        </p:spPr>
      </p:pic>
      <p:pic>
        <p:nvPicPr>
          <p:cNvPr id="8" name="Image 1" descr="/root/work/s7/demo/lime_text.png">    </p:cNvPr>
          <p:cNvPicPr>
            <a:picLocks noChangeAspect="1"/>
          </p:cNvPicPr>
          <p:nvPr/>
        </p:nvPicPr>
        <p:blipFill>
          <a:blip r:embed="rId2"/>
          <a:stretch>
            <a:fillRect/>
          </a:stretch>
        </p:blipFill>
        <p:spPr>
          <a:xfrm>
            <a:off x="4617720" y="1188720"/>
            <a:ext cx="4160520" cy="2148840"/>
          </a:xfrm>
          <a:prstGeom prst="rect">
            <a:avLst/>
          </a:prstGeom>
        </p:spPr>
      </p:pic>
      <p:sp>
        <p:nvSpPr>
          <p:cNvPr id="9" name="Shape 4"/>
          <p:cNvSpPr/>
          <p:nvPr/>
        </p:nvSpPr>
        <p:spPr>
          <a:xfrm>
            <a:off x="365760" y="3429000"/>
            <a:ext cx="4114800" cy="1188720"/>
          </a:xfrm>
          <a:prstGeom prst="roundRect">
            <a:avLst>
              <a:gd name="adj" fmla="val 6154"/>
            </a:avLst>
          </a:prstGeom>
          <a:solidFill>
            <a:srgbClr val="E3F1F2"/>
          </a:solidFill>
          <a:ln w="12700">
            <a:solidFill>
              <a:srgbClr val="E3F1F2"/>
            </a:solidFill>
            <a:prstDash val="solid"/>
          </a:ln>
        </p:spPr>
        <p:txBody>
          <a:bodyPr/>
          <a:p/>
        </p:txBody>
      </p:sp>
      <p:sp>
        <p:nvSpPr>
          <p:cNvPr id="10" name="Text 5"/>
          <p:cNvSpPr txBox="1"/>
          <p:nvPr/>
        </p:nvSpPr>
        <p:spPr>
          <a:xfrm>
            <a:off x="502920" y="352044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Same customer, different route</a:t>
            </a:r>
            <a:endParaRPr lang="en-US" sz="1300" dirty="0"/>
          </a:p>
        </p:txBody>
      </p:sp>
      <p:sp>
        <p:nvSpPr>
          <p:cNvPr id="11" name="Text 6"/>
          <p:cNvSpPr txBox="1"/>
          <p:nvPr/>
        </p:nvSpPr>
        <p:spPr>
          <a:xfrm>
            <a:off x="502920" y="3886200"/>
            <a:ext cx="3840480" cy="64008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LIME perturbs the input thousands of times and fits a simple model around her. Tickets, monthly contract, charges push up; tenure pulls down; region and promotions: nothing. SHAP said the same.</a:t>
            </a:r>
            <a:endParaRPr lang="en-US" sz="1050" dirty="0"/>
          </a:p>
        </p:txBody>
      </p:sp>
      <p:sp>
        <p:nvSpPr>
          <p:cNvPr id="12" name="Shape 7"/>
          <p:cNvSpPr/>
          <p:nvPr/>
        </p:nvSpPr>
        <p:spPr>
          <a:xfrm>
            <a:off x="4663440" y="3429000"/>
            <a:ext cx="4114800" cy="1188720"/>
          </a:xfrm>
          <a:prstGeom prst="roundRect">
            <a:avLst>
              <a:gd name="adj" fmla="val 6154"/>
            </a:avLst>
          </a:prstGeom>
          <a:solidFill>
            <a:srgbClr val="FBE9DC"/>
          </a:solidFill>
          <a:ln w="12700">
            <a:solidFill>
              <a:srgbClr val="FBE9DC"/>
            </a:solidFill>
            <a:prstDash val="solid"/>
          </a:ln>
        </p:spPr>
        <p:txBody>
          <a:bodyPr/>
          <a:p/>
        </p:txBody>
      </p:sp>
      <p:sp>
        <p:nvSpPr>
          <p:cNvPr id="13" name="Text 8"/>
          <p:cNvSpPr txBox="1"/>
          <p:nvPr/>
        </p:nvSpPr>
        <p:spPr>
          <a:xfrm>
            <a:off x="4800600" y="352044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Text: which words drove the decision</a:t>
            </a:r>
            <a:endParaRPr lang="en-US" sz="1300" dirty="0"/>
          </a:p>
        </p:txBody>
      </p:sp>
      <p:sp>
        <p:nvSpPr>
          <p:cNvPr id="14" name="Text 9"/>
          <p:cNvSpPr txBox="1"/>
          <p:nvPr/>
        </p:nvSpPr>
        <p:spPr>
          <a:xfrm>
            <a:off x="4800600" y="3886200"/>
            <a:ext cx="3840480" cy="64008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"switching", "drops", "unless", "price" push towards "about to cancel"; "fixed" and "week" pull back. A support manager reads it in five seconds. Session 10 starts here.</a:t>
            </a:r>
            <a:endParaRPr lang="en-US" sz="1050" dirty="0"/>
          </a:p>
        </p:txBody>
      </p:sp>
      <p:pic>
        <p:nvPicPr>
          <p:cNvPr id="15"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Do not trust an explanation blindly</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An explanation is a model of the model</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simplified copy around one point. It can be wrong where the model is not locally simple.</a:t>
            </a:r>
            <a:endParaRPr lang="en-US" sz="1200" dirty="0"/>
          </a:p>
        </p:txBody>
      </p:sp>
      <p:sp>
        <p:nvSpPr>
          <p:cNvPr id="11" name="Shape 8"/>
          <p:cNvSpPr/>
          <p:nvPr/>
        </p:nvSpPr>
        <p:spPr>
          <a:xfrm>
            <a:off x="365760" y="2286000"/>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286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19456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It can be true and useless</a:t>
            </a:r>
            <a:endParaRPr lang="en-US" sz="1600" dirty="0"/>
          </a:p>
        </p:txBody>
      </p:sp>
      <p:sp>
        <p:nvSpPr>
          <p:cNvPr id="14" name="Text 11"/>
          <p:cNvSpPr txBox="1"/>
          <p:nvPr/>
        </p:nvSpPr>
        <p:spPr>
          <a:xfrm>
            <a:off x="1188720" y="260604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"Your score is high because of feature 37." Interpretable features may not be the ones the model actually uses.</a:t>
            </a:r>
            <a:endParaRPr lang="en-US" sz="1200" dirty="0"/>
          </a:p>
        </p:txBody>
      </p:sp>
      <p:sp>
        <p:nvSpPr>
          <p:cNvPr id="15" name="Shape 12"/>
          <p:cNvSpPr/>
          <p:nvPr/>
        </p:nvSpPr>
        <p:spPr>
          <a:xfrm>
            <a:off x="365760" y="3246120"/>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365760" y="32461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15468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It is an operational signal</a:t>
            </a:r>
            <a:endParaRPr lang="en-US" sz="1600" dirty="0"/>
          </a:p>
        </p:txBody>
      </p:sp>
      <p:sp>
        <p:nvSpPr>
          <p:cNvPr id="18" name="Text 15"/>
          <p:cNvSpPr txBox="1"/>
          <p:nvPr/>
        </p:nvSpPr>
        <p:spPr>
          <a:xfrm>
            <a:off x="1188720" y="356616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Store explanations with predictions; check them by segment; a shift in explanations is a monitoring signal (region at zero in June, decisive in October).</a:t>
            </a:r>
            <a:endParaRPr lang="en-US" sz="1200" dirty="0"/>
          </a:p>
        </p:txBody>
      </p:sp>
      <p:sp>
        <p:nvSpPr>
          <p:cNvPr id="19" name="Shape 16"/>
          <p:cNvSpPr/>
          <p:nvPr/>
        </p:nvSpPr>
        <p:spPr>
          <a:xfrm>
            <a:off x="365760" y="416052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20" name="Image 0" descr="preencoded.png">    </p:cNvPr>
          <p:cNvPicPr>
            <a:picLocks noChangeAspect="1"/>
          </p:cNvPicPr>
          <p:nvPr/>
        </p:nvPicPr>
        <p:blipFill>
          <a:blip r:embed="rId1"/>
          <a:stretch>
            <a:fillRect/>
          </a:stretch>
        </p:blipFill>
        <p:spPr>
          <a:xfrm>
            <a:off x="502920" y="4251960"/>
            <a:ext cx="274320" cy="274320"/>
          </a:xfrm>
          <a:prstGeom prst="rect">
            <a:avLst/>
          </a:prstGeom>
        </p:spPr>
      </p:pic>
      <p:sp>
        <p:nvSpPr>
          <p:cNvPr id="21" name="Text 17"/>
          <p:cNvSpPr txBox="1"/>
          <p:nvPr/>
        </p:nvSpPr>
        <p:spPr>
          <a:xfrm>
            <a:off x="896112" y="4160520"/>
            <a:ext cx="7772400" cy="45720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Explanations are evidence, not proof. Cheap enough to store with every prediction; valuable enough to audit.</a:t>
            </a:r>
            <a:endParaRPr lang="en-US" sz="1150" dirty="0"/>
          </a:p>
        </p:txBody>
      </p:sp>
      <p:pic>
        <p:nvPicPr>
          <p:cNvPr id="22"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Bias: three places to catch it, two numbers to check</a:t>
            </a:r>
            <a:endParaRPr lang="en-US" sz="2400" dirty="0"/>
          </a:p>
        </p:txBody>
      </p:sp>
      <p:sp>
        <p:nvSpPr>
          <p:cNvPr id="7" name="Shape 4"/>
          <p:cNvSpPr/>
          <p:nvPr/>
        </p:nvSpPr>
        <p:spPr>
          <a:xfrm>
            <a:off x="365760" y="1280160"/>
            <a:ext cx="2849880" cy="640080"/>
          </a:xfrm>
          <a:prstGeom prst="chevron">
            <a:avLst/>
          </a:prstGeom>
          <a:solidFill>
            <a:srgbClr val="1B2A4A"/>
          </a:solidFill>
          <a:ln w="12700">
            <a:solidFill>
              <a:srgbClr val="FFFFFF"/>
            </a:solidFill>
            <a:prstDash val="solid"/>
          </a:ln>
        </p:spPr>
        <p:txBody>
          <a:bodyPr/>
          <a:p/>
        </p:txBody>
      </p:sp>
      <p:sp>
        <p:nvSpPr>
          <p:cNvPr id="8" name="Text 5"/>
          <p:cNvSpPr txBox="1"/>
          <p:nvPr/>
        </p:nvSpPr>
        <p:spPr>
          <a:xfrm>
            <a:off x="502920" y="1280160"/>
            <a:ext cx="26212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who is in, who is missing</a:t>
            </a:r>
            <a:endParaRPr lang="en-US" sz="1100" dirty="0"/>
          </a:p>
        </p:txBody>
      </p:sp>
      <p:sp>
        <p:nvSpPr>
          <p:cNvPr id="9" name="Shape 6"/>
          <p:cNvSpPr/>
          <p:nvPr/>
        </p:nvSpPr>
        <p:spPr>
          <a:xfrm>
            <a:off x="3169920" y="1280160"/>
            <a:ext cx="2849880" cy="640080"/>
          </a:xfrm>
          <a:prstGeom prst="chevron">
            <a:avLst/>
          </a:prstGeom>
          <a:solidFill>
            <a:srgbClr val="0E7C86"/>
          </a:solidFill>
          <a:ln w="12700">
            <a:solidFill>
              <a:srgbClr val="FFFFFF"/>
            </a:solidFill>
            <a:prstDash val="solid"/>
          </a:ln>
        </p:spPr>
        <p:txBody>
          <a:bodyPr/>
          <a:p/>
        </p:txBody>
      </p:sp>
      <p:sp>
        <p:nvSpPr>
          <p:cNvPr id="10" name="Text 7"/>
          <p:cNvSpPr txBox="1"/>
          <p:nvPr/>
        </p:nvSpPr>
        <p:spPr>
          <a:xfrm>
            <a:off x="3307080" y="1280160"/>
            <a:ext cx="26212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Training: what the objective rewards</a:t>
            </a:r>
            <a:endParaRPr lang="en-US" sz="1100" dirty="0"/>
          </a:p>
        </p:txBody>
      </p:sp>
      <p:sp>
        <p:nvSpPr>
          <p:cNvPr id="11" name="Shape 8"/>
          <p:cNvSpPr/>
          <p:nvPr/>
        </p:nvSpPr>
        <p:spPr>
          <a:xfrm>
            <a:off x="5974080" y="1280160"/>
            <a:ext cx="2849880" cy="640080"/>
          </a:xfrm>
          <a:prstGeom prst="chevron">
            <a:avLst/>
          </a:prstGeom>
          <a:solidFill>
            <a:srgbClr val="1B2A4A"/>
          </a:solidFill>
          <a:ln w="12700">
            <a:solidFill>
              <a:srgbClr val="FFFFFF"/>
            </a:solidFill>
            <a:prstDash val="solid"/>
          </a:ln>
        </p:spPr>
        <p:txBody>
          <a:bodyPr/>
          <a:p/>
        </p:txBody>
      </p:sp>
      <p:sp>
        <p:nvSpPr>
          <p:cNvPr id="12" name="Text 9"/>
          <p:cNvSpPr txBox="1"/>
          <p:nvPr/>
        </p:nvSpPr>
        <p:spPr>
          <a:xfrm>
            <a:off x="6111240" y="1280160"/>
            <a:ext cx="26212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 where the threshold falls</a:t>
            </a:r>
            <a:endParaRPr lang="en-US" sz="1100" dirty="0"/>
          </a:p>
        </p:txBody>
      </p:sp>
      <p:sp>
        <p:nvSpPr>
          <p:cNvPr id="13" name="Text 10"/>
          <p:cNvSpPr txBox="1"/>
          <p:nvPr/>
        </p:nvSpPr>
        <p:spPr>
          <a:xfrm>
            <a:off x="411480" y="2011680"/>
            <a:ext cx="2621280" cy="8229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Pre-processing: rebalance; remove protected attributes and their proxies (postcode, first name)</a:t>
            </a:r>
            <a:endParaRPr lang="en-US" sz="1050" dirty="0"/>
          </a:p>
        </p:txBody>
      </p:sp>
      <p:sp>
        <p:nvSpPr>
          <p:cNvPr id="14" name="Text 11"/>
          <p:cNvSpPr txBox="1"/>
          <p:nvPr/>
        </p:nvSpPr>
        <p:spPr>
          <a:xfrm>
            <a:off x="3215640" y="2011680"/>
            <a:ext cx="2621280" cy="8229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In-processing: constraints during training that penalise unequal treatment</a:t>
            </a:r>
            <a:endParaRPr lang="en-US" sz="1050" dirty="0"/>
          </a:p>
        </p:txBody>
      </p:sp>
      <p:sp>
        <p:nvSpPr>
          <p:cNvPr id="15" name="Text 12"/>
          <p:cNvSpPr txBox="1"/>
          <p:nvPr/>
        </p:nvSpPr>
        <p:spPr>
          <a:xfrm>
            <a:off x="6019800" y="2011680"/>
            <a:ext cx="2621280" cy="82296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Post-processing: adjust thresholds or corrections on the output, per group, with a documented rationale</a:t>
            </a:r>
            <a:endParaRPr lang="en-US" sz="1050" dirty="0"/>
          </a:p>
        </p:txBody>
      </p:sp>
      <p:sp>
        <p:nvSpPr>
          <p:cNvPr id="16" name="Shape 13"/>
          <p:cNvSpPr/>
          <p:nvPr/>
        </p:nvSpPr>
        <p:spPr>
          <a:xfrm>
            <a:off x="365760" y="2926080"/>
            <a:ext cx="4114800" cy="1371600"/>
          </a:xfrm>
          <a:prstGeom prst="roundRect">
            <a:avLst>
              <a:gd name="adj" fmla="val 5333"/>
            </a:avLst>
          </a:prstGeom>
          <a:solidFill>
            <a:srgbClr val="F3F5F8"/>
          </a:solidFill>
          <a:ln w="12700">
            <a:solidFill>
              <a:srgbClr val="F3F5F8"/>
            </a:solidFill>
            <a:prstDash val="solid"/>
          </a:ln>
        </p:spPr>
        <p:txBody>
          <a:bodyPr/>
          <a:p/>
        </p:txBody>
      </p:sp>
      <p:sp>
        <p:nvSpPr>
          <p:cNvPr id="17" name="Shape 14"/>
          <p:cNvSpPr/>
          <p:nvPr/>
        </p:nvSpPr>
        <p:spPr>
          <a:xfrm>
            <a:off x="502920" y="3044952"/>
            <a:ext cx="347472" cy="347472"/>
          </a:xfrm>
          <a:prstGeom prst="ellipse">
            <a:avLst/>
          </a:prstGeom>
          <a:solidFill>
            <a:srgbClr val="0E7C86"/>
          </a:solidFill>
          <a:ln w="12700">
            <a:solidFill>
              <a:srgbClr val="0E7C86"/>
            </a:solidFill>
            <a:prstDash val="solid"/>
          </a:ln>
        </p:spPr>
        <p:txBody>
          <a:bodyPr/>
          <a:p/>
        </p:txBody>
      </p:sp>
      <p:pic>
        <p:nvPicPr>
          <p:cNvPr id="18" name="Image 0" descr="preencoded.png">    </p:cNvPr>
          <p:cNvPicPr>
            <a:picLocks noChangeAspect="1"/>
          </p:cNvPicPr>
          <p:nvPr/>
        </p:nvPicPr>
        <p:blipFill>
          <a:blip r:embed="rId1"/>
          <a:stretch>
            <a:fillRect/>
          </a:stretch>
        </p:blipFill>
        <p:spPr>
          <a:xfrm>
            <a:off x="576072" y="3118104"/>
            <a:ext cx="201168" cy="201168"/>
          </a:xfrm>
          <a:prstGeom prst="rect">
            <a:avLst/>
          </a:prstGeom>
        </p:spPr>
      </p:pic>
      <p:sp>
        <p:nvSpPr>
          <p:cNvPr id="19" name="Text 15"/>
          <p:cNvSpPr txBox="1"/>
          <p:nvPr/>
        </p:nvSpPr>
        <p:spPr>
          <a:xfrm>
            <a:off x="932688" y="301752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Equal error rates</a:t>
            </a:r>
            <a:endParaRPr lang="en-US" sz="1300" dirty="0"/>
          </a:p>
        </p:txBody>
      </p:sp>
      <p:sp>
        <p:nvSpPr>
          <p:cNvPr id="20" name="Text 16"/>
          <p:cNvSpPr txBox="1"/>
          <p:nvPr/>
        </p:nvSpPr>
        <p:spPr>
          <a:xfrm>
            <a:off x="502920" y="3474720"/>
            <a:ext cx="3840480" cy="73152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Is the model wrong as often for men as for women? for the North as for the South? for new as for old customers?</a:t>
            </a:r>
            <a:endParaRPr lang="en-US" sz="1100" dirty="0"/>
          </a:p>
        </p:txBody>
      </p:sp>
      <p:sp>
        <p:nvSpPr>
          <p:cNvPr id="21" name="Shape 17"/>
          <p:cNvSpPr/>
          <p:nvPr/>
        </p:nvSpPr>
        <p:spPr>
          <a:xfrm>
            <a:off x="4663440" y="2926080"/>
            <a:ext cx="4114800" cy="1371600"/>
          </a:xfrm>
          <a:prstGeom prst="roundRect">
            <a:avLst>
              <a:gd name="adj" fmla="val 5333"/>
            </a:avLst>
          </a:prstGeom>
          <a:solidFill>
            <a:srgbClr val="F3F5F8"/>
          </a:solidFill>
          <a:ln w="12700">
            <a:solidFill>
              <a:srgbClr val="F3F5F8"/>
            </a:solidFill>
            <a:prstDash val="solid"/>
          </a:ln>
        </p:spPr>
        <p:txBody>
          <a:bodyPr/>
          <a:p/>
        </p:txBody>
      </p:sp>
      <p:sp>
        <p:nvSpPr>
          <p:cNvPr id="22" name="Shape 18"/>
          <p:cNvSpPr/>
          <p:nvPr/>
        </p:nvSpPr>
        <p:spPr>
          <a:xfrm>
            <a:off x="4800600" y="3044952"/>
            <a:ext cx="347472" cy="347472"/>
          </a:xfrm>
          <a:prstGeom prst="ellipse">
            <a:avLst/>
          </a:prstGeom>
          <a:solidFill>
            <a:srgbClr val="0E7C86"/>
          </a:solidFill>
          <a:ln w="12700">
            <a:solidFill>
              <a:srgbClr val="0E7C86"/>
            </a:solidFill>
            <a:prstDash val="solid"/>
          </a:ln>
        </p:spPr>
        <p:txBody>
          <a:bodyPr/>
          <a:p/>
        </p:txBody>
      </p:sp>
      <p:pic>
        <p:nvPicPr>
          <p:cNvPr id="23" name="Image 1" descr="preencoded.png">    </p:cNvPr>
          <p:cNvPicPr>
            <a:picLocks noChangeAspect="1"/>
          </p:cNvPicPr>
          <p:nvPr/>
        </p:nvPicPr>
        <p:blipFill>
          <a:blip r:embed="rId2"/>
          <a:stretch>
            <a:fillRect/>
          </a:stretch>
        </p:blipFill>
        <p:spPr>
          <a:xfrm>
            <a:off x="4873752" y="3118104"/>
            <a:ext cx="201168" cy="201168"/>
          </a:xfrm>
          <a:prstGeom prst="rect">
            <a:avLst/>
          </a:prstGeom>
        </p:spPr>
      </p:pic>
      <p:sp>
        <p:nvSpPr>
          <p:cNvPr id="24" name="Text 19"/>
          <p:cNvSpPr txBox="1"/>
          <p:nvPr/>
        </p:nvSpPr>
        <p:spPr>
          <a:xfrm>
            <a:off x="5230368" y="301752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Equal selection rates</a:t>
            </a:r>
            <a:endParaRPr lang="en-US" sz="1300" dirty="0"/>
          </a:p>
        </p:txBody>
      </p:sp>
      <p:sp>
        <p:nvSpPr>
          <p:cNvPr id="25" name="Text 20"/>
          <p:cNvSpPr txBox="1"/>
          <p:nvPr/>
        </p:nvSpPr>
        <p:spPr>
          <a:xfrm>
            <a:off x="4800600" y="3474720"/>
            <a:ext cx="3840480" cy="731520"/>
          </a:xfrm>
          <a:prstGeom prst="rect">
            <a:avLst/>
          </a:prstGeom>
          <a:noFill/>
          <a:ln/>
        </p:spPr>
        <p:txBody>
          <a:bodyPr wrap="square" lIns="0" tIns="0" rIns="0" bIns="0"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Does it flag, approve or target groups at similar rates? If not, is the difference justified by the outcome, and documented?</a:t>
            </a:r>
            <a:endParaRPr lang="en-US" sz="1100" dirty="0"/>
          </a:p>
        </p:txBody>
      </p:sp>
      <p:sp>
        <p:nvSpPr>
          <p:cNvPr id="26" name="Shape 21"/>
          <p:cNvSpPr/>
          <p:nvPr/>
        </p:nvSpPr>
        <p:spPr>
          <a:xfrm>
            <a:off x="365760" y="4389120"/>
            <a:ext cx="8412480" cy="365760"/>
          </a:xfrm>
          <a:prstGeom prst="roundRect">
            <a:avLst>
              <a:gd name="adj" fmla="val 20000"/>
            </a:avLst>
          </a:prstGeom>
          <a:solidFill>
            <a:srgbClr val="E3F1F2"/>
          </a:solidFill>
          <a:ln w="12700">
            <a:solidFill>
              <a:srgbClr val="E3F1F2"/>
            </a:solidFill>
            <a:prstDash val="solid"/>
          </a:ln>
        </p:spPr>
        <p:txBody>
          <a:bodyPr/>
          <a:p/>
        </p:txBody>
      </p:sp>
      <p:pic>
        <p:nvPicPr>
          <p:cNvPr id="27" name="Image 2" descr="preencoded.png">    </p:cNvPr>
          <p:cNvPicPr>
            <a:picLocks noChangeAspect="1"/>
          </p:cNvPicPr>
          <p:nvPr/>
        </p:nvPicPr>
        <p:blipFill>
          <a:blip r:embed="rId3"/>
          <a:stretch>
            <a:fillRect/>
          </a:stretch>
        </p:blipFill>
        <p:spPr>
          <a:xfrm>
            <a:off x="502920" y="4434840"/>
            <a:ext cx="274320" cy="274320"/>
          </a:xfrm>
          <a:prstGeom prst="rect">
            <a:avLst/>
          </a:prstGeom>
        </p:spPr>
      </p:pic>
      <p:sp>
        <p:nvSpPr>
          <p:cNvPr id="28" name="Text 22"/>
          <p:cNvSpPr txBox="1"/>
          <p:nvPr/>
        </p:nvSpPr>
        <p:spPr>
          <a:xfrm>
            <a:off x="896112" y="4389120"/>
            <a:ext cx="7772400" cy="36576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two can conflict. Choosing is a business and legal decision, made by the accountable owner with Risk &amp; Compliance, not by the data scientist alone.</a:t>
            </a:r>
            <a:endParaRPr lang="en-US" sz="1050" dirty="0"/>
          </a:p>
        </p:txBody>
      </p:sp>
      <p:pic>
        <p:nvPicPr>
          <p:cNvPr id="29"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24</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Break · 5 minutes</a:t>
            </a:r>
            <a:endParaRPr lang="en-US" sz="3600" dirty="0"/>
          </a:p>
        </p:txBody>
      </p:sp>
      <p:sp>
        <p:nvSpPr>
          <p:cNvPr id="6" name="Text 4"/>
          <p:cNvSpPr txBox="1"/>
          <p:nvPr/>
        </p:nvSpPr>
        <p:spPr>
          <a:xfrm>
            <a:off x="548640" y="2286000"/>
            <a:ext cx="804672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Back at minute 51. While you wait: which decision about you was made by a model this week, and could you get an explanation?</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25</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Responsible AI, in the loop</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Intentionality, accountability, and guardrails that are steps rather than documents</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Responsible AI has two halves: intentionality and accountability</a:t>
            </a:r>
            <a:endParaRPr lang="en-US" sz="2400" dirty="0"/>
          </a:p>
        </p:txBody>
      </p:sp>
      <p:sp>
        <p:nvSpPr>
          <p:cNvPr id="7" name="Shape 4"/>
          <p:cNvSpPr/>
          <p:nvPr/>
        </p:nvSpPr>
        <p:spPr>
          <a:xfrm>
            <a:off x="36576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Intentionality</a:t>
            </a:r>
            <a:endParaRPr lang="en-US" sz="1300" dirty="0"/>
          </a:p>
        </p:txBody>
      </p:sp>
      <p:sp>
        <p:nvSpPr>
          <p:cNvPr id="11" name="Text 7"/>
          <p:cNvSpPr txBox="1"/>
          <p:nvPr/>
        </p:nvSpPr>
        <p:spPr>
          <a:xfrm>
            <a:off x="50292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Models designed and behaving in line with their purpose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Data from compliant, unbiased sources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Multiple checks on bias, by more than one person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Results explainable by humans who did not build the system</a:t>
            </a:r>
            <a:endParaRPr lang="en-US" sz="1150" dirty="0"/>
          </a:p>
        </p:txBody>
      </p:sp>
      <p:sp>
        <p:nvSpPr>
          <p:cNvPr id="12" name="Shape 8"/>
          <p:cNvSpPr/>
          <p:nvPr/>
        </p:nvSpPr>
        <p:spPr>
          <a:xfrm>
            <a:off x="466344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Accountability</a:t>
            </a:r>
            <a:endParaRPr lang="en-US" sz="1300" dirty="0"/>
          </a:p>
        </p:txBody>
      </p:sp>
      <p:sp>
        <p:nvSpPr>
          <p:cNvPr id="16" name="Text 11"/>
          <p:cNvSpPr txBox="1"/>
          <p:nvPr/>
        </p:nvSpPr>
        <p:spPr>
          <a:xfrm>
            <a:off x="480060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central view: which teams use what data, how, in which models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Data reliable and collected within the rules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Traceability: when something goes wrong, you can find where (Session 3: lineage)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Someone signs (Session 1: the A in RACI)</a:t>
            </a:r>
            <a:endParaRPr lang="en-US" sz="1150" dirty="0"/>
          </a:p>
        </p:txBody>
      </p:sp>
      <p:sp>
        <p:nvSpPr>
          <p:cNvPr id="17" name="Shape 12"/>
          <p:cNvSpPr/>
          <p:nvPr/>
        </p:nvSpPr>
        <p:spPr>
          <a:xfrm>
            <a:off x="365760" y="3794760"/>
            <a:ext cx="8412480" cy="502920"/>
          </a:xfrm>
          <a:prstGeom prst="roundRect">
            <a:avLst>
              <a:gd name="adj" fmla="val 14545"/>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909060"/>
            <a:ext cx="274320" cy="274320"/>
          </a:xfrm>
          <a:prstGeom prst="rect">
            <a:avLst/>
          </a:prstGeom>
        </p:spPr>
      </p:pic>
      <p:sp>
        <p:nvSpPr>
          <p:cNvPr id="19" name="Text 13"/>
          <p:cNvSpPr txBox="1"/>
          <p:nvPr/>
        </p:nvSpPr>
        <p:spPr>
          <a:xfrm>
            <a:off x="896112" y="3794760"/>
            <a:ext cx="7772400" cy="50292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Everything in this course so far is one of these two halves. Session 12 adds the regulation that makes them obligations.</a:t>
            </a:r>
            <a:endParaRPr lang="en-US" sz="1150" dirty="0"/>
          </a:p>
        </p:txBody>
      </p:sp>
      <p:sp>
        <p:nvSpPr>
          <p:cNvPr id="20" name="Text 14"/>
          <p:cNvSpPr txBox="1"/>
          <p:nvPr/>
        </p:nvSpPr>
        <p:spPr>
          <a:xfrm>
            <a:off x="365760" y="438912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Source: Treveil et al., Introducing MLOps (O'Reilly, 2020)</a:t>
            </a:r>
            <a:endParaRPr lang="en-US" sz="900" dirty="0"/>
          </a:p>
        </p:txBody>
      </p:sp>
      <p:pic>
        <p:nvPicPr>
          <p:cNvPr id="21"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Guardrails and audits are steps in the loop, not documents in a drawer</a:t>
            </a:r>
            <a:endParaRPr lang="en-US" sz="2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554480"/>
                <a:gridCol w="4572000"/>
                <a:gridCol w="2286000"/>
              </a:tblGrid>
              <a:tr h="45720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Where in the loop</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guardrail</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Before training</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Data-use check as a pipeline step: allowed? PII? protected attributes and proxies? Stops the run if not.</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Data engineer (R), Risk &amp; Compliance (C)</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At validation</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Fairness tests by segment as model tests, with thresholds; explanations sampled and reviewed.</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ML engineer (R), Data scientist (C)</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At approval</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 named accountable owner signs; Risk &amp; Compliance consulted for high-impact models.</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Product owner (A)</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In production</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Fairness metrics and explanation drift in the monitoring plan, next to accuracy.</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ML engineer (R)</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Periodically</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An audit re-runs the checks on stored predictions and explanations; findings become issues with owners.</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Risk &amp; Compliance (A)</a:t>
                      </a:r>
                      <a:endParaRPr lang="en-US" sz="10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20624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274820"/>
            <a:ext cx="274320" cy="274320"/>
          </a:xfrm>
          <a:prstGeom prst="rect">
            <a:avLst/>
          </a:prstGeom>
        </p:spPr>
      </p:pic>
      <p:sp>
        <p:nvSpPr>
          <p:cNvPr id="10"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Session 1's RACI, with one more column: who owns each guardrail. If nobody does, it is a document.</a:t>
            </a:r>
            <a:endParaRPr lang="en-US" sz="1100" dirty="0"/>
          </a:p>
        </p:txBody>
      </p:sp>
      <p:pic>
        <p:nvPicPr>
          <p:cNvPr id="2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Before Video 2: the questions a model-risk assessment asks</a:t>
            </a:r>
            <a:endParaRPr lang="en-US" sz="2400" dirty="0"/>
          </a:p>
        </p:txBody>
      </p:sp>
      <p:sp>
        <p:nvSpPr>
          <p:cNvPr id="7" name="Shape 4"/>
          <p:cNvSpPr/>
          <p:nvPr/>
        </p:nvSpPr>
        <p:spPr>
          <a:xfrm>
            <a:off x="365760" y="1234440"/>
            <a:ext cx="2011680" cy="1280160"/>
          </a:xfrm>
          <a:prstGeom prst="roundRect">
            <a:avLst>
              <a:gd name="adj" fmla="val 5714"/>
            </a:avLst>
          </a:prstGeom>
          <a:solidFill>
            <a:srgbClr val="F3F5F8"/>
          </a:solidFill>
          <a:ln w="12700">
            <a:solidFill>
              <a:srgbClr val="F3F5F8"/>
            </a:solidFill>
            <a:prstDash val="solid"/>
          </a:ln>
        </p:spPr>
        <p:txBody>
          <a:bodyPr/>
          <a:p/>
        </p:txBody>
      </p:sp>
      <p:sp>
        <p:nvSpPr>
          <p:cNvPr id="8" name="Text 5"/>
          <p:cNvSpPr txBox="1"/>
          <p:nvPr/>
        </p:nvSpPr>
        <p:spPr>
          <a:xfrm>
            <a:off x="502920" y="132588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Compliance</a:t>
            </a:r>
            <a:endParaRPr lang="en-US" sz="1200" dirty="0"/>
          </a:p>
        </p:txBody>
      </p:sp>
      <p:sp>
        <p:nvSpPr>
          <p:cNvPr id="9" name="Text 6"/>
          <p:cNvSpPr txBox="1"/>
          <p:nvPr/>
        </p:nvSpPr>
        <p:spPr>
          <a:xfrm>
            <a:off x="502920" y="169164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Is this an algorithmic decision system? Does it follow privacy and data-protection rules?</a:t>
            </a:r>
            <a:endParaRPr lang="en-US" sz="1000" dirty="0"/>
          </a:p>
        </p:txBody>
      </p:sp>
      <p:sp>
        <p:nvSpPr>
          <p:cNvPr id="10" name="Shape 7"/>
          <p:cNvSpPr/>
          <p:nvPr/>
        </p:nvSpPr>
        <p:spPr>
          <a:xfrm>
            <a:off x="2496312" y="1234440"/>
            <a:ext cx="2011680" cy="1280160"/>
          </a:xfrm>
          <a:prstGeom prst="roundRect">
            <a:avLst>
              <a:gd name="adj" fmla="val 5714"/>
            </a:avLst>
          </a:prstGeom>
          <a:solidFill>
            <a:srgbClr val="F3F5F8"/>
          </a:solidFill>
          <a:ln w="12700">
            <a:solidFill>
              <a:srgbClr val="F3F5F8"/>
            </a:solidFill>
            <a:prstDash val="solid"/>
          </a:ln>
        </p:spPr>
        <p:txBody>
          <a:bodyPr/>
          <a:p/>
        </p:txBody>
      </p:sp>
      <p:sp>
        <p:nvSpPr>
          <p:cNvPr id="11" name="Text 8"/>
          <p:cNvSpPr txBox="1"/>
          <p:nvPr/>
        </p:nvSpPr>
        <p:spPr>
          <a:xfrm>
            <a:off x="2633472" y="132588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Proportionality</a:t>
            </a:r>
            <a:endParaRPr lang="en-US" sz="1200" dirty="0"/>
          </a:p>
        </p:txBody>
      </p:sp>
      <p:sp>
        <p:nvSpPr>
          <p:cNvPr id="12" name="Text 9"/>
          <p:cNvSpPr txBox="1"/>
          <p:nvPr/>
        </p:nvSpPr>
        <p:spPr>
          <a:xfrm>
            <a:off x="2633472" y="169164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Is personal data processed, and is all of it necessary?</a:t>
            </a:r>
            <a:endParaRPr lang="en-US" sz="1000" dirty="0"/>
          </a:p>
        </p:txBody>
      </p:sp>
      <p:sp>
        <p:nvSpPr>
          <p:cNvPr id="13" name="Shape 10"/>
          <p:cNvSpPr/>
          <p:nvPr/>
        </p:nvSpPr>
        <p:spPr>
          <a:xfrm>
            <a:off x="4626864" y="1234440"/>
            <a:ext cx="2011680" cy="1280160"/>
          </a:xfrm>
          <a:prstGeom prst="roundRect">
            <a:avLst>
              <a:gd name="adj" fmla="val 5714"/>
            </a:avLst>
          </a:prstGeom>
          <a:solidFill>
            <a:srgbClr val="F3F5F8"/>
          </a:solidFill>
          <a:ln w="12700">
            <a:solidFill>
              <a:srgbClr val="F3F5F8"/>
            </a:solidFill>
            <a:prstDash val="solid"/>
          </a:ln>
        </p:spPr>
        <p:txBody>
          <a:bodyPr/>
          <a:p/>
        </p:txBody>
      </p:sp>
      <p:sp>
        <p:nvSpPr>
          <p:cNvPr id="14" name="Text 11"/>
          <p:cNvSpPr txBox="1"/>
          <p:nvPr/>
        </p:nvSpPr>
        <p:spPr>
          <a:xfrm>
            <a:off x="4764024" y="132588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Reliability</a:t>
            </a:r>
            <a:endParaRPr lang="en-US" sz="1200" dirty="0"/>
          </a:p>
        </p:txBody>
      </p:sp>
      <p:sp>
        <p:nvSpPr>
          <p:cNvPr id="15" name="Text 12"/>
          <p:cNvSpPr txBox="1"/>
          <p:nvPr/>
        </p:nvSpPr>
        <p:spPr>
          <a:xfrm>
            <a:off x="4764024" y="169164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Could it produce unreliable output, and what happens then?</a:t>
            </a:r>
            <a:endParaRPr lang="en-US" sz="1000" dirty="0"/>
          </a:p>
        </p:txBody>
      </p:sp>
      <p:sp>
        <p:nvSpPr>
          <p:cNvPr id="16" name="Shape 13"/>
          <p:cNvSpPr/>
          <p:nvPr/>
        </p:nvSpPr>
        <p:spPr>
          <a:xfrm>
            <a:off x="6757416" y="1234440"/>
            <a:ext cx="2011680" cy="1280160"/>
          </a:xfrm>
          <a:prstGeom prst="roundRect">
            <a:avLst>
              <a:gd name="adj" fmla="val 5714"/>
            </a:avLst>
          </a:prstGeom>
          <a:solidFill>
            <a:srgbClr val="F3F5F8"/>
          </a:solidFill>
          <a:ln w="12700">
            <a:solidFill>
              <a:srgbClr val="F3F5F8"/>
            </a:solidFill>
            <a:prstDash val="solid"/>
          </a:ln>
        </p:spPr>
        <p:txBody>
          <a:bodyPr/>
          <a:p/>
        </p:txBody>
      </p:sp>
      <p:sp>
        <p:nvSpPr>
          <p:cNvPr id="17" name="Text 14"/>
          <p:cNvSpPr txBox="1"/>
          <p:nvPr/>
        </p:nvSpPr>
        <p:spPr>
          <a:xfrm>
            <a:off x="6894576" y="132588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Fairness</a:t>
            </a:r>
            <a:endParaRPr lang="en-US" sz="1200" dirty="0"/>
          </a:p>
        </p:txBody>
      </p:sp>
      <p:sp>
        <p:nvSpPr>
          <p:cNvPr id="18" name="Text 15"/>
          <p:cNvSpPr txBox="1"/>
          <p:nvPr/>
        </p:nvSpPr>
        <p:spPr>
          <a:xfrm>
            <a:off x="6894576" y="169164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Is there potential for discrimination in access or in outcomes?</a:t>
            </a:r>
            <a:endParaRPr lang="en-US" sz="1000" dirty="0"/>
          </a:p>
        </p:txBody>
      </p:sp>
      <p:sp>
        <p:nvSpPr>
          <p:cNvPr id="19" name="Shape 16"/>
          <p:cNvSpPr/>
          <p:nvPr/>
        </p:nvSpPr>
        <p:spPr>
          <a:xfrm>
            <a:off x="365760" y="2651760"/>
            <a:ext cx="2011680" cy="1280160"/>
          </a:xfrm>
          <a:prstGeom prst="roundRect">
            <a:avLst>
              <a:gd name="adj" fmla="val 5714"/>
            </a:avLst>
          </a:prstGeom>
          <a:solidFill>
            <a:srgbClr val="E3F1F2"/>
          </a:solidFill>
          <a:ln w="12700">
            <a:solidFill>
              <a:srgbClr val="E3F1F2"/>
            </a:solidFill>
            <a:prstDash val="solid"/>
          </a:ln>
        </p:spPr>
        <p:txBody>
          <a:bodyPr/>
          <a:p/>
        </p:txBody>
      </p:sp>
      <p:sp>
        <p:nvSpPr>
          <p:cNvPr id="20" name="Text 17"/>
          <p:cNvSpPr txBox="1"/>
          <p:nvPr/>
        </p:nvSpPr>
        <p:spPr>
          <a:xfrm>
            <a:off x="502920" y="274320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Transparency</a:t>
            </a:r>
            <a:endParaRPr lang="en-US" sz="1200" dirty="0"/>
          </a:p>
        </p:txBody>
      </p:sp>
      <p:sp>
        <p:nvSpPr>
          <p:cNvPr id="21" name="Text 18"/>
          <p:cNvSpPr txBox="1"/>
          <p:nvPr/>
        </p:nvSpPr>
        <p:spPr>
          <a:xfrm>
            <a:off x="502920" y="310896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Can the output be understood and explained to the affected person?</a:t>
            </a:r>
            <a:endParaRPr lang="en-US" sz="1000" dirty="0"/>
          </a:p>
        </p:txBody>
      </p:sp>
      <p:sp>
        <p:nvSpPr>
          <p:cNvPr id="22" name="Shape 19"/>
          <p:cNvSpPr/>
          <p:nvPr/>
        </p:nvSpPr>
        <p:spPr>
          <a:xfrm>
            <a:off x="2496312" y="2651760"/>
            <a:ext cx="2011680" cy="1280160"/>
          </a:xfrm>
          <a:prstGeom prst="roundRect">
            <a:avLst>
              <a:gd name="adj" fmla="val 5714"/>
            </a:avLst>
          </a:prstGeom>
          <a:solidFill>
            <a:srgbClr val="E3F1F2"/>
          </a:solidFill>
          <a:ln w="12700">
            <a:solidFill>
              <a:srgbClr val="E3F1F2"/>
            </a:solidFill>
            <a:prstDash val="solid"/>
          </a:ln>
        </p:spPr>
        <p:txBody>
          <a:bodyPr/>
          <a:p/>
        </p:txBody>
      </p:sp>
      <p:sp>
        <p:nvSpPr>
          <p:cNvPr id="23" name="Text 20"/>
          <p:cNvSpPr txBox="1"/>
          <p:nvPr/>
        </p:nvSpPr>
        <p:spPr>
          <a:xfrm>
            <a:off x="2633472" y="274320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Contestability</a:t>
            </a:r>
            <a:endParaRPr lang="en-US" sz="1200" dirty="0"/>
          </a:p>
        </p:txBody>
      </p:sp>
      <p:sp>
        <p:nvSpPr>
          <p:cNvPr id="24" name="Text 21"/>
          <p:cNvSpPr txBox="1"/>
          <p:nvPr/>
        </p:nvSpPr>
        <p:spPr>
          <a:xfrm>
            <a:off x="2633472" y="310896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Can an affected person challenge or complain about the result?</a:t>
            </a:r>
            <a:endParaRPr lang="en-US" sz="1000" dirty="0"/>
          </a:p>
        </p:txBody>
      </p:sp>
      <p:sp>
        <p:nvSpPr>
          <p:cNvPr id="25" name="Shape 22"/>
          <p:cNvSpPr/>
          <p:nvPr/>
        </p:nvSpPr>
        <p:spPr>
          <a:xfrm>
            <a:off x="4626864" y="2651760"/>
            <a:ext cx="2011680" cy="1280160"/>
          </a:xfrm>
          <a:prstGeom prst="roundRect">
            <a:avLst>
              <a:gd name="adj" fmla="val 5714"/>
            </a:avLst>
          </a:prstGeom>
          <a:solidFill>
            <a:srgbClr val="E3F1F2"/>
          </a:solidFill>
          <a:ln w="12700">
            <a:solidFill>
              <a:srgbClr val="E3F1F2"/>
            </a:solidFill>
            <a:prstDash val="solid"/>
          </a:ln>
        </p:spPr>
        <p:txBody>
          <a:bodyPr/>
          <a:p/>
        </p:txBody>
      </p:sp>
      <p:sp>
        <p:nvSpPr>
          <p:cNvPr id="26" name="Text 23"/>
          <p:cNvSpPr txBox="1"/>
          <p:nvPr/>
        </p:nvSpPr>
        <p:spPr>
          <a:xfrm>
            <a:off x="4764024" y="274320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Accountability</a:t>
            </a:r>
            <a:endParaRPr lang="en-US" sz="1200" dirty="0"/>
          </a:p>
        </p:txBody>
      </p:sp>
      <p:sp>
        <p:nvSpPr>
          <p:cNvPr id="27" name="Text 24"/>
          <p:cNvSpPr txBox="1"/>
          <p:nvPr/>
        </p:nvSpPr>
        <p:spPr>
          <a:xfrm>
            <a:off x="4764024" y="310896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Are the people in charge of development, deployment and monitoring clearly defined?</a:t>
            </a:r>
            <a:endParaRPr lang="en-US" sz="1000" dirty="0"/>
          </a:p>
        </p:txBody>
      </p:sp>
      <p:sp>
        <p:nvSpPr>
          <p:cNvPr id="28" name="Shape 25"/>
          <p:cNvSpPr/>
          <p:nvPr/>
        </p:nvSpPr>
        <p:spPr>
          <a:xfrm>
            <a:off x="6757416" y="2651760"/>
            <a:ext cx="2011680" cy="1280160"/>
          </a:xfrm>
          <a:prstGeom prst="roundRect">
            <a:avLst>
              <a:gd name="adj" fmla="val 5714"/>
            </a:avLst>
          </a:prstGeom>
          <a:solidFill>
            <a:srgbClr val="E3F1F2"/>
          </a:solidFill>
          <a:ln w="12700">
            <a:solidFill>
              <a:srgbClr val="E3F1F2"/>
            </a:solidFill>
            <a:prstDash val="solid"/>
          </a:ln>
        </p:spPr>
        <p:txBody>
          <a:bodyPr/>
          <a:p/>
        </p:txBody>
      </p:sp>
      <p:sp>
        <p:nvSpPr>
          <p:cNvPr id="29" name="Text 26"/>
          <p:cNvSpPr txBox="1"/>
          <p:nvPr/>
        </p:nvSpPr>
        <p:spPr>
          <a:xfrm>
            <a:off x="6894576" y="2743200"/>
            <a:ext cx="1737360"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Wellbeing</a:t>
            </a:r>
            <a:endParaRPr lang="en-US" sz="1200" dirty="0"/>
          </a:p>
        </p:txBody>
      </p:sp>
      <p:sp>
        <p:nvSpPr>
          <p:cNvPr id="30" name="Text 27"/>
          <p:cNvSpPr txBox="1"/>
          <p:nvPr/>
        </p:nvSpPr>
        <p:spPr>
          <a:xfrm>
            <a:off x="6894576" y="3108960"/>
            <a:ext cx="1737360" cy="7315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Could inaccurate outputs (including hallucinations or manipulation) cause loss or harm?</a:t>
            </a:r>
            <a:endParaRPr lang="en-US" sz="1000" dirty="0"/>
          </a:p>
        </p:txBody>
      </p:sp>
      <p:sp>
        <p:nvSpPr>
          <p:cNvPr id="31" name="Text 28"/>
          <p:cNvSpPr txBox="1"/>
          <p:nvPr/>
        </p:nvSpPr>
        <p:spPr>
          <a:xfrm>
            <a:off x="365760" y="4160520"/>
            <a:ext cx="8412480" cy="457200"/>
          </a:xfrm>
          <a:prstGeom prst="rect">
            <a:avLst/>
          </a:prstGeom>
          <a:noFill/>
          <a:ln/>
        </p:spPr>
        <p:txBody>
          <a:bodyPr wrap="square" lIns="0" tIns="0" rIns="0" bIns="0" rtlCol="0" anchor="t"/>
          <a:lstStyle/>
          <a:p>
            <a:pPr algn="l" indent="0" marL="0">
              <a:buNone/>
            </a:pPr>
            <a:r>
              <a:rPr lang="en-US" sz="1100" b="1" i="1" dirty="0">
                <a:solidFill>
                  <a:srgbClr val="0E7C86"/>
                </a:solidFill>
                <a:latin typeface="Calibri" pitchFamily="34" charset="0"/>
                <a:ea typeface="Calibri" pitchFamily="34" charset="-122"/>
                <a:cs typeface="Calibri" pitchFamily="34" charset="-120"/>
              </a:rPr>
              <a:t>Video 2 (Session 12) turns this list into the EU AI Act risk tiers and the NIST AI Risk Management Framework. The activity's bonus question uses it.</a:t>
            </a:r>
            <a:endParaRPr lang="en-US" sz="1100" dirty="0"/>
          </a:p>
        </p:txBody>
      </p:sp>
      <p:pic>
        <p:nvPicPr>
          <p:cNvPr id="32"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Activity · 15 minutes in breakout rooms: a monitoring plan for a churn model</a:t>
            </a:r>
            <a:endParaRPr lang="en-US" sz="2400" dirty="0"/>
          </a:p>
        </p:txBody>
      </p:sp>
      <p:sp>
        <p:nvSpPr>
          <p:cNvPr id="7" name="Shape 4"/>
          <p:cNvSpPr/>
          <p:nvPr/>
        </p:nvSpPr>
        <p:spPr>
          <a:xfrm>
            <a:off x="365760" y="1234440"/>
            <a:ext cx="4114800" cy="3017520"/>
          </a:xfrm>
          <a:prstGeom prst="roundRect">
            <a:avLst>
              <a:gd name="adj" fmla="val 2424"/>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Your task (15 min)</a:t>
            </a:r>
            <a:endParaRPr lang="en-US" sz="1300" dirty="0"/>
          </a:p>
        </p:txBody>
      </p:sp>
      <p:sp>
        <p:nvSpPr>
          <p:cNvPr id="11" name="Text 7"/>
          <p:cNvSpPr txBox="1"/>
          <p:nvPr/>
        </p:nvSpPr>
        <p:spPr>
          <a:xfrm>
            <a:off x="50292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Read the case: TelcoNova churn model, monthly batch, 30-day label lag, two recent changes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Fill the monitoring plan: two data-drift metrics · one concept-drift signal · one performance metric by segment · one operational metric</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For each: threshold (number + window) and action (alert whom, retrain, roll back, investigate)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Bonus: one fairness check, and one risk-questionnaire question that applies</a:t>
            </a:r>
            <a:endParaRPr lang="en-US" sz="1150" dirty="0"/>
          </a:p>
        </p:txBody>
      </p:sp>
      <p:sp>
        <p:nvSpPr>
          <p:cNvPr id="12" name="Shape 8"/>
          <p:cNvSpPr/>
          <p:nvPr/>
        </p:nvSpPr>
        <p:spPr>
          <a:xfrm>
            <a:off x="4663440" y="1234440"/>
            <a:ext cx="4114800" cy="3017520"/>
          </a:xfrm>
          <a:prstGeom prst="roundRect">
            <a:avLst>
              <a:gd name="adj" fmla="val 2424"/>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How to work</a:t>
            </a:r>
            <a:endParaRPr lang="en-US" sz="1300" dirty="0"/>
          </a:p>
        </p:txBody>
      </p:sp>
      <p:sp>
        <p:nvSpPr>
          <p:cNvPr id="16" name="Text 11"/>
          <p:cNvSpPr txBox="1"/>
          <p:nvPr/>
        </p:nvSpPr>
        <p:spPr>
          <a:xfrm>
            <a:off x="480060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Rooms of 4–5: your project team</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Monitoring plan template on campus (or a whiteboard)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Use today's vocabulary: the three kinds of "worse", the plan's four columns, the loop, the two fairness numbers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Ask yourselves: what does a false alarm cost here? and a missed one?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Nominate a spokesperson: 2 minutes</a:t>
            </a:r>
            <a:endParaRPr lang="en-US" sz="1150" dirty="0"/>
          </a:p>
        </p:txBody>
      </p:sp>
      <p:sp>
        <p:nvSpPr>
          <p:cNvPr id="17" name="Shape 12"/>
          <p:cNvSpPr/>
          <p:nvPr/>
        </p:nvSpPr>
        <p:spPr>
          <a:xfrm>
            <a:off x="365760" y="4389120"/>
            <a:ext cx="8412480" cy="365760"/>
          </a:xfrm>
          <a:prstGeom prst="roundRect">
            <a:avLst>
              <a:gd name="adj" fmla="val 20000"/>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4434840"/>
            <a:ext cx="274320" cy="274320"/>
          </a:xfrm>
          <a:prstGeom prst="rect">
            <a:avLst/>
          </a:prstGeom>
        </p:spPr>
      </p:pic>
      <p:sp>
        <p:nvSpPr>
          <p:cNvPr id="19" name="Text 13"/>
          <p:cNvSpPr txBox="1"/>
          <p:nvPr/>
        </p:nvSpPr>
        <p:spPr>
          <a:xfrm>
            <a:off x="896112" y="4389120"/>
            <a:ext cx="7772400" cy="36576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Output per room: one slide or whiteboard. Three rooms present in the debrief; everyone posts theirs on the forum.</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case: TelcoNova churn model (facts only)</a:t>
            </a:r>
            <a:endParaRPr lang="en-US" sz="2400" dirty="0"/>
          </a:p>
        </p:txBody>
      </p:sp>
      <p:sp>
        <p:nvSpPr>
          <p:cNvPr id="7" name="Text 4"/>
          <p:cNvSpPr txBox="1"/>
          <p:nvPr/>
        </p:nvSpPr>
        <p:spPr>
          <a:xfrm>
            <a:off x="365760" y="1234440"/>
            <a:ext cx="5669280" cy="33832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TelcoNova has 2 million residential customers. The churn model scores all of them on the first day of each month; the retention team calls the top 5% (about 100,000 customers) with an offer. A call costs about €4; a saved customer is worth about €300 a year.</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Features: tenure, monthly charges, support tickets, promotions received, contract type, region. Trained in June on the previous twelve months. Evaluation accuracy 82%; the model card sets the retrain trigger at 75%.</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Labels: whether a customer churned is known at the end of the following month (a 30-day lag). Retraining costs two days of a data scientist plus a review by the product owner.</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Change 1 (September): a new pricing plan moved monthly charges up by €10–20 for about 40% of customers. The data team was not told.</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Change 2 (September–October): a competitor launched fibre in two regions. Long-tenure customers there, who never churned, have started to leave.</a:t>
            </a:r>
            <a:endParaRPr lang="en-US" sz="1050" dirty="0"/>
          </a:p>
          <a:p>
            <a:pPr marL="177800" indent="-177800">
              <a:spcAft>
                <a:spcPts val="600"/>
              </a:spcAft>
              <a:buSzPct val="100000"/>
              <a:buChar char="•"/>
            </a:pPr>
            <a:r>
              <a:rPr lang="en-US" sz="1050" dirty="0">
                <a:solidFill>
                  <a:srgbClr val="222222"/>
                </a:solidFill>
                <a:latin typeface="Calibri" pitchFamily="34" charset="0"/>
                <a:ea typeface="Calibri" pitchFamily="34" charset="-122"/>
                <a:cs typeface="Calibri" pitchFamily="34" charset="-120"/>
              </a:rPr>
              <a:t>The retention team reports that October's call list "felt wrong": many loyal customers were not on it, and the saved-customers count fell 15%.</a:t>
            </a:r>
            <a:endParaRPr lang="en-US" sz="1050" dirty="0"/>
          </a:p>
        </p:txBody>
      </p:sp>
      <p:sp>
        <p:nvSpPr>
          <p:cNvPr id="8" name="Shape 5"/>
          <p:cNvSpPr/>
          <p:nvPr/>
        </p:nvSpPr>
        <p:spPr>
          <a:xfrm>
            <a:off x="6309360" y="1234440"/>
            <a:ext cx="2468880" cy="3291840"/>
          </a:xfrm>
          <a:prstGeom prst="roundRect">
            <a:avLst>
              <a:gd name="adj" fmla="val 2963"/>
            </a:avLst>
          </a:prstGeom>
          <a:solidFill>
            <a:srgbClr val="F3F5F8"/>
          </a:solidFill>
          <a:ln w="12700">
            <a:solidFill>
              <a:srgbClr val="F3F5F8"/>
            </a:solidFill>
            <a:prstDash val="solid"/>
          </a:ln>
        </p:spPr>
        <p:txBody>
          <a:bodyPr/>
          <a:p/>
        </p:txBody>
      </p:sp>
      <p:sp>
        <p:nvSpPr>
          <p:cNvPr id="9" name="Text 6"/>
          <p:cNvSpPr txBox="1"/>
          <p:nvPr/>
        </p:nvSpPr>
        <p:spPr>
          <a:xfrm>
            <a:off x="6446520" y="132588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Monitoring plan</a:t>
            </a:r>
            <a:endParaRPr lang="en-US" sz="1250" dirty="0"/>
          </a:p>
        </p:txBody>
      </p:sp>
      <p:sp>
        <p:nvSpPr>
          <p:cNvPr id="10" name="Text 7"/>
          <p:cNvSpPr txBox="1"/>
          <p:nvPr/>
        </p:nvSpPr>
        <p:spPr>
          <a:xfrm>
            <a:off x="6446520" y="1737360"/>
            <a:ext cx="2194560" cy="27432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2 data-drift metrics</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1 concept-drift signal</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1 performance metric, by segment</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1 operational metric</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Each: threshold (number + window) · action · who is alerted</a:t>
            </a:r>
            <a:endParaRPr lang="en-US" sz="1100" dirty="0"/>
          </a:p>
          <a:p>
            <a:pPr marL="177800" indent="-1778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Bonus: 1 fairness check · 1 risk question</a:t>
            </a:r>
            <a:endParaRPr lang="en-US" sz="1100" dirty="0"/>
          </a:p>
        </p:txBody>
      </p:sp>
      <p:pic>
        <p:nvPicPr>
          <p:cNvPr id="1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Debrief: what we heard, and what it tells us</a:t>
            </a:r>
            <a:endParaRPr lang="en-US" sz="2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554480"/>
                <a:gridCol w="6858000"/>
              </a:tblGrid>
              <a:tr h="5029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Row</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 strong answer</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Data drift (2)</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Share of drifted features, weekly: &gt;30% two weeks running → alert ML engineer, check the extract with the data team. Monthly-charges distribution vs training: mean up &gt;€8 → same, and ask the business what changed.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Concept-drift signal (1)</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Predicted risk by region and tenure band, monthly: a segment's mean moves &gt;5 points, or the call list's regional mix shifts sharply → investigate with the business before labels arrive. Business KPI: saved customers per campaign down &gt;10% → escalate to the product owner.</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Performance (1)</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Accuracy on the month's labels, by region and tenure band: &lt;75% overall or &lt;70% in any segment &gt;200 customers → retrain with new labels, consider region interactions; product owner approves the new version.</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Operational (1)</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Batch finished before 6 a.m. on day 1 (else page IT); share of customers with missing features &gt;5% → hold the call list.</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Bonus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Fairness: call-list selection rate by region and tenure band, with a documented justification if unequal. Risk question: contestability or fairness.</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29768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366260"/>
            <a:ext cx="274320" cy="274320"/>
          </a:xfrm>
          <a:prstGeom prst="rect">
            <a:avLst/>
          </a:prstGeom>
        </p:spPr>
      </p:pic>
      <p:sp>
        <p:nvSpPr>
          <p:cNvPr id="10" name="Text 5"/>
          <p:cNvSpPr txBox="1"/>
          <p:nvPr/>
        </p:nvSpPr>
        <p:spPr>
          <a:xfrm>
            <a:off x="896112" y="4297680"/>
            <a:ext cx="7772400" cy="41148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Monitoring is not a dashboard. It is a list of numbers, each with a line and a person behind it.</a:t>
            </a:r>
            <a:endParaRPr lang="en-US" sz="1200" dirty="0"/>
          </a:p>
        </p:txBody>
      </p:sp>
      <p:pic>
        <p:nvPicPr>
          <p:cNvPr id="3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Three things to remember</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Three different things hide behind "worse".</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Data drift: the inputs moved (visible without labels). Concept drift: the behaviour moved (needs labels, hides in segments). Performance decay: the symptom.</a:t>
            </a:r>
            <a:endParaRPr lang="en-US" sz="1200" dirty="0"/>
          </a:p>
        </p:txBody>
      </p:sp>
      <p:sp>
        <p:nvSpPr>
          <p:cNvPr id="11" name="Shape 8"/>
          <p:cNvSpPr/>
          <p:nvPr/>
        </p:nvSpPr>
        <p:spPr>
          <a:xfrm>
            <a:off x="365760" y="2377440"/>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3774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28600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No threshold: a chart. No action: an alarm nobody answers.</a:t>
            </a:r>
            <a:endParaRPr lang="en-US" sz="1600" dirty="0"/>
          </a:p>
        </p:txBody>
      </p:sp>
      <p:sp>
        <p:nvSpPr>
          <p:cNvPr id="14" name="Text 11"/>
          <p:cNvSpPr txBox="1"/>
          <p:nvPr/>
        </p:nvSpPr>
        <p:spPr>
          <a:xfrm>
            <a:off x="1188720" y="269748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monitoring plan: metric, what it detects, number + window, action + person. Set thresholds from the cost of both errors.</a:t>
            </a:r>
            <a:endParaRPr lang="en-US" sz="1200" dirty="0"/>
          </a:p>
        </p:txBody>
      </p:sp>
      <p:sp>
        <p:nvSpPr>
          <p:cNvPr id="15" name="Shape 12"/>
          <p:cNvSpPr/>
          <p:nvPr/>
        </p:nvSpPr>
        <p:spPr>
          <a:xfrm>
            <a:off x="365760" y="3429000"/>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365760" y="3429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33756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Explanations are operational.</a:t>
            </a:r>
            <a:endParaRPr lang="en-US" sz="1600" dirty="0"/>
          </a:p>
        </p:txBody>
      </p:sp>
      <p:sp>
        <p:nvSpPr>
          <p:cNvPr id="18" name="Text 15"/>
          <p:cNvSpPr txBox="1"/>
          <p:nvPr/>
        </p:nvSpPr>
        <p:spPr>
          <a:xfrm>
            <a:off x="1188720" y="374904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Customers, regulators and owners ask for them; they are evidence, not proof; store them with the prediction and watch them move.</a:t>
            </a:r>
            <a:endParaRPr lang="en-US" sz="1200" dirty="0"/>
          </a:p>
        </p:txBody>
      </p:sp>
      <p:pic>
        <p:nvPicPr>
          <p:cNvPr id="1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Your forum this week: Session 8 · 24–30 October, and Video 1</a:t>
            </a:r>
            <a:endParaRPr lang="en-US" sz="2400" dirty="0"/>
          </a:p>
        </p:txBody>
      </p:sp>
      <p:sp>
        <p:nvSpPr>
          <p:cNvPr id="7" name="Shape 4"/>
          <p:cNvSpPr/>
          <p:nvPr/>
        </p:nvSpPr>
        <p:spPr>
          <a:xfrm>
            <a:off x="365760" y="1280160"/>
            <a:ext cx="502920" cy="502920"/>
          </a:xfrm>
          <a:prstGeom prst="ellipse">
            <a:avLst/>
          </a:prstGeom>
          <a:solidFill>
            <a:srgbClr val="1B2A4A"/>
          </a:solidFill>
          <a:ln w="12700">
            <a:solidFill>
              <a:srgbClr val="1B2A4A"/>
            </a:solidFill>
            <a:prstDash val="solid"/>
          </a:ln>
        </p:spPr>
        <p:txBody>
          <a:bodyPr/>
          <a:p/>
        </p:txBody>
      </p:sp>
      <p:sp>
        <p:nvSpPr>
          <p:cNvPr id="8" name="Text 5"/>
          <p:cNvSpPr txBox="1"/>
          <p:nvPr/>
        </p:nvSpPr>
        <p:spPr>
          <a:xfrm>
            <a:off x="365760" y="12801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6"/>
          <p:cNvSpPr txBox="1"/>
          <p:nvPr/>
        </p:nvSpPr>
        <p:spPr>
          <a:xfrm>
            <a:off x="1051560" y="1234440"/>
            <a:ext cx="7726680" cy="82296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For a churn-prediction model, define a monitoring plan: list the metrics you would track for data drift, concept drift, and performance decay, and the alert thresholds that would trigger retraining.</a:t>
            </a:r>
            <a:endParaRPr lang="en-US" sz="1150" dirty="0"/>
          </a:p>
        </p:txBody>
      </p:sp>
      <p:sp>
        <p:nvSpPr>
          <p:cNvPr id="10" name="Shape 7"/>
          <p:cNvSpPr/>
          <p:nvPr/>
        </p:nvSpPr>
        <p:spPr>
          <a:xfrm>
            <a:off x="365760" y="2148840"/>
            <a:ext cx="502920" cy="502920"/>
          </a:xfrm>
          <a:prstGeom prst="ellipse">
            <a:avLst/>
          </a:prstGeom>
          <a:solidFill>
            <a:srgbClr val="1B2A4A"/>
          </a:solidFill>
          <a:ln w="12700">
            <a:solidFill>
              <a:srgbClr val="1B2A4A"/>
            </a:solidFill>
            <a:prstDash val="solid"/>
          </a:ln>
        </p:spPr>
        <p:txBody>
          <a:bodyPr/>
          <a:p/>
        </p:txBody>
      </p:sp>
      <p:sp>
        <p:nvSpPr>
          <p:cNvPr id="11" name="Text 8"/>
          <p:cNvSpPr txBox="1"/>
          <p:nvPr/>
        </p:nvSpPr>
        <p:spPr>
          <a:xfrm>
            <a:off x="365760" y="2148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2" name="Text 9"/>
          <p:cNvSpPr txBox="1"/>
          <p:nvPr/>
        </p:nvSpPr>
        <p:spPr>
          <a:xfrm>
            <a:off x="1051560" y="2103120"/>
            <a:ext cx="7726680" cy="82296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Explain the difference between data drift and concept drift with a concrete example of each. How would your operational response differ between the two?</a:t>
            </a:r>
            <a:endParaRPr lang="en-US" sz="1150" dirty="0"/>
          </a:p>
        </p:txBody>
      </p:sp>
      <p:sp>
        <p:nvSpPr>
          <p:cNvPr id="13" name="Shape 10"/>
          <p:cNvSpPr/>
          <p:nvPr/>
        </p:nvSpPr>
        <p:spPr>
          <a:xfrm>
            <a:off x="365760" y="3017520"/>
            <a:ext cx="502920" cy="502920"/>
          </a:xfrm>
          <a:prstGeom prst="ellipse">
            <a:avLst/>
          </a:prstGeom>
          <a:solidFill>
            <a:srgbClr val="1B2A4A"/>
          </a:solidFill>
          <a:ln w="12700">
            <a:solidFill>
              <a:srgbClr val="1B2A4A"/>
            </a:solidFill>
            <a:prstDash val="solid"/>
          </a:ln>
        </p:spPr>
        <p:txBody>
          <a:bodyPr/>
          <a:p/>
        </p:txBody>
      </p:sp>
      <p:sp>
        <p:nvSpPr>
          <p:cNvPr id="14" name="Text 11"/>
          <p:cNvSpPr txBox="1"/>
          <p:nvPr/>
        </p:nvSpPr>
        <p:spPr>
          <a:xfrm>
            <a:off x="365760" y="30175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5" name="Text 12"/>
          <p:cNvSpPr txBox="1"/>
          <p:nvPr/>
        </p:nvSpPr>
        <p:spPr>
          <a:xfrm>
            <a:off x="1051560" y="2971800"/>
            <a:ext cx="7726680" cy="82296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Pick an algorithmic decision system (e.g., credit scoring). Identify one fairness risk and one explainability requirement, and describe how you would audit for each.</a:t>
            </a:r>
            <a:endParaRPr lang="en-US" sz="1150" dirty="0"/>
          </a:p>
        </p:txBody>
      </p:sp>
      <p:sp>
        <p:nvSpPr>
          <p:cNvPr id="16" name="Shape 13"/>
          <p:cNvSpPr/>
          <p:nvPr/>
        </p:nvSpPr>
        <p:spPr>
          <a:xfrm>
            <a:off x="365760" y="3840480"/>
            <a:ext cx="8412480" cy="822960"/>
          </a:xfrm>
          <a:prstGeom prst="roundRect">
            <a:avLst>
              <a:gd name="adj" fmla="val 8889"/>
            </a:avLst>
          </a:prstGeom>
          <a:solidFill>
            <a:srgbClr val="1B2A4A"/>
          </a:solidFill>
          <a:ln w="12700">
            <a:solidFill>
              <a:srgbClr val="1B2A4A"/>
            </a:solidFill>
            <a:prstDash val="solid"/>
          </a:ln>
        </p:spPr>
        <p:txBody>
          <a:bodyPr/>
          <a:p/>
        </p:txBody>
      </p:sp>
      <p:pic>
        <p:nvPicPr>
          <p:cNvPr id="17" name="Image 0" descr="preencoded.png">    </p:cNvPr>
          <p:cNvPicPr>
            <a:picLocks noChangeAspect="1"/>
          </p:cNvPicPr>
          <p:nvPr/>
        </p:nvPicPr>
        <p:blipFill>
          <a:blip r:embed="rId1"/>
          <a:stretch>
            <a:fillRect/>
          </a:stretch>
        </p:blipFill>
        <p:spPr>
          <a:xfrm>
            <a:off x="548640" y="4069080"/>
            <a:ext cx="365760" cy="365760"/>
          </a:xfrm>
          <a:prstGeom prst="rect">
            <a:avLst/>
          </a:prstGeom>
        </p:spPr>
      </p:pic>
      <p:sp>
        <p:nvSpPr>
          <p:cNvPr id="18" name="Text 14"/>
          <p:cNvSpPr txBox="1"/>
          <p:nvPr/>
        </p:nvSpPr>
        <p:spPr>
          <a:xfrm>
            <a:off x="1051560" y="3886200"/>
            <a:ext cx="7589520" cy="7315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Video 1 opens today: Monitoring Metrics in Depth (60 min, self-paced) · </a:t>
            </a:r>
            <a:pPr indent="0" marL="0">
              <a:buNone/>
            </a:pPr>
            <a:r>
              <a:rPr lang="en-US" sz="1150" dirty="0">
                <a:solidFill>
                  <a:srgbClr val="FFFFFF"/>
                </a:solidFill>
                <a:latin typeface="Calibri" pitchFamily="34" charset="0"/>
                <a:ea typeface="Calibri" pitchFamily="34" charset="-122"/>
                <a:cs typeface="Calibri" pitchFamily="34" charset="-120"/>
              </a:rPr>
              <a:t>a 10-question knowledge check that counts towards continuous assessment. Watch it before answering Q1; the forum is about decisions, the video about definitions.</a:t>
            </a:r>
            <a:endParaRPr lang="en-US" sz="115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Before Session 10 (Saturday 31 October): read the failure briefs, and watch Video 1</a:t>
            </a:r>
            <a:endParaRPr lang="en-US" sz="2400" dirty="0"/>
          </a:p>
        </p:txBody>
      </p:sp>
      <p:sp>
        <p:nvSpPr>
          <p:cNvPr id="7" name="Shape 4"/>
          <p:cNvSpPr/>
          <p:nvPr/>
        </p:nvSpPr>
        <p:spPr>
          <a:xfrm>
            <a:off x="365760" y="123444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Read</a:t>
            </a:r>
            <a:endParaRPr lang="en-US" sz="1300" dirty="0"/>
          </a:p>
        </p:txBody>
      </p:sp>
      <p:sp>
        <p:nvSpPr>
          <p:cNvPr id="11" name="Text 7"/>
          <p:cNvSpPr txBox="1"/>
          <p:nvPr/>
        </p:nvSpPr>
        <p:spPr>
          <a:xfrm>
            <a:off x="50292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six failure briefs on campus (one page each). Your team is allocated one; arrive having read it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Optional: Huyen, AI Engineering (O'Reilly, 2025), chapters 1 and 4</a:t>
            </a:r>
            <a:endParaRPr lang="en-US" sz="1150" dirty="0"/>
          </a:p>
        </p:txBody>
      </p:sp>
      <p:sp>
        <p:nvSpPr>
          <p:cNvPr id="12" name="Shape 8"/>
          <p:cNvSpPr/>
          <p:nvPr/>
        </p:nvSpPr>
        <p:spPr>
          <a:xfrm>
            <a:off x="4663440" y="1234440"/>
            <a:ext cx="4114800" cy="2011680"/>
          </a:xfrm>
          <a:prstGeom prst="roundRect">
            <a:avLst>
              <a:gd name="adj" fmla="val 3636"/>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Watch and answer</a:t>
            </a:r>
            <a:endParaRPr lang="en-US" sz="1300" dirty="0"/>
          </a:p>
        </p:txBody>
      </p:sp>
      <p:sp>
        <p:nvSpPr>
          <p:cNvPr id="16" name="Text 11"/>
          <p:cNvSpPr txBox="1"/>
          <p:nvPr/>
        </p:nvSpPr>
        <p:spPr>
          <a:xfrm>
            <a:off x="480060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Video 1: Monitoring Metrics in Depth (60 min)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knowledge check inside it, by Friday 30 October</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Bring one metric you did not know to Session 10</a:t>
            </a:r>
            <a:endParaRPr lang="en-US" sz="1150" dirty="0"/>
          </a:p>
        </p:txBody>
      </p:sp>
      <p:sp>
        <p:nvSpPr>
          <p:cNvPr id="17" name="Shape 12"/>
          <p:cNvSpPr/>
          <p:nvPr/>
        </p:nvSpPr>
        <p:spPr>
          <a:xfrm>
            <a:off x="365760" y="3429000"/>
            <a:ext cx="8412480" cy="914400"/>
          </a:xfrm>
          <a:prstGeom prst="roundRect">
            <a:avLst>
              <a:gd name="adj" fmla="val 8000"/>
            </a:avLst>
          </a:prstGeom>
          <a:solidFill>
            <a:srgbClr val="1B2A4A"/>
          </a:solidFill>
          <a:ln w="12700">
            <a:solidFill>
              <a:srgbClr val="1B2A4A"/>
            </a:solidFill>
            <a:prstDash val="solid"/>
          </a:ln>
        </p:spPr>
        <p:txBody>
          <a:bodyPr/>
          <a:p/>
        </p:txBody>
      </p:sp>
      <p:sp>
        <p:nvSpPr>
          <p:cNvPr id="18" name="Text 13"/>
          <p:cNvSpPr txBox="1"/>
          <p:nvPr/>
        </p:nvSpPr>
        <p:spPr>
          <a:xfrm>
            <a:off x="548640" y="3474720"/>
            <a:ext cx="80467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Next: Session 10 · LLMOps &amp; Enterprise Scenario Diagnostics</a:t>
            </a:r>
            <a:endParaRPr lang="en-US" sz="1400" dirty="0"/>
          </a:p>
        </p:txBody>
      </p:sp>
      <p:sp>
        <p:nvSpPr>
          <p:cNvPr id="19" name="Text 14"/>
          <p:cNvSpPr txBox="1"/>
          <p:nvPr/>
        </p:nvSpPr>
        <p:spPr>
          <a:xfrm>
            <a:off x="548640" y="3840480"/>
            <a:ext cx="8046720" cy="45720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What changes when the model is a language model · prompts, RAG, guardrails, cost · the failure-case workshop · the course in one picture</a:t>
            </a:r>
            <a:endParaRPr lang="en-US" sz="1200" dirty="0"/>
          </a:p>
        </p:txBody>
      </p:sp>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E3F63"/>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35</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Appendix · Drift statistics and explainers (not examinable)</a:t>
            </a:r>
            <a:endParaRPr lang="en-US" sz="2600" dirty="0"/>
          </a:p>
        </p:txBody>
      </p:sp>
      <p:sp>
        <p:nvSpPr>
          <p:cNvPr id="6" name="Text 4"/>
          <p:cNvSpPr txBox="1"/>
          <p:nvPr/>
        </p:nvSpPr>
        <p:spPr>
          <a:xfrm>
            <a:off x="548640" y="2286000"/>
            <a:ext cx="804672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Five slides for the curious: the two univariate tests, the domain classifier, how LIME and SHAP compute an explanation, and the Python lines behind the demo (Evidently; SHAP and LIME). Not covered live; not in the exam.</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Two tests, one feature at a time</a:t>
            </a:r>
            <a:endParaRPr lang="en-US" sz="2400" dirty="0"/>
          </a:p>
        </p:txBody>
      </p:sp>
      <p:sp>
        <p:nvSpPr>
          <p:cNvPr id="7" name="Shape 4"/>
          <p:cNvSpPr/>
          <p:nvPr/>
        </p:nvSpPr>
        <p:spPr>
          <a:xfrm>
            <a:off x="36576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Kolmogorov–Smirnov (continuous)</a:t>
            </a:r>
            <a:endParaRPr lang="en-US" sz="1300" dirty="0"/>
          </a:p>
        </p:txBody>
      </p:sp>
      <p:sp>
        <p:nvSpPr>
          <p:cNvPr id="11" name="Text 7"/>
          <p:cNvSpPr txBox="1"/>
          <p:nvPr/>
        </p:nvSpPr>
        <p:spPr>
          <a:xfrm>
            <a:off x="50292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Do two samples come from the same distribution?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Measures the largest gap between the two cumulative curves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Small p-value: the difference is unlikely to be chance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Reported alongside a distance: Wasserstein</a:t>
            </a:r>
            <a:endParaRPr lang="en-US" sz="1150" dirty="0"/>
          </a:p>
        </p:txBody>
      </p:sp>
      <p:sp>
        <p:nvSpPr>
          <p:cNvPr id="12" name="Shape 8"/>
          <p:cNvSpPr/>
          <p:nvPr/>
        </p:nvSpPr>
        <p:spPr>
          <a:xfrm>
            <a:off x="466344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Chi-squared (categorical)</a:t>
            </a:r>
            <a:endParaRPr lang="en-US" sz="1300" dirty="0"/>
          </a:p>
        </p:txBody>
      </p:sp>
      <p:sp>
        <p:nvSpPr>
          <p:cNvPr id="16" name="Text 11"/>
          <p:cNvSpPr txBox="1"/>
          <p:nvPr/>
        </p:nvSpPr>
        <p:spPr>
          <a:xfrm>
            <a:off x="480060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Do the category frequencies match the training frequencies?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Observed vs expected counts per category</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Same reading: small p-value, unlikely to be chance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Reported alongside a distance: Jensen–Shannon</a:t>
            </a:r>
            <a:endParaRPr lang="en-US" sz="1150" dirty="0"/>
          </a:p>
        </p:txBody>
      </p:sp>
      <p:sp>
        <p:nvSpPr>
          <p:cNvPr id="17" name="Shape 12"/>
          <p:cNvSpPr/>
          <p:nvPr/>
        </p:nvSpPr>
        <p:spPr>
          <a:xfrm>
            <a:off x="365760" y="379476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931920"/>
            <a:ext cx="274320" cy="274320"/>
          </a:xfrm>
          <a:prstGeom prst="rect">
            <a:avLst/>
          </a:prstGeom>
        </p:spPr>
      </p:pic>
      <p:sp>
        <p:nvSpPr>
          <p:cNvPr id="19" name="Text 13"/>
          <p:cNvSpPr txBox="1"/>
          <p:nvPr/>
        </p:nvSpPr>
        <p:spPr>
          <a:xfrm>
            <a:off x="896112" y="3794760"/>
            <a:ext cx="7772400" cy="548640"/>
          </a:xfrm>
          <a:prstGeom prst="rect">
            <a:avLst/>
          </a:prstGeom>
          <a:noFill/>
          <a:ln/>
        </p:spPr>
        <p:txBody>
          <a:bodyPr wrap="square" lIns="0" tIns="0" rIns="0" bIns="0" rtlCol="0" anchor="ctr"/>
          <a:lstStyle/>
          <a:p>
            <a:pPr indent="0" marL="0">
              <a:buNone/>
            </a:pPr>
            <a:r>
              <a:rPr lang="en-US" sz="1150" dirty="0">
                <a:solidFill>
                  <a:srgbClr val="1B2A4A"/>
                </a:solidFill>
                <a:latin typeface="Calibri" pitchFamily="34" charset="0"/>
                <a:ea typeface="Calibri" pitchFamily="34" charset="-122"/>
                <a:cs typeface="Calibri" pitchFamily="34" charset="-120"/>
              </a:rPr>
              <a:t>p-values detect an effect; they do not measure its size. On big data they flag tiny changes. Set thresholds on the distance, not only on the p-value.</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The domain classifier</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Label rows by origin</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Training set = 0, production set = 1. Optionally add the model's prediction as a feature.</a:t>
            </a:r>
            <a:endParaRPr lang="en-US" sz="1200" dirty="0"/>
          </a:p>
        </p:txBody>
      </p:sp>
      <p:sp>
        <p:nvSpPr>
          <p:cNvPr id="11" name="Shape 8"/>
          <p:cNvSpPr/>
          <p:nvPr/>
        </p:nvSpPr>
        <p:spPr>
          <a:xfrm>
            <a:off x="365760" y="2377440"/>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3774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28600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Train a classifier on that label</a:t>
            </a:r>
            <a:endParaRPr lang="en-US" sz="1600" dirty="0"/>
          </a:p>
        </p:txBody>
      </p:sp>
      <p:sp>
        <p:nvSpPr>
          <p:cNvPr id="14" name="Text 11"/>
          <p:cNvSpPr txBox="1"/>
          <p:nvPr/>
        </p:nvSpPr>
        <p:spPr>
          <a:xfrm>
            <a:off x="1188720" y="269748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If it scores near 50%, the two look alike: no drift. If it scores high, the data has drifted; its accuracy is the drift score.</a:t>
            </a:r>
            <a:endParaRPr lang="en-US" sz="1200" dirty="0"/>
          </a:p>
        </p:txBody>
      </p:sp>
      <p:sp>
        <p:nvSpPr>
          <p:cNvPr id="15" name="Shape 12"/>
          <p:cNvSpPr/>
          <p:nvPr/>
        </p:nvSpPr>
        <p:spPr>
          <a:xfrm>
            <a:off x="365760" y="3429000"/>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365760" y="3429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33756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Read its feature importance</a:t>
            </a:r>
            <a:endParaRPr lang="en-US" sz="1600" dirty="0"/>
          </a:p>
        </p:txBody>
      </p:sp>
      <p:sp>
        <p:nvSpPr>
          <p:cNvPr id="18" name="Text 15"/>
          <p:cNvSpPr txBox="1"/>
          <p:nvPr/>
        </p:nvSpPr>
        <p:spPr>
          <a:xfrm>
            <a:off x="1188720" y="374904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features it used to tell them apart are the ones that moved, including combinations that single-feature tests miss.</a:t>
            </a:r>
            <a:endParaRPr lang="en-US" sz="1200" dirty="0"/>
          </a:p>
        </p:txBody>
      </p:sp>
      <p:pic>
        <p:nvPicPr>
          <p:cNvPr id="1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How LIME and SHAP compute an explanation</a:t>
            </a:r>
            <a:endParaRPr lang="en-US" sz="2400" dirty="0"/>
          </a:p>
        </p:txBody>
      </p:sp>
      <p:sp>
        <p:nvSpPr>
          <p:cNvPr id="7" name="Shape 4"/>
          <p:cNvSpPr/>
          <p:nvPr/>
        </p:nvSpPr>
        <p:spPr>
          <a:xfrm>
            <a:off x="365760" y="1234440"/>
            <a:ext cx="4114800" cy="2834640"/>
          </a:xfrm>
          <a:prstGeom prst="roundRect">
            <a:avLst>
              <a:gd name="adj" fmla="val 2581"/>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LIME</a:t>
            </a:r>
            <a:endParaRPr lang="en-US" sz="1300" dirty="0"/>
          </a:p>
        </p:txBody>
      </p:sp>
      <p:sp>
        <p:nvSpPr>
          <p:cNvPr id="11" name="Text 7"/>
          <p:cNvSpPr txBox="1"/>
          <p:nvPr/>
        </p:nvSpPr>
        <p:spPr>
          <a:xfrm>
            <a:off x="502920" y="1783080"/>
            <a:ext cx="3840480" cy="21945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Perturb the input many times; score the variations; fit a simple linear model around the point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Its weights are the explanation</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Model-agnostic: works for text and images too</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Cons: local fit may be poor; results vary with sampling</a:t>
            </a:r>
            <a:endParaRPr lang="en-US" sz="1150" dirty="0"/>
          </a:p>
        </p:txBody>
      </p:sp>
      <p:sp>
        <p:nvSpPr>
          <p:cNvPr id="12" name="Shape 8"/>
          <p:cNvSpPr/>
          <p:nvPr/>
        </p:nvSpPr>
        <p:spPr>
          <a:xfrm>
            <a:off x="4663440" y="1234440"/>
            <a:ext cx="4114800" cy="2834640"/>
          </a:xfrm>
          <a:prstGeom prst="roundRect">
            <a:avLst>
              <a:gd name="adj" fmla="val 2581"/>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SHAP</a:t>
            </a:r>
            <a:endParaRPr lang="en-US" sz="1300" dirty="0"/>
          </a:p>
        </p:txBody>
      </p:sp>
      <p:sp>
        <p:nvSpPr>
          <p:cNvPr id="16" name="Text 11"/>
          <p:cNvSpPr txBox="1"/>
          <p:nvPr/>
        </p:nvSpPr>
        <p:spPr>
          <a:xfrm>
            <a:off x="4800600" y="1783080"/>
            <a:ext cx="3840480" cy="21945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Each feature's contribution = its average marginal effect over all orderings (Shapley values)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Contributions add up exactly to prediction minus average: the waterfall</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Exact and fast for trees; approximate otherwise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Plots: waterfall (one case), beeswarm and bar (many cases)</a:t>
            </a:r>
            <a:endParaRPr lang="en-US" sz="1150" dirty="0"/>
          </a:p>
        </p:txBody>
      </p:sp>
      <p:sp>
        <p:nvSpPr>
          <p:cNvPr id="17" name="Text 12"/>
          <p:cNvSpPr txBox="1"/>
          <p:nvPr/>
        </p:nvSpPr>
        <p:spPr>
          <a:xfrm>
            <a:off x="365760" y="4206240"/>
            <a:ext cx="8412480" cy="274320"/>
          </a:xfrm>
          <a:prstGeom prst="rect">
            <a:avLst/>
          </a:prstGeom>
          <a:noFill/>
          <a:ln/>
        </p:spPr>
        <p:txBody>
          <a:bodyPr wrap="square" lIns="0" tIns="0" rIns="0" bIns="0" rtlCol="0" anchor="t"/>
          <a:lstStyle/>
          <a:p>
            <a:pPr algn="l" indent="0" marL="0">
              <a:buNone/>
            </a:pPr>
            <a:r>
              <a:rPr lang="en-US" sz="900" i="1" dirty="0">
                <a:solidFill>
                  <a:srgbClr val="6B7280"/>
                </a:solidFill>
                <a:latin typeface="Calibri" pitchFamily="34" charset="0"/>
                <a:ea typeface="Calibri" pitchFamily="34" charset="-122"/>
                <a:cs typeface="Calibri" pitchFamily="34" charset="-120"/>
              </a:rPr>
              <a:t>Ribeiro, Singh &amp; Guestrin (2016); Lundberg &amp; Lee (2017). Demo files: S07/demo/shap_waterfall.png, lime_customer.html, lime_text.html</a:t>
            </a:r>
            <a:endParaRPr lang="en-US" sz="900" dirty="0"/>
          </a:p>
        </p:txBody>
      </p:sp>
      <p:pic>
        <p:nvPicPr>
          <p:cNvPr id="18"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The Evidently lines behind the drift report</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algn="l" indent="0" marL="0">
              <a:buNone/>
            </a:pPr>
            <a:r>
              <a:rPr lang="en-US" sz="1250" b="1" dirty="0">
                <a:solidFill>
                  <a:srgbClr val="0E7C86"/>
                </a:solidFill>
                <a:latin typeface="Calibri" pitchFamily="34" charset="0"/>
                <a:ea typeface="Calibri" pitchFamily="34" charset="-122"/>
                <a:cs typeface="Calibri" pitchFamily="34" charset="-120"/>
              </a:rPr>
              <a:t>The report you saw (s7_demo_setup.py)</a:t>
            </a:r>
            <a:endParaRPr lang="en-US" sz="1250" dirty="0"/>
          </a:p>
        </p:txBody>
      </p:sp>
      <p:sp>
        <p:nvSpPr>
          <p:cNvPr id="8" name="Shape 5"/>
          <p:cNvSpPr/>
          <p:nvPr/>
        </p:nvSpPr>
        <p:spPr>
          <a:xfrm>
            <a:off x="365760" y="1508760"/>
            <a:ext cx="4023360" cy="2743200"/>
          </a:xfrm>
          <a:prstGeom prst="roundRect">
            <a:avLst>
              <a:gd name="adj" fmla="val 2667"/>
            </a:avLst>
          </a:prstGeom>
          <a:solidFill>
            <a:srgbClr val="E3F1F2"/>
          </a:solidFill>
          <a:ln w="12700">
            <a:solidFill>
              <a:srgbClr val="E3F1F2"/>
            </a:solidFill>
            <a:prstDash val="solid"/>
          </a:ln>
        </p:spPr>
        <p:txBody>
          <a:bodyPr/>
          <a:p/>
        </p:txBody>
      </p:sp>
      <p:sp>
        <p:nvSpPr>
          <p:cNvPr id="9" name="Text 6"/>
          <p:cNvSpPr txBox="1"/>
          <p:nvPr/>
        </p:nvSpPr>
        <p:spPr>
          <a:xfrm>
            <a:off x="502920" y="1600200"/>
            <a:ext cx="3794760" cy="2606040"/>
          </a:xfrm>
          <a:prstGeom prst="rect">
            <a:avLst/>
          </a:prstGeom>
          <a:noFill/>
          <a:ln/>
        </p:spPr>
        <p:txBody>
          <a:bodyPr wrap="square" lIns="0" tIns="0" rIns="0" bIns="0" rtlCol="0" anchor="t"/>
          <a:lstStyle/>
          <a:p>
            <a:pPr indent="0" marL="0">
              <a:buNone/>
            </a:pPr>
            <a:r>
              <a:rPr lang="en-US" sz="850" b="1" dirty="0">
                <a:solidFill>
                  <a:srgbClr val="0E7C86"/>
                </a:solidFill>
                <a:latin typeface="Courier New" pitchFamily="34" charset="0"/>
                <a:ea typeface="Courier New" pitchFamily="34" charset="-122"/>
                <a:cs typeface="Courier New" pitchFamily="34" charset="-120"/>
              </a:rPr>
              <a:t>from evidently import Report, Dataset, DataDefinition</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from evidently.presets import DataDriftPreset</a:t>
            </a:r>
            <a:endParaRPr lang="en-US" sz="850" dirty="0"/>
          </a:p>
          <a:p>
            <a:pPr indent="0" marL="0">
              <a:buNone/>
            </a:pP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ref["prediction"] = model.predict_proba(ref[F])[:, 1]</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cur["prediction"] = model.predict_proba(cur[F])[:, 1]</a:t>
            </a:r>
            <a:endParaRPr lang="en-US" sz="850" dirty="0"/>
          </a:p>
          <a:p>
            <a:pPr indent="0" marL="0">
              <a:buNone/>
            </a:pP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d = DataDefinition(</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numerical_columns=["tenure_months", "monthly_charges",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"support_tickets", "promo_weeks", "prediction"],</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categorical_columns=["is_monthly", "region_north"])</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ref_ds = Dataset.from_pandas(ref, data_definition=d)</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cur_ds = Dataset.from_pandas(cur, data_definition=d)</a:t>
            </a:r>
            <a:endParaRPr lang="en-US" sz="850" dirty="0"/>
          </a:p>
          <a:p>
            <a:pPr indent="0" marL="0">
              <a:buNone/>
            </a:pP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report = Report([DataDriftPreset()])</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snap = report.run(cur_ds, ref_ds)   # current, reference</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snap.save_html("drift_report.html")</a:t>
            </a:r>
            <a:endParaRPr lang="en-US" sz="850" dirty="0"/>
          </a:p>
        </p:txBody>
      </p:sp>
      <p:sp>
        <p:nvSpPr>
          <p:cNvPr id="10" name="Text 7"/>
          <p:cNvSpPr txBox="1"/>
          <p:nvPr/>
        </p:nvSpPr>
        <p:spPr>
          <a:xfrm>
            <a:off x="4754880" y="1188720"/>
            <a:ext cx="4023360" cy="274320"/>
          </a:xfrm>
          <a:prstGeom prst="rect">
            <a:avLst/>
          </a:prstGeom>
          <a:noFill/>
          <a:ln/>
        </p:spPr>
        <p:txBody>
          <a:bodyPr wrap="square" lIns="0" tIns="0" rIns="0" bIns="0" rtlCol="0" anchor="t"/>
          <a:lstStyle/>
          <a:p>
            <a:pPr algn="l" indent="0" marL="0">
              <a:buNone/>
            </a:pPr>
            <a:r>
              <a:rPr lang="en-US" sz="1250" b="1" dirty="0">
                <a:solidFill>
                  <a:srgbClr val="E07A2F"/>
                </a:solidFill>
                <a:latin typeface="Calibri" pitchFamily="34" charset="0"/>
                <a:ea typeface="Calibri" pitchFamily="34" charset="-122"/>
                <a:cs typeface="Calibri" pitchFamily="34" charset="-120"/>
              </a:rPr>
              <a:t>The same, as tests a scheduler can act on (Video 1)</a:t>
            </a:r>
            <a:endParaRPr lang="en-US" sz="1250" dirty="0"/>
          </a:p>
        </p:txBody>
      </p:sp>
      <p:sp>
        <p:nvSpPr>
          <p:cNvPr id="11" name="Shape 8"/>
          <p:cNvSpPr/>
          <p:nvPr/>
        </p:nvSpPr>
        <p:spPr>
          <a:xfrm>
            <a:off x="4754880" y="1508760"/>
            <a:ext cx="4023360" cy="2743200"/>
          </a:xfrm>
          <a:prstGeom prst="roundRect">
            <a:avLst>
              <a:gd name="adj" fmla="val 2667"/>
            </a:avLst>
          </a:prstGeom>
          <a:solidFill>
            <a:srgbClr val="FBE9DC"/>
          </a:solidFill>
          <a:ln w="12700">
            <a:solidFill>
              <a:srgbClr val="FBE9DC"/>
            </a:solidFill>
            <a:prstDash val="solid"/>
          </a:ln>
        </p:spPr>
        <p:txBody>
          <a:bodyPr/>
          <a:p/>
        </p:txBody>
      </p:sp>
      <p:sp>
        <p:nvSpPr>
          <p:cNvPr id="12" name="Text 9"/>
          <p:cNvSpPr txBox="1"/>
          <p:nvPr/>
        </p:nvSpPr>
        <p:spPr>
          <a:xfrm>
            <a:off x="4892040" y="1600200"/>
            <a:ext cx="3794760" cy="2606040"/>
          </a:xfrm>
          <a:prstGeom prst="rect">
            <a:avLst/>
          </a:prstGeom>
          <a:noFill/>
          <a:ln/>
        </p:spPr>
        <p:txBody>
          <a:bodyPr wrap="square" lIns="0" tIns="0" rIns="0" bIns="0" rtlCol="0" anchor="t"/>
          <a:lstStyle/>
          <a:p>
            <a:pPr indent="0" marL="0">
              <a:buNone/>
            </a:pPr>
            <a:r>
              <a:rPr lang="en-US" sz="850" b="1" dirty="0">
                <a:solidFill>
                  <a:srgbClr val="8A3F0C"/>
                </a:solidFill>
                <a:latin typeface="Courier New" pitchFamily="34" charset="0"/>
                <a:ea typeface="Courier New" pitchFamily="34" charset="-122"/>
                <a:cs typeface="Courier New" pitchFamily="34" charset="-120"/>
              </a:rPr>
              <a:t>from evidently.metrics import (DriftedColumnsCount,</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ValueDrift, MissingValueCount, MeanValue)</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from evidently.tests import lt, lte</a:t>
            </a:r>
            <a:endParaRPr lang="en-US" sz="850" dirty="0"/>
          </a:p>
          <a:p>
            <a:pPr indent="0" marL="0">
              <a:buNone/>
            </a:pP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report = Report([</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DriftedColumnsCount(tests=[lte(2)]),        # &lt;= 2 of 7</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MeanValue(column="monthly_charges",</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tests=[lte(70)]),                 # &lt;= 70 EUR</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MissingValueCount(column="tenure_months",</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tests=[lte(0.05)]),               # &lt;= 5%</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ValueDrift(column="prediction",</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tests=[lt(0.10)]),                # &lt; 0.10</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snap = report.run(cur_ds, ref_ds)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for t in snap.dict()["tests"]:</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print(t["status"], t["name"])        # PASS / FAIL</a:t>
            </a:r>
            <a:endParaRPr lang="en-US" sz="850" dirty="0"/>
          </a:p>
        </p:txBody>
      </p:sp>
      <p:sp>
        <p:nvSpPr>
          <p:cNvPr id="13" name="Shape 10"/>
          <p:cNvSpPr/>
          <p:nvPr/>
        </p:nvSpPr>
        <p:spPr>
          <a:xfrm>
            <a:off x="365760" y="434340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14" name="Image 0" descr="preencoded.png">    </p:cNvPr>
          <p:cNvPicPr>
            <a:picLocks noChangeAspect="1"/>
          </p:cNvPicPr>
          <p:nvPr/>
        </p:nvPicPr>
        <p:blipFill>
          <a:blip r:embed="rId1"/>
          <a:stretch>
            <a:fillRect/>
          </a:stretch>
        </p:blipFill>
        <p:spPr>
          <a:xfrm>
            <a:off x="502920" y="4411980"/>
            <a:ext cx="274320" cy="274320"/>
          </a:xfrm>
          <a:prstGeom prst="rect">
            <a:avLst/>
          </a:prstGeom>
        </p:spPr>
      </p:pic>
      <p:sp>
        <p:nvSpPr>
          <p:cNvPr id="15" name="Text 11"/>
          <p:cNvSpPr txBox="1"/>
          <p:nvPr/>
        </p:nvSpPr>
        <p:spPr>
          <a:xfrm>
            <a:off x="896112" y="4343400"/>
            <a:ext cx="7772400" cy="41148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The model is never touched: monitoring code sits beside the model, not inside it. Left produces a page for a person; right produces PASS/FAIL for a scheduler (S09/demo/run_alert_checks.py).</a:t>
            </a:r>
            <a:endParaRPr lang="en-US" sz="1050" dirty="0"/>
          </a:p>
        </p:txBody>
      </p:sp>
      <p:pic>
        <p:nvPicPr>
          <p:cNvPr id="1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7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The SHAP and LIME lines behind the explanations</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algn="l" indent="0" marL="0">
              <a:buNone/>
            </a:pPr>
            <a:r>
              <a:rPr lang="en-US" sz="1250" b="1" dirty="0">
                <a:solidFill>
                  <a:srgbClr val="0E7C86"/>
                </a:solidFill>
                <a:latin typeface="Calibri" pitchFamily="34" charset="0"/>
                <a:ea typeface="Calibri" pitchFamily="34" charset="-122"/>
                <a:cs typeface="Calibri" pitchFamily="34" charset="-120"/>
              </a:rPr>
              <a:t>SHAP: the waterfall and the beeswarm</a:t>
            </a:r>
            <a:endParaRPr lang="en-US" sz="1250" dirty="0"/>
          </a:p>
        </p:txBody>
      </p:sp>
      <p:sp>
        <p:nvSpPr>
          <p:cNvPr id="8" name="Shape 5"/>
          <p:cNvSpPr/>
          <p:nvPr/>
        </p:nvSpPr>
        <p:spPr>
          <a:xfrm>
            <a:off x="365760" y="1508760"/>
            <a:ext cx="4023360" cy="2743200"/>
          </a:xfrm>
          <a:prstGeom prst="roundRect">
            <a:avLst>
              <a:gd name="adj" fmla="val 2667"/>
            </a:avLst>
          </a:prstGeom>
          <a:solidFill>
            <a:srgbClr val="E3F1F2"/>
          </a:solidFill>
          <a:ln w="12700">
            <a:solidFill>
              <a:srgbClr val="E3F1F2"/>
            </a:solidFill>
            <a:prstDash val="solid"/>
          </a:ln>
        </p:spPr>
        <p:txBody>
          <a:bodyPr/>
          <a:p/>
        </p:txBody>
      </p:sp>
      <p:sp>
        <p:nvSpPr>
          <p:cNvPr id="9" name="Text 6"/>
          <p:cNvSpPr txBox="1"/>
          <p:nvPr/>
        </p:nvSpPr>
        <p:spPr>
          <a:xfrm>
            <a:off x="502920" y="1600200"/>
            <a:ext cx="3794760" cy="2606040"/>
          </a:xfrm>
          <a:prstGeom prst="rect">
            <a:avLst/>
          </a:prstGeom>
          <a:noFill/>
          <a:ln/>
        </p:spPr>
        <p:txBody>
          <a:bodyPr wrap="square" lIns="0" tIns="0" rIns="0" bIns="0" rtlCol="0" anchor="t"/>
          <a:lstStyle/>
          <a:p>
            <a:pPr indent="0" marL="0">
              <a:buNone/>
            </a:pPr>
            <a:r>
              <a:rPr lang="en-US" sz="850" b="1" dirty="0">
                <a:solidFill>
                  <a:srgbClr val="0E7C86"/>
                </a:solidFill>
                <a:latin typeface="Courier New" pitchFamily="34" charset="0"/>
                <a:ea typeface="Courier New" pitchFamily="34" charset="-122"/>
                <a:cs typeface="Courier New" pitchFamily="34" charset="-120"/>
              </a:rPr>
              <a:t>import shap</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explainer = shap.TreeExplainer(model)   # once</a:t>
            </a:r>
            <a:endParaRPr lang="en-US" sz="850" dirty="0"/>
          </a:p>
          <a:p>
            <a:pPr indent="0" marL="0">
              <a:buNone/>
            </a:pP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one customer: North, tenure &gt; 36, highest risk</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north = cur[(cur.region_north == 1) &amp;</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(cur.tenure_months &gt; 36)]</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x = north.sort_values("prediction").tail(1)[F]</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sv = explainer(x)[0, :, 1]     # class 1 = "churns"</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shap.plots.waterfall(sv, max_display=6)</a:t>
            </a:r>
            <a:endParaRPr lang="en-US" sz="850" dirty="0"/>
          </a:p>
          <a:p>
            <a:pPr indent="0" marL="0">
              <a:buNone/>
            </a:pP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many customers: what drives risk in general</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sample = cur[F].sample(600, random_state=3)</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svs = explainer(sample)[:, :, 1]</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shap.plots.beeswarm(svs, max_display=6)</a:t>
            </a:r>
            <a:endParaRPr lang="en-US" sz="850" dirty="0"/>
          </a:p>
        </p:txBody>
      </p:sp>
      <p:sp>
        <p:nvSpPr>
          <p:cNvPr id="10" name="Text 7"/>
          <p:cNvSpPr txBox="1"/>
          <p:nvPr/>
        </p:nvSpPr>
        <p:spPr>
          <a:xfrm>
            <a:off x="4754880" y="1188720"/>
            <a:ext cx="4023360" cy="274320"/>
          </a:xfrm>
          <a:prstGeom prst="rect">
            <a:avLst/>
          </a:prstGeom>
          <a:noFill/>
          <a:ln/>
        </p:spPr>
        <p:txBody>
          <a:bodyPr wrap="square" lIns="0" tIns="0" rIns="0" bIns="0" rtlCol="0" anchor="t"/>
          <a:lstStyle/>
          <a:p>
            <a:pPr algn="l" indent="0" marL="0">
              <a:buNone/>
            </a:pPr>
            <a:r>
              <a:rPr lang="en-US" sz="1250" b="1" dirty="0">
                <a:solidFill>
                  <a:srgbClr val="E07A2F"/>
                </a:solidFill>
                <a:latin typeface="Calibri" pitchFamily="34" charset="0"/>
                <a:ea typeface="Calibri" pitchFamily="34" charset="-122"/>
                <a:cs typeface="Calibri" pitchFamily="34" charset="-120"/>
              </a:rPr>
              <a:t>LIME: the same customer, and a support message</a:t>
            </a:r>
            <a:endParaRPr lang="en-US" sz="1250" dirty="0"/>
          </a:p>
        </p:txBody>
      </p:sp>
      <p:sp>
        <p:nvSpPr>
          <p:cNvPr id="11" name="Shape 8"/>
          <p:cNvSpPr/>
          <p:nvPr/>
        </p:nvSpPr>
        <p:spPr>
          <a:xfrm>
            <a:off x="4754880" y="1508760"/>
            <a:ext cx="4023360" cy="2743200"/>
          </a:xfrm>
          <a:prstGeom prst="roundRect">
            <a:avLst>
              <a:gd name="adj" fmla="val 2667"/>
            </a:avLst>
          </a:prstGeom>
          <a:solidFill>
            <a:srgbClr val="FBE9DC"/>
          </a:solidFill>
          <a:ln w="12700">
            <a:solidFill>
              <a:srgbClr val="FBE9DC"/>
            </a:solidFill>
            <a:prstDash val="solid"/>
          </a:ln>
        </p:spPr>
        <p:txBody>
          <a:bodyPr/>
          <a:p/>
        </p:txBody>
      </p:sp>
      <p:sp>
        <p:nvSpPr>
          <p:cNvPr id="12" name="Text 9"/>
          <p:cNvSpPr txBox="1"/>
          <p:nvPr/>
        </p:nvSpPr>
        <p:spPr>
          <a:xfrm>
            <a:off x="4892040" y="1600200"/>
            <a:ext cx="3794760" cy="2606040"/>
          </a:xfrm>
          <a:prstGeom prst="rect">
            <a:avLst/>
          </a:prstGeom>
          <a:noFill/>
          <a:ln/>
        </p:spPr>
        <p:txBody>
          <a:bodyPr wrap="square" lIns="0" tIns="0" rIns="0" bIns="0" rtlCol="0" anchor="t"/>
          <a:lstStyle/>
          <a:p>
            <a:pPr indent="0" marL="0">
              <a:buNone/>
            </a:pPr>
            <a:r>
              <a:rPr lang="en-US" sz="850" b="1" dirty="0">
                <a:solidFill>
                  <a:srgbClr val="8A3F0C"/>
                </a:solidFill>
                <a:latin typeface="Courier New" pitchFamily="34" charset="0"/>
                <a:ea typeface="Courier New" pitchFamily="34" charset="-122"/>
                <a:cs typeface="Courier New" pitchFamily="34" charset="-120"/>
              </a:rPr>
              <a:t>from lime.lime_tabular import LimeTabularExplainer</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from lime.lime_text import LimeTextExplainer</a:t>
            </a:r>
            <a:endParaRPr lang="en-US" sz="850" dirty="0"/>
          </a:p>
          <a:p>
            <a:pPr indent="0" marL="0">
              <a:buNone/>
            </a:pP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exp = LimeTabularExplainer(ref[F].values,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feature_names=F, class_names=["stays", "churns"],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categorical_features=[4, 5], random_state=7)</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e = exp.explain_instance(x.values[0], model.predict_proba,</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num_features=6, num_samples=5000)</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e.save_to_file("lime_customer.html")</a:t>
            </a:r>
            <a:endParaRPr lang="en-US" sz="850" dirty="0"/>
          </a:p>
          <a:p>
            <a:pPr indent="0" marL="0">
              <a:buNone/>
            </a:pP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texp = LimeTextExplainer(class_names=["stays", "cancel"])</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te = texp.explain_instance(msg, clf.predict_proba,</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num_features=8)</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te.save_to_file("lime_text.html")</a:t>
            </a:r>
            <a:endParaRPr lang="en-US" sz="850" dirty="0"/>
          </a:p>
        </p:txBody>
      </p:sp>
      <p:sp>
        <p:nvSpPr>
          <p:cNvPr id="13" name="Shape 10"/>
          <p:cNvSpPr/>
          <p:nvPr/>
        </p:nvSpPr>
        <p:spPr>
          <a:xfrm>
            <a:off x="365760" y="434340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14" name="Image 0" descr="preencoded.png">    </p:cNvPr>
          <p:cNvPicPr>
            <a:picLocks noChangeAspect="1"/>
          </p:cNvPicPr>
          <p:nvPr/>
        </p:nvPicPr>
        <p:blipFill>
          <a:blip r:embed="rId1"/>
          <a:stretch>
            <a:fillRect/>
          </a:stretch>
        </p:blipFill>
        <p:spPr>
          <a:xfrm>
            <a:off x="502920" y="4411980"/>
            <a:ext cx="274320" cy="274320"/>
          </a:xfrm>
          <a:prstGeom prst="rect">
            <a:avLst/>
          </a:prstGeom>
        </p:spPr>
      </p:pic>
      <p:sp>
        <p:nvSpPr>
          <p:cNvPr id="15" name="Text 11"/>
          <p:cNvSpPr txBox="1"/>
          <p:nvPr/>
        </p:nvSpPr>
        <p:spPr>
          <a:xfrm>
            <a:off x="896112" y="4343400"/>
            <a:ext cx="7772400" cy="41148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Both need only a predict function, so they work with any model. SHAP: exact for trees, adds up to the prediction. LIME: any model, any input type (text here), fits a local approximation. Full scripts: S07/demo/s7_demo_setup.py, s7_lime_setup.py.</a:t>
            </a:r>
            <a:endParaRPr lang="en-US" sz="1050" dirty="0"/>
          </a:p>
        </p:txBody>
      </p:sp>
      <p:pic>
        <p:nvPicPr>
          <p:cNvPr id="1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Session 7 – Monitoring, Explainability &amp; Responsible AI</dc:title>
  <dc:subject>PptxGenJS Presentation</dc:subject>
  <dc:creator>Juan Manuel Ramírez García</dc:creator>
  <cp:lastModifiedBy>Juan Manuel Ramírez García</cp:lastModifiedBy>
  <cp:revision>1</cp:revision>
  <dcterms:created xsi:type="dcterms:W3CDTF">2026-09-01T10:58:57Z</dcterms:created>
  <dcterms:modified xsi:type="dcterms:W3CDTF">2026-09-01T10:58:57Z</dcterms:modified>
</cp:coreProperties>
</file>
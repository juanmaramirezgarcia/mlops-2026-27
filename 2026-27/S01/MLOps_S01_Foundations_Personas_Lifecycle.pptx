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64"/>
    <p:restoredTop sz="94610"/>
  </p:normalViewPr>
  <p:slideViewPr>
    <p:cSldViewPr snapToGrid="0" snapToObjects="1">
      <p:cViewPr varScale="1">
        <p:scale>
          <a:sx n="202" d="100"/>
          <a:sy n="202" d="100"/>
        </p:scale>
        <p:origin x="76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21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Have this slide on screen 5 minutes before the start with your camera on; greet people by name as they join.
Opening line (1 min): "This course is about the one question most data-science courses never answer: what happens to a model after you have trained it? By the end of today you will be able to say what MLOps is, why most models never earn their keep, and who in a company is responsible for changing that."
Housekeeping (1 min): cameras on if possible, chat is open all session, we take one five-minute break at roughly minute 48, the last 35 minutes are a breakout activity in groups.
Timing target: leave this slide by minute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outcomes aloud; they are exactly the three things the forum asks this week, so say that explicitly: "if you can do these three things, Forum 1 is easy".
Walk the agenda quickly. Emphasise the shape: concept blocks before the break, one activity in breakout rooms after it, and a debrief. Tell them the session always ends with the same three slides (three things to remember, the forum, the reading).
Timing: minute 2–4.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picture in the course; students will see it again in the last session. It comes from Sculley et al., Google, 2015, "Hidden Technical Debt in Machine Learning Systems".
Say: "When people imagine an AI system they imagine the model. In a real company the model is this small box. Everything around it is what makes it work, and everything around it is what this course is about."
Point at three boxes and ask the chat: "Which of these would you expect a data scientist to own?" Most will say only the ML code. That is the gap MLOps fills.
Timing: minute 4–6. Do not explain each box; they will meet them all in the coming sessions.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three dates. The point is not the exact percentages (surveys measure different things) but that the pattern has not changed in seven years: most models and AI initiatives never produce the value they promised.
Left: Gartner surveyed 782 infrastructure and operations leaders in Nov–Dec 2025 (press release 7 April 2026): only 28% of AI use cases fully succeed and meet ROI expectations; 20% fail outright; the top reasons cited were lack of team expertise (38%) and poor data quality or limited data access (38%).
Middle: MIT NANDA "The GenAI Divide: State of AI in Business 2025" (August 2025): about 95% of enterprise GenAI pilots showed no measurable profit-and-loss impact.
Right: the classic figure, VentureBeat 2019: 87% of data-science projects never make it into production.
Ask: "Why would a model that works in the lab not work in the business?" Collect 3–4 answers in chat; you will use them on the next slides (data changes, nobody owns it, IT cannot run it, the metric was wrong). Write the answers down; they come back in the activity.
Timing: minute 6–8.</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Say: "Before the content, five minutes on how we will work together, because the format is unusual: five Saturdays live, a forum every week, and two videos you watch on your own."
Timing: minute 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timeline left to right. Every Saturday at this time we meet live and I introduce all the new concepts. From that Saturday to the following Friday the forum for that session is open: three questions or small projects that recap what we just did. Two of the weeks also carry a self-paced video lesson with a short quiz built in: the week of 24 October (monitoring metrics) and the week of 31 October (AI governance).
Stress: nothing new is introduced in the forum; if a forum question uses a word you do not recognise, it was in the live session, so check the slides first.
Point out that Session 10 on 31 October is the capstone: a workshop on real failure cases, which they must read beforehand.
Timing: minute 8–11.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cards, four weights. Two details matter and are worth repeating: (1) the exam has a minimum of 3.5 out of 10; below that the course is failed regardless of the average; (2) you may bring one single-sided handwritten A4 sheet to the exam, so the "three things to remember" slides at the end of each session are your cheat-sheet material.
The group project: teams of 3–5, acting as an MLOps consulting team for an enterprise scenario; deliverables cover roadmap, personas, CI/CD schematic, monitoring and retraining policy, governance. Say that the breakout rooms today are the same teams, so today's activity is the first rehearsal.
Continuous assessment includes the two quizzes embedded in the videos, so watching the videos is not optional.
Timing: minute 11–14.</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participation rubric from the syllabus in plain words. Name the three characters: the Repeater (restates what someone said), the Rambler (long, low-impact tangents) and the Distracted (asks questions already answered). Say it with a smile; everyone recognises themselves.
Right: the AI policy. This is a course about operating AI responsibly, so AI tools are encouraged for drafting, prototyping and thinking, but must be acknowledged with the exact sentence on the slide. Not allowed in the exam or the quizzes. Unattributed use is treated as academic misconduct.
Timing: minute 14–16.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we return to at every section divider. Nine steps from data to feedback (from Hapke &amp; Nelson, "Building Machine Learning Pipelines"). Module 1 (today) is the overview and the people. Module 2 (Sessions 3 and 5) builds the pipeline and gets the model into production. Module 3 (Sessions 7 and 9) keeps it healthy: monitoring, explainability, retraining. Module 4 (Sessions 10 and 12) extends everything to LLMs and adds governance.
Say: "Every time you see this strip with some boxes highlighted, that is where we are."
Timing: minute 16, one minute. Then move to the content.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16. The story of this block: software engineering solved a similar problem twenty years ago with DevOps; machine learning has the same problem plus one more, the world keeps changing under the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MLOps there was DevOps. Two teams used to work apart: developers wrote code, operations ran it, and they blamed each other when it broke. DevOps is a mindset and a set of practices to shorten the time between a change being made and that change running reliably in production, with quality.
Walk the eight steps as a loop. The important word is "loop": monitor feeds back into plan. Ask: "Where in this loop would a data scientist normally stop?" Answer: after "code" (the model is trained) and at best "test". Everything to the right is where models die.
Then the two words they will hear all course, concept only, no tools. CI: every change made by anyone is merged into the shared version and automatically checked; it needs version control (the demo, in a few minutes). CD: a build that passed the checks moves to a production-like environment, is tested there, then goes to production, automatically. Use the assembly-line analogy in the callout. In Session 5 we add a third word for ML: Continuous Training.
Timing: minute 16–20.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difference from ordinary software. A program that calculates VAT works the same in ten years. A model learned patterns from data collected in the past; when the world changes, the patterns change and the model quietly becomes wrong.
Three examples from sectors you know. Credit scoring in banking: customer behaviour changes, the customer base changes, and bias can creep in. Product recommendation on a TV platform: tastes change and the catalogue changes every week. Sales forecast in retail: consumer behaviour and the economic situation change.
Conclusion: models need retraining. Not "if" but "when" (that is Session 7). Ask them for one more example from their own industry in chat.
Timing: minute 20–23.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reasons, all organisational rather than mathematical. Read them as a story: one model built by one data scientist is fine; problems appear with many models, many dependencies, and many people who do not speak the same language (business, data, modelling, IT). Data scientists are trained to build models, not to run software services. And complexity grows faster than the number of models: dependencies between models, and turnover of staff, so the person who understood the model has left.
Say: "This is exactly the situation software had before DevOps. So MLOps borrows from DevOps and adds what is specific to data and models."
Then the chat poll (2 minutes): put the statement on screen and ask everyone to type AGREE or DISAGREE plus one line why. Read two contrasting answers aloud. Do not resolve it: "this is Theme A of your forum this week; the argument that usually decides it is that the cost of MLOps scales with the cost of being wrong, not with the number of models; go and argue it there." This replaces a breakout debate and keeps the syllabus's business-value debate alive in the forum.
Timing: minute 23–27.</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definition slowly and then the three-part paraphrase. Definition (from the syllabus): MLOps is the engineering discipline that bridges the gap between data-science experimentation and reliable software production; it standardises how AI assets are deployed, scaled, monitored and governed so that they remain accurate, resilient and audit-ready over time.
The sentence to remember is the callout: "a model in production is a running process, not a file". A file is finished; a process needs someone to watch it.
Timing: minute 27–29.</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Forum 1, question 3, directly; tell them so. Two columns: what "training" delivers versus what "operationalising" requires. Then the consequence of confusing them: the retailer example at the bottom (which is also the case in today's activity).
Training ends with a file and a number (accuracy on a test set). Operationalising means the model answers real requests, every day, with real data, and someone is accountable when it is wrong. Confusing the two is how a project gets declared a success in March and quietly costs money by June.
Timing: minute 29–31.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control is the foundation of CI/CD, of reproducibility and of audit. Explain it without tools: a repository is a folder with a memory. Every change is a "commit" with an author, a date and a message that says why. You can compare any two moments (a "diff") and you can go back. A "tag" names a moment: "version 2.1 went to production on 3 March".
Then switch to the demo (4 minutes): open github.com/juanmaramirezgarcia/mlops-demo-churn in the browser (built with demo/setup_demo_repo.sh; click-by-click script in MLOps_S01_Demo_Script.md). Show (1) the commit history, (2) the 19 Feb "Fix: reject extracts where a feature arrives mostly empty" diff, which is the NorthRetail bug caught, (3) the tags page with v1.0 (3 March) and v1.1 (9 June). Do not type commands.
Timing: minute 31–35 including the demo.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to fix the demo in memory. Three things: the history (a list of commits with author, date and message), the diff (what changed, line by line, between two moments) and the tag (a named version you can point to when the regulator asks "which model was live in March?").
Bridge to the next block: "The repository records what changed. It does not record who should have changed it. That is the next block: the people."
Timing: minute 35, one minute.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35. This block is the core of Forum 1: questions 1 and 2 both ask "which persona".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cards; each persona is defined by the question they ask about the model. Based on Treveil et al. (Introducing MLOps, O'Reilly 2020) with the syllabus's Product Owner and Risk &amp; Compliance made explicit.
Business owner / Product owner: "Is it worth it, and is it useful?" Data scientist: "Is it accurate?" Data engineer: "Is the data available, correct and on time?" ML engineer (MLOps engineer): "Does it run reliably in production?" IT / DevOps: "Does the infrastructure hold, scale and stay secure?" Risk &amp; Compliance: "Can we prove it is fair, explainable and allowed?"
Emphasise that in a small company one person may wear three hats; the questions still all need answering.
Timing: minute 35–39.</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last year's "Relationships" diagram redrawn as a sequence. Walk it as a story of a recommendation model: (1) business users and subject-matter experts give requirements and domain knowledge; (2) the data engineer makes the sources available and curates datasets; (3) the data scientist explores, trains and builds the model; (4) the product owner / application designer decides with the data scientist how the model will be used; (5) the data scientist and the ML engineer test the model on production data in a sandbox; (6) the ML engineer deploys, first to pre-production, then production; (7) the application developer integrates it into the application; (8) IT operations keep it running and scale it; (9) monitoring feeds back into requirements and into retraining.
Ask: "Which of these hand-overs is most likely to fail?" Usually 5–6, between data science and engineering. That is where the ML engineer role was invented.
Timing: minute 39–43.</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Forum 1, question 2, asks for a RACI-style responsibility map. Define the four letters: Responsible does the work; Accountable owns the outcome and signs off (only one A per row); Consulted gives input before; Informed is told after. Rows are lifecycle stages; columns are personas.
Walk the example row: for "Model deployment", the ML engineer is Responsible, the product owner is Accountable, IT/DevOps and the data scientist are Consulted, Risk &amp; Compliance is Informed. Ask: "Would you move any letter?" There is no single right answer; the forum is about arguing the choice.
A blank template is in the forum pack on campus.
Timing: minute 43–46. Then the break.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Five-minute break at minute 46. Keep the question on screen; answers in chat give you a picture of the cohort. Use the break to check the breakout rooms are set up (teams of 4–5, ideally the future project teams).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51. This is a short block (7 minutes) so that the activity keeps its full time.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step. Do not go deep: each step gets its own session later. The two points to make: (1) it is a loop, feedback goes back to data; (2) the first three steps are about data, not models, and that is where most of the time goes.
Steps: ingestion and versioning (get the data and record which version); validation (is it what we expect?); pre-processing (turn it into the shape the model needs, the same way every time); training; tuning (find the best settings); analysis (look at performance in depth, by segment); validation (is it better than what is in production, and safe?); deployment (put it where the business uses it); feedback (collect what happened and learn).
Timing: minute 51–54.</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categories, from last year's material. Use the recommendation example throughout. Business performance: the product metric (click-through rate, number of users a product attracts) and the guardrail metric that must not fall (average session length). Model performance: the statistical metric, but the level that is sufficient for the goal, not the maximum; a product that needs a perfect model to be useful will fail. Data performance: how similar is tomorrow's data to the training data, how often will we need to retrain, and what does each retraining cost. System performance: how fast is fast enough, what does inference cost, hardware limits, maintainability.
The line to remember: product metrics that impact business performance are the only ones that matter in the end.
Close with the callout: most failures are decided here, before training starts. Two classic ways: the product metric and the model metric point in different directions (the model optimises clicks, the business wanted revenue), and an accurate model that nobody acts on. For every published success there are hundreds of reasonable ideas that failed; planning must assume that.
Timing: minute 54–58. Then the activity brief.</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the activity before sending them to rooms; the brief and the case are on campus so they can keep them open in the room.
Every room gets the same one-page case, NorthRetail's demand forecast. Four things went wrong. For each one they fill a row of the diagnostic template: which lifecycle stage it belongs to, which persona should have caught it, and which single control would have prevented it. Bonus question: what should IT's dashboard have shown?
Output: one slide or one whiteboard per room; nominate a spokesperson. Rooms of 4–5, ideally the future group-project teams.
Timing: brief at minute 58–60; read the case at 60–61; rooms 61–76; debrief 76–86.</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facts once, aloud, without diagnosing. The four problems are deliberately of different kinds: a data schema change (data validation would have caught it), a change in the promotion calendar (concept change, monitoring and retraining), loss of ownership (persona / governance), and a monitoring dashboard that watched the wrong thing (system vs model performance).
Full case text is in the activity brief on campus. Send them to rooms straight after reading it (minute 61).</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rooms present, two minutes each (minute 76–82); then four minutes of synthesis (82–86) with this slide.
Expected mapping: empty features after the code change → data validation → data engineer (with ML engineer) → a schema check that stops the pipeline; promotion calendar change → model feedback/monitoring → product owner should have informed, ML engineer should have detected → drift and performance monitoring with a retraining trigger; no owner → governance/accountability → product owner accountable, Risk &amp; Compliance informed → model registry with a named owner; green dashboard → system vs model performance → IT and ML engineer → monitor prediction quality, not only uptime.
Misconceptions to correct: "the data scientist should have caught everything" (she was gone in April, and most failures are not modelling failures); "more accuracy would have prevented this" (92% was fine for a world that stopped existing in February).
Close with: "Everything you just proposed is a session of this course." Point to the map.
Timing: minute 76–86.</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cheat-sheet material. Read them slowly; suggest they write these three lines on their A4 sheet now.
Timing: minute 86–87.</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questions; they are verbatim from the syllabus. Point to where each was covered today: Q1 = the "why MLOps" and persona slides; Q2 = the RACI slide and the template on campus; Q3 = the training vs operationalising slide.
Remind them of the rhythm: post early, reply to two others, and I post a synthesis on Friday. Mention that the poll from earlier is Theme A of the forum.
Timing: minute 87–89.</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Treveil et al., Introducing MLOps, chapters 1 to 3 (Why now and challenges; People of MLOps; Key MLOps features): short and non-technical. Huyen, Designing Machine Learning Systems, chapter 1 (Overview of ML systems) for those who want more.
The "look at one thing": open the exploratory notebook posted on campus (a PDF rendering, no code to run) and simply note what looks messy. Session 3 starts from it.
Preview: Session 3 is about turning notebooks into pipelines, why companies separate Dev, QA and Prod, and how a model can be attacked.
Thank them and stop on time. Minute 89–90.</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7.png"/><Relationship Id="rId7"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19.png"/><Relationship Id="rId6" Type="http://schemas.openxmlformats.org/officeDocument/2006/relationships/image" Target="../media/image18.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19.png"/><Relationship Id="rId6" Type="http://schemas.openxmlformats.org/officeDocument/2006/relationships/image" Target="../media/image23.png"/><Relationship Id="rId7" Type="http://schemas.openxmlformats.org/officeDocument/2006/relationships/image" Target="../media/image17.png"/><Relationship Id="rId8"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7.png"/><Relationship Id="rId5"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8.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1</a:t>
            </a:r>
            <a:endParaRPr lang="en-US" sz="800" dirty="0"/>
          </a:p>
        </p:txBody>
      </p:sp>
      <p:sp>
        <p:nvSpPr>
          <p:cNvPr id="5" name="Text 3"/>
          <p:cNvSpPr txBox="1"/>
          <p:nvPr/>
        </p:nvSpPr>
        <p:spPr>
          <a:xfrm>
            <a:off x="548640" y="822960"/>
            <a:ext cx="804672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MLOps: Machine Learning Operations</a:t>
            </a:r>
            <a:endParaRPr lang="en-US" sz="1600" dirty="0"/>
          </a:p>
        </p:txBody>
      </p:sp>
      <p:sp>
        <p:nvSpPr>
          <p:cNvPr id="6" name="Text 4"/>
          <p:cNvSpPr txBox="1"/>
          <p:nvPr/>
        </p:nvSpPr>
        <p:spPr>
          <a:xfrm>
            <a:off x="548640" y="1280160"/>
            <a:ext cx="8046720" cy="457200"/>
          </a:xfrm>
          <a:prstGeom prst="rect">
            <a:avLst/>
          </a:prstGeom>
          <a:noFill/>
          <a:ln/>
        </p:spPr>
        <p:txBody>
          <a:bodyPr wrap="square" lIns="0" tIns="0" rIns="0" bIns="0" rtlCol="0" anchor="ctr"/>
          <a:lstStyle/>
          <a:p>
            <a:pPr marL="0" indent="0">
              <a:buNone/>
            </a:pPr>
            <a:r>
              <a:rPr lang="en-US" sz="2000" b="1" dirty="0">
                <a:solidFill>
                  <a:srgbClr val="CADCFC"/>
                </a:solidFill>
                <a:latin typeface="Calibri" pitchFamily="34" charset="0"/>
                <a:ea typeface="Calibri" pitchFamily="34" charset="-122"/>
                <a:cs typeface="Calibri" pitchFamily="34" charset="-120"/>
              </a:rPr>
              <a:t>Session 1</a:t>
            </a:r>
            <a:endParaRPr lang="en-US" sz="2000" dirty="0"/>
          </a:p>
        </p:txBody>
      </p:sp>
      <p:sp>
        <p:nvSpPr>
          <p:cNvPr id="7" name="Text 5"/>
          <p:cNvSpPr txBox="1"/>
          <p:nvPr/>
        </p:nvSpPr>
        <p:spPr>
          <a:xfrm>
            <a:off x="548640" y="1737360"/>
            <a:ext cx="8046720" cy="10972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Foundations, Personas &amp; the MLOps Lifecycle</a:t>
            </a:r>
            <a:endParaRPr lang="en-US" sz="3600" dirty="0"/>
          </a:p>
        </p:txBody>
      </p:sp>
      <p:sp>
        <p:nvSpPr>
          <p:cNvPr id="8" name="Text 6"/>
          <p:cNvSpPr txBox="1"/>
          <p:nvPr/>
        </p:nvSpPr>
        <p:spPr>
          <a:xfrm>
            <a:off x="548640" y="3017520"/>
            <a:ext cx="804672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Juan Manuel Ramírez García · jramirezg@faculty.ie.edu</a:t>
            </a:r>
            <a:endParaRPr lang="en-US" sz="1400" dirty="0"/>
          </a:p>
        </p:txBody>
      </p:sp>
      <p:sp>
        <p:nvSpPr>
          <p:cNvPr id="9" name="Text 7"/>
          <p:cNvSpPr txBox="1"/>
          <p:nvPr/>
        </p:nvSpPr>
        <p:spPr>
          <a:xfrm>
            <a:off x="548640" y="3383280"/>
            <a:ext cx="8046720" cy="365760"/>
          </a:xfrm>
          <a:prstGeom prst="rect">
            <a:avLst/>
          </a:prstGeom>
          <a:noFill/>
          <a:ln/>
        </p:spPr>
        <p:txBody>
          <a:bodyPr wrap="square" lIns="0" tIns="0" rIns="0" bIns="0" rtlCol="0" anchor="ctr"/>
          <a:lstStyle/>
          <a:p>
            <a:pPr marL="0" indent="0">
              <a:buNone/>
            </a:pPr>
            <a:r>
              <a:rPr lang="en-US" sz="1200" dirty="0">
                <a:solidFill>
                  <a:srgbClr val="B8C4D6"/>
                </a:solidFill>
                <a:latin typeface="Calibri" pitchFamily="34" charset="0"/>
                <a:ea typeface="Calibri" pitchFamily="34" charset="-122"/>
                <a:cs typeface="Calibri" pitchFamily="34" charset="-120"/>
              </a:rPr>
              <a:t>Live online session · Saturday 3 October 2026 · 90 minutes</a:t>
            </a:r>
            <a:endParaRPr lang="en-US" sz="1200" dirty="0"/>
          </a:p>
        </p:txBody>
      </p:sp>
      <p:sp>
        <p:nvSpPr>
          <p:cNvPr id="10" name="Shape 8"/>
          <p:cNvSpPr/>
          <p:nvPr/>
        </p:nvSpPr>
        <p:spPr>
          <a:xfrm>
            <a:off x="548640" y="397764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1" name="Text 9"/>
          <p:cNvSpPr txBox="1"/>
          <p:nvPr/>
        </p:nvSpPr>
        <p:spPr>
          <a:xfrm>
            <a:off x="548640"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12" name="Shape 10"/>
          <p:cNvSpPr/>
          <p:nvPr/>
        </p:nvSpPr>
        <p:spPr>
          <a:xfrm>
            <a:off x="1448816" y="397764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3" name="Text 11"/>
          <p:cNvSpPr txBox="1"/>
          <p:nvPr/>
        </p:nvSpPr>
        <p:spPr>
          <a:xfrm>
            <a:off x="1448816"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4" name="Shape 12"/>
          <p:cNvSpPr/>
          <p:nvPr/>
        </p:nvSpPr>
        <p:spPr>
          <a:xfrm>
            <a:off x="2348992" y="397764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5" name="Text 13"/>
          <p:cNvSpPr txBox="1"/>
          <p:nvPr/>
        </p:nvSpPr>
        <p:spPr>
          <a:xfrm>
            <a:off x="2348992"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6" name="Shape 14"/>
          <p:cNvSpPr/>
          <p:nvPr/>
        </p:nvSpPr>
        <p:spPr>
          <a:xfrm>
            <a:off x="3249168" y="397764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7" name="Text 15"/>
          <p:cNvSpPr txBox="1"/>
          <p:nvPr/>
        </p:nvSpPr>
        <p:spPr>
          <a:xfrm>
            <a:off x="3249168"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8" name="Shape 16"/>
          <p:cNvSpPr/>
          <p:nvPr/>
        </p:nvSpPr>
        <p:spPr>
          <a:xfrm>
            <a:off x="4149344" y="397764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9" name="Text 17"/>
          <p:cNvSpPr txBox="1"/>
          <p:nvPr/>
        </p:nvSpPr>
        <p:spPr>
          <a:xfrm>
            <a:off x="4149344"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20" name="Shape 18"/>
          <p:cNvSpPr/>
          <p:nvPr/>
        </p:nvSpPr>
        <p:spPr>
          <a:xfrm>
            <a:off x="5049520" y="397764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21" name="Text 19"/>
          <p:cNvSpPr txBox="1"/>
          <p:nvPr/>
        </p:nvSpPr>
        <p:spPr>
          <a:xfrm>
            <a:off x="5049520"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22" name="Shape 20"/>
          <p:cNvSpPr/>
          <p:nvPr/>
        </p:nvSpPr>
        <p:spPr>
          <a:xfrm>
            <a:off x="5949696" y="397764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23" name="Text 21"/>
          <p:cNvSpPr txBox="1"/>
          <p:nvPr/>
        </p:nvSpPr>
        <p:spPr>
          <a:xfrm>
            <a:off x="5949696"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4" name="Shape 22"/>
          <p:cNvSpPr/>
          <p:nvPr/>
        </p:nvSpPr>
        <p:spPr>
          <a:xfrm>
            <a:off x="6849872" y="397764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25" name="Text 23"/>
          <p:cNvSpPr txBox="1"/>
          <p:nvPr/>
        </p:nvSpPr>
        <p:spPr>
          <a:xfrm>
            <a:off x="6849872"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6" name="Shape 24"/>
          <p:cNvSpPr/>
          <p:nvPr/>
        </p:nvSpPr>
        <p:spPr>
          <a:xfrm>
            <a:off x="7750048" y="397764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27" name="Text 25"/>
          <p:cNvSpPr txBox="1"/>
          <p:nvPr/>
        </p:nvSpPr>
        <p:spPr>
          <a:xfrm>
            <a:off x="7750048" y="397764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pic>
        <p:nvPicPr>
          <p:cNvPr id="28"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Today in one slide: what you will be able to do at 11:30</a:t>
            </a:r>
            <a:endParaRPr lang="en-US" sz="2400" dirty="0"/>
          </a:p>
        </p:txBody>
      </p:sp>
      <p:sp>
        <p:nvSpPr>
          <p:cNvPr id="7" name="Text 4"/>
          <p:cNvSpPr txBox="1"/>
          <p:nvPr/>
        </p:nvSpPr>
        <p:spPr>
          <a:xfrm>
            <a:off x="365760" y="1143000"/>
            <a:ext cx="4023360" cy="274320"/>
          </a:xfrm>
          <a:prstGeom prst="rect">
            <a:avLst/>
          </a:prstGeom>
          <a:noFill/>
          <a:ln/>
        </p:spPr>
        <p:txBody>
          <a:bodyPr wrap="square" lIns="0" tIns="0" rIns="0" bIns="0" rtlCol="0" anchor="t"/>
          <a:lstStyle/>
          <a:p>
            <a:pPr marL="0" indent="0" algn="l">
              <a:buNone/>
            </a:pPr>
            <a:r>
              <a:rPr lang="en-US" sz="1300" b="1" dirty="0">
                <a:solidFill>
                  <a:srgbClr val="0E7C86"/>
                </a:solidFill>
                <a:latin typeface="Calibri" pitchFamily="34" charset="0"/>
                <a:ea typeface="Calibri" pitchFamily="34" charset="-122"/>
                <a:cs typeface="Calibri" pitchFamily="34" charset="-120"/>
              </a:rPr>
              <a:t>By the end of this session you can…</a:t>
            </a:r>
            <a:endParaRPr lang="en-US" sz="1300" dirty="0"/>
          </a:p>
        </p:txBody>
      </p:sp>
      <p:sp>
        <p:nvSpPr>
          <p:cNvPr id="8" name="Shape 5"/>
          <p:cNvSpPr/>
          <p:nvPr/>
        </p:nvSpPr>
        <p:spPr>
          <a:xfrm>
            <a:off x="365760" y="150876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457200" y="1600200"/>
            <a:ext cx="237744" cy="237744"/>
          </a:xfrm>
          <a:prstGeom prst="rect">
            <a:avLst/>
          </a:prstGeom>
        </p:spPr>
      </p:pic>
      <p:sp>
        <p:nvSpPr>
          <p:cNvPr id="10" name="Text 6"/>
          <p:cNvSpPr txBox="1"/>
          <p:nvPr/>
        </p:nvSpPr>
        <p:spPr>
          <a:xfrm>
            <a:off x="914400" y="149047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Explain why MLOps exists</a:t>
            </a:r>
            <a:endParaRPr lang="en-US" sz="1300" dirty="0"/>
          </a:p>
        </p:txBody>
      </p:sp>
      <p:sp>
        <p:nvSpPr>
          <p:cNvPr id="11" name="Text 7"/>
          <p:cNvSpPr txBox="1"/>
          <p:nvPr/>
        </p:nvSpPr>
        <p:spPr>
          <a:xfrm>
            <a:off x="914400" y="174650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Say in plain words what MLOps is and why trained models fail to deliver value.</a:t>
            </a:r>
            <a:endParaRPr lang="en-US" sz="1100" dirty="0"/>
          </a:p>
        </p:txBody>
      </p:sp>
      <p:sp>
        <p:nvSpPr>
          <p:cNvPr id="12" name="Shape 8"/>
          <p:cNvSpPr/>
          <p:nvPr/>
        </p:nvSpPr>
        <p:spPr>
          <a:xfrm>
            <a:off x="365760" y="224028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57200" y="2331720"/>
            <a:ext cx="237744" cy="237744"/>
          </a:xfrm>
          <a:prstGeom prst="rect">
            <a:avLst/>
          </a:prstGeom>
        </p:spPr>
      </p:pic>
      <p:sp>
        <p:nvSpPr>
          <p:cNvPr id="14" name="Text 9"/>
          <p:cNvSpPr txBox="1"/>
          <p:nvPr/>
        </p:nvSpPr>
        <p:spPr>
          <a:xfrm>
            <a:off x="914400" y="222199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Name who does what</a:t>
            </a:r>
            <a:endParaRPr lang="en-US" sz="1300" dirty="0"/>
          </a:p>
        </p:txBody>
      </p:sp>
      <p:sp>
        <p:nvSpPr>
          <p:cNvPr id="15" name="Text 10"/>
          <p:cNvSpPr txBox="1"/>
          <p:nvPr/>
        </p:nvSpPr>
        <p:spPr>
          <a:xfrm>
            <a:off x="914400" y="247802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Describe the personas of an MLOps team and where they hand over to each other.</a:t>
            </a:r>
            <a:endParaRPr lang="en-US" sz="1100" dirty="0"/>
          </a:p>
        </p:txBody>
      </p:sp>
      <p:sp>
        <p:nvSpPr>
          <p:cNvPr id="16" name="Shape 11"/>
          <p:cNvSpPr/>
          <p:nvPr/>
        </p:nvSpPr>
        <p:spPr>
          <a:xfrm>
            <a:off x="365760" y="297180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57200" y="3063240"/>
            <a:ext cx="237744" cy="237744"/>
          </a:xfrm>
          <a:prstGeom prst="rect">
            <a:avLst/>
          </a:prstGeom>
        </p:spPr>
      </p:pic>
      <p:sp>
        <p:nvSpPr>
          <p:cNvPr id="18" name="Text 12"/>
          <p:cNvSpPr txBox="1"/>
          <p:nvPr/>
        </p:nvSpPr>
        <p:spPr>
          <a:xfrm>
            <a:off x="914400" y="295351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Walk the lifecycle</a:t>
            </a:r>
            <a:endParaRPr lang="en-US" sz="1300" dirty="0"/>
          </a:p>
        </p:txBody>
      </p:sp>
      <p:sp>
        <p:nvSpPr>
          <p:cNvPr id="19" name="Text 13"/>
          <p:cNvSpPr txBox="1"/>
          <p:nvPr/>
        </p:nvSpPr>
        <p:spPr>
          <a:xfrm>
            <a:off x="914400" y="320954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Follow a model from data to feedback and tell "training" from "operationalising".</a:t>
            </a:r>
            <a:endParaRPr lang="en-US" sz="1100" dirty="0"/>
          </a:p>
        </p:txBody>
      </p:sp>
      <p:sp>
        <p:nvSpPr>
          <p:cNvPr id="20" name="Shape 14"/>
          <p:cNvSpPr/>
          <p:nvPr/>
        </p:nvSpPr>
        <p:spPr>
          <a:xfrm>
            <a:off x="365760" y="370332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457200" y="3794760"/>
            <a:ext cx="237744" cy="237744"/>
          </a:xfrm>
          <a:prstGeom prst="rect">
            <a:avLst/>
          </a:prstGeom>
        </p:spPr>
      </p:pic>
      <p:sp>
        <p:nvSpPr>
          <p:cNvPr id="22" name="Text 15"/>
          <p:cNvSpPr txBox="1"/>
          <p:nvPr/>
        </p:nvSpPr>
        <p:spPr>
          <a:xfrm>
            <a:off x="914400" y="368503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Know how the course works</a:t>
            </a:r>
            <a:endParaRPr lang="en-US" sz="1300" dirty="0"/>
          </a:p>
        </p:txBody>
      </p:sp>
      <p:sp>
        <p:nvSpPr>
          <p:cNvPr id="23" name="Text 16"/>
          <p:cNvSpPr txBox="1"/>
          <p:nvPr/>
        </p:nvSpPr>
        <p:spPr>
          <a:xfrm>
            <a:off x="914400" y="394106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Sessions, forums, videos, assessment and the AI policy.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754880" y="1143000"/>
          <a:ext cx="4023360" cy="3291840"/>
        </p:xfrm>
        <a:graphic>
          <a:graphicData uri="http://schemas.openxmlformats.org/drawingml/2006/table">
            <a:tbl>
              <a:tblPr/>
              <a:tblGrid>
                <a:gridCol w="8229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29184">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Minute</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Block</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Welcome, outcomes, why this course exists</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8–16</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How this course works</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16–35</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What MLOps is and why (+ 4-min demo, 1 poll)</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35–46</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Who does what: personas</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46–51</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Break</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51–58</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The lifecycle and the four kinds of performance</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6"/>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58–76</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Activity: diagnose a failed deployment</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7"/>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76–86</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Debrief</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8"/>
                  </a:ext>
                </a:extLst>
              </a:tr>
              <a:tr h="329184">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86–90</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buNone/>
                      </a:pPr>
                      <a:r>
                        <a:rPr lang="en-US" sz="1050" dirty="0">
                          <a:solidFill>
                            <a:srgbClr val="222222"/>
                          </a:solidFill>
                          <a:latin typeface="Calibri" pitchFamily="34" charset="0"/>
                          <a:ea typeface="Calibri" pitchFamily="34" charset="-122"/>
                          <a:cs typeface="Calibri" pitchFamily="34" charset="-120"/>
                        </a:rPr>
                        <a:t>Three things, your forum, your reading</a:t>
                      </a:r>
                      <a:endParaRPr lang="en-US" sz="1050" dirty="0">
                        <a:latin typeface="Calibri" charset="0"/>
                        <a:ea typeface="Calibri" charset="0"/>
                        <a:cs typeface="Calibri" charset="0"/>
                      </a:endParaRPr>
                    </a:p>
                  </a:txBody>
                  <a:tcPr marL="45720" marR="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pic>
        <p:nvPicPr>
          <p:cNvPr id="24"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model is the small box in the middle</a:t>
            </a:r>
            <a:endParaRPr lang="en-US" sz="2400" dirty="0"/>
          </a:p>
        </p:txBody>
      </p:sp>
      <p:sp>
        <p:nvSpPr>
          <p:cNvPr id="7" name="Shape 4"/>
          <p:cNvSpPr/>
          <p:nvPr/>
        </p:nvSpPr>
        <p:spPr>
          <a:xfrm>
            <a:off x="365760" y="1234440"/>
            <a:ext cx="1371600" cy="685800"/>
          </a:xfrm>
          <a:prstGeom prst="roundRect">
            <a:avLst>
              <a:gd name="adj" fmla="val 8000"/>
            </a:avLst>
          </a:prstGeom>
          <a:solidFill>
            <a:srgbClr val="F3F5F8"/>
          </a:solidFill>
          <a:ln w="9525">
            <a:solidFill>
              <a:srgbClr val="D5DAE1"/>
            </a:solidFill>
            <a:prstDash val="solid"/>
          </a:ln>
        </p:spPr>
        <p:txBody>
          <a:bodyPr/>
          <a:lstStyle/>
          <a:p>
            <a:endParaRPr lang="en-US"/>
          </a:p>
        </p:txBody>
      </p:sp>
      <p:sp>
        <p:nvSpPr>
          <p:cNvPr id="8" name="Text 5"/>
          <p:cNvSpPr txBox="1"/>
          <p:nvPr/>
        </p:nvSpPr>
        <p:spPr>
          <a:xfrm>
            <a:off x="365760" y="1234440"/>
            <a:ext cx="1371600" cy="6858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Configuration</a:t>
            </a:r>
            <a:endParaRPr lang="en-US" sz="1100" dirty="0"/>
          </a:p>
        </p:txBody>
      </p:sp>
      <p:sp>
        <p:nvSpPr>
          <p:cNvPr id="9" name="Shape 6"/>
          <p:cNvSpPr/>
          <p:nvPr/>
        </p:nvSpPr>
        <p:spPr>
          <a:xfrm>
            <a:off x="1828800" y="1234440"/>
            <a:ext cx="2011680" cy="685800"/>
          </a:xfrm>
          <a:prstGeom prst="roundRect">
            <a:avLst>
              <a:gd name="adj" fmla="val 8000"/>
            </a:avLst>
          </a:prstGeom>
          <a:solidFill>
            <a:srgbClr val="F3F5F8"/>
          </a:solidFill>
          <a:ln w="9525">
            <a:solidFill>
              <a:srgbClr val="D5DAE1"/>
            </a:solidFill>
            <a:prstDash val="solid"/>
          </a:ln>
        </p:spPr>
        <p:txBody>
          <a:bodyPr/>
          <a:lstStyle/>
          <a:p>
            <a:endParaRPr lang="en-US"/>
          </a:p>
        </p:txBody>
      </p:sp>
      <p:sp>
        <p:nvSpPr>
          <p:cNvPr id="10" name="Text 7"/>
          <p:cNvSpPr txBox="1"/>
          <p:nvPr/>
        </p:nvSpPr>
        <p:spPr>
          <a:xfrm>
            <a:off x="1828800" y="1234440"/>
            <a:ext cx="2011680" cy="6858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Data collection</a:t>
            </a:r>
            <a:endParaRPr lang="en-US" sz="1100" dirty="0"/>
          </a:p>
        </p:txBody>
      </p:sp>
      <p:sp>
        <p:nvSpPr>
          <p:cNvPr id="11" name="Shape 8"/>
          <p:cNvSpPr/>
          <p:nvPr/>
        </p:nvSpPr>
        <p:spPr>
          <a:xfrm>
            <a:off x="3931920" y="1234440"/>
            <a:ext cx="1554480" cy="685800"/>
          </a:xfrm>
          <a:prstGeom prst="roundRect">
            <a:avLst>
              <a:gd name="adj" fmla="val 8000"/>
            </a:avLst>
          </a:prstGeom>
          <a:solidFill>
            <a:srgbClr val="F3F5F8"/>
          </a:solidFill>
          <a:ln w="9525">
            <a:solidFill>
              <a:srgbClr val="D5DAE1"/>
            </a:solidFill>
            <a:prstDash val="solid"/>
          </a:ln>
        </p:spPr>
        <p:txBody>
          <a:bodyPr/>
          <a:lstStyle/>
          <a:p>
            <a:endParaRPr lang="en-US"/>
          </a:p>
        </p:txBody>
      </p:sp>
      <p:sp>
        <p:nvSpPr>
          <p:cNvPr id="12" name="Text 9"/>
          <p:cNvSpPr txBox="1"/>
          <p:nvPr/>
        </p:nvSpPr>
        <p:spPr>
          <a:xfrm>
            <a:off x="3931920" y="1234440"/>
            <a:ext cx="1554480" cy="6858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Data verification</a:t>
            </a:r>
            <a:endParaRPr lang="en-US" sz="1100" dirty="0"/>
          </a:p>
        </p:txBody>
      </p:sp>
      <p:sp>
        <p:nvSpPr>
          <p:cNvPr id="13" name="Shape 10"/>
          <p:cNvSpPr/>
          <p:nvPr/>
        </p:nvSpPr>
        <p:spPr>
          <a:xfrm>
            <a:off x="5577840" y="1234440"/>
            <a:ext cx="1645920" cy="685800"/>
          </a:xfrm>
          <a:prstGeom prst="roundRect">
            <a:avLst>
              <a:gd name="adj" fmla="val 8000"/>
            </a:avLst>
          </a:prstGeom>
          <a:solidFill>
            <a:srgbClr val="F3F5F8"/>
          </a:solidFill>
          <a:ln w="9525">
            <a:solidFill>
              <a:srgbClr val="D5DAE1"/>
            </a:solidFill>
            <a:prstDash val="solid"/>
          </a:ln>
        </p:spPr>
        <p:txBody>
          <a:bodyPr/>
          <a:lstStyle/>
          <a:p>
            <a:endParaRPr lang="en-US"/>
          </a:p>
        </p:txBody>
      </p:sp>
      <p:sp>
        <p:nvSpPr>
          <p:cNvPr id="14" name="Text 11"/>
          <p:cNvSpPr txBox="1"/>
          <p:nvPr/>
        </p:nvSpPr>
        <p:spPr>
          <a:xfrm>
            <a:off x="5577840" y="1234440"/>
            <a:ext cx="1645920" cy="6858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Feature extraction</a:t>
            </a:r>
            <a:endParaRPr lang="en-US" sz="1100" dirty="0"/>
          </a:p>
        </p:txBody>
      </p:sp>
      <p:sp>
        <p:nvSpPr>
          <p:cNvPr id="15" name="Shape 12"/>
          <p:cNvSpPr/>
          <p:nvPr/>
        </p:nvSpPr>
        <p:spPr>
          <a:xfrm>
            <a:off x="7315200" y="1234440"/>
            <a:ext cx="1463040" cy="685800"/>
          </a:xfrm>
          <a:prstGeom prst="roundRect">
            <a:avLst>
              <a:gd name="adj" fmla="val 8000"/>
            </a:avLst>
          </a:prstGeom>
          <a:solidFill>
            <a:srgbClr val="F3F5F8"/>
          </a:solidFill>
          <a:ln w="9525">
            <a:solidFill>
              <a:srgbClr val="D5DAE1"/>
            </a:solidFill>
            <a:prstDash val="solid"/>
          </a:ln>
        </p:spPr>
        <p:txBody>
          <a:bodyPr/>
          <a:lstStyle/>
          <a:p>
            <a:endParaRPr lang="en-US"/>
          </a:p>
        </p:txBody>
      </p:sp>
      <p:sp>
        <p:nvSpPr>
          <p:cNvPr id="16" name="Text 13"/>
          <p:cNvSpPr txBox="1"/>
          <p:nvPr/>
        </p:nvSpPr>
        <p:spPr>
          <a:xfrm>
            <a:off x="7315200" y="1234440"/>
            <a:ext cx="1463040" cy="6858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Process management tools</a:t>
            </a:r>
            <a:endParaRPr lang="en-US" sz="1100" dirty="0"/>
          </a:p>
        </p:txBody>
      </p:sp>
      <p:sp>
        <p:nvSpPr>
          <p:cNvPr id="17" name="Shape 14"/>
          <p:cNvSpPr/>
          <p:nvPr/>
        </p:nvSpPr>
        <p:spPr>
          <a:xfrm>
            <a:off x="365760" y="2011680"/>
            <a:ext cx="1737360" cy="1371600"/>
          </a:xfrm>
          <a:prstGeom prst="roundRect">
            <a:avLst>
              <a:gd name="adj" fmla="val 4000"/>
            </a:avLst>
          </a:prstGeom>
          <a:solidFill>
            <a:srgbClr val="F3F5F8"/>
          </a:solidFill>
          <a:ln w="9525">
            <a:solidFill>
              <a:srgbClr val="D5DAE1"/>
            </a:solidFill>
            <a:prstDash val="solid"/>
          </a:ln>
        </p:spPr>
        <p:txBody>
          <a:bodyPr/>
          <a:lstStyle/>
          <a:p>
            <a:endParaRPr lang="en-US"/>
          </a:p>
        </p:txBody>
      </p:sp>
      <p:sp>
        <p:nvSpPr>
          <p:cNvPr id="18" name="Text 15"/>
          <p:cNvSpPr txBox="1"/>
          <p:nvPr/>
        </p:nvSpPr>
        <p:spPr>
          <a:xfrm>
            <a:off x="365760" y="2011680"/>
            <a:ext cx="1737360" cy="13716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Machine resource management</a:t>
            </a:r>
            <a:endParaRPr lang="en-US" sz="1100" dirty="0"/>
          </a:p>
        </p:txBody>
      </p:sp>
      <p:sp>
        <p:nvSpPr>
          <p:cNvPr id="19" name="Shape 16"/>
          <p:cNvSpPr/>
          <p:nvPr/>
        </p:nvSpPr>
        <p:spPr>
          <a:xfrm>
            <a:off x="2194560" y="2011680"/>
            <a:ext cx="1280160" cy="1371600"/>
          </a:xfrm>
          <a:prstGeom prst="roundRect">
            <a:avLst>
              <a:gd name="adj" fmla="val 4286"/>
            </a:avLst>
          </a:prstGeom>
          <a:solidFill>
            <a:srgbClr val="F3F5F8"/>
          </a:solidFill>
          <a:ln w="9525">
            <a:solidFill>
              <a:srgbClr val="D5DAE1"/>
            </a:solidFill>
            <a:prstDash val="solid"/>
          </a:ln>
        </p:spPr>
        <p:txBody>
          <a:bodyPr/>
          <a:lstStyle/>
          <a:p>
            <a:endParaRPr lang="en-US"/>
          </a:p>
        </p:txBody>
      </p:sp>
      <p:sp>
        <p:nvSpPr>
          <p:cNvPr id="20" name="Text 17"/>
          <p:cNvSpPr txBox="1"/>
          <p:nvPr/>
        </p:nvSpPr>
        <p:spPr>
          <a:xfrm>
            <a:off x="2194560" y="2011680"/>
            <a:ext cx="1280160" cy="13716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Analysis tools</a:t>
            </a:r>
            <a:endParaRPr lang="en-US" sz="1100" dirty="0"/>
          </a:p>
        </p:txBody>
      </p:sp>
      <p:sp>
        <p:nvSpPr>
          <p:cNvPr id="21" name="Shape 18"/>
          <p:cNvSpPr/>
          <p:nvPr/>
        </p:nvSpPr>
        <p:spPr>
          <a:xfrm>
            <a:off x="5577840" y="2011680"/>
            <a:ext cx="1920240" cy="1371600"/>
          </a:xfrm>
          <a:prstGeom prst="roundRect">
            <a:avLst>
              <a:gd name="adj" fmla="val 4000"/>
            </a:avLst>
          </a:prstGeom>
          <a:solidFill>
            <a:srgbClr val="F3F5F8"/>
          </a:solidFill>
          <a:ln w="9525">
            <a:solidFill>
              <a:srgbClr val="D5DAE1"/>
            </a:solidFill>
            <a:prstDash val="solid"/>
          </a:ln>
        </p:spPr>
        <p:txBody>
          <a:bodyPr/>
          <a:lstStyle/>
          <a:p>
            <a:endParaRPr lang="en-US"/>
          </a:p>
        </p:txBody>
      </p:sp>
      <p:sp>
        <p:nvSpPr>
          <p:cNvPr id="22" name="Text 19"/>
          <p:cNvSpPr txBox="1"/>
          <p:nvPr/>
        </p:nvSpPr>
        <p:spPr>
          <a:xfrm>
            <a:off x="5577840" y="2011680"/>
            <a:ext cx="1920240" cy="13716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Serving infrastructure</a:t>
            </a:r>
            <a:endParaRPr lang="en-US" sz="1100" dirty="0"/>
          </a:p>
        </p:txBody>
      </p:sp>
      <p:sp>
        <p:nvSpPr>
          <p:cNvPr id="23" name="Shape 20"/>
          <p:cNvSpPr/>
          <p:nvPr/>
        </p:nvSpPr>
        <p:spPr>
          <a:xfrm>
            <a:off x="7589520" y="2011680"/>
            <a:ext cx="1188720" cy="1371600"/>
          </a:xfrm>
          <a:prstGeom prst="roundRect">
            <a:avLst>
              <a:gd name="adj" fmla="val 4615"/>
            </a:avLst>
          </a:prstGeom>
          <a:solidFill>
            <a:srgbClr val="F3F5F8"/>
          </a:solidFill>
          <a:ln w="9525">
            <a:solidFill>
              <a:srgbClr val="D5DAE1"/>
            </a:solidFill>
            <a:prstDash val="solid"/>
          </a:ln>
        </p:spPr>
        <p:txBody>
          <a:bodyPr/>
          <a:lstStyle/>
          <a:p>
            <a:endParaRPr lang="en-US"/>
          </a:p>
        </p:txBody>
      </p:sp>
      <p:sp>
        <p:nvSpPr>
          <p:cNvPr id="24" name="Text 21"/>
          <p:cNvSpPr txBox="1"/>
          <p:nvPr/>
        </p:nvSpPr>
        <p:spPr>
          <a:xfrm>
            <a:off x="7589520" y="2011680"/>
            <a:ext cx="1188720" cy="13716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Monitoring</a:t>
            </a:r>
            <a:endParaRPr lang="en-US" sz="1100" dirty="0"/>
          </a:p>
        </p:txBody>
      </p:sp>
      <p:sp>
        <p:nvSpPr>
          <p:cNvPr id="25" name="Shape 22"/>
          <p:cNvSpPr/>
          <p:nvPr/>
        </p:nvSpPr>
        <p:spPr>
          <a:xfrm>
            <a:off x="365760" y="3474720"/>
            <a:ext cx="3108960" cy="685800"/>
          </a:xfrm>
          <a:prstGeom prst="roundRect">
            <a:avLst>
              <a:gd name="adj" fmla="val 8000"/>
            </a:avLst>
          </a:prstGeom>
          <a:solidFill>
            <a:srgbClr val="F3F5F8"/>
          </a:solidFill>
          <a:ln w="9525">
            <a:solidFill>
              <a:srgbClr val="D5DAE1"/>
            </a:solidFill>
            <a:prstDash val="solid"/>
          </a:ln>
        </p:spPr>
        <p:txBody>
          <a:bodyPr/>
          <a:lstStyle/>
          <a:p>
            <a:endParaRPr lang="en-US"/>
          </a:p>
        </p:txBody>
      </p:sp>
      <p:sp>
        <p:nvSpPr>
          <p:cNvPr id="26" name="Text 23"/>
          <p:cNvSpPr txBox="1"/>
          <p:nvPr/>
        </p:nvSpPr>
        <p:spPr>
          <a:xfrm>
            <a:off x="365760" y="3474720"/>
            <a:ext cx="3108960" cy="6858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Data &amp; model versioning</a:t>
            </a:r>
            <a:endParaRPr lang="en-US" sz="1100" dirty="0"/>
          </a:p>
        </p:txBody>
      </p:sp>
      <p:sp>
        <p:nvSpPr>
          <p:cNvPr id="27" name="Shape 24"/>
          <p:cNvSpPr/>
          <p:nvPr/>
        </p:nvSpPr>
        <p:spPr>
          <a:xfrm>
            <a:off x="3566160" y="3474720"/>
            <a:ext cx="1920240" cy="685800"/>
          </a:xfrm>
          <a:prstGeom prst="roundRect">
            <a:avLst>
              <a:gd name="adj" fmla="val 8000"/>
            </a:avLst>
          </a:prstGeom>
          <a:solidFill>
            <a:srgbClr val="F3F5F8"/>
          </a:solidFill>
          <a:ln w="9525">
            <a:solidFill>
              <a:srgbClr val="D5DAE1"/>
            </a:solidFill>
            <a:prstDash val="solid"/>
          </a:ln>
        </p:spPr>
        <p:txBody>
          <a:bodyPr/>
          <a:lstStyle/>
          <a:p>
            <a:endParaRPr lang="en-US"/>
          </a:p>
        </p:txBody>
      </p:sp>
      <p:sp>
        <p:nvSpPr>
          <p:cNvPr id="28" name="Text 25"/>
          <p:cNvSpPr txBox="1"/>
          <p:nvPr/>
        </p:nvSpPr>
        <p:spPr>
          <a:xfrm>
            <a:off x="3566160" y="3474720"/>
            <a:ext cx="1920240" cy="6858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Testing and debugging</a:t>
            </a:r>
            <a:endParaRPr lang="en-US" sz="1100" dirty="0"/>
          </a:p>
        </p:txBody>
      </p:sp>
      <p:sp>
        <p:nvSpPr>
          <p:cNvPr id="29" name="Shape 26"/>
          <p:cNvSpPr/>
          <p:nvPr/>
        </p:nvSpPr>
        <p:spPr>
          <a:xfrm>
            <a:off x="5577840" y="3474720"/>
            <a:ext cx="3200400" cy="685800"/>
          </a:xfrm>
          <a:prstGeom prst="roundRect">
            <a:avLst>
              <a:gd name="adj" fmla="val 8000"/>
            </a:avLst>
          </a:prstGeom>
          <a:solidFill>
            <a:srgbClr val="F3F5F8"/>
          </a:solidFill>
          <a:ln w="9525">
            <a:solidFill>
              <a:srgbClr val="D5DAE1"/>
            </a:solidFill>
            <a:prstDash val="solid"/>
          </a:ln>
        </p:spPr>
        <p:txBody>
          <a:bodyPr/>
          <a:lstStyle/>
          <a:p>
            <a:endParaRPr lang="en-US"/>
          </a:p>
        </p:txBody>
      </p:sp>
      <p:sp>
        <p:nvSpPr>
          <p:cNvPr id="30" name="Text 27"/>
          <p:cNvSpPr txBox="1"/>
          <p:nvPr/>
        </p:nvSpPr>
        <p:spPr>
          <a:xfrm>
            <a:off x="5577840" y="3474720"/>
            <a:ext cx="3200400" cy="685800"/>
          </a:xfrm>
          <a:prstGeom prst="rect">
            <a:avLst/>
          </a:prstGeom>
          <a:noFill/>
          <a:ln/>
        </p:spPr>
        <p:txBody>
          <a:bodyPr wrap="square" lIns="635" tIns="635" rIns="635" bIns="635" rtlCol="0" anchor="ctr"/>
          <a:lstStyle/>
          <a:p>
            <a:pPr marL="0" indent="0" algn="ctr">
              <a:buNone/>
            </a:pPr>
            <a:r>
              <a:rPr lang="en-US" sz="1100" dirty="0">
                <a:solidFill>
                  <a:srgbClr val="1B2A4A"/>
                </a:solidFill>
                <a:latin typeface="Calibri" pitchFamily="34" charset="0"/>
                <a:ea typeface="Calibri" pitchFamily="34" charset="-122"/>
                <a:cs typeface="Calibri" pitchFamily="34" charset="-120"/>
              </a:rPr>
              <a:t>Feedback loops &amp; retraining</a:t>
            </a:r>
            <a:endParaRPr lang="en-US" sz="1100" dirty="0"/>
          </a:p>
        </p:txBody>
      </p:sp>
      <p:sp>
        <p:nvSpPr>
          <p:cNvPr id="31" name="Shape 28"/>
          <p:cNvSpPr/>
          <p:nvPr/>
        </p:nvSpPr>
        <p:spPr>
          <a:xfrm>
            <a:off x="3931920" y="2423160"/>
            <a:ext cx="1188720" cy="548640"/>
          </a:xfrm>
          <a:prstGeom prst="roundRect">
            <a:avLst>
              <a:gd name="adj" fmla="val 10000"/>
            </a:avLst>
          </a:prstGeom>
          <a:solidFill>
            <a:srgbClr val="E07A2F"/>
          </a:solidFill>
          <a:ln w="12700">
            <a:solidFill>
              <a:srgbClr val="E07A2F"/>
            </a:solidFill>
            <a:prstDash val="solid"/>
          </a:ln>
        </p:spPr>
        <p:txBody>
          <a:bodyPr/>
          <a:lstStyle/>
          <a:p>
            <a:endParaRPr lang="en-US"/>
          </a:p>
        </p:txBody>
      </p:sp>
      <p:sp>
        <p:nvSpPr>
          <p:cNvPr id="32" name="Text 29"/>
          <p:cNvSpPr txBox="1"/>
          <p:nvPr/>
        </p:nvSpPr>
        <p:spPr>
          <a:xfrm>
            <a:off x="3931920" y="2423160"/>
            <a:ext cx="1188720" cy="5486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ML code</a:t>
            </a:r>
            <a:endParaRPr lang="en-US" sz="1200" dirty="0"/>
          </a:p>
        </p:txBody>
      </p:sp>
      <p:sp>
        <p:nvSpPr>
          <p:cNvPr id="33" name="Text 30"/>
          <p:cNvSpPr txBox="1"/>
          <p:nvPr/>
        </p:nvSpPr>
        <p:spPr>
          <a:xfrm>
            <a:off x="365760" y="4297680"/>
            <a:ext cx="8412480" cy="274320"/>
          </a:xfrm>
          <a:prstGeom prst="rect">
            <a:avLst/>
          </a:prstGeom>
          <a:noFill/>
          <a:ln/>
        </p:spPr>
        <p:txBody>
          <a:bodyPr wrap="square" lIns="0" tIns="0" rIns="0" bIns="0" rtlCol="0" anchor="t"/>
          <a:lstStyle/>
          <a:p>
            <a:pPr marL="0" indent="0" algn="l">
              <a:buNone/>
            </a:pPr>
            <a:r>
              <a:rPr lang="en-US" sz="900" i="1" dirty="0">
                <a:solidFill>
                  <a:srgbClr val="6B7280"/>
                </a:solidFill>
                <a:latin typeface="Calibri" pitchFamily="34" charset="0"/>
                <a:ea typeface="Calibri" pitchFamily="34" charset="-122"/>
                <a:cs typeface="Calibri" pitchFamily="34" charset="-120"/>
              </a:rPr>
              <a:t>Adapted from Sculley et al., "Hidden Technical Debt in Machine Learning Systems", Google, 2015</a:t>
            </a:r>
            <a:endParaRPr lang="en-US" sz="900" dirty="0"/>
          </a:p>
        </p:txBody>
      </p:sp>
      <p:pic>
        <p:nvPicPr>
          <p:cNvPr id="34"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Training a model is the first mile, not the finish line</a:t>
            </a:r>
            <a:endParaRPr lang="en-US" sz="2400" dirty="0"/>
          </a:p>
        </p:txBody>
      </p:sp>
      <p:sp>
        <p:nvSpPr>
          <p:cNvPr id="7" name="Text 4"/>
          <p:cNvSpPr txBox="1"/>
          <p:nvPr/>
        </p:nvSpPr>
        <p:spPr>
          <a:xfrm>
            <a:off x="365760" y="1325880"/>
            <a:ext cx="2743200" cy="822960"/>
          </a:xfrm>
          <a:prstGeom prst="rect">
            <a:avLst/>
          </a:prstGeom>
          <a:noFill/>
          <a:ln/>
        </p:spPr>
        <p:txBody>
          <a:bodyPr wrap="square" lIns="0" tIns="0" rIns="0" bIns="0" rtlCol="0" anchor="ctr"/>
          <a:lstStyle/>
          <a:p>
            <a:pPr marL="0" indent="0" algn="ctr">
              <a:buNone/>
            </a:pPr>
            <a:r>
              <a:rPr lang="en-US" sz="4800" b="1" dirty="0">
                <a:solidFill>
                  <a:srgbClr val="0E7C86"/>
                </a:solidFill>
                <a:latin typeface="Calibri" pitchFamily="34" charset="0"/>
                <a:ea typeface="Calibri" pitchFamily="34" charset="-122"/>
                <a:cs typeface="Calibri" pitchFamily="34" charset="-120"/>
              </a:rPr>
              <a:t>28%</a:t>
            </a:r>
            <a:endParaRPr lang="en-US" sz="4800" dirty="0"/>
          </a:p>
        </p:txBody>
      </p:sp>
      <p:sp>
        <p:nvSpPr>
          <p:cNvPr id="8" name="Text 5"/>
          <p:cNvSpPr txBox="1"/>
          <p:nvPr/>
        </p:nvSpPr>
        <p:spPr>
          <a:xfrm>
            <a:off x="365760" y="2148840"/>
            <a:ext cx="2743200" cy="731520"/>
          </a:xfrm>
          <a:prstGeom prst="rect">
            <a:avLst/>
          </a:prstGeom>
          <a:noFill/>
          <a:ln/>
        </p:spPr>
        <p:txBody>
          <a:bodyPr wrap="square" lIns="0" tIns="0" rIns="0" bIns="0" rtlCol="0" anchor="t"/>
          <a:lstStyle/>
          <a:p>
            <a:pPr marL="0" indent="0" algn="ctr">
              <a:buNone/>
            </a:pPr>
            <a:r>
              <a:rPr lang="en-US" sz="1200" dirty="0">
                <a:solidFill>
                  <a:srgbClr val="222222"/>
                </a:solidFill>
                <a:latin typeface="Calibri" pitchFamily="34" charset="0"/>
                <a:ea typeface="Calibri" pitchFamily="34" charset="-122"/>
                <a:cs typeface="Calibri" pitchFamily="34" charset="-120"/>
              </a:rPr>
              <a:t>of AI use cases fully succeed and meet ROI expectations; 20% fail outright</a:t>
            </a:r>
            <a:endParaRPr lang="en-US" sz="1200" dirty="0"/>
          </a:p>
        </p:txBody>
      </p:sp>
      <p:sp>
        <p:nvSpPr>
          <p:cNvPr id="9" name="Text 6"/>
          <p:cNvSpPr txBox="1"/>
          <p:nvPr/>
        </p:nvSpPr>
        <p:spPr>
          <a:xfrm>
            <a:off x="365760" y="2880360"/>
            <a:ext cx="2743200" cy="457200"/>
          </a:xfrm>
          <a:prstGeom prst="rect">
            <a:avLst/>
          </a:prstGeom>
          <a:noFill/>
          <a:ln/>
        </p:spPr>
        <p:txBody>
          <a:bodyPr wrap="square" lIns="0" tIns="0" rIns="0" bIns="0" rtlCol="0" anchor="t"/>
          <a:lstStyle/>
          <a:p>
            <a:pPr marL="0" indent="0" algn="ctr">
              <a:buNone/>
            </a:pPr>
            <a:r>
              <a:rPr lang="en-US" sz="900" i="1" dirty="0">
                <a:solidFill>
                  <a:srgbClr val="6B7280"/>
                </a:solidFill>
                <a:latin typeface="Calibri" pitchFamily="34" charset="0"/>
                <a:ea typeface="Calibri" pitchFamily="34" charset="-122"/>
                <a:cs typeface="Calibri" pitchFamily="34" charset="-120"/>
              </a:rPr>
              <a:t>Gartner survey of 782 I&amp;O leaders, Nov–Dec 2025 (published April 2026)</a:t>
            </a:r>
            <a:endParaRPr lang="en-US" sz="900" dirty="0"/>
          </a:p>
        </p:txBody>
      </p:sp>
      <p:sp>
        <p:nvSpPr>
          <p:cNvPr id="10" name="Text 7"/>
          <p:cNvSpPr txBox="1"/>
          <p:nvPr/>
        </p:nvSpPr>
        <p:spPr>
          <a:xfrm>
            <a:off x="3200400" y="1325880"/>
            <a:ext cx="2743200" cy="822960"/>
          </a:xfrm>
          <a:prstGeom prst="rect">
            <a:avLst/>
          </a:prstGeom>
          <a:noFill/>
          <a:ln/>
        </p:spPr>
        <p:txBody>
          <a:bodyPr wrap="square" lIns="0" tIns="0" rIns="0" bIns="0" rtlCol="0" anchor="ctr"/>
          <a:lstStyle/>
          <a:p>
            <a:pPr marL="0" indent="0" algn="ctr">
              <a:buNone/>
            </a:pPr>
            <a:r>
              <a:rPr lang="en-US" sz="4800" b="1" dirty="0">
                <a:solidFill>
                  <a:srgbClr val="E07A2F"/>
                </a:solidFill>
                <a:latin typeface="Calibri" pitchFamily="34" charset="0"/>
                <a:ea typeface="Calibri" pitchFamily="34" charset="-122"/>
                <a:cs typeface="Calibri" pitchFamily="34" charset="-120"/>
              </a:rPr>
              <a:t>95%</a:t>
            </a:r>
            <a:endParaRPr lang="en-US" sz="4800" dirty="0"/>
          </a:p>
        </p:txBody>
      </p:sp>
      <p:sp>
        <p:nvSpPr>
          <p:cNvPr id="11" name="Text 8"/>
          <p:cNvSpPr txBox="1"/>
          <p:nvPr/>
        </p:nvSpPr>
        <p:spPr>
          <a:xfrm>
            <a:off x="3200400" y="2148840"/>
            <a:ext cx="2743200" cy="731520"/>
          </a:xfrm>
          <a:prstGeom prst="rect">
            <a:avLst/>
          </a:prstGeom>
          <a:noFill/>
          <a:ln/>
        </p:spPr>
        <p:txBody>
          <a:bodyPr wrap="square" lIns="0" tIns="0" rIns="0" bIns="0" rtlCol="0" anchor="t"/>
          <a:lstStyle/>
          <a:p>
            <a:pPr marL="0" indent="0" algn="ctr">
              <a:buNone/>
            </a:pPr>
            <a:r>
              <a:rPr lang="en-US" sz="1200" dirty="0">
                <a:solidFill>
                  <a:srgbClr val="222222"/>
                </a:solidFill>
                <a:latin typeface="Calibri" pitchFamily="34" charset="0"/>
                <a:ea typeface="Calibri" pitchFamily="34" charset="-122"/>
                <a:cs typeface="Calibri" pitchFamily="34" charset="-120"/>
              </a:rPr>
              <a:t>of enterprise GenAI pilots show no measurable impact on profit and loss</a:t>
            </a:r>
            <a:endParaRPr lang="en-US" sz="1200" dirty="0"/>
          </a:p>
        </p:txBody>
      </p:sp>
      <p:sp>
        <p:nvSpPr>
          <p:cNvPr id="12" name="Text 9"/>
          <p:cNvSpPr txBox="1"/>
          <p:nvPr/>
        </p:nvSpPr>
        <p:spPr>
          <a:xfrm>
            <a:off x="3200400" y="2880360"/>
            <a:ext cx="2743200" cy="457200"/>
          </a:xfrm>
          <a:prstGeom prst="rect">
            <a:avLst/>
          </a:prstGeom>
          <a:noFill/>
          <a:ln/>
        </p:spPr>
        <p:txBody>
          <a:bodyPr wrap="square" lIns="0" tIns="0" rIns="0" bIns="0" rtlCol="0" anchor="t"/>
          <a:lstStyle/>
          <a:p>
            <a:pPr marL="0" indent="0" algn="ctr">
              <a:buNone/>
            </a:pPr>
            <a:r>
              <a:rPr lang="en-US" sz="900" i="1" dirty="0">
                <a:solidFill>
                  <a:srgbClr val="6B7280"/>
                </a:solidFill>
                <a:latin typeface="Calibri" pitchFamily="34" charset="0"/>
                <a:ea typeface="Calibri" pitchFamily="34" charset="-122"/>
                <a:cs typeface="Calibri" pitchFamily="34" charset="-120"/>
              </a:rPr>
              <a:t>MIT NANDA, "The GenAI Divide", 2025</a:t>
            </a:r>
            <a:endParaRPr lang="en-US" sz="900" dirty="0"/>
          </a:p>
        </p:txBody>
      </p:sp>
      <p:sp>
        <p:nvSpPr>
          <p:cNvPr id="13" name="Text 10"/>
          <p:cNvSpPr txBox="1"/>
          <p:nvPr/>
        </p:nvSpPr>
        <p:spPr>
          <a:xfrm>
            <a:off x="6035040" y="1325880"/>
            <a:ext cx="2743200" cy="822960"/>
          </a:xfrm>
          <a:prstGeom prst="rect">
            <a:avLst/>
          </a:prstGeom>
          <a:noFill/>
          <a:ln/>
        </p:spPr>
        <p:txBody>
          <a:bodyPr wrap="square" lIns="0" tIns="0" rIns="0" bIns="0" rtlCol="0" anchor="ctr"/>
          <a:lstStyle/>
          <a:p>
            <a:pPr marL="0" indent="0" algn="ctr">
              <a:buNone/>
            </a:pPr>
            <a:r>
              <a:rPr lang="en-US" sz="4800" b="1" dirty="0">
                <a:solidFill>
                  <a:srgbClr val="1B2A4A"/>
                </a:solidFill>
                <a:latin typeface="Calibri" pitchFamily="34" charset="0"/>
                <a:ea typeface="Calibri" pitchFamily="34" charset="-122"/>
                <a:cs typeface="Calibri" pitchFamily="34" charset="-120"/>
              </a:rPr>
              <a:t>87%</a:t>
            </a:r>
            <a:endParaRPr lang="en-US" sz="4800" dirty="0"/>
          </a:p>
        </p:txBody>
      </p:sp>
      <p:sp>
        <p:nvSpPr>
          <p:cNvPr id="14" name="Text 11"/>
          <p:cNvSpPr txBox="1"/>
          <p:nvPr/>
        </p:nvSpPr>
        <p:spPr>
          <a:xfrm>
            <a:off x="6035040" y="2148840"/>
            <a:ext cx="2743200" cy="731520"/>
          </a:xfrm>
          <a:prstGeom prst="rect">
            <a:avLst/>
          </a:prstGeom>
          <a:noFill/>
          <a:ln/>
        </p:spPr>
        <p:txBody>
          <a:bodyPr wrap="square" lIns="0" tIns="0" rIns="0" bIns="0" rtlCol="0" anchor="t"/>
          <a:lstStyle/>
          <a:p>
            <a:pPr marL="0" indent="0" algn="ctr">
              <a:buNone/>
            </a:pPr>
            <a:r>
              <a:rPr lang="en-US" sz="1200" dirty="0">
                <a:solidFill>
                  <a:srgbClr val="222222"/>
                </a:solidFill>
                <a:latin typeface="Calibri" pitchFamily="34" charset="0"/>
                <a:ea typeface="Calibri" pitchFamily="34" charset="-122"/>
                <a:cs typeface="Calibri" pitchFamily="34" charset="-120"/>
              </a:rPr>
              <a:t>of data-science projects never make it into production</a:t>
            </a:r>
            <a:endParaRPr lang="en-US" sz="1200" dirty="0"/>
          </a:p>
        </p:txBody>
      </p:sp>
      <p:sp>
        <p:nvSpPr>
          <p:cNvPr id="15" name="Text 12"/>
          <p:cNvSpPr txBox="1"/>
          <p:nvPr/>
        </p:nvSpPr>
        <p:spPr>
          <a:xfrm>
            <a:off x="6035040" y="2880360"/>
            <a:ext cx="2743200" cy="457200"/>
          </a:xfrm>
          <a:prstGeom prst="rect">
            <a:avLst/>
          </a:prstGeom>
          <a:noFill/>
          <a:ln/>
        </p:spPr>
        <p:txBody>
          <a:bodyPr wrap="square" lIns="0" tIns="0" rIns="0" bIns="0" rtlCol="0" anchor="t"/>
          <a:lstStyle/>
          <a:p>
            <a:pPr marL="0" indent="0" algn="ctr">
              <a:buNone/>
            </a:pPr>
            <a:r>
              <a:rPr lang="en-US" sz="900" i="1" dirty="0">
                <a:solidFill>
                  <a:srgbClr val="6B7280"/>
                </a:solidFill>
                <a:latin typeface="Calibri" pitchFamily="34" charset="0"/>
                <a:ea typeface="Calibri" pitchFamily="34" charset="-122"/>
                <a:cs typeface="Calibri" pitchFamily="34" charset="-120"/>
              </a:rPr>
              <a:t>VentureBeat, 2019 (the historical baseline)</a:t>
            </a:r>
            <a:endParaRPr lang="en-US" sz="900" dirty="0"/>
          </a:p>
        </p:txBody>
      </p:sp>
      <p:sp>
        <p:nvSpPr>
          <p:cNvPr id="16" name="Shape 13"/>
          <p:cNvSpPr/>
          <p:nvPr/>
        </p:nvSpPr>
        <p:spPr>
          <a:xfrm>
            <a:off x="365760" y="3886200"/>
            <a:ext cx="8412480" cy="548640"/>
          </a:xfrm>
          <a:prstGeom prst="roundRect">
            <a:avLst>
              <a:gd name="adj" fmla="val 13333"/>
            </a:avLst>
          </a:prstGeom>
          <a:solidFill>
            <a:srgbClr val="E3F1F2"/>
          </a:solidFill>
          <a:ln w="12700">
            <a:solidFill>
              <a:srgbClr val="E3F1F2"/>
            </a:solidFill>
            <a:prstDash val="solid"/>
          </a:ln>
        </p:spPr>
        <p:txBody>
          <a:bodyPr/>
          <a:lstStyle/>
          <a:p>
            <a:endParaRPr lang="en-US"/>
          </a:p>
        </p:txBody>
      </p:sp>
      <p:pic>
        <p:nvPicPr>
          <p:cNvPr id="17" name="Image 0" descr="preencoded.png"/>
          <p:cNvPicPr>
            <a:picLocks noChangeAspect="1"/>
          </p:cNvPicPr>
          <p:nvPr/>
        </p:nvPicPr>
        <p:blipFill>
          <a:blip r:embed="rId3"/>
          <a:stretch>
            <a:fillRect/>
          </a:stretch>
        </p:blipFill>
        <p:spPr>
          <a:xfrm>
            <a:off x="502920" y="4023360"/>
            <a:ext cx="274320" cy="274320"/>
          </a:xfrm>
          <a:prstGeom prst="rect">
            <a:avLst/>
          </a:prstGeom>
        </p:spPr>
      </p:pic>
      <p:sp>
        <p:nvSpPr>
          <p:cNvPr id="18" name="Text 14"/>
          <p:cNvSpPr txBox="1"/>
          <p:nvPr/>
        </p:nvSpPr>
        <p:spPr>
          <a:xfrm>
            <a:off x="896112" y="3886200"/>
            <a:ext cx="7772400" cy="54864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The pattern has held for seven years. The problem is not the algorithms; it is everything around them.</a:t>
            </a:r>
            <a:endParaRPr lang="en-US" sz="1200" dirty="0"/>
          </a:p>
        </p:txBody>
      </p:sp>
      <p:pic>
        <p:nvPicPr>
          <p:cNvPr id="1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5</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How this course works</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Twelve sessions in five weeks: live, forum, video</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marL="0" indent="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rhythm: a live session every Saturday, a forum every week, two videos</a:t>
            </a:r>
            <a:endParaRPr lang="en-US" sz="2400" dirty="0"/>
          </a:p>
        </p:txBody>
      </p:sp>
      <p:sp>
        <p:nvSpPr>
          <p:cNvPr id="7" name="Shape 4"/>
          <p:cNvSpPr/>
          <p:nvPr/>
        </p:nvSpPr>
        <p:spPr>
          <a:xfrm>
            <a:off x="365760" y="1234440"/>
            <a:ext cx="1609344" cy="1325880"/>
          </a:xfrm>
          <a:prstGeom prst="roundRect">
            <a:avLst>
              <a:gd name="adj" fmla="val 4138"/>
            </a:avLst>
          </a:prstGeom>
          <a:solidFill>
            <a:srgbClr val="1B2A4A"/>
          </a:solidFill>
          <a:ln w="12700">
            <a:solidFill>
              <a:srgbClr val="1B2A4A"/>
            </a:solidFill>
            <a:prstDash val="solid"/>
          </a:ln>
        </p:spPr>
        <p:txBody>
          <a:bodyPr/>
          <a:lstStyle/>
          <a:p>
            <a:endParaRPr lang="en-US"/>
          </a:p>
        </p:txBody>
      </p:sp>
      <p:sp>
        <p:nvSpPr>
          <p:cNvPr id="8" name="Text 5"/>
          <p:cNvSpPr txBox="1"/>
          <p:nvPr/>
        </p:nvSpPr>
        <p:spPr>
          <a:xfrm>
            <a:off x="457200" y="1298448"/>
            <a:ext cx="1426464"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Sat 3 Oct</a:t>
            </a:r>
            <a:endParaRPr lang="en-US" sz="1100" dirty="0"/>
          </a:p>
        </p:txBody>
      </p:sp>
      <p:sp>
        <p:nvSpPr>
          <p:cNvPr id="9" name="Text 6"/>
          <p:cNvSpPr txBox="1"/>
          <p:nvPr/>
        </p:nvSpPr>
        <p:spPr>
          <a:xfrm>
            <a:off x="457200" y="1554480"/>
            <a:ext cx="1426464"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S1 Live</a:t>
            </a:r>
            <a:endParaRPr lang="en-US" sz="1500" dirty="0"/>
          </a:p>
        </p:txBody>
      </p:sp>
      <p:sp>
        <p:nvSpPr>
          <p:cNvPr id="10" name="Text 7"/>
          <p:cNvSpPr txBox="1"/>
          <p:nvPr/>
        </p:nvSpPr>
        <p:spPr>
          <a:xfrm>
            <a:off x="457200" y="1874520"/>
            <a:ext cx="1426464" cy="64008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Foundations, personas, lifecycle</a:t>
            </a:r>
            <a:endParaRPr lang="en-US" sz="1050" dirty="0"/>
          </a:p>
        </p:txBody>
      </p:sp>
      <p:sp>
        <p:nvSpPr>
          <p:cNvPr id="11" name="Shape 8"/>
          <p:cNvSpPr/>
          <p:nvPr/>
        </p:nvSpPr>
        <p:spPr>
          <a:xfrm>
            <a:off x="365760" y="2651760"/>
            <a:ext cx="1609344" cy="1051560"/>
          </a:xfrm>
          <a:prstGeom prst="roundRect">
            <a:avLst>
              <a:gd name="adj" fmla="val 5217"/>
            </a:avLst>
          </a:prstGeom>
          <a:solidFill>
            <a:srgbClr val="E3F1F2"/>
          </a:solidFill>
          <a:ln w="12700">
            <a:solidFill>
              <a:srgbClr val="E3F1F2"/>
            </a:solidFill>
            <a:prstDash val="solid"/>
          </a:ln>
        </p:spPr>
        <p:txBody>
          <a:bodyPr/>
          <a:lstStyle/>
          <a:p>
            <a:endParaRPr lang="en-US"/>
          </a:p>
        </p:txBody>
      </p:sp>
      <p:sp>
        <p:nvSpPr>
          <p:cNvPr id="12" name="Text 9"/>
          <p:cNvSpPr txBox="1"/>
          <p:nvPr/>
        </p:nvSpPr>
        <p:spPr>
          <a:xfrm>
            <a:off x="457200" y="2697480"/>
            <a:ext cx="1426464"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S2 Forum 1 · 3–9 Oct</a:t>
            </a:r>
            <a:endParaRPr lang="en-US" sz="1000" dirty="0"/>
          </a:p>
        </p:txBody>
      </p:sp>
      <p:sp>
        <p:nvSpPr>
          <p:cNvPr id="13" name="Shape 10"/>
          <p:cNvSpPr/>
          <p:nvPr/>
        </p:nvSpPr>
        <p:spPr>
          <a:xfrm>
            <a:off x="2066544" y="1234440"/>
            <a:ext cx="1609344" cy="1325880"/>
          </a:xfrm>
          <a:prstGeom prst="roundRect">
            <a:avLst>
              <a:gd name="adj" fmla="val 4138"/>
            </a:avLst>
          </a:prstGeom>
          <a:solidFill>
            <a:srgbClr val="1B2A4A"/>
          </a:solidFill>
          <a:ln w="12700">
            <a:solidFill>
              <a:srgbClr val="1B2A4A"/>
            </a:solidFill>
            <a:prstDash val="solid"/>
          </a:ln>
        </p:spPr>
        <p:txBody>
          <a:bodyPr/>
          <a:lstStyle/>
          <a:p>
            <a:endParaRPr lang="en-US"/>
          </a:p>
        </p:txBody>
      </p:sp>
      <p:sp>
        <p:nvSpPr>
          <p:cNvPr id="14" name="Text 11"/>
          <p:cNvSpPr txBox="1"/>
          <p:nvPr/>
        </p:nvSpPr>
        <p:spPr>
          <a:xfrm>
            <a:off x="2157984" y="1298448"/>
            <a:ext cx="1426464"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Sat 10 Oct</a:t>
            </a:r>
            <a:endParaRPr lang="en-US" sz="1100" dirty="0"/>
          </a:p>
        </p:txBody>
      </p:sp>
      <p:sp>
        <p:nvSpPr>
          <p:cNvPr id="15" name="Text 12"/>
          <p:cNvSpPr txBox="1"/>
          <p:nvPr/>
        </p:nvSpPr>
        <p:spPr>
          <a:xfrm>
            <a:off x="2157984" y="1554480"/>
            <a:ext cx="1426464"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S3 Live</a:t>
            </a:r>
            <a:endParaRPr lang="en-US" sz="1500" dirty="0"/>
          </a:p>
        </p:txBody>
      </p:sp>
      <p:sp>
        <p:nvSpPr>
          <p:cNvPr id="16" name="Text 13"/>
          <p:cNvSpPr txBox="1"/>
          <p:nvPr/>
        </p:nvSpPr>
        <p:spPr>
          <a:xfrm>
            <a:off x="2157984" y="1874520"/>
            <a:ext cx="1426464" cy="64008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Pipelines, environments, security</a:t>
            </a:r>
            <a:endParaRPr lang="en-US" sz="1050" dirty="0"/>
          </a:p>
        </p:txBody>
      </p:sp>
      <p:sp>
        <p:nvSpPr>
          <p:cNvPr id="17" name="Shape 14"/>
          <p:cNvSpPr/>
          <p:nvPr/>
        </p:nvSpPr>
        <p:spPr>
          <a:xfrm>
            <a:off x="2066544" y="2651760"/>
            <a:ext cx="1609344" cy="1051560"/>
          </a:xfrm>
          <a:prstGeom prst="roundRect">
            <a:avLst>
              <a:gd name="adj" fmla="val 5217"/>
            </a:avLst>
          </a:prstGeom>
          <a:solidFill>
            <a:srgbClr val="E3F1F2"/>
          </a:solidFill>
          <a:ln w="12700">
            <a:solidFill>
              <a:srgbClr val="E3F1F2"/>
            </a:solidFill>
            <a:prstDash val="solid"/>
          </a:ln>
        </p:spPr>
        <p:txBody>
          <a:bodyPr/>
          <a:lstStyle/>
          <a:p>
            <a:endParaRPr lang="en-US"/>
          </a:p>
        </p:txBody>
      </p:sp>
      <p:sp>
        <p:nvSpPr>
          <p:cNvPr id="18" name="Text 15"/>
          <p:cNvSpPr txBox="1"/>
          <p:nvPr/>
        </p:nvSpPr>
        <p:spPr>
          <a:xfrm>
            <a:off x="2157984" y="2697480"/>
            <a:ext cx="1426464"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S4 Forum 2 · 10–16 Oct</a:t>
            </a:r>
            <a:endParaRPr lang="en-US" sz="1000" dirty="0"/>
          </a:p>
        </p:txBody>
      </p:sp>
      <p:sp>
        <p:nvSpPr>
          <p:cNvPr id="19" name="Shape 16"/>
          <p:cNvSpPr/>
          <p:nvPr/>
        </p:nvSpPr>
        <p:spPr>
          <a:xfrm>
            <a:off x="3767328" y="1234440"/>
            <a:ext cx="1609344" cy="1325880"/>
          </a:xfrm>
          <a:prstGeom prst="roundRect">
            <a:avLst>
              <a:gd name="adj" fmla="val 4138"/>
            </a:avLst>
          </a:prstGeom>
          <a:solidFill>
            <a:srgbClr val="1B2A4A"/>
          </a:solidFill>
          <a:ln w="12700">
            <a:solidFill>
              <a:srgbClr val="1B2A4A"/>
            </a:solidFill>
            <a:prstDash val="solid"/>
          </a:ln>
        </p:spPr>
        <p:txBody>
          <a:bodyPr/>
          <a:lstStyle/>
          <a:p>
            <a:endParaRPr lang="en-US"/>
          </a:p>
        </p:txBody>
      </p:sp>
      <p:sp>
        <p:nvSpPr>
          <p:cNvPr id="20" name="Text 17"/>
          <p:cNvSpPr txBox="1"/>
          <p:nvPr/>
        </p:nvSpPr>
        <p:spPr>
          <a:xfrm>
            <a:off x="3858768" y="1298448"/>
            <a:ext cx="1426464"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Sat 17 Oct</a:t>
            </a:r>
            <a:endParaRPr lang="en-US" sz="1100" dirty="0"/>
          </a:p>
        </p:txBody>
      </p:sp>
      <p:sp>
        <p:nvSpPr>
          <p:cNvPr id="21" name="Text 18"/>
          <p:cNvSpPr txBox="1"/>
          <p:nvPr/>
        </p:nvSpPr>
        <p:spPr>
          <a:xfrm>
            <a:off x="3858768" y="1554480"/>
            <a:ext cx="1426464"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S5 Live</a:t>
            </a:r>
            <a:endParaRPr lang="en-US" sz="1500" dirty="0"/>
          </a:p>
        </p:txBody>
      </p:sp>
      <p:sp>
        <p:nvSpPr>
          <p:cNvPr id="22" name="Text 19"/>
          <p:cNvSpPr txBox="1"/>
          <p:nvPr/>
        </p:nvSpPr>
        <p:spPr>
          <a:xfrm>
            <a:off x="3858768" y="1874520"/>
            <a:ext cx="1426464" cy="64008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CI/CD &amp; deployment strategies</a:t>
            </a:r>
            <a:endParaRPr lang="en-US" sz="1050" dirty="0"/>
          </a:p>
        </p:txBody>
      </p:sp>
      <p:sp>
        <p:nvSpPr>
          <p:cNvPr id="23" name="Shape 20"/>
          <p:cNvSpPr/>
          <p:nvPr/>
        </p:nvSpPr>
        <p:spPr>
          <a:xfrm>
            <a:off x="3767328" y="2651760"/>
            <a:ext cx="1609344" cy="1051560"/>
          </a:xfrm>
          <a:prstGeom prst="roundRect">
            <a:avLst>
              <a:gd name="adj" fmla="val 5217"/>
            </a:avLst>
          </a:prstGeom>
          <a:solidFill>
            <a:srgbClr val="E3F1F2"/>
          </a:solidFill>
          <a:ln w="12700">
            <a:solidFill>
              <a:srgbClr val="E3F1F2"/>
            </a:solidFill>
            <a:prstDash val="solid"/>
          </a:ln>
        </p:spPr>
        <p:txBody>
          <a:bodyPr/>
          <a:lstStyle/>
          <a:p>
            <a:endParaRPr lang="en-US"/>
          </a:p>
        </p:txBody>
      </p:sp>
      <p:sp>
        <p:nvSpPr>
          <p:cNvPr id="24" name="Text 21"/>
          <p:cNvSpPr txBox="1"/>
          <p:nvPr/>
        </p:nvSpPr>
        <p:spPr>
          <a:xfrm>
            <a:off x="3858768" y="2697480"/>
            <a:ext cx="1426464"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S6 Forum 3 · 17–23 Oct</a:t>
            </a:r>
            <a:endParaRPr lang="en-US" sz="1000" dirty="0"/>
          </a:p>
        </p:txBody>
      </p:sp>
      <p:sp>
        <p:nvSpPr>
          <p:cNvPr id="25" name="Shape 22"/>
          <p:cNvSpPr/>
          <p:nvPr/>
        </p:nvSpPr>
        <p:spPr>
          <a:xfrm>
            <a:off x="5468112" y="1234440"/>
            <a:ext cx="1609344" cy="1325880"/>
          </a:xfrm>
          <a:prstGeom prst="roundRect">
            <a:avLst>
              <a:gd name="adj" fmla="val 4138"/>
            </a:avLst>
          </a:prstGeom>
          <a:solidFill>
            <a:srgbClr val="1B2A4A"/>
          </a:solidFill>
          <a:ln w="12700">
            <a:solidFill>
              <a:srgbClr val="1B2A4A"/>
            </a:solidFill>
            <a:prstDash val="solid"/>
          </a:ln>
        </p:spPr>
        <p:txBody>
          <a:bodyPr/>
          <a:lstStyle/>
          <a:p>
            <a:endParaRPr lang="en-US"/>
          </a:p>
        </p:txBody>
      </p:sp>
      <p:sp>
        <p:nvSpPr>
          <p:cNvPr id="26" name="Text 23"/>
          <p:cNvSpPr txBox="1"/>
          <p:nvPr/>
        </p:nvSpPr>
        <p:spPr>
          <a:xfrm>
            <a:off x="5559552" y="1298448"/>
            <a:ext cx="1426464"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Sat 24 Oct</a:t>
            </a:r>
            <a:endParaRPr lang="en-US" sz="1100" dirty="0"/>
          </a:p>
        </p:txBody>
      </p:sp>
      <p:sp>
        <p:nvSpPr>
          <p:cNvPr id="27" name="Text 24"/>
          <p:cNvSpPr txBox="1"/>
          <p:nvPr/>
        </p:nvSpPr>
        <p:spPr>
          <a:xfrm>
            <a:off x="5559552" y="1554480"/>
            <a:ext cx="1426464"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S7 Live</a:t>
            </a:r>
            <a:endParaRPr lang="en-US" sz="1500" dirty="0"/>
          </a:p>
        </p:txBody>
      </p:sp>
      <p:sp>
        <p:nvSpPr>
          <p:cNvPr id="28" name="Text 25"/>
          <p:cNvSpPr txBox="1"/>
          <p:nvPr/>
        </p:nvSpPr>
        <p:spPr>
          <a:xfrm>
            <a:off x="5559552" y="1874520"/>
            <a:ext cx="1426464" cy="64008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Monitoring, XAI, Responsible AI</a:t>
            </a:r>
            <a:endParaRPr lang="en-US" sz="1050" dirty="0"/>
          </a:p>
        </p:txBody>
      </p:sp>
      <p:sp>
        <p:nvSpPr>
          <p:cNvPr id="29" name="Shape 26"/>
          <p:cNvSpPr/>
          <p:nvPr/>
        </p:nvSpPr>
        <p:spPr>
          <a:xfrm>
            <a:off x="5468112" y="2651760"/>
            <a:ext cx="1609344" cy="1051560"/>
          </a:xfrm>
          <a:prstGeom prst="roundRect">
            <a:avLst>
              <a:gd name="adj" fmla="val 5217"/>
            </a:avLst>
          </a:prstGeom>
          <a:solidFill>
            <a:srgbClr val="E3F1F2"/>
          </a:solidFill>
          <a:ln w="12700">
            <a:solidFill>
              <a:srgbClr val="E3F1F2"/>
            </a:solidFill>
            <a:prstDash val="solid"/>
          </a:ln>
        </p:spPr>
        <p:txBody>
          <a:bodyPr/>
          <a:lstStyle/>
          <a:p>
            <a:endParaRPr lang="en-US"/>
          </a:p>
        </p:txBody>
      </p:sp>
      <p:sp>
        <p:nvSpPr>
          <p:cNvPr id="30" name="Text 27"/>
          <p:cNvSpPr txBox="1"/>
          <p:nvPr/>
        </p:nvSpPr>
        <p:spPr>
          <a:xfrm>
            <a:off x="5559552" y="2697480"/>
            <a:ext cx="1426464"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S8 Forum 4 · 24–30 Oct</a:t>
            </a:r>
            <a:endParaRPr lang="en-US" sz="1000" dirty="0"/>
          </a:p>
          <a:p>
            <a:pPr marL="0" indent="0">
              <a:buNone/>
            </a:pPr>
            <a:r>
              <a:rPr lang="en-US" sz="1000" dirty="0">
                <a:solidFill>
                  <a:srgbClr val="1B2A4A"/>
                </a:solidFill>
                <a:latin typeface="Calibri" pitchFamily="34" charset="0"/>
                <a:ea typeface="Calibri" pitchFamily="34" charset="-122"/>
                <a:cs typeface="Calibri" pitchFamily="34" charset="-120"/>
              </a:rPr>
              <a:t>S9 Video 1 · Monitoring metrics</a:t>
            </a:r>
            <a:endParaRPr lang="en-US" sz="1000" dirty="0"/>
          </a:p>
        </p:txBody>
      </p:sp>
      <p:sp>
        <p:nvSpPr>
          <p:cNvPr id="31" name="Shape 28"/>
          <p:cNvSpPr/>
          <p:nvPr/>
        </p:nvSpPr>
        <p:spPr>
          <a:xfrm>
            <a:off x="7168896" y="1234440"/>
            <a:ext cx="1609344" cy="1325880"/>
          </a:xfrm>
          <a:prstGeom prst="roundRect">
            <a:avLst>
              <a:gd name="adj" fmla="val 4138"/>
            </a:avLst>
          </a:prstGeom>
          <a:solidFill>
            <a:srgbClr val="1B2A4A"/>
          </a:solidFill>
          <a:ln w="12700">
            <a:solidFill>
              <a:srgbClr val="1B2A4A"/>
            </a:solidFill>
            <a:prstDash val="solid"/>
          </a:ln>
        </p:spPr>
        <p:txBody>
          <a:bodyPr/>
          <a:lstStyle/>
          <a:p>
            <a:endParaRPr lang="en-US"/>
          </a:p>
        </p:txBody>
      </p:sp>
      <p:sp>
        <p:nvSpPr>
          <p:cNvPr id="32" name="Text 29"/>
          <p:cNvSpPr txBox="1"/>
          <p:nvPr/>
        </p:nvSpPr>
        <p:spPr>
          <a:xfrm>
            <a:off x="7260336" y="1298448"/>
            <a:ext cx="1426464"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Sat 31 Oct</a:t>
            </a:r>
            <a:endParaRPr lang="en-US" sz="1100" dirty="0"/>
          </a:p>
        </p:txBody>
      </p:sp>
      <p:sp>
        <p:nvSpPr>
          <p:cNvPr id="33" name="Text 30"/>
          <p:cNvSpPr txBox="1"/>
          <p:nvPr/>
        </p:nvSpPr>
        <p:spPr>
          <a:xfrm>
            <a:off x="7260336" y="1554480"/>
            <a:ext cx="1426464"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S10 Live</a:t>
            </a:r>
            <a:endParaRPr lang="en-US" sz="1500" dirty="0"/>
          </a:p>
        </p:txBody>
      </p:sp>
      <p:sp>
        <p:nvSpPr>
          <p:cNvPr id="34" name="Text 31"/>
          <p:cNvSpPr txBox="1"/>
          <p:nvPr/>
        </p:nvSpPr>
        <p:spPr>
          <a:xfrm>
            <a:off x="7260336" y="1874520"/>
            <a:ext cx="1426464" cy="64008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LLMOps &amp; failure diagnostics</a:t>
            </a:r>
            <a:endParaRPr lang="en-US" sz="1050" dirty="0"/>
          </a:p>
        </p:txBody>
      </p:sp>
      <p:sp>
        <p:nvSpPr>
          <p:cNvPr id="35" name="Shape 32"/>
          <p:cNvSpPr/>
          <p:nvPr/>
        </p:nvSpPr>
        <p:spPr>
          <a:xfrm>
            <a:off x="7168896" y="2651760"/>
            <a:ext cx="1609344" cy="1051560"/>
          </a:xfrm>
          <a:prstGeom prst="roundRect">
            <a:avLst>
              <a:gd name="adj" fmla="val 5217"/>
            </a:avLst>
          </a:prstGeom>
          <a:solidFill>
            <a:srgbClr val="E3F1F2"/>
          </a:solidFill>
          <a:ln w="12700">
            <a:solidFill>
              <a:srgbClr val="E3F1F2"/>
            </a:solidFill>
            <a:prstDash val="solid"/>
          </a:ln>
        </p:spPr>
        <p:txBody>
          <a:bodyPr/>
          <a:lstStyle/>
          <a:p>
            <a:endParaRPr lang="en-US"/>
          </a:p>
        </p:txBody>
      </p:sp>
      <p:sp>
        <p:nvSpPr>
          <p:cNvPr id="36" name="Text 33"/>
          <p:cNvSpPr txBox="1"/>
          <p:nvPr/>
        </p:nvSpPr>
        <p:spPr>
          <a:xfrm>
            <a:off x="7260336" y="2697480"/>
            <a:ext cx="1426464" cy="960120"/>
          </a:xfrm>
          <a:prstGeom prst="rect">
            <a:avLst/>
          </a:prstGeom>
          <a:noFill/>
          <a:ln/>
        </p:spPr>
        <p:txBody>
          <a:bodyPr wrap="square" lIns="0" tIns="0" rIns="0" bIns="0" rtlCol="0" anchor="t"/>
          <a:lstStyle/>
          <a:p>
            <a:pPr marL="0" indent="0">
              <a:buNone/>
            </a:pPr>
            <a:r>
              <a:rPr lang="en-US" sz="1000" dirty="0">
                <a:solidFill>
                  <a:srgbClr val="1B2A4A"/>
                </a:solidFill>
                <a:latin typeface="Calibri" pitchFamily="34" charset="0"/>
                <a:ea typeface="Calibri" pitchFamily="34" charset="-122"/>
                <a:cs typeface="Calibri" pitchFamily="34" charset="-120"/>
              </a:rPr>
              <a:t>S11 Forum 5 · 31 Oct–6 Nov</a:t>
            </a:r>
            <a:endParaRPr lang="en-US" sz="1000" dirty="0"/>
          </a:p>
          <a:p>
            <a:pPr marL="0" indent="0">
              <a:buNone/>
            </a:pPr>
            <a:r>
              <a:rPr lang="en-US" sz="1000" dirty="0">
                <a:solidFill>
                  <a:srgbClr val="1B2A4A"/>
                </a:solidFill>
                <a:latin typeface="Calibri" pitchFamily="34" charset="0"/>
                <a:ea typeface="Calibri" pitchFamily="34" charset="-122"/>
                <a:cs typeface="Calibri" pitchFamily="34" charset="-120"/>
              </a:rPr>
              <a:t>S12 Video 2 · AI governance</a:t>
            </a:r>
            <a:endParaRPr lang="en-US" sz="1000" dirty="0"/>
          </a:p>
        </p:txBody>
      </p:sp>
      <p:sp>
        <p:nvSpPr>
          <p:cNvPr id="37" name="Shape 34"/>
          <p:cNvSpPr/>
          <p:nvPr/>
        </p:nvSpPr>
        <p:spPr>
          <a:xfrm>
            <a:off x="365760" y="3840480"/>
            <a:ext cx="228600" cy="228600"/>
          </a:xfrm>
          <a:prstGeom prst="rect">
            <a:avLst/>
          </a:prstGeom>
          <a:solidFill>
            <a:srgbClr val="1B2A4A"/>
          </a:solidFill>
          <a:ln w="12700">
            <a:solidFill>
              <a:srgbClr val="1B2A4A"/>
            </a:solidFill>
            <a:prstDash val="solid"/>
          </a:ln>
        </p:spPr>
        <p:txBody>
          <a:bodyPr/>
          <a:lstStyle/>
          <a:p>
            <a:endParaRPr lang="en-US"/>
          </a:p>
        </p:txBody>
      </p:sp>
      <p:sp>
        <p:nvSpPr>
          <p:cNvPr id="38" name="Text 35"/>
          <p:cNvSpPr txBox="1"/>
          <p:nvPr/>
        </p:nvSpPr>
        <p:spPr>
          <a:xfrm>
            <a:off x="685800" y="3822192"/>
            <a:ext cx="3657600" cy="274320"/>
          </a:xfrm>
          <a:prstGeom prst="rect">
            <a:avLst/>
          </a:prstGeom>
          <a:noFill/>
          <a:ln/>
        </p:spPr>
        <p:txBody>
          <a:bodyPr wrap="square" lIns="0" tIns="0" rIns="0" bIns="0" rtlCol="0" anchor="t"/>
          <a:lstStyle/>
          <a:p>
            <a:pPr marL="0" indent="0" algn="l">
              <a:buNone/>
            </a:pPr>
            <a:r>
              <a:rPr lang="en-US" sz="1050" dirty="0">
                <a:solidFill>
                  <a:srgbClr val="222222"/>
                </a:solidFill>
                <a:latin typeface="Calibri" pitchFamily="34" charset="0"/>
                <a:ea typeface="Calibri" pitchFamily="34" charset="-122"/>
                <a:cs typeface="Calibri" pitchFamily="34" charset="-120"/>
              </a:rPr>
              <a:t>Live online session (90 min): all new concepts are introduced here</a:t>
            </a:r>
            <a:endParaRPr lang="en-US" sz="1050" dirty="0"/>
          </a:p>
        </p:txBody>
      </p:sp>
      <p:sp>
        <p:nvSpPr>
          <p:cNvPr id="39" name="Shape 36"/>
          <p:cNvSpPr/>
          <p:nvPr/>
        </p:nvSpPr>
        <p:spPr>
          <a:xfrm>
            <a:off x="4572000" y="3840480"/>
            <a:ext cx="228600" cy="228600"/>
          </a:xfrm>
          <a:prstGeom prst="rect">
            <a:avLst/>
          </a:prstGeom>
          <a:solidFill>
            <a:srgbClr val="E3F1F2"/>
          </a:solidFill>
          <a:ln w="12700">
            <a:solidFill>
              <a:srgbClr val="E3F1F2"/>
            </a:solidFill>
            <a:prstDash val="solid"/>
          </a:ln>
        </p:spPr>
        <p:txBody>
          <a:bodyPr/>
          <a:lstStyle/>
          <a:p>
            <a:endParaRPr lang="en-US"/>
          </a:p>
        </p:txBody>
      </p:sp>
      <p:sp>
        <p:nvSpPr>
          <p:cNvPr id="40" name="Text 37"/>
          <p:cNvSpPr txBox="1"/>
          <p:nvPr/>
        </p:nvSpPr>
        <p:spPr>
          <a:xfrm>
            <a:off x="4892040" y="3822192"/>
            <a:ext cx="3931920" cy="457200"/>
          </a:xfrm>
          <a:prstGeom prst="rect">
            <a:avLst/>
          </a:prstGeom>
          <a:noFill/>
          <a:ln/>
        </p:spPr>
        <p:txBody>
          <a:bodyPr wrap="square" lIns="0" tIns="0" rIns="0" bIns="0" rtlCol="0" anchor="t"/>
          <a:lstStyle/>
          <a:p>
            <a:pPr marL="0" indent="0" algn="l">
              <a:buNone/>
            </a:pPr>
            <a:r>
              <a:rPr lang="en-US" sz="1050" dirty="0">
                <a:solidFill>
                  <a:srgbClr val="222222"/>
                </a:solidFill>
                <a:latin typeface="Calibri" pitchFamily="34" charset="0"/>
                <a:ea typeface="Calibri" pitchFamily="34" charset="-122"/>
                <a:cs typeface="Calibri" pitchFamily="34" charset="-120"/>
              </a:rPr>
              <a:t>Forum (Sat–Fri): a recap of the live session in three questions · Video: self-paced, with a quiz</a:t>
            </a:r>
            <a:endParaRPr lang="en-US" sz="1050" dirty="0"/>
          </a:p>
        </p:txBody>
      </p:sp>
      <p:sp>
        <p:nvSpPr>
          <p:cNvPr id="41" name="Text 38"/>
          <p:cNvSpPr txBox="1"/>
          <p:nvPr/>
        </p:nvSpPr>
        <p:spPr>
          <a:xfrm>
            <a:off x="365760" y="4297680"/>
            <a:ext cx="8229600" cy="274320"/>
          </a:xfrm>
          <a:prstGeom prst="rect">
            <a:avLst/>
          </a:prstGeom>
          <a:noFill/>
          <a:ln/>
        </p:spPr>
        <p:txBody>
          <a:bodyPr wrap="square" lIns="0" tIns="0" rIns="0" bIns="0" rtlCol="0" anchor="t"/>
          <a:lstStyle/>
          <a:p>
            <a:pPr marL="0" indent="0" algn="l">
              <a:buNone/>
            </a:pPr>
            <a:r>
              <a:rPr lang="en-US" sz="1050" i="1" dirty="0">
                <a:solidFill>
                  <a:srgbClr val="6B7280"/>
                </a:solidFill>
                <a:latin typeface="Calibri" pitchFamily="34" charset="0"/>
                <a:ea typeface="Calibri" pitchFamily="34" charset="-122"/>
                <a:cs typeface="Calibri" pitchFamily="34" charset="-120"/>
              </a:rPr>
              <a:t>Final examination at the end of the term.</a:t>
            </a:r>
            <a:endParaRPr lang="en-US" sz="1050" dirty="0"/>
          </a:p>
        </p:txBody>
      </p:sp>
      <p:pic>
        <p:nvPicPr>
          <p:cNvPr id="42"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How you are assessed: four components, all tied to what we practise</a:t>
            </a:r>
            <a:endParaRPr lang="en-US" sz="2400" dirty="0"/>
          </a:p>
        </p:txBody>
      </p:sp>
      <p:sp>
        <p:nvSpPr>
          <p:cNvPr id="7" name="Shape 4"/>
          <p:cNvSpPr/>
          <p:nvPr/>
        </p:nvSpPr>
        <p:spPr>
          <a:xfrm>
            <a:off x="365760" y="1234440"/>
            <a:ext cx="2011680" cy="233172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13258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35% · Final exam</a:t>
            </a:r>
            <a:endParaRPr lang="en-US" sz="1300" dirty="0"/>
          </a:p>
        </p:txBody>
      </p:sp>
      <p:sp>
        <p:nvSpPr>
          <p:cNvPr id="11" name="Text 7"/>
          <p:cNvSpPr txBox="1"/>
          <p:nvPr/>
        </p:nvSpPr>
        <p:spPr>
          <a:xfrm>
            <a:off x="502920" y="1783080"/>
            <a:ext cx="1737360" cy="16916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Individual, end of term</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Lifecycle, pipelines/CI-CD, monitoring and drift, governance</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One handwritten A4 sheet allowed</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Minimum 3.5/10 to pass the course</a:t>
            </a:r>
            <a:endParaRPr lang="en-US" sz="1050" dirty="0"/>
          </a:p>
        </p:txBody>
      </p:sp>
      <p:sp>
        <p:nvSpPr>
          <p:cNvPr id="12" name="Shape 8"/>
          <p:cNvSpPr/>
          <p:nvPr/>
        </p:nvSpPr>
        <p:spPr>
          <a:xfrm>
            <a:off x="2496312" y="1234440"/>
            <a:ext cx="2011680" cy="233172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13" name="Shape 9"/>
          <p:cNvSpPr/>
          <p:nvPr/>
        </p:nvSpPr>
        <p:spPr>
          <a:xfrm>
            <a:off x="2633472"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2706624" y="1426464"/>
            <a:ext cx="201168" cy="201168"/>
          </a:xfrm>
          <a:prstGeom prst="rect">
            <a:avLst/>
          </a:prstGeom>
        </p:spPr>
      </p:pic>
      <p:sp>
        <p:nvSpPr>
          <p:cNvPr id="15" name="Text 10"/>
          <p:cNvSpPr txBox="1"/>
          <p:nvPr/>
        </p:nvSpPr>
        <p:spPr>
          <a:xfrm>
            <a:off x="3063240" y="1325880"/>
            <a:ext cx="13258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35% · Group project</a:t>
            </a:r>
            <a:endParaRPr lang="en-US" sz="1300" dirty="0"/>
          </a:p>
        </p:txBody>
      </p:sp>
      <p:sp>
        <p:nvSpPr>
          <p:cNvPr id="16" name="Text 11"/>
          <p:cNvSpPr txBox="1"/>
          <p:nvPr/>
        </p:nvSpPr>
        <p:spPr>
          <a:xfrm>
            <a:off x="2633472" y="1783080"/>
            <a:ext cx="1737360" cy="16916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Teams of 3–5 as an MLOps consulting team</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Roadmap, personas, CI/CD schematic, monitoring policy, governance</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Defended in front of the class</a:t>
            </a:r>
            <a:endParaRPr lang="en-US" sz="1050" dirty="0"/>
          </a:p>
        </p:txBody>
      </p:sp>
      <p:sp>
        <p:nvSpPr>
          <p:cNvPr id="17" name="Shape 12"/>
          <p:cNvSpPr/>
          <p:nvPr/>
        </p:nvSpPr>
        <p:spPr>
          <a:xfrm>
            <a:off x="4636008" y="1234440"/>
            <a:ext cx="2011680" cy="233172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18" name="Shape 13"/>
          <p:cNvSpPr/>
          <p:nvPr/>
        </p:nvSpPr>
        <p:spPr>
          <a:xfrm>
            <a:off x="4773168"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846320" y="1426464"/>
            <a:ext cx="201168" cy="201168"/>
          </a:xfrm>
          <a:prstGeom prst="rect">
            <a:avLst/>
          </a:prstGeom>
        </p:spPr>
      </p:pic>
      <p:sp>
        <p:nvSpPr>
          <p:cNvPr id="20" name="Text 14"/>
          <p:cNvSpPr txBox="1"/>
          <p:nvPr/>
        </p:nvSpPr>
        <p:spPr>
          <a:xfrm>
            <a:off x="5202936" y="1325880"/>
            <a:ext cx="13258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15% · Quizzes</a:t>
            </a:r>
            <a:endParaRPr lang="en-US" sz="1300" dirty="0"/>
          </a:p>
        </p:txBody>
      </p:sp>
      <p:sp>
        <p:nvSpPr>
          <p:cNvPr id="21" name="Text 15"/>
          <p:cNvSpPr txBox="1"/>
          <p:nvPr/>
        </p:nvSpPr>
        <p:spPr>
          <a:xfrm>
            <a:off x="4773168" y="1783080"/>
            <a:ext cx="1737360" cy="16916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Short quizzes across the modules</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Includes the two knowledge checks inside Video 1 and Video 2</a:t>
            </a:r>
            <a:endParaRPr lang="en-US" sz="1050" dirty="0"/>
          </a:p>
        </p:txBody>
      </p:sp>
      <p:sp>
        <p:nvSpPr>
          <p:cNvPr id="22" name="Shape 16"/>
          <p:cNvSpPr/>
          <p:nvPr/>
        </p:nvSpPr>
        <p:spPr>
          <a:xfrm>
            <a:off x="6766560" y="1234440"/>
            <a:ext cx="2011680" cy="233172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23" name="Shape 17"/>
          <p:cNvSpPr/>
          <p:nvPr/>
        </p:nvSpPr>
        <p:spPr>
          <a:xfrm>
            <a:off x="690372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976872" y="1426464"/>
            <a:ext cx="201168" cy="201168"/>
          </a:xfrm>
          <a:prstGeom prst="rect">
            <a:avLst/>
          </a:prstGeom>
        </p:spPr>
      </p:pic>
      <p:sp>
        <p:nvSpPr>
          <p:cNvPr id="25" name="Text 18"/>
          <p:cNvSpPr txBox="1"/>
          <p:nvPr/>
        </p:nvSpPr>
        <p:spPr>
          <a:xfrm>
            <a:off x="7333488" y="1325880"/>
            <a:ext cx="13258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15% · Participation</a:t>
            </a:r>
            <a:endParaRPr lang="en-US" sz="1300" dirty="0"/>
          </a:p>
        </p:txBody>
      </p:sp>
      <p:sp>
        <p:nvSpPr>
          <p:cNvPr id="26" name="Text 19"/>
          <p:cNvSpPr txBox="1"/>
          <p:nvPr/>
        </p:nvSpPr>
        <p:spPr>
          <a:xfrm>
            <a:off x="6903720" y="1783080"/>
            <a:ext cx="1737360" cy="16916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Live sessions and forums</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Judged on quality and insight, not volume</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Connect concepts to real examples</a:t>
            </a:r>
            <a:endParaRPr lang="en-US" sz="1050" dirty="0"/>
          </a:p>
        </p:txBody>
      </p:sp>
      <p:sp>
        <p:nvSpPr>
          <p:cNvPr id="27" name="Shape 20"/>
          <p:cNvSpPr/>
          <p:nvPr/>
        </p:nvSpPr>
        <p:spPr>
          <a:xfrm>
            <a:off x="365760" y="3749040"/>
            <a:ext cx="8412480" cy="548640"/>
          </a:xfrm>
          <a:prstGeom prst="roundRect">
            <a:avLst>
              <a:gd name="adj" fmla="val 13333"/>
            </a:avLst>
          </a:prstGeom>
          <a:solidFill>
            <a:srgbClr val="E3F1F2"/>
          </a:solidFill>
          <a:ln w="12700">
            <a:solidFill>
              <a:srgbClr val="E3F1F2"/>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502920" y="3886200"/>
            <a:ext cx="274320" cy="274320"/>
          </a:xfrm>
          <a:prstGeom prst="rect">
            <a:avLst/>
          </a:prstGeom>
        </p:spPr>
      </p:pic>
      <p:sp>
        <p:nvSpPr>
          <p:cNvPr id="29" name="Text 21"/>
          <p:cNvSpPr txBox="1"/>
          <p:nvPr/>
        </p:nvSpPr>
        <p:spPr>
          <a:xfrm>
            <a:off x="896112" y="3749040"/>
            <a:ext cx="7772400" cy="54864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Everything you are assessed on is something you practise first: in the live activity, then in the forum.</a:t>
            </a:r>
            <a:endParaRPr lang="en-US" sz="1200" dirty="0"/>
          </a:p>
        </p:txBody>
      </p:sp>
      <p:pic>
        <p:nvPicPr>
          <p:cNvPr id="30"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How to do well in the forums, and how to use AI tools honestly</a:t>
            </a:r>
            <a:endParaRPr lang="en-US" sz="2400" dirty="0"/>
          </a:p>
        </p:txBody>
      </p:sp>
      <p:sp>
        <p:nvSpPr>
          <p:cNvPr id="7" name="Shape 4"/>
          <p:cNvSpPr/>
          <p:nvPr/>
        </p:nvSpPr>
        <p:spPr>
          <a:xfrm>
            <a:off x="365760" y="1234440"/>
            <a:ext cx="4114800" cy="3108960"/>
          </a:xfrm>
          <a:prstGeom prst="roundRect">
            <a:avLst>
              <a:gd name="adj" fmla="val 2353"/>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Quality, not volume</a:t>
            </a:r>
            <a:endParaRPr lang="en-US" sz="1300" dirty="0"/>
          </a:p>
        </p:txBody>
      </p:sp>
      <p:sp>
        <p:nvSpPr>
          <p:cNvPr id="11" name="Text 7"/>
          <p:cNvSpPr txBox="1"/>
          <p:nvPr/>
        </p:nvSpPr>
        <p:spPr>
          <a:xfrm>
            <a:off x="502920" y="1783080"/>
            <a:ext cx="3840480" cy="246888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 good post connects a concept from the session to a real example and a constraint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Reply to others: challenge, extend, or ask for evidence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Avoid being the Repeater (restating points), the Rambler (long tangents) or the Distracted (asking what was already answered)</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Post early in the week; the best debates need time</a:t>
            </a:r>
            <a:endParaRPr lang="en-US" sz="1150" dirty="0"/>
          </a:p>
        </p:txBody>
      </p:sp>
      <p:sp>
        <p:nvSpPr>
          <p:cNvPr id="12" name="Shape 8"/>
          <p:cNvSpPr/>
          <p:nvPr/>
        </p:nvSpPr>
        <p:spPr>
          <a:xfrm>
            <a:off x="4663440" y="1234440"/>
            <a:ext cx="4114800" cy="3108960"/>
          </a:xfrm>
          <a:prstGeom prst="roundRect">
            <a:avLst>
              <a:gd name="adj" fmla="val 2353"/>
            </a:avLst>
          </a:prstGeom>
          <a:solidFill>
            <a:srgbClr val="F3F5F8"/>
          </a:solidFill>
          <a:ln w="12700">
            <a:solidFill>
              <a:srgbClr val="F3F5F8"/>
            </a:solidFill>
            <a:prstDash val="solid"/>
          </a:ln>
        </p:spPr>
        <p:txBody>
          <a:bodyPr/>
          <a:lstStyle/>
          <a:p>
            <a:endParaRPr lang="en-US"/>
          </a:p>
        </p:txBody>
      </p:sp>
      <p:sp>
        <p:nvSpPr>
          <p:cNvPr id="13" name="Shape 9"/>
          <p:cNvSpPr/>
          <p:nvPr/>
        </p:nvSpPr>
        <p:spPr>
          <a:xfrm>
            <a:off x="4800600" y="1353312"/>
            <a:ext cx="347472" cy="347472"/>
          </a:xfrm>
          <a:prstGeom prst="ellipse">
            <a:avLst/>
          </a:prstGeom>
          <a:solidFill>
            <a:srgbClr val="E07A2F"/>
          </a:solidFill>
          <a:ln w="12700">
            <a:solidFill>
              <a:srgbClr val="E07A2F"/>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Generative AI: encouraged, and declared</a:t>
            </a:r>
            <a:endParaRPr lang="en-US" sz="1300" dirty="0"/>
          </a:p>
        </p:txBody>
      </p:sp>
      <p:sp>
        <p:nvSpPr>
          <p:cNvPr id="16" name="Text 11"/>
          <p:cNvSpPr txBox="1"/>
          <p:nvPr/>
        </p:nvSpPr>
        <p:spPr>
          <a:xfrm>
            <a:off x="4800600" y="1783080"/>
            <a:ext cx="3840480" cy="246888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Use it to draft, prototype pipelines, structure arguments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Not in the final exam or in quizzes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Add to every submission: "I acknowledge the use of [AI system] to [task]. Prompts used: [sequence]."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Or: "No content generated by AI has been used in this assignment."</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Unattributed use is academic misconduct</a:t>
            </a:r>
            <a:endParaRPr lang="en-US" sz="1150" dirty="0"/>
          </a:p>
        </p:txBody>
      </p:sp>
      <p:pic>
        <p:nvPicPr>
          <p:cNvPr id="17"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course follows the life of a model: four modules, one lifecycle</a:t>
            </a:r>
            <a:endParaRPr lang="en-US" sz="2400" dirty="0"/>
          </a:p>
        </p:txBody>
      </p:sp>
      <p:sp>
        <p:nvSpPr>
          <p:cNvPr id="7" name="Shape 4"/>
          <p:cNvSpPr/>
          <p:nvPr/>
        </p:nvSpPr>
        <p:spPr>
          <a:xfrm>
            <a:off x="548640" y="128016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8" name="Text 5"/>
          <p:cNvSpPr txBox="1"/>
          <p:nvPr/>
        </p:nvSpPr>
        <p:spPr>
          <a:xfrm>
            <a:off x="548640" y="128016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ingestion &amp; versioning</a:t>
            </a:r>
            <a:endParaRPr lang="en-US" sz="800" dirty="0"/>
          </a:p>
        </p:txBody>
      </p:sp>
      <p:sp>
        <p:nvSpPr>
          <p:cNvPr id="9" name="Shape 6"/>
          <p:cNvSpPr/>
          <p:nvPr/>
        </p:nvSpPr>
        <p:spPr>
          <a:xfrm>
            <a:off x="1448816" y="128016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0" name="Text 7"/>
          <p:cNvSpPr txBox="1"/>
          <p:nvPr/>
        </p:nvSpPr>
        <p:spPr>
          <a:xfrm>
            <a:off x="1448816" y="128016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8"/>
          <p:cNvSpPr/>
          <p:nvPr/>
        </p:nvSpPr>
        <p:spPr>
          <a:xfrm>
            <a:off x="2348992" y="128016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2" name="Text 9"/>
          <p:cNvSpPr txBox="1"/>
          <p:nvPr/>
        </p:nvSpPr>
        <p:spPr>
          <a:xfrm>
            <a:off x="2348992" y="128016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pre-processing</a:t>
            </a:r>
            <a:endParaRPr lang="en-US" sz="800" dirty="0"/>
          </a:p>
        </p:txBody>
      </p:sp>
      <p:sp>
        <p:nvSpPr>
          <p:cNvPr id="13" name="Shape 10"/>
          <p:cNvSpPr/>
          <p:nvPr/>
        </p:nvSpPr>
        <p:spPr>
          <a:xfrm>
            <a:off x="3249168" y="128016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4" name="Text 11"/>
          <p:cNvSpPr txBox="1"/>
          <p:nvPr/>
        </p:nvSpPr>
        <p:spPr>
          <a:xfrm>
            <a:off x="3249168" y="128016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training</a:t>
            </a:r>
            <a:endParaRPr lang="en-US" sz="800" dirty="0"/>
          </a:p>
        </p:txBody>
      </p:sp>
      <p:sp>
        <p:nvSpPr>
          <p:cNvPr id="15" name="Shape 12"/>
          <p:cNvSpPr/>
          <p:nvPr/>
        </p:nvSpPr>
        <p:spPr>
          <a:xfrm>
            <a:off x="4149344" y="128016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6" name="Text 13"/>
          <p:cNvSpPr txBox="1"/>
          <p:nvPr/>
        </p:nvSpPr>
        <p:spPr>
          <a:xfrm>
            <a:off x="4149344" y="128016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tuning</a:t>
            </a:r>
            <a:endParaRPr lang="en-US" sz="800" dirty="0"/>
          </a:p>
        </p:txBody>
      </p:sp>
      <p:sp>
        <p:nvSpPr>
          <p:cNvPr id="17" name="Shape 14"/>
          <p:cNvSpPr/>
          <p:nvPr/>
        </p:nvSpPr>
        <p:spPr>
          <a:xfrm>
            <a:off x="5049520" y="128016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8" name="Text 15"/>
          <p:cNvSpPr txBox="1"/>
          <p:nvPr/>
        </p:nvSpPr>
        <p:spPr>
          <a:xfrm>
            <a:off x="5049520" y="128016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analysis</a:t>
            </a:r>
            <a:endParaRPr lang="en-US" sz="800" dirty="0"/>
          </a:p>
        </p:txBody>
      </p:sp>
      <p:sp>
        <p:nvSpPr>
          <p:cNvPr id="19" name="Shape 16"/>
          <p:cNvSpPr/>
          <p:nvPr/>
        </p:nvSpPr>
        <p:spPr>
          <a:xfrm>
            <a:off x="5949696" y="128016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0" name="Text 17"/>
          <p:cNvSpPr txBox="1"/>
          <p:nvPr/>
        </p:nvSpPr>
        <p:spPr>
          <a:xfrm>
            <a:off x="5949696" y="128016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8"/>
          <p:cNvSpPr/>
          <p:nvPr/>
        </p:nvSpPr>
        <p:spPr>
          <a:xfrm>
            <a:off x="6849872" y="128016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2" name="Text 19"/>
          <p:cNvSpPr txBox="1"/>
          <p:nvPr/>
        </p:nvSpPr>
        <p:spPr>
          <a:xfrm>
            <a:off x="6849872" y="128016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0"/>
          <p:cNvSpPr/>
          <p:nvPr/>
        </p:nvSpPr>
        <p:spPr>
          <a:xfrm>
            <a:off x="7750048" y="128016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4" name="Text 21"/>
          <p:cNvSpPr txBox="1"/>
          <p:nvPr/>
        </p:nvSpPr>
        <p:spPr>
          <a:xfrm>
            <a:off x="7750048" y="128016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Shape 22"/>
          <p:cNvSpPr/>
          <p:nvPr/>
        </p:nvSpPr>
        <p:spPr>
          <a:xfrm>
            <a:off x="365760" y="2103120"/>
            <a:ext cx="2011680" cy="2194560"/>
          </a:xfrm>
          <a:prstGeom prst="roundRect">
            <a:avLst>
              <a:gd name="adj" fmla="val 3636"/>
            </a:avLst>
          </a:prstGeom>
          <a:solidFill>
            <a:srgbClr val="E3F1F2"/>
          </a:solidFill>
          <a:ln w="12700">
            <a:solidFill>
              <a:srgbClr val="E3F1F2"/>
            </a:solidFill>
            <a:prstDash val="solid"/>
          </a:ln>
        </p:spPr>
        <p:txBody>
          <a:bodyPr/>
          <a:lstStyle/>
          <a:p>
            <a:endParaRPr lang="en-US"/>
          </a:p>
        </p:txBody>
      </p:sp>
      <p:sp>
        <p:nvSpPr>
          <p:cNvPr id="26" name="Text 23"/>
          <p:cNvSpPr txBox="1"/>
          <p:nvPr/>
        </p:nvSpPr>
        <p:spPr>
          <a:xfrm>
            <a:off x="502920" y="2194560"/>
            <a:ext cx="1737360" cy="329184"/>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Module 1 · Sessions 1–2</a:t>
            </a:r>
            <a:endParaRPr lang="en-US" sz="1200" dirty="0"/>
          </a:p>
        </p:txBody>
      </p:sp>
      <p:sp>
        <p:nvSpPr>
          <p:cNvPr id="27" name="Text 24"/>
          <p:cNvSpPr txBox="1"/>
          <p:nvPr/>
        </p:nvSpPr>
        <p:spPr>
          <a:xfrm>
            <a:off x="502920" y="2560320"/>
            <a:ext cx="1737360" cy="1645920"/>
          </a:xfrm>
          <a:prstGeom prst="rect">
            <a:avLst/>
          </a:prstGeom>
          <a:noFill/>
          <a:ln/>
        </p:spPr>
        <p:txBody>
          <a:bodyPr wrap="square" lIns="0" tIns="0" rIns="0" bIns="0" rtlCol="0" anchor="t"/>
          <a:lstStyle/>
          <a:p>
            <a:pPr marL="0" indent="0" algn="l">
              <a:buNone/>
            </a:pPr>
            <a:endParaRPr lang="en-US" sz="1100" dirty="0"/>
          </a:p>
        </p:txBody>
      </p:sp>
      <p:sp>
        <p:nvSpPr>
          <p:cNvPr id="28" name="Text 25"/>
          <p:cNvSpPr txBox="1"/>
          <p:nvPr/>
        </p:nvSpPr>
        <p:spPr>
          <a:xfrm>
            <a:off x="502920" y="2487168"/>
            <a:ext cx="1737360" cy="502920"/>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Foundations &amp; lifecycle planning</a:t>
            </a:r>
            <a:endParaRPr lang="en-US" sz="1150" dirty="0"/>
          </a:p>
        </p:txBody>
      </p:sp>
      <p:sp>
        <p:nvSpPr>
          <p:cNvPr id="29" name="Text 26"/>
          <p:cNvSpPr txBox="1"/>
          <p:nvPr/>
        </p:nvSpPr>
        <p:spPr>
          <a:xfrm>
            <a:off x="502920" y="3017520"/>
            <a:ext cx="1737360" cy="11887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Why MLOps, the personas, the end-to-end lifecycle. Today.</a:t>
            </a:r>
            <a:endParaRPr lang="en-US" sz="1100" dirty="0"/>
          </a:p>
        </p:txBody>
      </p:sp>
      <p:sp>
        <p:nvSpPr>
          <p:cNvPr id="30" name="Shape 27"/>
          <p:cNvSpPr/>
          <p:nvPr/>
        </p:nvSpPr>
        <p:spPr>
          <a:xfrm>
            <a:off x="2496312" y="2103120"/>
            <a:ext cx="2011680" cy="219456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31" name="Text 28"/>
          <p:cNvSpPr txBox="1"/>
          <p:nvPr/>
        </p:nvSpPr>
        <p:spPr>
          <a:xfrm>
            <a:off x="2633472" y="2194560"/>
            <a:ext cx="1737360" cy="329184"/>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Module 2 · Sessions 3–6</a:t>
            </a:r>
            <a:endParaRPr lang="en-US" sz="1200" dirty="0"/>
          </a:p>
        </p:txBody>
      </p:sp>
      <p:sp>
        <p:nvSpPr>
          <p:cNvPr id="32" name="Text 29"/>
          <p:cNvSpPr txBox="1"/>
          <p:nvPr/>
        </p:nvSpPr>
        <p:spPr>
          <a:xfrm>
            <a:off x="2633472" y="2560320"/>
            <a:ext cx="1737360" cy="1645920"/>
          </a:xfrm>
          <a:prstGeom prst="rect">
            <a:avLst/>
          </a:prstGeom>
          <a:noFill/>
          <a:ln/>
        </p:spPr>
        <p:txBody>
          <a:bodyPr wrap="square" lIns="0" tIns="0" rIns="0" bIns="0" rtlCol="0" anchor="t"/>
          <a:lstStyle/>
          <a:p>
            <a:pPr marL="0" indent="0" algn="l">
              <a:buNone/>
            </a:pPr>
            <a:endParaRPr lang="en-US" sz="1100" dirty="0"/>
          </a:p>
        </p:txBody>
      </p:sp>
      <p:sp>
        <p:nvSpPr>
          <p:cNvPr id="33" name="Text 30"/>
          <p:cNvSpPr txBox="1"/>
          <p:nvPr/>
        </p:nvSpPr>
        <p:spPr>
          <a:xfrm>
            <a:off x="2633472" y="2487168"/>
            <a:ext cx="1737360" cy="502920"/>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Pipelines, environments &amp; deployment</a:t>
            </a:r>
            <a:endParaRPr lang="en-US" sz="1150" dirty="0"/>
          </a:p>
        </p:txBody>
      </p:sp>
      <p:sp>
        <p:nvSpPr>
          <p:cNvPr id="34" name="Text 31"/>
          <p:cNvSpPr txBox="1"/>
          <p:nvPr/>
        </p:nvSpPr>
        <p:spPr>
          <a:xfrm>
            <a:off x="2633472" y="3017520"/>
            <a:ext cx="1737360" cy="11887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From notebook to pipeline; Dev/QA/Prod; security; CI/CD; rollout strategies.</a:t>
            </a:r>
            <a:endParaRPr lang="en-US" sz="1100" dirty="0"/>
          </a:p>
        </p:txBody>
      </p:sp>
      <p:sp>
        <p:nvSpPr>
          <p:cNvPr id="35" name="Shape 32"/>
          <p:cNvSpPr/>
          <p:nvPr/>
        </p:nvSpPr>
        <p:spPr>
          <a:xfrm>
            <a:off x="4626864" y="2103120"/>
            <a:ext cx="2011680" cy="219456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36" name="Text 33"/>
          <p:cNvSpPr txBox="1"/>
          <p:nvPr/>
        </p:nvSpPr>
        <p:spPr>
          <a:xfrm>
            <a:off x="4764024" y="2194560"/>
            <a:ext cx="1737360" cy="329184"/>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Module 3 · Sessions 7–9</a:t>
            </a:r>
            <a:endParaRPr lang="en-US" sz="1200" dirty="0"/>
          </a:p>
        </p:txBody>
      </p:sp>
      <p:sp>
        <p:nvSpPr>
          <p:cNvPr id="37" name="Text 34"/>
          <p:cNvSpPr txBox="1"/>
          <p:nvPr/>
        </p:nvSpPr>
        <p:spPr>
          <a:xfrm>
            <a:off x="4764024" y="2560320"/>
            <a:ext cx="1737360" cy="1645920"/>
          </a:xfrm>
          <a:prstGeom prst="rect">
            <a:avLst/>
          </a:prstGeom>
          <a:noFill/>
          <a:ln/>
        </p:spPr>
        <p:txBody>
          <a:bodyPr wrap="square" lIns="0" tIns="0" rIns="0" bIns="0" rtlCol="0" anchor="t"/>
          <a:lstStyle/>
          <a:p>
            <a:pPr marL="0" indent="0" algn="l">
              <a:buNone/>
            </a:pPr>
            <a:endParaRPr lang="en-US" sz="1100" dirty="0"/>
          </a:p>
        </p:txBody>
      </p:sp>
      <p:sp>
        <p:nvSpPr>
          <p:cNvPr id="38" name="Text 35"/>
          <p:cNvSpPr txBox="1"/>
          <p:nvPr/>
        </p:nvSpPr>
        <p:spPr>
          <a:xfrm>
            <a:off x="4764024" y="2487168"/>
            <a:ext cx="1737360" cy="502920"/>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Monitoring, reliability &amp; Responsible AI</a:t>
            </a:r>
            <a:endParaRPr lang="en-US" sz="1150" dirty="0"/>
          </a:p>
        </p:txBody>
      </p:sp>
      <p:sp>
        <p:nvSpPr>
          <p:cNvPr id="39" name="Text 36"/>
          <p:cNvSpPr txBox="1"/>
          <p:nvPr/>
        </p:nvSpPr>
        <p:spPr>
          <a:xfrm>
            <a:off x="4764024" y="3017520"/>
            <a:ext cx="1737360" cy="11887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Drift, decay, retraining loops, explainability, bias. Video 1: metrics in depth.</a:t>
            </a:r>
            <a:endParaRPr lang="en-US" sz="1100" dirty="0"/>
          </a:p>
        </p:txBody>
      </p:sp>
      <p:sp>
        <p:nvSpPr>
          <p:cNvPr id="40" name="Shape 37"/>
          <p:cNvSpPr/>
          <p:nvPr/>
        </p:nvSpPr>
        <p:spPr>
          <a:xfrm>
            <a:off x="6757416" y="2103120"/>
            <a:ext cx="2011680" cy="219456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41" name="Text 38"/>
          <p:cNvSpPr txBox="1"/>
          <p:nvPr/>
        </p:nvSpPr>
        <p:spPr>
          <a:xfrm>
            <a:off x="6894576" y="2194560"/>
            <a:ext cx="1737360" cy="329184"/>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Module 4 · Sessions 10–12</a:t>
            </a:r>
            <a:endParaRPr lang="en-US" sz="1200" dirty="0"/>
          </a:p>
        </p:txBody>
      </p:sp>
      <p:sp>
        <p:nvSpPr>
          <p:cNvPr id="42" name="Text 39"/>
          <p:cNvSpPr txBox="1"/>
          <p:nvPr/>
        </p:nvSpPr>
        <p:spPr>
          <a:xfrm>
            <a:off x="6894576" y="2560320"/>
            <a:ext cx="1737360" cy="1645920"/>
          </a:xfrm>
          <a:prstGeom prst="rect">
            <a:avLst/>
          </a:prstGeom>
          <a:noFill/>
          <a:ln/>
        </p:spPr>
        <p:txBody>
          <a:bodyPr wrap="square" lIns="0" tIns="0" rIns="0" bIns="0" rtlCol="0" anchor="t"/>
          <a:lstStyle/>
          <a:p>
            <a:pPr marL="0" indent="0" algn="l">
              <a:buNone/>
            </a:pPr>
            <a:endParaRPr lang="en-US" sz="1100" dirty="0"/>
          </a:p>
        </p:txBody>
      </p:sp>
      <p:sp>
        <p:nvSpPr>
          <p:cNvPr id="43" name="Text 40"/>
          <p:cNvSpPr txBox="1"/>
          <p:nvPr/>
        </p:nvSpPr>
        <p:spPr>
          <a:xfrm>
            <a:off x="6894576" y="2487168"/>
            <a:ext cx="1737360" cy="502920"/>
          </a:xfrm>
          <a:prstGeom prst="rect">
            <a:avLst/>
          </a:prstGeom>
          <a:noFill/>
          <a:ln/>
        </p:spPr>
        <p:txBody>
          <a:bodyPr wrap="square" lIns="0" tIns="0" rIns="0" bIns="0" rtlCol="0" anchor="t"/>
          <a:lstStyle/>
          <a:p>
            <a:pPr marL="0" indent="0">
              <a:buNone/>
            </a:pPr>
            <a:r>
              <a:rPr lang="en-US" sz="1150" b="1" dirty="0">
                <a:solidFill>
                  <a:srgbClr val="0E7C86"/>
                </a:solidFill>
                <a:latin typeface="Calibri" pitchFamily="34" charset="0"/>
                <a:ea typeface="Calibri" pitchFamily="34" charset="-122"/>
                <a:cs typeface="Calibri" pitchFamily="34" charset="-120"/>
              </a:rPr>
              <a:t>GenAI operations &amp; governance</a:t>
            </a:r>
            <a:endParaRPr lang="en-US" sz="1150" dirty="0"/>
          </a:p>
        </p:txBody>
      </p:sp>
      <p:sp>
        <p:nvSpPr>
          <p:cNvPr id="44" name="Text 41"/>
          <p:cNvSpPr txBox="1"/>
          <p:nvPr/>
        </p:nvSpPr>
        <p:spPr>
          <a:xfrm>
            <a:off x="6894576" y="3017520"/>
            <a:ext cx="1737360" cy="118872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LLMOps, RAG, failure diagnostics. Video 2: EU AI Act, NIST, audit readiness.</a:t>
            </a:r>
            <a:endParaRPr lang="en-US" sz="1100" dirty="0"/>
          </a:p>
        </p:txBody>
      </p:sp>
      <p:pic>
        <p:nvPicPr>
          <p:cNvPr id="45"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10</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What is MLOps, and why does it exist?</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From DevOps to MLOps: models are not static</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lstStyle/>
          <a:p>
            <a:endParaRPr lang="en-US"/>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marL="0" indent="0" algn="ctr">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marL="0" indent="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Software solved this first: DevOps, and its two words, CI and CD</a:t>
            </a:r>
            <a:endParaRPr lang="en-US" sz="2400" dirty="0"/>
          </a:p>
        </p:txBody>
      </p:sp>
      <p:sp>
        <p:nvSpPr>
          <p:cNvPr id="7" name="Shape 4"/>
          <p:cNvSpPr/>
          <p:nvPr/>
        </p:nvSpPr>
        <p:spPr>
          <a:xfrm>
            <a:off x="365760" y="1325880"/>
            <a:ext cx="1097280" cy="640080"/>
          </a:xfrm>
          <a:prstGeom prst="chevron">
            <a:avLst/>
          </a:prstGeom>
          <a:solidFill>
            <a:srgbClr val="1B2A4A"/>
          </a:solidFill>
          <a:ln w="12700">
            <a:solidFill>
              <a:srgbClr val="FFFFFF"/>
            </a:solidFill>
            <a:prstDash val="solid"/>
          </a:ln>
        </p:spPr>
        <p:txBody>
          <a:bodyPr/>
          <a:lstStyle/>
          <a:p>
            <a:endParaRPr lang="en-US"/>
          </a:p>
        </p:txBody>
      </p:sp>
      <p:sp>
        <p:nvSpPr>
          <p:cNvPr id="8" name="Text 5"/>
          <p:cNvSpPr txBox="1"/>
          <p:nvPr/>
        </p:nvSpPr>
        <p:spPr>
          <a:xfrm>
            <a:off x="502920" y="1325880"/>
            <a:ext cx="8686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Plan</a:t>
            </a:r>
            <a:endParaRPr lang="en-US" sz="1100" dirty="0"/>
          </a:p>
        </p:txBody>
      </p:sp>
      <p:sp>
        <p:nvSpPr>
          <p:cNvPr id="9" name="Shape 6"/>
          <p:cNvSpPr/>
          <p:nvPr/>
        </p:nvSpPr>
        <p:spPr>
          <a:xfrm>
            <a:off x="1417320" y="1325880"/>
            <a:ext cx="1097280" cy="640080"/>
          </a:xfrm>
          <a:prstGeom prst="chevron">
            <a:avLst/>
          </a:prstGeom>
          <a:solidFill>
            <a:srgbClr val="0E7C86"/>
          </a:solidFill>
          <a:ln w="12700">
            <a:solidFill>
              <a:srgbClr val="FFFFFF"/>
            </a:solidFill>
            <a:prstDash val="solid"/>
          </a:ln>
        </p:spPr>
        <p:txBody>
          <a:bodyPr/>
          <a:lstStyle/>
          <a:p>
            <a:endParaRPr lang="en-US"/>
          </a:p>
        </p:txBody>
      </p:sp>
      <p:sp>
        <p:nvSpPr>
          <p:cNvPr id="10" name="Text 7"/>
          <p:cNvSpPr txBox="1"/>
          <p:nvPr/>
        </p:nvSpPr>
        <p:spPr>
          <a:xfrm>
            <a:off x="1554480" y="1325880"/>
            <a:ext cx="8686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Code</a:t>
            </a:r>
            <a:endParaRPr lang="en-US" sz="1100" dirty="0"/>
          </a:p>
        </p:txBody>
      </p:sp>
      <p:sp>
        <p:nvSpPr>
          <p:cNvPr id="11" name="Shape 8"/>
          <p:cNvSpPr/>
          <p:nvPr/>
        </p:nvSpPr>
        <p:spPr>
          <a:xfrm>
            <a:off x="2468880" y="1325880"/>
            <a:ext cx="1097280" cy="640080"/>
          </a:xfrm>
          <a:prstGeom prst="chevron">
            <a:avLst/>
          </a:prstGeom>
          <a:solidFill>
            <a:srgbClr val="1B2A4A"/>
          </a:solidFill>
          <a:ln w="12700">
            <a:solidFill>
              <a:srgbClr val="FFFFFF"/>
            </a:solidFill>
            <a:prstDash val="solid"/>
          </a:ln>
        </p:spPr>
        <p:txBody>
          <a:bodyPr/>
          <a:lstStyle/>
          <a:p>
            <a:endParaRPr lang="en-US"/>
          </a:p>
        </p:txBody>
      </p:sp>
      <p:sp>
        <p:nvSpPr>
          <p:cNvPr id="12" name="Text 9"/>
          <p:cNvSpPr txBox="1"/>
          <p:nvPr/>
        </p:nvSpPr>
        <p:spPr>
          <a:xfrm>
            <a:off x="2606040" y="1325880"/>
            <a:ext cx="8686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Build</a:t>
            </a:r>
            <a:endParaRPr lang="en-US" sz="1100" dirty="0"/>
          </a:p>
        </p:txBody>
      </p:sp>
      <p:sp>
        <p:nvSpPr>
          <p:cNvPr id="13" name="Shape 10"/>
          <p:cNvSpPr/>
          <p:nvPr/>
        </p:nvSpPr>
        <p:spPr>
          <a:xfrm>
            <a:off x="3520440" y="1325880"/>
            <a:ext cx="1097280" cy="640080"/>
          </a:xfrm>
          <a:prstGeom prst="chevron">
            <a:avLst/>
          </a:prstGeom>
          <a:solidFill>
            <a:srgbClr val="0E7C86"/>
          </a:solidFill>
          <a:ln w="12700">
            <a:solidFill>
              <a:srgbClr val="FFFFFF"/>
            </a:solidFill>
            <a:prstDash val="solid"/>
          </a:ln>
        </p:spPr>
        <p:txBody>
          <a:bodyPr/>
          <a:lstStyle/>
          <a:p>
            <a:endParaRPr lang="en-US"/>
          </a:p>
        </p:txBody>
      </p:sp>
      <p:sp>
        <p:nvSpPr>
          <p:cNvPr id="14" name="Text 11"/>
          <p:cNvSpPr txBox="1"/>
          <p:nvPr/>
        </p:nvSpPr>
        <p:spPr>
          <a:xfrm>
            <a:off x="3657600" y="1325880"/>
            <a:ext cx="8686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Test</a:t>
            </a:r>
            <a:endParaRPr lang="en-US" sz="1100" dirty="0"/>
          </a:p>
        </p:txBody>
      </p:sp>
      <p:sp>
        <p:nvSpPr>
          <p:cNvPr id="15" name="Shape 12"/>
          <p:cNvSpPr/>
          <p:nvPr/>
        </p:nvSpPr>
        <p:spPr>
          <a:xfrm>
            <a:off x="4572000" y="1325880"/>
            <a:ext cx="1097280" cy="640080"/>
          </a:xfrm>
          <a:prstGeom prst="chevron">
            <a:avLst/>
          </a:prstGeom>
          <a:solidFill>
            <a:srgbClr val="1B2A4A"/>
          </a:solidFill>
          <a:ln w="12700">
            <a:solidFill>
              <a:srgbClr val="FFFFFF"/>
            </a:solidFill>
            <a:prstDash val="solid"/>
          </a:ln>
        </p:spPr>
        <p:txBody>
          <a:bodyPr/>
          <a:lstStyle/>
          <a:p>
            <a:endParaRPr lang="en-US"/>
          </a:p>
        </p:txBody>
      </p:sp>
      <p:sp>
        <p:nvSpPr>
          <p:cNvPr id="16" name="Text 13"/>
          <p:cNvSpPr txBox="1"/>
          <p:nvPr/>
        </p:nvSpPr>
        <p:spPr>
          <a:xfrm>
            <a:off x="4709160" y="1325880"/>
            <a:ext cx="8686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Release</a:t>
            </a:r>
            <a:endParaRPr lang="en-US" sz="1100" dirty="0"/>
          </a:p>
        </p:txBody>
      </p:sp>
      <p:sp>
        <p:nvSpPr>
          <p:cNvPr id="17" name="Shape 14"/>
          <p:cNvSpPr/>
          <p:nvPr/>
        </p:nvSpPr>
        <p:spPr>
          <a:xfrm>
            <a:off x="5623560" y="1325880"/>
            <a:ext cx="1097280" cy="640080"/>
          </a:xfrm>
          <a:prstGeom prst="chevron">
            <a:avLst/>
          </a:prstGeom>
          <a:solidFill>
            <a:srgbClr val="0E7C86"/>
          </a:solidFill>
          <a:ln w="12700">
            <a:solidFill>
              <a:srgbClr val="FFFFFF"/>
            </a:solidFill>
            <a:prstDash val="solid"/>
          </a:ln>
        </p:spPr>
        <p:txBody>
          <a:bodyPr/>
          <a:lstStyle/>
          <a:p>
            <a:endParaRPr lang="en-US"/>
          </a:p>
        </p:txBody>
      </p:sp>
      <p:sp>
        <p:nvSpPr>
          <p:cNvPr id="18" name="Text 15"/>
          <p:cNvSpPr txBox="1"/>
          <p:nvPr/>
        </p:nvSpPr>
        <p:spPr>
          <a:xfrm>
            <a:off x="5760720" y="1325880"/>
            <a:ext cx="8686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Deploy</a:t>
            </a:r>
            <a:endParaRPr lang="en-US" sz="1100" dirty="0"/>
          </a:p>
        </p:txBody>
      </p:sp>
      <p:sp>
        <p:nvSpPr>
          <p:cNvPr id="19" name="Shape 16"/>
          <p:cNvSpPr/>
          <p:nvPr/>
        </p:nvSpPr>
        <p:spPr>
          <a:xfrm>
            <a:off x="6675120" y="1325880"/>
            <a:ext cx="1097280" cy="640080"/>
          </a:xfrm>
          <a:prstGeom prst="chevron">
            <a:avLst/>
          </a:prstGeom>
          <a:solidFill>
            <a:srgbClr val="1B2A4A"/>
          </a:solidFill>
          <a:ln w="12700">
            <a:solidFill>
              <a:srgbClr val="FFFFFF"/>
            </a:solidFill>
            <a:prstDash val="solid"/>
          </a:ln>
        </p:spPr>
        <p:txBody>
          <a:bodyPr/>
          <a:lstStyle/>
          <a:p>
            <a:endParaRPr lang="en-US"/>
          </a:p>
        </p:txBody>
      </p:sp>
      <p:sp>
        <p:nvSpPr>
          <p:cNvPr id="20" name="Text 17"/>
          <p:cNvSpPr txBox="1"/>
          <p:nvPr/>
        </p:nvSpPr>
        <p:spPr>
          <a:xfrm>
            <a:off x="6812280" y="1325880"/>
            <a:ext cx="8686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Operate</a:t>
            </a:r>
            <a:endParaRPr lang="en-US" sz="1100" dirty="0"/>
          </a:p>
        </p:txBody>
      </p:sp>
      <p:sp>
        <p:nvSpPr>
          <p:cNvPr id="21" name="Shape 18"/>
          <p:cNvSpPr/>
          <p:nvPr/>
        </p:nvSpPr>
        <p:spPr>
          <a:xfrm>
            <a:off x="7726680" y="1325880"/>
            <a:ext cx="1097280" cy="640080"/>
          </a:xfrm>
          <a:prstGeom prst="chevron">
            <a:avLst/>
          </a:prstGeom>
          <a:solidFill>
            <a:srgbClr val="0E7C86"/>
          </a:solidFill>
          <a:ln w="12700">
            <a:solidFill>
              <a:srgbClr val="FFFFFF"/>
            </a:solidFill>
            <a:prstDash val="solid"/>
          </a:ln>
        </p:spPr>
        <p:txBody>
          <a:bodyPr/>
          <a:lstStyle/>
          <a:p>
            <a:endParaRPr lang="en-US"/>
          </a:p>
        </p:txBody>
      </p:sp>
      <p:sp>
        <p:nvSpPr>
          <p:cNvPr id="22" name="Text 19"/>
          <p:cNvSpPr txBox="1"/>
          <p:nvPr/>
        </p:nvSpPr>
        <p:spPr>
          <a:xfrm>
            <a:off x="7863840" y="1325880"/>
            <a:ext cx="86868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Monitor</a:t>
            </a:r>
            <a:endParaRPr lang="en-US" sz="1100" dirty="0"/>
          </a:p>
        </p:txBody>
      </p:sp>
      <p:sp>
        <p:nvSpPr>
          <p:cNvPr id="23" name="Shape 20"/>
          <p:cNvSpPr/>
          <p:nvPr/>
        </p:nvSpPr>
        <p:spPr>
          <a:xfrm flipH="1">
            <a:off x="822960" y="2194560"/>
            <a:ext cx="7498080" cy="0"/>
          </a:xfrm>
          <a:prstGeom prst="line">
            <a:avLst/>
          </a:prstGeom>
          <a:noFill/>
          <a:ln w="19050">
            <a:solidFill>
              <a:srgbClr val="0E7C86"/>
            </a:solidFill>
            <a:prstDash val="solid"/>
            <a:headEnd type="none"/>
            <a:tailEnd type="triangle"/>
          </a:ln>
        </p:spPr>
        <p:txBody>
          <a:bodyPr/>
          <a:lstStyle/>
          <a:p>
            <a:endParaRPr lang="en-US"/>
          </a:p>
        </p:txBody>
      </p:sp>
      <p:sp>
        <p:nvSpPr>
          <p:cNvPr id="24" name="Text 21"/>
          <p:cNvSpPr txBox="1"/>
          <p:nvPr/>
        </p:nvSpPr>
        <p:spPr>
          <a:xfrm>
            <a:off x="822960" y="2240280"/>
            <a:ext cx="3657600" cy="274320"/>
          </a:xfrm>
          <a:prstGeom prst="rect">
            <a:avLst/>
          </a:prstGeom>
          <a:noFill/>
          <a:ln/>
        </p:spPr>
        <p:txBody>
          <a:bodyPr wrap="square" lIns="0" tIns="0" rIns="0" bIns="0" rtlCol="0" anchor="t"/>
          <a:lstStyle/>
          <a:p>
            <a:pPr marL="0" indent="0" algn="l">
              <a:buNone/>
            </a:pPr>
            <a:r>
              <a:rPr lang="en-US" sz="1000" i="1" dirty="0">
                <a:solidFill>
                  <a:srgbClr val="0E7C86"/>
                </a:solidFill>
                <a:latin typeface="Calibri" pitchFamily="34" charset="0"/>
                <a:ea typeface="Calibri" pitchFamily="34" charset="-122"/>
                <a:cs typeface="Calibri" pitchFamily="34" charset="-120"/>
              </a:rPr>
              <a:t>…and back to Plan: it is a loop, not a line</a:t>
            </a:r>
            <a:endParaRPr lang="en-US" sz="1000" dirty="0"/>
          </a:p>
        </p:txBody>
      </p:sp>
      <p:sp>
        <p:nvSpPr>
          <p:cNvPr id="25" name="Shape 22"/>
          <p:cNvSpPr/>
          <p:nvPr/>
        </p:nvSpPr>
        <p:spPr>
          <a:xfrm>
            <a:off x="365760" y="2560320"/>
            <a:ext cx="2697480" cy="1508760"/>
          </a:xfrm>
          <a:prstGeom prst="roundRect">
            <a:avLst>
              <a:gd name="adj" fmla="val 4848"/>
            </a:avLst>
          </a:prstGeom>
          <a:solidFill>
            <a:srgbClr val="F3F5F8"/>
          </a:solidFill>
          <a:ln w="12700">
            <a:solidFill>
              <a:srgbClr val="F3F5F8"/>
            </a:solidFill>
            <a:prstDash val="solid"/>
          </a:ln>
        </p:spPr>
        <p:txBody>
          <a:bodyPr/>
          <a:lstStyle/>
          <a:p>
            <a:endParaRPr lang="en-US"/>
          </a:p>
        </p:txBody>
      </p:sp>
      <p:sp>
        <p:nvSpPr>
          <p:cNvPr id="26" name="Shape 23"/>
          <p:cNvSpPr/>
          <p:nvPr/>
        </p:nvSpPr>
        <p:spPr>
          <a:xfrm>
            <a:off x="502920" y="267919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27" name="Image 0" descr="preencoded.png"/>
          <p:cNvPicPr>
            <a:picLocks noChangeAspect="1"/>
          </p:cNvPicPr>
          <p:nvPr/>
        </p:nvPicPr>
        <p:blipFill>
          <a:blip r:embed="rId3"/>
          <a:stretch>
            <a:fillRect/>
          </a:stretch>
        </p:blipFill>
        <p:spPr>
          <a:xfrm>
            <a:off x="576072" y="2752344"/>
            <a:ext cx="201168" cy="201168"/>
          </a:xfrm>
          <a:prstGeom prst="rect">
            <a:avLst/>
          </a:prstGeom>
        </p:spPr>
      </p:pic>
      <p:sp>
        <p:nvSpPr>
          <p:cNvPr id="28" name="Text 24"/>
          <p:cNvSpPr txBox="1"/>
          <p:nvPr/>
        </p:nvSpPr>
        <p:spPr>
          <a:xfrm>
            <a:off x="932688" y="265176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DevOps: a mindset and practices</a:t>
            </a:r>
            <a:endParaRPr lang="en-US" sz="1300" dirty="0"/>
          </a:p>
        </p:txBody>
      </p:sp>
      <p:sp>
        <p:nvSpPr>
          <p:cNvPr id="29" name="Text 25"/>
          <p:cNvSpPr txBox="1"/>
          <p:nvPr/>
        </p:nvSpPr>
        <p:spPr>
          <a:xfrm>
            <a:off x="502920" y="3108960"/>
            <a:ext cx="2423160" cy="868680"/>
          </a:xfrm>
          <a:prstGeom prst="rect">
            <a:avLst/>
          </a:prstGeom>
          <a:noFill/>
          <a:ln/>
        </p:spPr>
        <p:txBody>
          <a:bodyPr wrap="square" lIns="0" tIns="0" rIns="0" bIns="0" rtlCol="0" anchor="t"/>
          <a:lstStyle/>
          <a:p>
            <a:pPr marL="0" indent="0" algn="l">
              <a:buNone/>
            </a:pPr>
            <a:r>
              <a:rPr lang="en-US" sz="1100" dirty="0">
                <a:solidFill>
                  <a:srgbClr val="222222"/>
                </a:solidFill>
                <a:latin typeface="Calibri" pitchFamily="34" charset="0"/>
                <a:ea typeface="Calibri" pitchFamily="34" charset="-122"/>
                <a:cs typeface="Calibri" pitchFamily="34" charset="-120"/>
              </a:rPr>
              <a:t>Developers and operations collaborate; the time from a change to that change running reliably in production shrinks.</a:t>
            </a:r>
            <a:endParaRPr lang="en-US" sz="1100" dirty="0"/>
          </a:p>
        </p:txBody>
      </p:sp>
      <p:sp>
        <p:nvSpPr>
          <p:cNvPr id="30" name="Shape 26"/>
          <p:cNvSpPr/>
          <p:nvPr/>
        </p:nvSpPr>
        <p:spPr>
          <a:xfrm>
            <a:off x="3218688" y="2560320"/>
            <a:ext cx="2697480" cy="1508760"/>
          </a:xfrm>
          <a:prstGeom prst="roundRect">
            <a:avLst>
              <a:gd name="adj" fmla="val 4848"/>
            </a:avLst>
          </a:prstGeom>
          <a:solidFill>
            <a:srgbClr val="F3F5F8"/>
          </a:solidFill>
          <a:ln w="12700">
            <a:solidFill>
              <a:srgbClr val="F3F5F8"/>
            </a:solidFill>
            <a:prstDash val="solid"/>
          </a:ln>
        </p:spPr>
        <p:txBody>
          <a:bodyPr/>
          <a:lstStyle/>
          <a:p>
            <a:endParaRPr lang="en-US"/>
          </a:p>
        </p:txBody>
      </p:sp>
      <p:sp>
        <p:nvSpPr>
          <p:cNvPr id="31" name="Shape 27"/>
          <p:cNvSpPr/>
          <p:nvPr/>
        </p:nvSpPr>
        <p:spPr>
          <a:xfrm>
            <a:off x="3355848" y="267919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32" name="Image 1" descr="preencoded.png"/>
          <p:cNvPicPr>
            <a:picLocks noChangeAspect="1"/>
          </p:cNvPicPr>
          <p:nvPr/>
        </p:nvPicPr>
        <p:blipFill>
          <a:blip r:embed="rId4"/>
          <a:stretch>
            <a:fillRect/>
          </a:stretch>
        </p:blipFill>
        <p:spPr>
          <a:xfrm>
            <a:off x="3429000" y="2752344"/>
            <a:ext cx="201168" cy="201168"/>
          </a:xfrm>
          <a:prstGeom prst="rect">
            <a:avLst/>
          </a:prstGeom>
        </p:spPr>
      </p:pic>
      <p:sp>
        <p:nvSpPr>
          <p:cNvPr id="33" name="Text 28"/>
          <p:cNvSpPr txBox="1"/>
          <p:nvPr/>
        </p:nvSpPr>
        <p:spPr>
          <a:xfrm>
            <a:off x="3785616" y="265176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Continuous Integration (CI)</a:t>
            </a:r>
            <a:endParaRPr lang="en-US" sz="1300" dirty="0"/>
          </a:p>
        </p:txBody>
      </p:sp>
      <p:sp>
        <p:nvSpPr>
          <p:cNvPr id="34" name="Text 29"/>
          <p:cNvSpPr txBox="1"/>
          <p:nvPr/>
        </p:nvSpPr>
        <p:spPr>
          <a:xfrm>
            <a:off x="3355848" y="3108960"/>
            <a:ext cx="2423160" cy="868680"/>
          </a:xfrm>
          <a:prstGeom prst="rect">
            <a:avLst/>
          </a:prstGeom>
          <a:noFill/>
          <a:ln/>
        </p:spPr>
        <p:txBody>
          <a:bodyPr wrap="square" lIns="0" tIns="0" rIns="0" bIns="0" rtlCol="0" anchor="t"/>
          <a:lstStyle/>
          <a:p>
            <a:pPr marL="0" indent="0" algn="l">
              <a:buNone/>
            </a:pPr>
            <a:r>
              <a:rPr lang="en-US" sz="1100" dirty="0">
                <a:solidFill>
                  <a:srgbClr val="222222"/>
                </a:solidFill>
                <a:latin typeface="Calibri" pitchFamily="34" charset="0"/>
                <a:ea typeface="Calibri" pitchFamily="34" charset="-122"/>
                <a:cs typeface="Calibri" pitchFamily="34" charset="-120"/>
              </a:rPr>
              <a:t>Every change is merged into the shared version and checked automatically. Needs version control.</a:t>
            </a:r>
            <a:endParaRPr lang="en-US" sz="1100" dirty="0"/>
          </a:p>
        </p:txBody>
      </p:sp>
      <p:sp>
        <p:nvSpPr>
          <p:cNvPr id="35" name="Shape 30"/>
          <p:cNvSpPr/>
          <p:nvPr/>
        </p:nvSpPr>
        <p:spPr>
          <a:xfrm>
            <a:off x="6080760" y="2560320"/>
            <a:ext cx="2697480" cy="1508760"/>
          </a:xfrm>
          <a:prstGeom prst="roundRect">
            <a:avLst>
              <a:gd name="adj" fmla="val 4848"/>
            </a:avLst>
          </a:prstGeom>
          <a:solidFill>
            <a:srgbClr val="F3F5F8"/>
          </a:solidFill>
          <a:ln w="12700">
            <a:solidFill>
              <a:srgbClr val="F3F5F8"/>
            </a:solidFill>
            <a:prstDash val="solid"/>
          </a:ln>
        </p:spPr>
        <p:txBody>
          <a:bodyPr/>
          <a:lstStyle/>
          <a:p>
            <a:endParaRPr lang="en-US"/>
          </a:p>
        </p:txBody>
      </p:sp>
      <p:sp>
        <p:nvSpPr>
          <p:cNvPr id="36" name="Shape 31"/>
          <p:cNvSpPr/>
          <p:nvPr/>
        </p:nvSpPr>
        <p:spPr>
          <a:xfrm>
            <a:off x="6217920" y="267919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37" name="Image 2" descr="preencoded.png"/>
          <p:cNvPicPr>
            <a:picLocks noChangeAspect="1"/>
          </p:cNvPicPr>
          <p:nvPr/>
        </p:nvPicPr>
        <p:blipFill>
          <a:blip r:embed="rId5"/>
          <a:stretch>
            <a:fillRect/>
          </a:stretch>
        </p:blipFill>
        <p:spPr>
          <a:xfrm>
            <a:off x="6291072" y="2752344"/>
            <a:ext cx="201168" cy="201168"/>
          </a:xfrm>
          <a:prstGeom prst="rect">
            <a:avLst/>
          </a:prstGeom>
        </p:spPr>
      </p:pic>
      <p:sp>
        <p:nvSpPr>
          <p:cNvPr id="38" name="Text 32"/>
          <p:cNvSpPr txBox="1"/>
          <p:nvPr/>
        </p:nvSpPr>
        <p:spPr>
          <a:xfrm>
            <a:off x="6647688" y="265176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Continuous Delivery (CD)</a:t>
            </a:r>
            <a:endParaRPr lang="en-US" sz="1300" dirty="0"/>
          </a:p>
        </p:txBody>
      </p:sp>
      <p:sp>
        <p:nvSpPr>
          <p:cNvPr id="39" name="Text 33"/>
          <p:cNvSpPr txBox="1"/>
          <p:nvPr/>
        </p:nvSpPr>
        <p:spPr>
          <a:xfrm>
            <a:off x="6217920" y="3108960"/>
            <a:ext cx="2423160" cy="868680"/>
          </a:xfrm>
          <a:prstGeom prst="rect">
            <a:avLst/>
          </a:prstGeom>
          <a:noFill/>
          <a:ln/>
        </p:spPr>
        <p:txBody>
          <a:bodyPr wrap="square" lIns="0" tIns="0" rIns="0" bIns="0" rtlCol="0" anchor="t"/>
          <a:lstStyle/>
          <a:p>
            <a:pPr marL="0" indent="0" algn="l">
              <a:buNone/>
            </a:pPr>
            <a:r>
              <a:rPr lang="en-US" sz="1100" dirty="0">
                <a:solidFill>
                  <a:srgbClr val="222222"/>
                </a:solidFill>
                <a:latin typeface="Calibri" pitchFamily="34" charset="0"/>
                <a:ea typeface="Calibri" pitchFamily="34" charset="-122"/>
                <a:cs typeface="Calibri" pitchFamily="34" charset="-120"/>
              </a:rPr>
              <a:t>A build that passed the checks goes to a staging environment, is tested, then to production, automatically.</a:t>
            </a:r>
            <a:endParaRPr lang="en-US" sz="1100" dirty="0"/>
          </a:p>
        </p:txBody>
      </p:sp>
      <p:sp>
        <p:nvSpPr>
          <p:cNvPr id="40" name="Shape 34"/>
          <p:cNvSpPr/>
          <p:nvPr/>
        </p:nvSpPr>
        <p:spPr>
          <a:xfrm>
            <a:off x="365760" y="4206240"/>
            <a:ext cx="8412480" cy="502920"/>
          </a:xfrm>
          <a:prstGeom prst="roundRect">
            <a:avLst>
              <a:gd name="adj" fmla="val 14545"/>
            </a:avLst>
          </a:prstGeom>
          <a:solidFill>
            <a:srgbClr val="E3F1F2"/>
          </a:solidFill>
          <a:ln w="12700">
            <a:solidFill>
              <a:srgbClr val="E3F1F2"/>
            </a:solidFill>
            <a:prstDash val="solid"/>
          </a:ln>
        </p:spPr>
        <p:txBody>
          <a:bodyPr/>
          <a:lstStyle/>
          <a:p>
            <a:endParaRPr lang="en-US"/>
          </a:p>
        </p:txBody>
      </p:sp>
      <p:pic>
        <p:nvPicPr>
          <p:cNvPr id="41" name="Image 3" descr="preencoded.png"/>
          <p:cNvPicPr>
            <a:picLocks noChangeAspect="1"/>
          </p:cNvPicPr>
          <p:nvPr/>
        </p:nvPicPr>
        <p:blipFill>
          <a:blip r:embed="rId6"/>
          <a:stretch>
            <a:fillRect/>
          </a:stretch>
        </p:blipFill>
        <p:spPr>
          <a:xfrm>
            <a:off x="502920" y="4320540"/>
            <a:ext cx="274320" cy="274320"/>
          </a:xfrm>
          <a:prstGeom prst="rect">
            <a:avLst/>
          </a:prstGeom>
        </p:spPr>
      </p:pic>
      <p:sp>
        <p:nvSpPr>
          <p:cNvPr id="42" name="Text 35"/>
          <p:cNvSpPr txBox="1"/>
          <p:nvPr/>
        </p:nvSpPr>
        <p:spPr>
          <a:xfrm>
            <a:off x="896112" y="4206240"/>
            <a:ext cx="7772400" cy="50292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An assembly line: every part is checked as it arrives (CI) and a car only leaves when it has passed every station (CD). Session 5 adds a third word for ML: Continuous Training.</a:t>
            </a:r>
            <a:endParaRPr lang="en-US" sz="1100" dirty="0"/>
          </a:p>
        </p:txBody>
      </p:sp>
      <p:pic>
        <p:nvPicPr>
          <p:cNvPr id="43"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extra problem with ML: the world keeps changing under the model</a:t>
            </a:r>
            <a:endParaRPr lang="en-US" sz="2400" dirty="0"/>
          </a:p>
        </p:txBody>
      </p:sp>
      <p:sp>
        <p:nvSpPr>
          <p:cNvPr id="7" name="Shape 4"/>
          <p:cNvSpPr/>
          <p:nvPr/>
        </p:nvSpPr>
        <p:spPr>
          <a:xfrm>
            <a:off x="365760" y="1234440"/>
            <a:ext cx="2697480" cy="2194560"/>
          </a:xfrm>
          <a:prstGeom prst="roundRect">
            <a:avLst>
              <a:gd name="adj" fmla="val 3333"/>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Credit model, banking</a:t>
            </a:r>
            <a:endParaRPr lang="en-US" sz="1300" dirty="0"/>
          </a:p>
        </p:txBody>
      </p:sp>
      <p:sp>
        <p:nvSpPr>
          <p:cNvPr id="11" name="Text 7"/>
          <p:cNvSpPr txBox="1"/>
          <p:nvPr/>
        </p:nvSpPr>
        <p:spPr>
          <a:xfrm>
            <a:off x="502920" y="1783080"/>
            <a:ext cx="2423160" cy="155448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Customer behaviour changes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Customer base changes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Bias appears or grows</a:t>
            </a:r>
            <a:endParaRPr lang="en-US" sz="1150" dirty="0"/>
          </a:p>
        </p:txBody>
      </p:sp>
      <p:sp>
        <p:nvSpPr>
          <p:cNvPr id="12" name="Shape 8"/>
          <p:cNvSpPr/>
          <p:nvPr/>
        </p:nvSpPr>
        <p:spPr>
          <a:xfrm>
            <a:off x="3218688" y="1234440"/>
            <a:ext cx="2697480" cy="2194560"/>
          </a:xfrm>
          <a:prstGeom prst="roundRect">
            <a:avLst>
              <a:gd name="adj" fmla="val 3333"/>
            </a:avLst>
          </a:prstGeom>
          <a:solidFill>
            <a:srgbClr val="F3F5F8"/>
          </a:solidFill>
          <a:ln w="12700">
            <a:solidFill>
              <a:srgbClr val="F3F5F8"/>
            </a:solidFill>
            <a:prstDash val="solid"/>
          </a:ln>
        </p:spPr>
        <p:txBody>
          <a:bodyPr/>
          <a:lstStyle/>
          <a:p>
            <a:endParaRPr lang="en-US"/>
          </a:p>
        </p:txBody>
      </p:sp>
      <p:sp>
        <p:nvSpPr>
          <p:cNvPr id="13" name="Shape 9"/>
          <p:cNvSpPr/>
          <p:nvPr/>
        </p:nvSpPr>
        <p:spPr>
          <a:xfrm>
            <a:off x="3355848"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429000" y="1426464"/>
            <a:ext cx="201168" cy="201168"/>
          </a:xfrm>
          <a:prstGeom prst="rect">
            <a:avLst/>
          </a:prstGeom>
        </p:spPr>
      </p:pic>
      <p:sp>
        <p:nvSpPr>
          <p:cNvPr id="15" name="Text 10"/>
          <p:cNvSpPr txBox="1"/>
          <p:nvPr/>
        </p:nvSpPr>
        <p:spPr>
          <a:xfrm>
            <a:off x="3785616"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Recommendations, TV platform</a:t>
            </a:r>
            <a:endParaRPr lang="en-US" sz="1300" dirty="0"/>
          </a:p>
        </p:txBody>
      </p:sp>
      <p:sp>
        <p:nvSpPr>
          <p:cNvPr id="16" name="Text 11"/>
          <p:cNvSpPr txBox="1"/>
          <p:nvPr/>
        </p:nvSpPr>
        <p:spPr>
          <a:xfrm>
            <a:off x="3355848" y="1783080"/>
            <a:ext cx="2423160" cy="155448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Viewer tastes change</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The catalogue changes every week</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New competitors change what "good" means</a:t>
            </a:r>
            <a:endParaRPr lang="en-US" sz="1150" dirty="0"/>
          </a:p>
        </p:txBody>
      </p:sp>
      <p:sp>
        <p:nvSpPr>
          <p:cNvPr id="17" name="Shape 12"/>
          <p:cNvSpPr/>
          <p:nvPr/>
        </p:nvSpPr>
        <p:spPr>
          <a:xfrm>
            <a:off x="6080760" y="1234440"/>
            <a:ext cx="2697480" cy="2194560"/>
          </a:xfrm>
          <a:prstGeom prst="roundRect">
            <a:avLst>
              <a:gd name="adj" fmla="val 3333"/>
            </a:avLst>
          </a:prstGeom>
          <a:solidFill>
            <a:srgbClr val="F3F5F8"/>
          </a:solidFill>
          <a:ln w="12700">
            <a:solidFill>
              <a:srgbClr val="F3F5F8"/>
            </a:solidFill>
            <a:prstDash val="solid"/>
          </a:ln>
        </p:spPr>
        <p:txBody>
          <a:bodyPr/>
          <a:lstStyle/>
          <a:p>
            <a:endParaRPr lang="en-US"/>
          </a:p>
        </p:txBody>
      </p:sp>
      <p:sp>
        <p:nvSpPr>
          <p:cNvPr id="18" name="Shape 13"/>
          <p:cNvSpPr/>
          <p:nvPr/>
        </p:nvSpPr>
        <p:spPr>
          <a:xfrm>
            <a:off x="621792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291072" y="1426464"/>
            <a:ext cx="201168" cy="201168"/>
          </a:xfrm>
          <a:prstGeom prst="rect">
            <a:avLst/>
          </a:prstGeom>
        </p:spPr>
      </p:pic>
      <p:sp>
        <p:nvSpPr>
          <p:cNvPr id="20" name="Text 14"/>
          <p:cNvSpPr txBox="1"/>
          <p:nvPr/>
        </p:nvSpPr>
        <p:spPr>
          <a:xfrm>
            <a:off x="6647688" y="132588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Sales forecast, retail</a:t>
            </a:r>
            <a:endParaRPr lang="en-US" sz="1300" dirty="0"/>
          </a:p>
        </p:txBody>
      </p:sp>
      <p:sp>
        <p:nvSpPr>
          <p:cNvPr id="21" name="Text 15"/>
          <p:cNvSpPr txBox="1"/>
          <p:nvPr/>
        </p:nvSpPr>
        <p:spPr>
          <a:xfrm>
            <a:off x="6217920" y="1783080"/>
            <a:ext cx="2423160" cy="155448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Consumer behaviour changes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Economic situation changes</a:t>
            </a:r>
            <a:endParaRPr lang="en-US" sz="1150" dirty="0"/>
          </a:p>
          <a:p>
            <a:pPr marL="177800" indent="-177800">
              <a:spcAft>
                <a:spcPts val="300"/>
              </a:spcAft>
              <a:buSzPct val="100000"/>
              <a:buChar char="•"/>
            </a:pPr>
            <a:r>
              <a:rPr lang="en-US" sz="1150" dirty="0">
                <a:solidFill>
                  <a:srgbClr val="222222"/>
                </a:solidFill>
                <a:latin typeface="Calibri" pitchFamily="34" charset="0"/>
                <a:ea typeface="Calibri" pitchFamily="34" charset="-122"/>
                <a:cs typeface="Calibri" pitchFamily="34" charset="-120"/>
              </a:rPr>
              <a:t>Promotions and seasons move</a:t>
            </a:r>
            <a:endParaRPr lang="en-US" sz="1150" dirty="0"/>
          </a:p>
        </p:txBody>
      </p:sp>
      <p:sp>
        <p:nvSpPr>
          <p:cNvPr id="22" name="Shape 16"/>
          <p:cNvSpPr/>
          <p:nvPr/>
        </p:nvSpPr>
        <p:spPr>
          <a:xfrm>
            <a:off x="365760" y="3657600"/>
            <a:ext cx="8412480" cy="685800"/>
          </a:xfrm>
          <a:prstGeom prst="roundRect">
            <a:avLst>
              <a:gd name="adj" fmla="val 10667"/>
            </a:avLst>
          </a:prstGeom>
          <a:solidFill>
            <a:srgbClr val="E3F1F2"/>
          </a:solidFill>
          <a:ln w="12700">
            <a:solidFill>
              <a:srgbClr val="E3F1F2"/>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502920" y="3863340"/>
            <a:ext cx="274320" cy="274320"/>
          </a:xfrm>
          <a:prstGeom prst="rect">
            <a:avLst/>
          </a:prstGeom>
        </p:spPr>
      </p:pic>
      <p:sp>
        <p:nvSpPr>
          <p:cNvPr id="24" name="Text 17"/>
          <p:cNvSpPr txBox="1"/>
          <p:nvPr/>
        </p:nvSpPr>
        <p:spPr>
          <a:xfrm>
            <a:off x="896112" y="3657600"/>
            <a:ext cx="7772400" cy="68580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A program that calculates VAT works the same in ten years. A model learned from the past, and the past stops being true. ML models need retraining: not if, but when.</a:t>
            </a:r>
            <a:endParaRPr lang="en-US" sz="1200" dirty="0"/>
          </a:p>
        </p:txBody>
      </p:sp>
      <p:pic>
        <p:nvPicPr>
          <p:cNvPr id="25"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Why managing models at scale is hard</a:t>
            </a:r>
            <a:endParaRPr lang="en-US" sz="2400" dirty="0"/>
          </a:p>
        </p:txBody>
      </p:sp>
      <p:sp>
        <p:nvSpPr>
          <p:cNvPr id="7" name="Shape 4"/>
          <p:cNvSpPr/>
          <p:nvPr/>
        </p:nvSpPr>
        <p:spPr>
          <a:xfrm>
            <a:off x="365760" y="128016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457200" y="1371600"/>
            <a:ext cx="237744" cy="237744"/>
          </a:xfrm>
          <a:prstGeom prst="rect">
            <a:avLst/>
          </a:prstGeom>
        </p:spPr>
      </p:pic>
      <p:sp>
        <p:nvSpPr>
          <p:cNvPr id="9" name="Text 5"/>
          <p:cNvSpPr txBox="1"/>
          <p:nvPr/>
        </p:nvSpPr>
        <p:spPr>
          <a:xfrm>
            <a:off x="914400" y="126187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Many dependencies</a:t>
            </a:r>
            <a:endParaRPr lang="en-US" sz="1300" dirty="0"/>
          </a:p>
        </p:txBody>
      </p:sp>
      <p:sp>
        <p:nvSpPr>
          <p:cNvPr id="10" name="Text 6"/>
          <p:cNvSpPr txBox="1"/>
          <p:nvPr/>
        </p:nvSpPr>
        <p:spPr>
          <a:xfrm>
            <a:off x="914400" y="151790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Data sources, libraries, infrastructure, other models.</a:t>
            </a:r>
            <a:endParaRPr lang="en-US" sz="1100" dirty="0"/>
          </a:p>
        </p:txBody>
      </p:sp>
      <p:sp>
        <p:nvSpPr>
          <p:cNvPr id="11" name="Shape 7"/>
          <p:cNvSpPr/>
          <p:nvPr/>
        </p:nvSpPr>
        <p:spPr>
          <a:xfrm>
            <a:off x="365760" y="205740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57200" y="2148840"/>
            <a:ext cx="237744" cy="237744"/>
          </a:xfrm>
          <a:prstGeom prst="rect">
            <a:avLst/>
          </a:prstGeom>
        </p:spPr>
      </p:pic>
      <p:sp>
        <p:nvSpPr>
          <p:cNvPr id="13" name="Text 8"/>
          <p:cNvSpPr txBox="1"/>
          <p:nvPr/>
        </p:nvSpPr>
        <p:spPr>
          <a:xfrm>
            <a:off x="914400" y="203911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Data keeps changing</a:t>
            </a:r>
            <a:endParaRPr lang="en-US" sz="1300" dirty="0"/>
          </a:p>
        </p:txBody>
      </p:sp>
      <p:sp>
        <p:nvSpPr>
          <p:cNvPr id="14" name="Text 9"/>
          <p:cNvSpPr txBox="1"/>
          <p:nvPr/>
        </p:nvSpPr>
        <p:spPr>
          <a:xfrm>
            <a:off x="914400" y="229514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What was true when the model was trained is not true now.</a:t>
            </a:r>
            <a:endParaRPr lang="en-US" sz="1100" dirty="0"/>
          </a:p>
        </p:txBody>
      </p:sp>
      <p:sp>
        <p:nvSpPr>
          <p:cNvPr id="15" name="Shape 10"/>
          <p:cNvSpPr/>
          <p:nvPr/>
        </p:nvSpPr>
        <p:spPr>
          <a:xfrm>
            <a:off x="365760" y="283464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57200" y="2926080"/>
            <a:ext cx="237744" cy="237744"/>
          </a:xfrm>
          <a:prstGeom prst="rect">
            <a:avLst/>
          </a:prstGeom>
        </p:spPr>
      </p:pic>
      <p:sp>
        <p:nvSpPr>
          <p:cNvPr id="17" name="Text 11"/>
          <p:cNvSpPr txBox="1"/>
          <p:nvPr/>
        </p:nvSpPr>
        <p:spPr>
          <a:xfrm>
            <a:off x="914400" y="281635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Business needs shift</a:t>
            </a:r>
            <a:endParaRPr lang="en-US" sz="1300" dirty="0"/>
          </a:p>
        </p:txBody>
      </p:sp>
      <p:sp>
        <p:nvSpPr>
          <p:cNvPr id="18" name="Text 12"/>
          <p:cNvSpPr txBox="1"/>
          <p:nvPr/>
        </p:nvSpPr>
        <p:spPr>
          <a:xfrm>
            <a:off x="914400" y="307238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The goal the model was built for moves.</a:t>
            </a:r>
            <a:endParaRPr lang="en-US" sz="1100" dirty="0"/>
          </a:p>
        </p:txBody>
      </p:sp>
      <p:sp>
        <p:nvSpPr>
          <p:cNvPr id="19" name="Shape 13"/>
          <p:cNvSpPr/>
          <p:nvPr/>
        </p:nvSpPr>
        <p:spPr>
          <a:xfrm>
            <a:off x="4754880" y="128016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4846320" y="1371600"/>
            <a:ext cx="237744" cy="237744"/>
          </a:xfrm>
          <a:prstGeom prst="rect">
            <a:avLst/>
          </a:prstGeom>
        </p:spPr>
      </p:pic>
      <p:sp>
        <p:nvSpPr>
          <p:cNvPr id="21" name="Text 14"/>
          <p:cNvSpPr txBox="1"/>
          <p:nvPr/>
        </p:nvSpPr>
        <p:spPr>
          <a:xfrm>
            <a:off x="5303520" y="126187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Not everyone speaks the same language</a:t>
            </a:r>
            <a:endParaRPr lang="en-US" sz="1300" dirty="0"/>
          </a:p>
        </p:txBody>
      </p:sp>
      <p:sp>
        <p:nvSpPr>
          <p:cNvPr id="22" name="Text 15"/>
          <p:cNvSpPr txBox="1"/>
          <p:nvPr/>
        </p:nvSpPr>
        <p:spPr>
          <a:xfrm>
            <a:off x="5303520" y="151790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Business, data, modelling and IT each have their own vocabulary.</a:t>
            </a:r>
            <a:endParaRPr lang="en-US" sz="1100" dirty="0"/>
          </a:p>
        </p:txBody>
      </p:sp>
      <p:sp>
        <p:nvSpPr>
          <p:cNvPr id="23" name="Shape 16"/>
          <p:cNvSpPr/>
          <p:nvPr/>
        </p:nvSpPr>
        <p:spPr>
          <a:xfrm>
            <a:off x="4754880" y="205740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4846320" y="2148840"/>
            <a:ext cx="237744" cy="237744"/>
          </a:xfrm>
          <a:prstGeom prst="rect">
            <a:avLst/>
          </a:prstGeom>
        </p:spPr>
      </p:pic>
      <p:sp>
        <p:nvSpPr>
          <p:cNvPr id="25" name="Text 17"/>
          <p:cNvSpPr txBox="1"/>
          <p:nvPr/>
        </p:nvSpPr>
        <p:spPr>
          <a:xfrm>
            <a:off x="5303520" y="203911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Data scientists are not software engineers</a:t>
            </a:r>
            <a:endParaRPr lang="en-US" sz="1300" dirty="0"/>
          </a:p>
        </p:txBody>
      </p:sp>
      <p:sp>
        <p:nvSpPr>
          <p:cNvPr id="26" name="Text 18"/>
          <p:cNvSpPr txBox="1"/>
          <p:nvPr/>
        </p:nvSpPr>
        <p:spPr>
          <a:xfrm>
            <a:off x="5303520" y="229514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Trained to build models, not to run services.</a:t>
            </a:r>
            <a:endParaRPr lang="en-US" sz="1100" dirty="0"/>
          </a:p>
        </p:txBody>
      </p:sp>
      <p:sp>
        <p:nvSpPr>
          <p:cNvPr id="27" name="Shape 19"/>
          <p:cNvSpPr/>
          <p:nvPr/>
        </p:nvSpPr>
        <p:spPr>
          <a:xfrm>
            <a:off x="4754880" y="283464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28" name="Image 5" descr="preencoded.png"/>
          <p:cNvPicPr>
            <a:picLocks noChangeAspect="1"/>
          </p:cNvPicPr>
          <p:nvPr/>
        </p:nvPicPr>
        <p:blipFill>
          <a:blip r:embed="rId8"/>
          <a:stretch>
            <a:fillRect/>
          </a:stretch>
        </p:blipFill>
        <p:spPr>
          <a:xfrm>
            <a:off x="4846320" y="2926080"/>
            <a:ext cx="237744" cy="237744"/>
          </a:xfrm>
          <a:prstGeom prst="rect">
            <a:avLst/>
          </a:prstGeom>
        </p:spPr>
      </p:pic>
      <p:sp>
        <p:nvSpPr>
          <p:cNvPr id="29" name="Text 20"/>
          <p:cNvSpPr txBox="1"/>
          <p:nvPr/>
        </p:nvSpPr>
        <p:spPr>
          <a:xfrm>
            <a:off x="5303520" y="281635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Complexity grows faster than the model count</a:t>
            </a:r>
            <a:endParaRPr lang="en-US" sz="1300" dirty="0"/>
          </a:p>
        </p:txBody>
      </p:sp>
      <p:sp>
        <p:nvSpPr>
          <p:cNvPr id="30" name="Text 21"/>
          <p:cNvSpPr txBox="1"/>
          <p:nvPr/>
        </p:nvSpPr>
        <p:spPr>
          <a:xfrm>
            <a:off x="5303520" y="307238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Many models in production; staff turnover; nobody remembers why.</a:t>
            </a:r>
            <a:endParaRPr lang="en-US" sz="1100" dirty="0"/>
          </a:p>
        </p:txBody>
      </p:sp>
      <p:sp>
        <p:nvSpPr>
          <p:cNvPr id="31" name="Shape 22"/>
          <p:cNvSpPr/>
          <p:nvPr/>
        </p:nvSpPr>
        <p:spPr>
          <a:xfrm>
            <a:off x="365760" y="3703320"/>
            <a:ext cx="8412480" cy="640080"/>
          </a:xfrm>
          <a:prstGeom prst="roundRect">
            <a:avLst>
              <a:gd name="adj" fmla="val 11429"/>
            </a:avLst>
          </a:prstGeom>
          <a:solidFill>
            <a:srgbClr val="FBE9DC"/>
          </a:solidFill>
          <a:ln w="12700">
            <a:solidFill>
              <a:srgbClr val="FBE9DC"/>
            </a:solidFill>
            <a:prstDash val="solid"/>
          </a:ln>
        </p:spPr>
        <p:txBody>
          <a:bodyPr/>
          <a:lstStyle/>
          <a:p>
            <a:endParaRPr lang="en-US"/>
          </a:p>
        </p:txBody>
      </p:sp>
      <p:pic>
        <p:nvPicPr>
          <p:cNvPr id="32" name="Image 6" descr="preencoded.png"/>
          <p:cNvPicPr>
            <a:picLocks noChangeAspect="1"/>
          </p:cNvPicPr>
          <p:nvPr/>
        </p:nvPicPr>
        <p:blipFill>
          <a:blip r:embed="rId9"/>
          <a:stretch>
            <a:fillRect/>
          </a:stretch>
        </p:blipFill>
        <p:spPr>
          <a:xfrm>
            <a:off x="502920" y="3886200"/>
            <a:ext cx="274320" cy="274320"/>
          </a:xfrm>
          <a:prstGeom prst="rect">
            <a:avLst/>
          </a:prstGeom>
        </p:spPr>
      </p:pic>
      <p:sp>
        <p:nvSpPr>
          <p:cNvPr id="33" name="Text 23"/>
          <p:cNvSpPr txBox="1"/>
          <p:nvPr/>
        </p:nvSpPr>
        <p:spPr>
          <a:xfrm>
            <a:off x="896112" y="3703320"/>
            <a:ext cx="7772400" cy="640080"/>
          </a:xfrm>
          <a:prstGeom prst="rect">
            <a:avLst/>
          </a:prstGeom>
          <a:noFill/>
          <a:ln/>
        </p:spPr>
        <p:txBody>
          <a:bodyPr wrap="square" lIns="0" tIns="0" rIns="0" bIns="0"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Chat poll (2 min): "MLOps is an unnecessary cost for a company with only three models in production." AGREE or DISAGREE, and one line why.</a:t>
            </a:r>
            <a:endParaRPr lang="en-US" sz="1200" dirty="0"/>
          </a:p>
        </p:txBody>
      </p:sp>
      <p:pic>
        <p:nvPicPr>
          <p:cNvPr id="34" name="IE University logo" descr="IE University, School of Science &amp; Technology"/>
          <p:cNvPicPr>
            <a:picLocks noChangeAspect="1"/>
          </p:cNvPicPr>
          <p:nvPr/>
        </p:nvPicPr>
        <p:blipFill>
          <a:blip r:embed="rId10"/>
          <a:stretch>
            <a:fillRect/>
          </a:stretch>
        </p:blipFill>
        <p:spPr>
          <a:xfrm>
            <a:off x="8013607" y="92634"/>
            <a:ext cx="764633" cy="2627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So, what is MLOps?</a:t>
            </a:r>
            <a:endParaRPr lang="en-US" sz="2400" dirty="0"/>
          </a:p>
        </p:txBody>
      </p:sp>
      <p:sp>
        <p:nvSpPr>
          <p:cNvPr id="7" name="Shape 4"/>
          <p:cNvSpPr/>
          <p:nvPr/>
        </p:nvSpPr>
        <p:spPr>
          <a:xfrm>
            <a:off x="365760" y="1234440"/>
            <a:ext cx="8412480" cy="1234440"/>
          </a:xfrm>
          <a:prstGeom prst="roundRect">
            <a:avLst>
              <a:gd name="adj" fmla="val 5926"/>
            </a:avLst>
          </a:prstGeom>
          <a:solidFill>
            <a:srgbClr val="1B2A4A"/>
          </a:solidFill>
          <a:ln w="12700">
            <a:solidFill>
              <a:srgbClr val="1B2A4A"/>
            </a:solidFill>
            <a:prstDash val="solid"/>
          </a:ln>
        </p:spPr>
        <p:txBody>
          <a:bodyPr/>
          <a:lstStyle/>
          <a:p>
            <a:endParaRPr lang="en-US"/>
          </a:p>
        </p:txBody>
      </p:sp>
      <p:sp>
        <p:nvSpPr>
          <p:cNvPr id="8" name="Text 5"/>
          <p:cNvSpPr txBox="1"/>
          <p:nvPr/>
        </p:nvSpPr>
        <p:spPr>
          <a:xfrm>
            <a:off x="594360" y="1325880"/>
            <a:ext cx="7955280" cy="10515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MLOps is the engineering discipline that bridges the gap between data-science experimentation and reliable software production. It standardises how models are deployed, scaled, monitored and governed so that they stay accurate, resilient and audit-ready over time.</a:t>
            </a:r>
            <a:endParaRPr lang="en-US" sz="1400" dirty="0"/>
          </a:p>
        </p:txBody>
      </p:sp>
      <p:sp>
        <p:nvSpPr>
          <p:cNvPr id="9" name="Shape 6"/>
          <p:cNvSpPr/>
          <p:nvPr/>
        </p:nvSpPr>
        <p:spPr>
          <a:xfrm>
            <a:off x="365760" y="2697480"/>
            <a:ext cx="2697480" cy="1234440"/>
          </a:xfrm>
          <a:prstGeom prst="roundRect">
            <a:avLst>
              <a:gd name="adj" fmla="val 5926"/>
            </a:avLst>
          </a:prstGeom>
          <a:solidFill>
            <a:srgbClr val="F3F5F8"/>
          </a:solidFill>
          <a:ln w="12700">
            <a:solidFill>
              <a:srgbClr val="F3F5F8"/>
            </a:solidFill>
            <a:prstDash val="solid"/>
          </a:ln>
        </p:spPr>
        <p:txBody>
          <a:bodyPr/>
          <a:lstStyle/>
          <a:p>
            <a:endParaRPr lang="en-US"/>
          </a:p>
        </p:txBody>
      </p:sp>
      <p:sp>
        <p:nvSpPr>
          <p:cNvPr id="10" name="Shape 7"/>
          <p:cNvSpPr/>
          <p:nvPr/>
        </p:nvSpPr>
        <p:spPr>
          <a:xfrm>
            <a:off x="502920" y="281635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576072" y="2889504"/>
            <a:ext cx="201168" cy="201168"/>
          </a:xfrm>
          <a:prstGeom prst="rect">
            <a:avLst/>
          </a:prstGeom>
        </p:spPr>
      </p:pic>
      <p:sp>
        <p:nvSpPr>
          <p:cNvPr id="12" name="Text 8"/>
          <p:cNvSpPr txBox="1"/>
          <p:nvPr/>
        </p:nvSpPr>
        <p:spPr>
          <a:xfrm>
            <a:off x="932688" y="278892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Deployed and scaled</a:t>
            </a:r>
            <a:endParaRPr lang="en-US" sz="1300" dirty="0"/>
          </a:p>
        </p:txBody>
      </p:sp>
      <p:sp>
        <p:nvSpPr>
          <p:cNvPr id="13" name="Text 9"/>
          <p:cNvSpPr txBox="1"/>
          <p:nvPr/>
        </p:nvSpPr>
        <p:spPr>
          <a:xfrm>
            <a:off x="502920" y="3246120"/>
            <a:ext cx="2423160" cy="594360"/>
          </a:xfrm>
          <a:prstGeom prst="rect">
            <a:avLst/>
          </a:prstGeom>
          <a:noFill/>
          <a:ln/>
        </p:spPr>
        <p:txBody>
          <a:bodyPr wrap="square" lIns="0" tIns="0" rIns="0" bIns="0" rtlCol="0" anchor="t"/>
          <a:lstStyle/>
          <a:p>
            <a:pPr marL="0" indent="0" algn="l">
              <a:buNone/>
            </a:pPr>
            <a:r>
              <a:rPr lang="en-US" sz="1100" dirty="0">
                <a:solidFill>
                  <a:srgbClr val="222222"/>
                </a:solidFill>
                <a:latin typeface="Calibri" pitchFamily="34" charset="0"/>
                <a:ea typeface="Calibri" pitchFamily="34" charset="-122"/>
                <a:cs typeface="Calibri" pitchFamily="34" charset="-120"/>
              </a:rPr>
              <a:t>The model runs where the business needs it, at the volume the business needs.</a:t>
            </a:r>
            <a:endParaRPr lang="en-US" sz="1100" dirty="0"/>
          </a:p>
        </p:txBody>
      </p:sp>
      <p:sp>
        <p:nvSpPr>
          <p:cNvPr id="14" name="Shape 10"/>
          <p:cNvSpPr/>
          <p:nvPr/>
        </p:nvSpPr>
        <p:spPr>
          <a:xfrm>
            <a:off x="3218688" y="2697480"/>
            <a:ext cx="2697480" cy="1234440"/>
          </a:xfrm>
          <a:prstGeom prst="roundRect">
            <a:avLst>
              <a:gd name="adj" fmla="val 5926"/>
            </a:avLst>
          </a:prstGeom>
          <a:solidFill>
            <a:srgbClr val="F3F5F8"/>
          </a:solidFill>
          <a:ln w="12700">
            <a:solidFill>
              <a:srgbClr val="F3F5F8"/>
            </a:solidFill>
            <a:prstDash val="solid"/>
          </a:ln>
        </p:spPr>
        <p:txBody>
          <a:bodyPr/>
          <a:lstStyle/>
          <a:p>
            <a:endParaRPr lang="en-US"/>
          </a:p>
        </p:txBody>
      </p:sp>
      <p:sp>
        <p:nvSpPr>
          <p:cNvPr id="15" name="Shape 11"/>
          <p:cNvSpPr/>
          <p:nvPr/>
        </p:nvSpPr>
        <p:spPr>
          <a:xfrm>
            <a:off x="3355848" y="281635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3429000" y="2889504"/>
            <a:ext cx="201168" cy="201168"/>
          </a:xfrm>
          <a:prstGeom prst="rect">
            <a:avLst/>
          </a:prstGeom>
        </p:spPr>
      </p:pic>
      <p:sp>
        <p:nvSpPr>
          <p:cNvPr id="17" name="Text 12"/>
          <p:cNvSpPr txBox="1"/>
          <p:nvPr/>
        </p:nvSpPr>
        <p:spPr>
          <a:xfrm>
            <a:off x="3785616" y="278892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Monitored</a:t>
            </a:r>
            <a:endParaRPr lang="en-US" sz="1300" dirty="0"/>
          </a:p>
        </p:txBody>
      </p:sp>
      <p:sp>
        <p:nvSpPr>
          <p:cNvPr id="18" name="Text 13"/>
          <p:cNvSpPr txBox="1"/>
          <p:nvPr/>
        </p:nvSpPr>
        <p:spPr>
          <a:xfrm>
            <a:off x="3355848" y="3246120"/>
            <a:ext cx="2423160" cy="594360"/>
          </a:xfrm>
          <a:prstGeom prst="rect">
            <a:avLst/>
          </a:prstGeom>
          <a:noFill/>
          <a:ln/>
        </p:spPr>
        <p:txBody>
          <a:bodyPr wrap="square" lIns="0" tIns="0" rIns="0" bIns="0" rtlCol="0" anchor="t"/>
          <a:lstStyle/>
          <a:p>
            <a:pPr marL="0" indent="0" algn="l">
              <a:buNone/>
            </a:pPr>
            <a:r>
              <a:rPr lang="en-US" sz="1100" dirty="0">
                <a:solidFill>
                  <a:srgbClr val="222222"/>
                </a:solidFill>
                <a:latin typeface="Calibri" pitchFamily="34" charset="0"/>
                <a:ea typeface="Calibri" pitchFamily="34" charset="-122"/>
                <a:cs typeface="Calibri" pitchFamily="34" charset="-120"/>
              </a:rPr>
              <a:t>Someone (or something) notices when it stops being right.</a:t>
            </a:r>
            <a:endParaRPr lang="en-US" sz="1100" dirty="0"/>
          </a:p>
        </p:txBody>
      </p:sp>
      <p:sp>
        <p:nvSpPr>
          <p:cNvPr id="19" name="Shape 14"/>
          <p:cNvSpPr/>
          <p:nvPr/>
        </p:nvSpPr>
        <p:spPr>
          <a:xfrm>
            <a:off x="6080760" y="2697480"/>
            <a:ext cx="2697480" cy="1234440"/>
          </a:xfrm>
          <a:prstGeom prst="roundRect">
            <a:avLst>
              <a:gd name="adj" fmla="val 5926"/>
            </a:avLst>
          </a:prstGeom>
          <a:solidFill>
            <a:srgbClr val="F3F5F8"/>
          </a:solidFill>
          <a:ln w="12700">
            <a:solidFill>
              <a:srgbClr val="F3F5F8"/>
            </a:solidFill>
            <a:prstDash val="solid"/>
          </a:ln>
        </p:spPr>
        <p:txBody>
          <a:bodyPr/>
          <a:lstStyle/>
          <a:p>
            <a:endParaRPr lang="en-US"/>
          </a:p>
        </p:txBody>
      </p:sp>
      <p:sp>
        <p:nvSpPr>
          <p:cNvPr id="20" name="Shape 15"/>
          <p:cNvSpPr/>
          <p:nvPr/>
        </p:nvSpPr>
        <p:spPr>
          <a:xfrm>
            <a:off x="6217920" y="281635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6291072" y="2889504"/>
            <a:ext cx="201168" cy="201168"/>
          </a:xfrm>
          <a:prstGeom prst="rect">
            <a:avLst/>
          </a:prstGeom>
        </p:spPr>
      </p:pic>
      <p:sp>
        <p:nvSpPr>
          <p:cNvPr id="22" name="Text 16"/>
          <p:cNvSpPr txBox="1"/>
          <p:nvPr/>
        </p:nvSpPr>
        <p:spPr>
          <a:xfrm>
            <a:off x="6647688" y="278892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Governed</a:t>
            </a:r>
            <a:endParaRPr lang="en-US" sz="1300" dirty="0"/>
          </a:p>
        </p:txBody>
      </p:sp>
      <p:sp>
        <p:nvSpPr>
          <p:cNvPr id="23" name="Text 17"/>
          <p:cNvSpPr txBox="1"/>
          <p:nvPr/>
        </p:nvSpPr>
        <p:spPr>
          <a:xfrm>
            <a:off x="6217920" y="3246120"/>
            <a:ext cx="2423160" cy="594360"/>
          </a:xfrm>
          <a:prstGeom prst="rect">
            <a:avLst/>
          </a:prstGeom>
          <a:noFill/>
          <a:ln/>
        </p:spPr>
        <p:txBody>
          <a:bodyPr wrap="square" lIns="0" tIns="0" rIns="0" bIns="0" rtlCol="0" anchor="t"/>
          <a:lstStyle/>
          <a:p>
            <a:pPr marL="0" indent="0" algn="l">
              <a:buNone/>
            </a:pPr>
            <a:r>
              <a:rPr lang="en-US" sz="1100" dirty="0">
                <a:solidFill>
                  <a:srgbClr val="222222"/>
                </a:solidFill>
                <a:latin typeface="Calibri" pitchFamily="34" charset="0"/>
                <a:ea typeface="Calibri" pitchFamily="34" charset="-122"/>
                <a:cs typeface="Calibri" pitchFamily="34" charset="-120"/>
              </a:rPr>
              <a:t>You can prove what it does, why, and who approved it.</a:t>
            </a:r>
            <a:endParaRPr lang="en-US" sz="1100" dirty="0"/>
          </a:p>
        </p:txBody>
      </p:sp>
      <p:sp>
        <p:nvSpPr>
          <p:cNvPr id="24" name="Shape 18"/>
          <p:cNvSpPr/>
          <p:nvPr/>
        </p:nvSpPr>
        <p:spPr>
          <a:xfrm>
            <a:off x="365760" y="4114800"/>
            <a:ext cx="8412480" cy="457200"/>
          </a:xfrm>
          <a:prstGeom prst="roundRect">
            <a:avLst>
              <a:gd name="adj" fmla="val 16000"/>
            </a:avLst>
          </a:prstGeom>
          <a:solidFill>
            <a:srgbClr val="E3F1F2"/>
          </a:solidFill>
          <a:ln w="12700">
            <a:solidFill>
              <a:srgbClr val="E3F1F2"/>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502920" y="4206240"/>
            <a:ext cx="274320" cy="274320"/>
          </a:xfrm>
          <a:prstGeom prst="rect">
            <a:avLst/>
          </a:prstGeom>
        </p:spPr>
      </p:pic>
      <p:sp>
        <p:nvSpPr>
          <p:cNvPr id="26" name="Text 19"/>
          <p:cNvSpPr txBox="1"/>
          <p:nvPr/>
        </p:nvSpPr>
        <p:spPr>
          <a:xfrm>
            <a:off x="896112" y="4114800"/>
            <a:ext cx="7772400" cy="457200"/>
          </a:xfrm>
          <a:prstGeom prst="rect">
            <a:avLst/>
          </a:prstGeom>
          <a:noFill/>
          <a:ln/>
        </p:spPr>
        <p:txBody>
          <a:bodyPr wrap="square" lIns="0" tIns="0" rIns="0" bIns="0"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A model in production is a running process, not a file.</a:t>
            </a:r>
            <a:endParaRPr lang="en-US" sz="1400" dirty="0"/>
          </a:p>
        </p:txBody>
      </p:sp>
      <p:pic>
        <p:nvPicPr>
          <p:cNvPr id="27"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Training a model is not the same as operationalising it</a:t>
            </a:r>
            <a:endParaRPr lang="en-US" sz="2400" dirty="0"/>
          </a:p>
        </p:txBody>
      </p:sp>
      <p:sp>
        <p:nvSpPr>
          <p:cNvPr id="7" name="Shape 4"/>
          <p:cNvSpPr/>
          <p:nvPr/>
        </p:nvSpPr>
        <p:spPr>
          <a:xfrm>
            <a:off x="365760" y="1234440"/>
            <a:ext cx="4114800" cy="2286000"/>
          </a:xfrm>
          <a:prstGeom prst="roundRect">
            <a:avLst>
              <a:gd name="adj" fmla="val 3200"/>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Training a model</a:t>
            </a:r>
            <a:endParaRPr lang="en-US" sz="1300" dirty="0"/>
          </a:p>
        </p:txBody>
      </p:sp>
      <p:sp>
        <p:nvSpPr>
          <p:cNvPr id="11" name="Text 7"/>
          <p:cNvSpPr txBox="1"/>
          <p:nvPr/>
        </p:nvSpPr>
        <p:spPr>
          <a:xfrm>
            <a:off x="502920" y="1783080"/>
            <a:ext cx="3840480" cy="16459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Ends with a file and a score on historical data</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One person, one laptop, one moment in time</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Success = the metric looks good</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Owner: the data scientist</a:t>
            </a:r>
            <a:endParaRPr lang="en-US" sz="1200" dirty="0"/>
          </a:p>
        </p:txBody>
      </p:sp>
      <p:sp>
        <p:nvSpPr>
          <p:cNvPr id="12" name="Shape 8"/>
          <p:cNvSpPr/>
          <p:nvPr/>
        </p:nvSpPr>
        <p:spPr>
          <a:xfrm>
            <a:off x="4663440" y="1234440"/>
            <a:ext cx="4114800" cy="2286000"/>
          </a:xfrm>
          <a:prstGeom prst="roundRect">
            <a:avLst>
              <a:gd name="adj" fmla="val 3200"/>
            </a:avLst>
          </a:prstGeom>
          <a:solidFill>
            <a:srgbClr val="F3F5F8"/>
          </a:solidFill>
          <a:ln w="12700">
            <a:solidFill>
              <a:srgbClr val="F3F5F8"/>
            </a:solidFill>
            <a:prstDash val="solid"/>
          </a:ln>
        </p:spPr>
        <p:txBody>
          <a:bodyPr/>
          <a:lstStyle/>
          <a:p>
            <a:endParaRPr lang="en-US"/>
          </a:p>
        </p:txBody>
      </p:sp>
      <p:sp>
        <p:nvSpPr>
          <p:cNvPr id="13" name="Shape 9"/>
          <p:cNvSpPr/>
          <p:nvPr/>
        </p:nvSpPr>
        <p:spPr>
          <a:xfrm>
            <a:off x="4800600" y="1353312"/>
            <a:ext cx="347472" cy="347472"/>
          </a:xfrm>
          <a:prstGeom prst="ellipse">
            <a:avLst/>
          </a:prstGeom>
          <a:solidFill>
            <a:srgbClr val="E07A2F"/>
          </a:solidFill>
          <a:ln w="12700">
            <a:solidFill>
              <a:srgbClr val="E07A2F"/>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Operationalising a model</a:t>
            </a:r>
            <a:endParaRPr lang="en-US" sz="1300" dirty="0"/>
          </a:p>
        </p:txBody>
      </p:sp>
      <p:sp>
        <p:nvSpPr>
          <p:cNvPr id="16" name="Text 11"/>
          <p:cNvSpPr txBox="1"/>
          <p:nvPr/>
        </p:nvSpPr>
        <p:spPr>
          <a:xfrm>
            <a:off x="4800600" y="1783080"/>
            <a:ext cx="3840480" cy="164592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The model answers real requests every day, with today's data</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Runs on infrastructure, integrated in an application</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Success = the business metric moves and stays moved</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Owner: a team, with someone accountable</a:t>
            </a:r>
            <a:endParaRPr lang="en-US" sz="1200" dirty="0"/>
          </a:p>
        </p:txBody>
      </p:sp>
      <p:sp>
        <p:nvSpPr>
          <p:cNvPr id="17" name="Shape 12"/>
          <p:cNvSpPr/>
          <p:nvPr/>
        </p:nvSpPr>
        <p:spPr>
          <a:xfrm>
            <a:off x="365760" y="3703320"/>
            <a:ext cx="8412480" cy="731520"/>
          </a:xfrm>
          <a:prstGeom prst="roundRect">
            <a:avLst>
              <a:gd name="adj" fmla="val 10000"/>
            </a:avLst>
          </a:prstGeom>
          <a:solidFill>
            <a:srgbClr val="E3F1F2"/>
          </a:solidFill>
          <a:ln w="12700">
            <a:solidFill>
              <a:srgbClr val="E3F1F2"/>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02920" y="3931920"/>
            <a:ext cx="274320" cy="274320"/>
          </a:xfrm>
          <a:prstGeom prst="rect">
            <a:avLst/>
          </a:prstGeom>
        </p:spPr>
      </p:pic>
      <p:sp>
        <p:nvSpPr>
          <p:cNvPr id="19" name="Text 13"/>
          <p:cNvSpPr txBox="1"/>
          <p:nvPr/>
        </p:nvSpPr>
        <p:spPr>
          <a:xfrm>
            <a:off x="896112" y="3703320"/>
            <a:ext cx="7772400" cy="731520"/>
          </a:xfrm>
          <a:prstGeom prst="rect">
            <a:avLst/>
          </a:prstGeom>
          <a:noFill/>
          <a:ln/>
        </p:spPr>
        <p:txBody>
          <a:bodyPr wrap="square" lIns="0" tIns="0" rIns="0" bIns="0" rtlCol="0" anchor="ctr"/>
          <a:lstStyle/>
          <a:p>
            <a:pPr marL="0" indent="0">
              <a:buNone/>
            </a:pPr>
            <a:r>
              <a:rPr lang="en-US" sz="1150" dirty="0">
                <a:solidFill>
                  <a:srgbClr val="1B2A4A"/>
                </a:solidFill>
                <a:latin typeface="Calibri" pitchFamily="34" charset="0"/>
                <a:ea typeface="Calibri" pitchFamily="34" charset="-122"/>
                <a:cs typeface="Calibri" pitchFamily="34" charset="-120"/>
              </a:rPr>
              <a:t>Consequence of confusing them: a demand-forecast model is declared "done" in January because accuracy was 92% on last year's data. Nobody owns it after that. By June it is silently wrong and the cost is measured in write-offs.</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One habit underneath all of this: every change is recorded and can be undone</a:t>
            </a:r>
            <a:endParaRPr lang="en-US" sz="2400" dirty="0"/>
          </a:p>
        </p:txBody>
      </p:sp>
      <p:sp>
        <p:nvSpPr>
          <p:cNvPr id="7" name="Shape 4"/>
          <p:cNvSpPr/>
          <p:nvPr/>
        </p:nvSpPr>
        <p:spPr>
          <a:xfrm>
            <a:off x="365760" y="128016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457200" y="1371600"/>
            <a:ext cx="237744" cy="237744"/>
          </a:xfrm>
          <a:prstGeom prst="rect">
            <a:avLst/>
          </a:prstGeom>
        </p:spPr>
      </p:pic>
      <p:sp>
        <p:nvSpPr>
          <p:cNvPr id="9" name="Text 5"/>
          <p:cNvSpPr txBox="1"/>
          <p:nvPr/>
        </p:nvSpPr>
        <p:spPr>
          <a:xfrm>
            <a:off x="914400" y="126187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 repository is a folder with a memory</a:t>
            </a:r>
            <a:endParaRPr lang="en-US" sz="1300" dirty="0"/>
          </a:p>
        </p:txBody>
      </p:sp>
      <p:sp>
        <p:nvSpPr>
          <p:cNvPr id="10" name="Text 6"/>
          <p:cNvSpPr txBox="1"/>
          <p:nvPr/>
        </p:nvSpPr>
        <p:spPr>
          <a:xfrm>
            <a:off x="914400" y="151790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Every change is a commit: who, when, and why.</a:t>
            </a:r>
            <a:endParaRPr lang="en-US" sz="1100" dirty="0"/>
          </a:p>
        </p:txBody>
      </p:sp>
      <p:sp>
        <p:nvSpPr>
          <p:cNvPr id="11" name="Shape 7"/>
          <p:cNvSpPr/>
          <p:nvPr/>
        </p:nvSpPr>
        <p:spPr>
          <a:xfrm>
            <a:off x="365760" y="210312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57200" y="2194560"/>
            <a:ext cx="237744" cy="237744"/>
          </a:xfrm>
          <a:prstGeom prst="rect">
            <a:avLst/>
          </a:prstGeom>
        </p:spPr>
      </p:pic>
      <p:sp>
        <p:nvSpPr>
          <p:cNvPr id="13" name="Text 8"/>
          <p:cNvSpPr txBox="1"/>
          <p:nvPr/>
        </p:nvSpPr>
        <p:spPr>
          <a:xfrm>
            <a:off x="914400" y="208483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You can compare any two moments</a:t>
            </a:r>
            <a:endParaRPr lang="en-US" sz="1300" dirty="0"/>
          </a:p>
        </p:txBody>
      </p:sp>
      <p:sp>
        <p:nvSpPr>
          <p:cNvPr id="14" name="Text 9"/>
          <p:cNvSpPr txBox="1"/>
          <p:nvPr/>
        </p:nvSpPr>
        <p:spPr>
          <a:xfrm>
            <a:off x="914400" y="234086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A "diff" shows exactly what changed between two versions.</a:t>
            </a:r>
            <a:endParaRPr lang="en-US" sz="1100" dirty="0"/>
          </a:p>
        </p:txBody>
      </p:sp>
      <p:sp>
        <p:nvSpPr>
          <p:cNvPr id="15" name="Shape 10"/>
          <p:cNvSpPr/>
          <p:nvPr/>
        </p:nvSpPr>
        <p:spPr>
          <a:xfrm>
            <a:off x="365760" y="2926080"/>
            <a:ext cx="420624" cy="420624"/>
          </a:xfrm>
          <a:prstGeom prst="ellipse">
            <a:avLst/>
          </a:prstGeom>
          <a:solidFill>
            <a:srgbClr val="0E7C86"/>
          </a:solidFill>
          <a:ln w="12700">
            <a:solidFill>
              <a:srgbClr val="0E7C86"/>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57200" y="3017520"/>
            <a:ext cx="237744" cy="237744"/>
          </a:xfrm>
          <a:prstGeom prst="rect">
            <a:avLst/>
          </a:prstGeom>
        </p:spPr>
      </p:pic>
      <p:sp>
        <p:nvSpPr>
          <p:cNvPr id="17" name="Text 11"/>
          <p:cNvSpPr txBox="1"/>
          <p:nvPr/>
        </p:nvSpPr>
        <p:spPr>
          <a:xfrm>
            <a:off x="914400" y="2907792"/>
            <a:ext cx="3474720" cy="25603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You can name a moment and go back to it</a:t>
            </a:r>
            <a:endParaRPr lang="en-US" sz="1300" dirty="0"/>
          </a:p>
        </p:txBody>
      </p:sp>
      <p:sp>
        <p:nvSpPr>
          <p:cNvPr id="18" name="Text 12"/>
          <p:cNvSpPr txBox="1"/>
          <p:nvPr/>
        </p:nvSpPr>
        <p:spPr>
          <a:xfrm>
            <a:off x="914400" y="3163824"/>
            <a:ext cx="3474720" cy="411480"/>
          </a:xfrm>
          <a:prstGeom prst="rect">
            <a:avLst/>
          </a:prstGeom>
          <a:noFill/>
          <a:ln/>
        </p:spPr>
        <p:txBody>
          <a:bodyPr wrap="square" lIns="0" tIns="0" rIns="0" bIns="0" rtlCol="0" anchor="t"/>
          <a:lstStyle/>
          <a:p>
            <a:pPr marL="0" indent="0">
              <a:buNone/>
            </a:pPr>
            <a:r>
              <a:rPr lang="en-US" sz="1100" dirty="0">
                <a:solidFill>
                  <a:srgbClr val="222222"/>
                </a:solidFill>
                <a:latin typeface="Calibri" pitchFamily="34" charset="0"/>
                <a:ea typeface="Calibri" pitchFamily="34" charset="-122"/>
                <a:cs typeface="Calibri" pitchFamily="34" charset="-120"/>
              </a:rPr>
              <a:t>A "tag" says: this is the version that went to production on 3 March.</a:t>
            </a:r>
            <a:endParaRPr lang="en-US" sz="1100" dirty="0"/>
          </a:p>
        </p:txBody>
      </p:sp>
      <p:sp>
        <p:nvSpPr>
          <p:cNvPr id="19" name="Shape 13"/>
          <p:cNvSpPr/>
          <p:nvPr/>
        </p:nvSpPr>
        <p:spPr>
          <a:xfrm>
            <a:off x="4754880" y="1234440"/>
            <a:ext cx="4023360" cy="3108960"/>
          </a:xfrm>
          <a:prstGeom prst="roundRect">
            <a:avLst>
              <a:gd name="adj" fmla="val 2353"/>
            </a:avLst>
          </a:prstGeom>
          <a:solidFill>
            <a:srgbClr val="1B2A4A"/>
          </a:solidFill>
          <a:ln w="12700">
            <a:solidFill>
              <a:srgbClr val="1B2A4A"/>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309360" y="1463040"/>
            <a:ext cx="914400" cy="914400"/>
          </a:xfrm>
          <a:prstGeom prst="rect">
            <a:avLst/>
          </a:prstGeom>
        </p:spPr>
      </p:pic>
      <p:sp>
        <p:nvSpPr>
          <p:cNvPr id="21" name="Text 14"/>
          <p:cNvSpPr txBox="1"/>
          <p:nvPr/>
        </p:nvSpPr>
        <p:spPr>
          <a:xfrm>
            <a:off x="4937760" y="2468880"/>
            <a:ext cx="365760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Live demo · 4 minutes</a:t>
            </a:r>
            <a:endParaRPr lang="en-US" sz="1600" dirty="0"/>
          </a:p>
        </p:txBody>
      </p:sp>
      <p:sp>
        <p:nvSpPr>
          <p:cNvPr id="22" name="Text 15"/>
          <p:cNvSpPr txBox="1"/>
          <p:nvPr/>
        </p:nvSpPr>
        <p:spPr>
          <a:xfrm>
            <a:off x="5029200" y="2880360"/>
            <a:ext cx="3474720" cy="1280160"/>
          </a:xfrm>
          <a:prstGeom prst="rect">
            <a:avLst/>
          </a:prstGeom>
          <a:noFill/>
          <a:ln/>
        </p:spPr>
        <p:txBody>
          <a:bodyPr wrap="square" lIns="0" tIns="0" rIns="0" bIns="0" rtlCol="0" anchor="t"/>
          <a:lstStyle/>
          <a:p>
            <a:pPr marL="0" indent="0" algn="ctr">
              <a:buNone/>
            </a:pPr>
            <a:r>
              <a:rPr lang="en-US" sz="1200" dirty="0">
                <a:solidFill>
                  <a:srgbClr val="CADCFC"/>
                </a:solidFill>
                <a:latin typeface="Calibri" pitchFamily="34" charset="0"/>
                <a:ea typeface="Calibri" pitchFamily="34" charset="-122"/>
                <a:cs typeface="Calibri" pitchFamily="34" charset="-120"/>
              </a:rPr>
              <a:t>A real repository of a small ML project: the commit history, one diff, the tags. No commands, just what "versioning" looks like.</a:t>
            </a:r>
            <a:endParaRPr lang="en-US" sz="1200" dirty="0"/>
          </a:p>
        </p:txBody>
      </p:sp>
      <p:pic>
        <p:nvPicPr>
          <p:cNvPr id="23"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What you just saw</a:t>
            </a:r>
            <a:endParaRPr lang="en-US" sz="2400" dirty="0"/>
          </a:p>
        </p:txBody>
      </p:sp>
      <p:sp>
        <p:nvSpPr>
          <p:cNvPr id="7" name="Shape 4"/>
          <p:cNvSpPr/>
          <p:nvPr/>
        </p:nvSpPr>
        <p:spPr>
          <a:xfrm>
            <a:off x="365760" y="1280160"/>
            <a:ext cx="2697480" cy="201168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9903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72184"/>
            <a:ext cx="201168" cy="201168"/>
          </a:xfrm>
          <a:prstGeom prst="rect">
            <a:avLst/>
          </a:prstGeom>
        </p:spPr>
      </p:pic>
      <p:sp>
        <p:nvSpPr>
          <p:cNvPr id="10" name="Text 6"/>
          <p:cNvSpPr txBox="1"/>
          <p:nvPr/>
        </p:nvSpPr>
        <p:spPr>
          <a:xfrm>
            <a:off x="932688" y="137160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history</a:t>
            </a:r>
            <a:endParaRPr lang="en-US" sz="1300" dirty="0"/>
          </a:p>
        </p:txBody>
      </p:sp>
      <p:sp>
        <p:nvSpPr>
          <p:cNvPr id="11" name="Text 7"/>
          <p:cNvSpPr txBox="1"/>
          <p:nvPr/>
        </p:nvSpPr>
        <p:spPr>
          <a:xfrm>
            <a:off x="502920" y="1828800"/>
            <a:ext cx="2423160" cy="137160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A list of commits: who changed what, when, and the message that says why.</a:t>
            </a:r>
            <a:endParaRPr lang="en-US" sz="1200" dirty="0"/>
          </a:p>
        </p:txBody>
      </p:sp>
      <p:sp>
        <p:nvSpPr>
          <p:cNvPr id="12" name="Shape 8"/>
          <p:cNvSpPr/>
          <p:nvPr/>
        </p:nvSpPr>
        <p:spPr>
          <a:xfrm>
            <a:off x="3218688" y="1280160"/>
            <a:ext cx="2697480" cy="201168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13" name="Shape 9"/>
          <p:cNvSpPr/>
          <p:nvPr/>
        </p:nvSpPr>
        <p:spPr>
          <a:xfrm>
            <a:off x="3355848" y="139903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429000" y="1472184"/>
            <a:ext cx="201168" cy="201168"/>
          </a:xfrm>
          <a:prstGeom prst="rect">
            <a:avLst/>
          </a:prstGeom>
        </p:spPr>
      </p:pic>
      <p:sp>
        <p:nvSpPr>
          <p:cNvPr id="15" name="Text 10"/>
          <p:cNvSpPr txBox="1"/>
          <p:nvPr/>
        </p:nvSpPr>
        <p:spPr>
          <a:xfrm>
            <a:off x="3785616" y="137160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diff</a:t>
            </a:r>
            <a:endParaRPr lang="en-US" sz="1300" dirty="0"/>
          </a:p>
        </p:txBody>
      </p:sp>
      <p:sp>
        <p:nvSpPr>
          <p:cNvPr id="16" name="Text 11"/>
          <p:cNvSpPr txBox="1"/>
          <p:nvPr/>
        </p:nvSpPr>
        <p:spPr>
          <a:xfrm>
            <a:off x="3355848" y="1828800"/>
            <a:ext cx="2423160" cy="137160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Exactly which lines changed between two moments. This is what a reviewer checks before a change is accepted.</a:t>
            </a:r>
            <a:endParaRPr lang="en-US" sz="1200" dirty="0"/>
          </a:p>
        </p:txBody>
      </p:sp>
      <p:sp>
        <p:nvSpPr>
          <p:cNvPr id="17" name="Shape 12"/>
          <p:cNvSpPr/>
          <p:nvPr/>
        </p:nvSpPr>
        <p:spPr>
          <a:xfrm>
            <a:off x="6080760" y="1280160"/>
            <a:ext cx="2697480" cy="201168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18" name="Shape 13"/>
          <p:cNvSpPr/>
          <p:nvPr/>
        </p:nvSpPr>
        <p:spPr>
          <a:xfrm>
            <a:off x="6217920" y="139903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291072" y="1472184"/>
            <a:ext cx="201168" cy="201168"/>
          </a:xfrm>
          <a:prstGeom prst="rect">
            <a:avLst/>
          </a:prstGeom>
        </p:spPr>
      </p:pic>
      <p:sp>
        <p:nvSpPr>
          <p:cNvPr id="20" name="Text 14"/>
          <p:cNvSpPr txBox="1"/>
          <p:nvPr/>
        </p:nvSpPr>
        <p:spPr>
          <a:xfrm>
            <a:off x="6647688" y="1371600"/>
            <a:ext cx="2011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The tag</a:t>
            </a:r>
            <a:endParaRPr lang="en-US" sz="1300" dirty="0"/>
          </a:p>
        </p:txBody>
      </p:sp>
      <p:sp>
        <p:nvSpPr>
          <p:cNvPr id="21" name="Text 15"/>
          <p:cNvSpPr txBox="1"/>
          <p:nvPr/>
        </p:nvSpPr>
        <p:spPr>
          <a:xfrm>
            <a:off x="6217920" y="1828800"/>
            <a:ext cx="2423160" cy="137160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A named version. "Which model was live in March?" has an answer.</a:t>
            </a:r>
            <a:endParaRPr lang="en-US" sz="1200" dirty="0"/>
          </a:p>
        </p:txBody>
      </p:sp>
      <p:sp>
        <p:nvSpPr>
          <p:cNvPr id="22" name="Shape 16"/>
          <p:cNvSpPr/>
          <p:nvPr/>
        </p:nvSpPr>
        <p:spPr>
          <a:xfrm>
            <a:off x="365760" y="3566160"/>
            <a:ext cx="8412480" cy="548640"/>
          </a:xfrm>
          <a:prstGeom prst="roundRect">
            <a:avLst>
              <a:gd name="adj" fmla="val 13333"/>
            </a:avLst>
          </a:prstGeom>
          <a:solidFill>
            <a:srgbClr val="E3F1F2"/>
          </a:solidFill>
          <a:ln w="12700">
            <a:solidFill>
              <a:srgbClr val="E3F1F2"/>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502920" y="3703320"/>
            <a:ext cx="274320" cy="274320"/>
          </a:xfrm>
          <a:prstGeom prst="rect">
            <a:avLst/>
          </a:prstGeom>
        </p:spPr>
      </p:pic>
      <p:sp>
        <p:nvSpPr>
          <p:cNvPr id="24" name="Text 17"/>
          <p:cNvSpPr txBox="1"/>
          <p:nvPr/>
        </p:nvSpPr>
        <p:spPr>
          <a:xfrm>
            <a:off x="896112" y="3566160"/>
            <a:ext cx="7772400" cy="54864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In Session 3 we extend the same idea to data and models: versioned datasets, an experiment log and a model registry.</a:t>
            </a:r>
            <a:endParaRPr lang="en-US" sz="1200" dirty="0"/>
          </a:p>
        </p:txBody>
      </p:sp>
      <p:pic>
        <p:nvPicPr>
          <p:cNvPr id="25" name="IE University logo" descr="IE University, School of Science &amp; Technology"/>
          <p:cNvPicPr>
            <a:picLocks noChangeAspect="1"/>
          </p:cNvPicPr>
          <p:nvPr/>
        </p:nvPicPr>
        <p:blipFill>
          <a:blip r:embed="rId7"/>
          <a:stretch>
            <a:fillRect/>
          </a:stretch>
        </p:blipFill>
        <p:spPr>
          <a:xfrm>
            <a:off x="8013607" y="92634"/>
            <a:ext cx="764633" cy="2627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18</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Who does what: the MLOps personas</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Roles, duties and the hand-overs between them</a:t>
            </a:r>
            <a:endParaRPr lang="en-US" sz="1600" dirty="0"/>
          </a:p>
        </p:txBody>
      </p:sp>
      <p:sp>
        <p:nvSpPr>
          <p:cNvPr id="7" name="Shape 5"/>
          <p:cNvSpPr/>
          <p:nvPr/>
        </p:nvSpPr>
        <p:spPr>
          <a:xfrm>
            <a:off x="548640"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marL="0" indent="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19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Six personas, six different questions about the same model</a:t>
            </a:r>
            <a:endParaRPr lang="en-US" sz="2400" dirty="0"/>
          </a:p>
        </p:txBody>
      </p:sp>
      <p:sp>
        <p:nvSpPr>
          <p:cNvPr id="7" name="Shape 4"/>
          <p:cNvSpPr/>
          <p:nvPr/>
        </p:nvSpPr>
        <p:spPr>
          <a:xfrm>
            <a:off x="365760" y="1234440"/>
            <a:ext cx="2697480" cy="1463040"/>
          </a:xfrm>
          <a:prstGeom prst="roundRect">
            <a:avLst>
              <a:gd name="adj" fmla="val 5000"/>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2057400" cy="402336"/>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Business / Product owner</a:t>
            </a:r>
            <a:endParaRPr lang="en-US" sz="1250" dirty="0"/>
          </a:p>
        </p:txBody>
      </p:sp>
      <p:sp>
        <p:nvSpPr>
          <p:cNvPr id="11" name="Text 7"/>
          <p:cNvSpPr txBox="1"/>
          <p:nvPr/>
        </p:nvSpPr>
        <p:spPr>
          <a:xfrm>
            <a:off x="502920" y="1764792"/>
            <a:ext cx="2423160" cy="2743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"Is it worth it, and is it useful?"</a:t>
            </a:r>
            <a:endParaRPr lang="en-US" sz="1100" dirty="0"/>
          </a:p>
        </p:txBody>
      </p:sp>
      <p:sp>
        <p:nvSpPr>
          <p:cNvPr id="12" name="Text 8"/>
          <p:cNvSpPr txBox="1"/>
          <p:nvPr/>
        </p:nvSpPr>
        <p:spPr>
          <a:xfrm>
            <a:off x="502920" y="2039112"/>
            <a:ext cx="2423160" cy="621792"/>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Defines the goal, the product metric and the guardrails; decides what "good enough" means.</a:t>
            </a:r>
            <a:endParaRPr lang="en-US" sz="1050" dirty="0"/>
          </a:p>
        </p:txBody>
      </p:sp>
      <p:sp>
        <p:nvSpPr>
          <p:cNvPr id="13" name="Shape 9"/>
          <p:cNvSpPr/>
          <p:nvPr/>
        </p:nvSpPr>
        <p:spPr>
          <a:xfrm>
            <a:off x="3218688" y="1234440"/>
            <a:ext cx="2697480" cy="1463040"/>
          </a:xfrm>
          <a:prstGeom prst="roundRect">
            <a:avLst>
              <a:gd name="adj" fmla="val 5000"/>
            </a:avLst>
          </a:prstGeom>
          <a:solidFill>
            <a:srgbClr val="F3F5F8"/>
          </a:solidFill>
          <a:ln w="12700">
            <a:solidFill>
              <a:srgbClr val="F3F5F8"/>
            </a:solidFill>
            <a:prstDash val="solid"/>
          </a:ln>
        </p:spPr>
        <p:txBody>
          <a:bodyPr/>
          <a:lstStyle/>
          <a:p>
            <a:endParaRPr lang="en-US"/>
          </a:p>
        </p:txBody>
      </p:sp>
      <p:sp>
        <p:nvSpPr>
          <p:cNvPr id="14" name="Shape 10"/>
          <p:cNvSpPr/>
          <p:nvPr/>
        </p:nvSpPr>
        <p:spPr>
          <a:xfrm>
            <a:off x="3355848"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3429000" y="1426464"/>
            <a:ext cx="201168" cy="201168"/>
          </a:xfrm>
          <a:prstGeom prst="rect">
            <a:avLst/>
          </a:prstGeom>
        </p:spPr>
      </p:pic>
      <p:sp>
        <p:nvSpPr>
          <p:cNvPr id="16" name="Text 11"/>
          <p:cNvSpPr txBox="1"/>
          <p:nvPr/>
        </p:nvSpPr>
        <p:spPr>
          <a:xfrm>
            <a:off x="3785616" y="1325880"/>
            <a:ext cx="2057400" cy="402336"/>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Data scientist</a:t>
            </a:r>
            <a:endParaRPr lang="en-US" sz="1250" dirty="0"/>
          </a:p>
        </p:txBody>
      </p:sp>
      <p:sp>
        <p:nvSpPr>
          <p:cNvPr id="17" name="Text 12"/>
          <p:cNvSpPr txBox="1"/>
          <p:nvPr/>
        </p:nvSpPr>
        <p:spPr>
          <a:xfrm>
            <a:off x="3355848" y="1764792"/>
            <a:ext cx="2423160" cy="2743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"Is it accurate?"</a:t>
            </a:r>
            <a:endParaRPr lang="en-US" sz="1100" dirty="0"/>
          </a:p>
        </p:txBody>
      </p:sp>
      <p:sp>
        <p:nvSpPr>
          <p:cNvPr id="18" name="Text 13"/>
          <p:cNvSpPr txBox="1"/>
          <p:nvPr/>
        </p:nvSpPr>
        <p:spPr>
          <a:xfrm>
            <a:off x="3355848" y="2039112"/>
            <a:ext cx="2423160" cy="621792"/>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Explores data, builds and evaluates the model; hands it over with documentation.</a:t>
            </a:r>
            <a:endParaRPr lang="en-US" sz="1050" dirty="0"/>
          </a:p>
        </p:txBody>
      </p:sp>
      <p:sp>
        <p:nvSpPr>
          <p:cNvPr id="19" name="Shape 14"/>
          <p:cNvSpPr/>
          <p:nvPr/>
        </p:nvSpPr>
        <p:spPr>
          <a:xfrm>
            <a:off x="6071616" y="1234440"/>
            <a:ext cx="2697480" cy="1463040"/>
          </a:xfrm>
          <a:prstGeom prst="roundRect">
            <a:avLst>
              <a:gd name="adj" fmla="val 5000"/>
            </a:avLst>
          </a:prstGeom>
          <a:solidFill>
            <a:srgbClr val="F3F5F8"/>
          </a:solidFill>
          <a:ln w="12700">
            <a:solidFill>
              <a:srgbClr val="F3F5F8"/>
            </a:solidFill>
            <a:prstDash val="solid"/>
          </a:ln>
        </p:spPr>
        <p:txBody>
          <a:bodyPr/>
          <a:lstStyle/>
          <a:p>
            <a:endParaRPr lang="en-US"/>
          </a:p>
        </p:txBody>
      </p:sp>
      <p:sp>
        <p:nvSpPr>
          <p:cNvPr id="20" name="Shape 15"/>
          <p:cNvSpPr/>
          <p:nvPr/>
        </p:nvSpPr>
        <p:spPr>
          <a:xfrm>
            <a:off x="6208776"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6281928" y="1426464"/>
            <a:ext cx="201168" cy="201168"/>
          </a:xfrm>
          <a:prstGeom prst="rect">
            <a:avLst/>
          </a:prstGeom>
        </p:spPr>
      </p:pic>
      <p:sp>
        <p:nvSpPr>
          <p:cNvPr id="22" name="Text 16"/>
          <p:cNvSpPr txBox="1"/>
          <p:nvPr/>
        </p:nvSpPr>
        <p:spPr>
          <a:xfrm>
            <a:off x="6638544" y="1325880"/>
            <a:ext cx="2057400" cy="402336"/>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Data engineer</a:t>
            </a:r>
            <a:endParaRPr lang="en-US" sz="1250" dirty="0"/>
          </a:p>
        </p:txBody>
      </p:sp>
      <p:sp>
        <p:nvSpPr>
          <p:cNvPr id="23" name="Text 17"/>
          <p:cNvSpPr txBox="1"/>
          <p:nvPr/>
        </p:nvSpPr>
        <p:spPr>
          <a:xfrm>
            <a:off x="6208776" y="1764792"/>
            <a:ext cx="2423160" cy="2743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"Is the data available, correct, on time?"</a:t>
            </a:r>
            <a:endParaRPr lang="en-US" sz="1100" dirty="0"/>
          </a:p>
        </p:txBody>
      </p:sp>
      <p:sp>
        <p:nvSpPr>
          <p:cNvPr id="24" name="Text 18"/>
          <p:cNvSpPr txBox="1"/>
          <p:nvPr/>
        </p:nvSpPr>
        <p:spPr>
          <a:xfrm>
            <a:off x="6208776" y="2039112"/>
            <a:ext cx="2423160" cy="621792"/>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Builds the data pipelines and curated datasets the model depends on.</a:t>
            </a:r>
            <a:endParaRPr lang="en-US" sz="1050" dirty="0"/>
          </a:p>
        </p:txBody>
      </p:sp>
      <p:sp>
        <p:nvSpPr>
          <p:cNvPr id="25" name="Shape 19"/>
          <p:cNvSpPr/>
          <p:nvPr/>
        </p:nvSpPr>
        <p:spPr>
          <a:xfrm>
            <a:off x="365760" y="2834640"/>
            <a:ext cx="2697480" cy="1463040"/>
          </a:xfrm>
          <a:prstGeom prst="roundRect">
            <a:avLst>
              <a:gd name="adj" fmla="val 5000"/>
            </a:avLst>
          </a:prstGeom>
          <a:solidFill>
            <a:srgbClr val="F3F5F8"/>
          </a:solidFill>
          <a:ln w="12700">
            <a:solidFill>
              <a:srgbClr val="F3F5F8"/>
            </a:solidFill>
            <a:prstDash val="solid"/>
          </a:ln>
        </p:spPr>
        <p:txBody>
          <a:bodyPr/>
          <a:lstStyle/>
          <a:p>
            <a:endParaRPr lang="en-US"/>
          </a:p>
        </p:txBody>
      </p:sp>
      <p:sp>
        <p:nvSpPr>
          <p:cNvPr id="26" name="Shape 20"/>
          <p:cNvSpPr/>
          <p:nvPr/>
        </p:nvSpPr>
        <p:spPr>
          <a:xfrm>
            <a:off x="502920" y="29535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576072" y="3026664"/>
            <a:ext cx="201168" cy="201168"/>
          </a:xfrm>
          <a:prstGeom prst="rect">
            <a:avLst/>
          </a:prstGeom>
        </p:spPr>
      </p:pic>
      <p:sp>
        <p:nvSpPr>
          <p:cNvPr id="28" name="Text 21"/>
          <p:cNvSpPr txBox="1"/>
          <p:nvPr/>
        </p:nvSpPr>
        <p:spPr>
          <a:xfrm>
            <a:off x="932688" y="2926080"/>
            <a:ext cx="2057400" cy="402336"/>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ML engineer (MLOps)</a:t>
            </a:r>
            <a:endParaRPr lang="en-US" sz="1250" dirty="0"/>
          </a:p>
        </p:txBody>
      </p:sp>
      <p:sp>
        <p:nvSpPr>
          <p:cNvPr id="29" name="Text 22"/>
          <p:cNvSpPr txBox="1"/>
          <p:nvPr/>
        </p:nvSpPr>
        <p:spPr>
          <a:xfrm>
            <a:off x="502920" y="3364992"/>
            <a:ext cx="2423160" cy="2743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"Does it run reliably in production?"</a:t>
            </a:r>
            <a:endParaRPr lang="en-US" sz="1100" dirty="0"/>
          </a:p>
        </p:txBody>
      </p:sp>
      <p:sp>
        <p:nvSpPr>
          <p:cNvPr id="30" name="Text 23"/>
          <p:cNvSpPr txBox="1"/>
          <p:nvPr/>
        </p:nvSpPr>
        <p:spPr>
          <a:xfrm>
            <a:off x="502920" y="3639312"/>
            <a:ext cx="2423160" cy="621792"/>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Packages, deploys, automates retraining and monitoring; the bridge between DS and IT.</a:t>
            </a:r>
            <a:endParaRPr lang="en-US" sz="1050" dirty="0"/>
          </a:p>
        </p:txBody>
      </p:sp>
      <p:sp>
        <p:nvSpPr>
          <p:cNvPr id="31" name="Shape 24"/>
          <p:cNvSpPr/>
          <p:nvPr/>
        </p:nvSpPr>
        <p:spPr>
          <a:xfrm>
            <a:off x="3218688" y="2834640"/>
            <a:ext cx="2697480" cy="1463040"/>
          </a:xfrm>
          <a:prstGeom prst="roundRect">
            <a:avLst>
              <a:gd name="adj" fmla="val 5000"/>
            </a:avLst>
          </a:prstGeom>
          <a:solidFill>
            <a:srgbClr val="F3F5F8"/>
          </a:solidFill>
          <a:ln w="12700">
            <a:solidFill>
              <a:srgbClr val="F3F5F8"/>
            </a:solidFill>
            <a:prstDash val="solid"/>
          </a:ln>
        </p:spPr>
        <p:txBody>
          <a:bodyPr/>
          <a:lstStyle/>
          <a:p>
            <a:endParaRPr lang="en-US"/>
          </a:p>
        </p:txBody>
      </p:sp>
      <p:sp>
        <p:nvSpPr>
          <p:cNvPr id="32" name="Shape 25"/>
          <p:cNvSpPr/>
          <p:nvPr/>
        </p:nvSpPr>
        <p:spPr>
          <a:xfrm>
            <a:off x="3355848" y="29535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33" name="Image 4" descr="preencoded.png"/>
          <p:cNvPicPr>
            <a:picLocks noChangeAspect="1"/>
          </p:cNvPicPr>
          <p:nvPr/>
        </p:nvPicPr>
        <p:blipFill>
          <a:blip r:embed="rId7"/>
          <a:stretch>
            <a:fillRect/>
          </a:stretch>
        </p:blipFill>
        <p:spPr>
          <a:xfrm>
            <a:off x="3429000" y="3026664"/>
            <a:ext cx="201168" cy="201168"/>
          </a:xfrm>
          <a:prstGeom prst="rect">
            <a:avLst/>
          </a:prstGeom>
        </p:spPr>
      </p:pic>
      <p:sp>
        <p:nvSpPr>
          <p:cNvPr id="34" name="Text 26"/>
          <p:cNvSpPr txBox="1"/>
          <p:nvPr/>
        </p:nvSpPr>
        <p:spPr>
          <a:xfrm>
            <a:off x="3785616" y="2926080"/>
            <a:ext cx="2057400" cy="402336"/>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IT / DevOps</a:t>
            </a:r>
            <a:endParaRPr lang="en-US" sz="1250" dirty="0"/>
          </a:p>
        </p:txBody>
      </p:sp>
      <p:sp>
        <p:nvSpPr>
          <p:cNvPr id="35" name="Text 27"/>
          <p:cNvSpPr txBox="1"/>
          <p:nvPr/>
        </p:nvSpPr>
        <p:spPr>
          <a:xfrm>
            <a:off x="3355848" y="3364992"/>
            <a:ext cx="2423160" cy="2743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"Does the infrastructure hold and stay secure?"</a:t>
            </a:r>
            <a:endParaRPr lang="en-US" sz="1100" dirty="0"/>
          </a:p>
        </p:txBody>
      </p:sp>
      <p:sp>
        <p:nvSpPr>
          <p:cNvPr id="36" name="Text 28"/>
          <p:cNvSpPr txBox="1"/>
          <p:nvPr/>
        </p:nvSpPr>
        <p:spPr>
          <a:xfrm>
            <a:off x="3355848" y="3639312"/>
            <a:ext cx="2423160" cy="621792"/>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Runs the platform: capacity, scaling, access, uptime.</a:t>
            </a:r>
            <a:endParaRPr lang="en-US" sz="1050" dirty="0"/>
          </a:p>
        </p:txBody>
      </p:sp>
      <p:sp>
        <p:nvSpPr>
          <p:cNvPr id="37" name="Shape 29"/>
          <p:cNvSpPr/>
          <p:nvPr/>
        </p:nvSpPr>
        <p:spPr>
          <a:xfrm>
            <a:off x="6071616" y="2834640"/>
            <a:ext cx="2697480" cy="1463040"/>
          </a:xfrm>
          <a:prstGeom prst="roundRect">
            <a:avLst>
              <a:gd name="adj" fmla="val 5000"/>
            </a:avLst>
          </a:prstGeom>
          <a:solidFill>
            <a:srgbClr val="F3F5F8"/>
          </a:solidFill>
          <a:ln w="12700">
            <a:solidFill>
              <a:srgbClr val="F3F5F8"/>
            </a:solidFill>
            <a:prstDash val="solid"/>
          </a:ln>
        </p:spPr>
        <p:txBody>
          <a:bodyPr/>
          <a:lstStyle/>
          <a:p>
            <a:endParaRPr lang="en-US"/>
          </a:p>
        </p:txBody>
      </p:sp>
      <p:sp>
        <p:nvSpPr>
          <p:cNvPr id="38" name="Shape 30"/>
          <p:cNvSpPr/>
          <p:nvPr/>
        </p:nvSpPr>
        <p:spPr>
          <a:xfrm>
            <a:off x="6208776" y="29535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39" name="Image 5" descr="preencoded.png"/>
          <p:cNvPicPr>
            <a:picLocks noChangeAspect="1"/>
          </p:cNvPicPr>
          <p:nvPr/>
        </p:nvPicPr>
        <p:blipFill>
          <a:blip r:embed="rId8"/>
          <a:stretch>
            <a:fillRect/>
          </a:stretch>
        </p:blipFill>
        <p:spPr>
          <a:xfrm>
            <a:off x="6281928" y="3026664"/>
            <a:ext cx="201168" cy="201168"/>
          </a:xfrm>
          <a:prstGeom prst="rect">
            <a:avLst/>
          </a:prstGeom>
        </p:spPr>
      </p:pic>
      <p:sp>
        <p:nvSpPr>
          <p:cNvPr id="40" name="Text 31"/>
          <p:cNvSpPr txBox="1"/>
          <p:nvPr/>
        </p:nvSpPr>
        <p:spPr>
          <a:xfrm>
            <a:off x="6638544" y="2926080"/>
            <a:ext cx="2057400" cy="402336"/>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Risk &amp; Compliance</a:t>
            </a:r>
            <a:endParaRPr lang="en-US" sz="1250" dirty="0"/>
          </a:p>
        </p:txBody>
      </p:sp>
      <p:sp>
        <p:nvSpPr>
          <p:cNvPr id="41" name="Text 32"/>
          <p:cNvSpPr txBox="1"/>
          <p:nvPr/>
        </p:nvSpPr>
        <p:spPr>
          <a:xfrm>
            <a:off x="6208776" y="3364992"/>
            <a:ext cx="2423160" cy="274320"/>
          </a:xfrm>
          <a:prstGeom prst="rect">
            <a:avLst/>
          </a:prstGeom>
          <a:noFill/>
          <a:ln/>
        </p:spPr>
        <p:txBody>
          <a:bodyPr wrap="square" lIns="0" tIns="0" rIns="0" bIns="0" rtlCol="0" anchor="ctr"/>
          <a:lstStyle/>
          <a:p>
            <a:pPr marL="0" indent="0">
              <a:buNone/>
            </a:pPr>
            <a:r>
              <a:rPr lang="en-US" sz="1100" i="1" dirty="0">
                <a:solidFill>
                  <a:srgbClr val="0E7C86"/>
                </a:solidFill>
                <a:latin typeface="Calibri" pitchFamily="34" charset="0"/>
                <a:ea typeface="Calibri" pitchFamily="34" charset="-122"/>
                <a:cs typeface="Calibri" pitchFamily="34" charset="-120"/>
              </a:rPr>
              <a:t>"Can we prove it is fair, explainable and allowed?"</a:t>
            </a:r>
            <a:endParaRPr lang="en-US" sz="1100" dirty="0"/>
          </a:p>
        </p:txBody>
      </p:sp>
      <p:sp>
        <p:nvSpPr>
          <p:cNvPr id="42" name="Text 33"/>
          <p:cNvSpPr txBox="1"/>
          <p:nvPr/>
        </p:nvSpPr>
        <p:spPr>
          <a:xfrm>
            <a:off x="6208776" y="3639312"/>
            <a:ext cx="2423160" cy="621792"/>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Assesses model risk, audits, documentation, regulatory obligations.</a:t>
            </a:r>
            <a:endParaRPr lang="en-US" sz="1050" dirty="0"/>
          </a:p>
        </p:txBody>
      </p:sp>
      <p:sp>
        <p:nvSpPr>
          <p:cNvPr id="43" name="Text 34"/>
          <p:cNvSpPr txBox="1"/>
          <p:nvPr/>
        </p:nvSpPr>
        <p:spPr>
          <a:xfrm>
            <a:off x="365760" y="4480560"/>
            <a:ext cx="8412480" cy="274320"/>
          </a:xfrm>
          <a:prstGeom prst="rect">
            <a:avLst/>
          </a:prstGeom>
          <a:noFill/>
          <a:ln/>
        </p:spPr>
        <p:txBody>
          <a:bodyPr wrap="square" lIns="0" tIns="0" rIns="0" bIns="0" rtlCol="0" anchor="t"/>
          <a:lstStyle/>
          <a:p>
            <a:pPr marL="0" indent="0" algn="l">
              <a:buNone/>
            </a:pPr>
            <a:r>
              <a:rPr lang="en-US" sz="900" i="1" dirty="0">
                <a:solidFill>
                  <a:srgbClr val="6B7280"/>
                </a:solidFill>
                <a:latin typeface="Calibri" pitchFamily="34" charset="0"/>
                <a:ea typeface="Calibri" pitchFamily="34" charset="-122"/>
                <a:cs typeface="Calibri" pitchFamily="34" charset="-120"/>
              </a:rPr>
              <a:t>Based on Treveil et al., Introducing MLOps (O'Reilly, 2020), with Product Owner and Risk &amp; Compliance made explicit</a:t>
            </a:r>
            <a:endParaRPr lang="en-US" sz="900" dirty="0"/>
          </a:p>
        </p:txBody>
      </p:sp>
      <p:pic>
        <p:nvPicPr>
          <p:cNvPr id="44" name="IE University logo" descr="IE University, School of Science &amp; Technology"/>
          <p:cNvPicPr>
            <a:picLocks noChangeAspect="1"/>
          </p:cNvPicPr>
          <p:nvPr/>
        </p:nvPicPr>
        <p:blipFill>
          <a:blip r:embed="rId9"/>
          <a:stretch>
            <a:fillRect/>
          </a:stretch>
        </p:blipFill>
        <p:spPr>
          <a:xfrm>
            <a:off x="8013607" y="92634"/>
            <a:ext cx="764633" cy="26278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Who talks to whom: the nine hand-overs of a model</a:t>
            </a:r>
            <a:endParaRPr lang="en-US" sz="2400" dirty="0"/>
          </a:p>
        </p:txBody>
      </p:sp>
      <p:sp>
        <p:nvSpPr>
          <p:cNvPr id="7" name="Shape 4"/>
          <p:cNvSpPr/>
          <p:nvPr/>
        </p:nvSpPr>
        <p:spPr>
          <a:xfrm>
            <a:off x="365760" y="1280160"/>
            <a:ext cx="1572768" cy="1234440"/>
          </a:xfrm>
          <a:prstGeom prst="roundRect">
            <a:avLst>
              <a:gd name="adj" fmla="val 5926"/>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475488" y="1389888"/>
            <a:ext cx="365760" cy="365760"/>
          </a:xfrm>
          <a:prstGeom prst="ellipse">
            <a:avLst/>
          </a:prstGeom>
          <a:solidFill>
            <a:srgbClr val="1B2A4A"/>
          </a:solidFill>
          <a:ln w="12700">
            <a:solidFill>
              <a:srgbClr val="1B2A4A"/>
            </a:solidFill>
            <a:prstDash val="solid"/>
          </a:ln>
        </p:spPr>
        <p:txBody>
          <a:bodyPr/>
          <a:lstStyle/>
          <a:p>
            <a:endParaRPr lang="en-US"/>
          </a:p>
        </p:txBody>
      </p:sp>
      <p:sp>
        <p:nvSpPr>
          <p:cNvPr id="9" name="Text 6"/>
          <p:cNvSpPr txBox="1"/>
          <p:nvPr/>
        </p:nvSpPr>
        <p:spPr>
          <a:xfrm>
            <a:off x="475488" y="13898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896112" y="1371600"/>
            <a:ext cx="100584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Requirements</a:t>
            </a:r>
            <a:endParaRPr lang="en-US" sz="1150" dirty="0"/>
          </a:p>
        </p:txBody>
      </p:sp>
      <p:sp>
        <p:nvSpPr>
          <p:cNvPr id="11" name="Text 8"/>
          <p:cNvSpPr txBox="1"/>
          <p:nvPr/>
        </p:nvSpPr>
        <p:spPr>
          <a:xfrm>
            <a:off x="475488" y="1847088"/>
            <a:ext cx="1371600" cy="59436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Business &amp; SMEs</a:t>
            </a:r>
            <a:endParaRPr lang="en-US" sz="1050" dirty="0"/>
          </a:p>
        </p:txBody>
      </p:sp>
      <p:sp>
        <p:nvSpPr>
          <p:cNvPr id="12" name="Shape 9"/>
          <p:cNvSpPr/>
          <p:nvPr/>
        </p:nvSpPr>
        <p:spPr>
          <a:xfrm>
            <a:off x="2066544" y="1280160"/>
            <a:ext cx="1572768" cy="1234440"/>
          </a:xfrm>
          <a:prstGeom prst="roundRect">
            <a:avLst>
              <a:gd name="adj" fmla="val 5926"/>
            </a:avLst>
          </a:prstGeom>
          <a:solidFill>
            <a:srgbClr val="F3F5F8"/>
          </a:solidFill>
          <a:ln w="12700">
            <a:solidFill>
              <a:srgbClr val="F3F5F8"/>
            </a:solidFill>
            <a:prstDash val="solid"/>
          </a:ln>
        </p:spPr>
        <p:txBody>
          <a:bodyPr/>
          <a:lstStyle/>
          <a:p>
            <a:endParaRPr lang="en-US"/>
          </a:p>
        </p:txBody>
      </p:sp>
      <p:sp>
        <p:nvSpPr>
          <p:cNvPr id="13" name="Shape 10"/>
          <p:cNvSpPr/>
          <p:nvPr/>
        </p:nvSpPr>
        <p:spPr>
          <a:xfrm>
            <a:off x="2176272" y="1389888"/>
            <a:ext cx="365760" cy="365760"/>
          </a:xfrm>
          <a:prstGeom prst="ellipse">
            <a:avLst/>
          </a:prstGeom>
          <a:solidFill>
            <a:srgbClr val="1B2A4A"/>
          </a:solidFill>
          <a:ln w="12700">
            <a:solidFill>
              <a:srgbClr val="1B2A4A"/>
            </a:solidFill>
            <a:prstDash val="solid"/>
          </a:ln>
        </p:spPr>
        <p:txBody>
          <a:bodyPr/>
          <a:lstStyle/>
          <a:p>
            <a:endParaRPr lang="en-US"/>
          </a:p>
        </p:txBody>
      </p:sp>
      <p:sp>
        <p:nvSpPr>
          <p:cNvPr id="14" name="Text 11"/>
          <p:cNvSpPr txBox="1"/>
          <p:nvPr/>
        </p:nvSpPr>
        <p:spPr>
          <a:xfrm>
            <a:off x="2176272" y="13898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2596896" y="1371600"/>
            <a:ext cx="100584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Data</a:t>
            </a:r>
            <a:endParaRPr lang="en-US" sz="1150" dirty="0"/>
          </a:p>
        </p:txBody>
      </p:sp>
      <p:sp>
        <p:nvSpPr>
          <p:cNvPr id="16" name="Text 13"/>
          <p:cNvSpPr txBox="1"/>
          <p:nvPr/>
        </p:nvSpPr>
        <p:spPr>
          <a:xfrm>
            <a:off x="2176272" y="1847088"/>
            <a:ext cx="1371600" cy="59436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Data engineer</a:t>
            </a:r>
            <a:endParaRPr lang="en-US" sz="1050" dirty="0"/>
          </a:p>
        </p:txBody>
      </p:sp>
      <p:sp>
        <p:nvSpPr>
          <p:cNvPr id="17" name="Shape 14"/>
          <p:cNvSpPr/>
          <p:nvPr/>
        </p:nvSpPr>
        <p:spPr>
          <a:xfrm>
            <a:off x="3767328" y="1280160"/>
            <a:ext cx="1572768" cy="1234440"/>
          </a:xfrm>
          <a:prstGeom prst="roundRect">
            <a:avLst>
              <a:gd name="adj" fmla="val 5926"/>
            </a:avLst>
          </a:prstGeom>
          <a:solidFill>
            <a:srgbClr val="F3F5F8"/>
          </a:solidFill>
          <a:ln w="12700">
            <a:solidFill>
              <a:srgbClr val="F3F5F8"/>
            </a:solidFill>
            <a:prstDash val="solid"/>
          </a:ln>
        </p:spPr>
        <p:txBody>
          <a:bodyPr/>
          <a:lstStyle/>
          <a:p>
            <a:endParaRPr lang="en-US"/>
          </a:p>
        </p:txBody>
      </p:sp>
      <p:sp>
        <p:nvSpPr>
          <p:cNvPr id="18" name="Shape 15"/>
          <p:cNvSpPr/>
          <p:nvPr/>
        </p:nvSpPr>
        <p:spPr>
          <a:xfrm>
            <a:off x="3877056" y="1389888"/>
            <a:ext cx="365760" cy="365760"/>
          </a:xfrm>
          <a:prstGeom prst="ellipse">
            <a:avLst/>
          </a:prstGeom>
          <a:solidFill>
            <a:srgbClr val="1B2A4A"/>
          </a:solidFill>
          <a:ln w="12700">
            <a:solidFill>
              <a:srgbClr val="1B2A4A"/>
            </a:solidFill>
            <a:prstDash val="solid"/>
          </a:ln>
        </p:spPr>
        <p:txBody>
          <a:bodyPr/>
          <a:lstStyle/>
          <a:p>
            <a:endParaRPr lang="en-US"/>
          </a:p>
        </p:txBody>
      </p:sp>
      <p:sp>
        <p:nvSpPr>
          <p:cNvPr id="19" name="Text 16"/>
          <p:cNvSpPr txBox="1"/>
          <p:nvPr/>
        </p:nvSpPr>
        <p:spPr>
          <a:xfrm>
            <a:off x="3877056" y="13898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4297680" y="1371600"/>
            <a:ext cx="100584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Model</a:t>
            </a:r>
            <a:endParaRPr lang="en-US" sz="1150" dirty="0"/>
          </a:p>
        </p:txBody>
      </p:sp>
      <p:sp>
        <p:nvSpPr>
          <p:cNvPr id="21" name="Text 18"/>
          <p:cNvSpPr txBox="1"/>
          <p:nvPr/>
        </p:nvSpPr>
        <p:spPr>
          <a:xfrm>
            <a:off x="3877056" y="1847088"/>
            <a:ext cx="1371600" cy="59436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Data scientist</a:t>
            </a:r>
            <a:endParaRPr lang="en-US" sz="1050" dirty="0"/>
          </a:p>
        </p:txBody>
      </p:sp>
      <p:sp>
        <p:nvSpPr>
          <p:cNvPr id="22" name="Shape 19"/>
          <p:cNvSpPr/>
          <p:nvPr/>
        </p:nvSpPr>
        <p:spPr>
          <a:xfrm>
            <a:off x="5468112" y="1280160"/>
            <a:ext cx="1572768" cy="1234440"/>
          </a:xfrm>
          <a:prstGeom prst="roundRect">
            <a:avLst>
              <a:gd name="adj" fmla="val 5926"/>
            </a:avLst>
          </a:prstGeom>
          <a:solidFill>
            <a:srgbClr val="F3F5F8"/>
          </a:solidFill>
          <a:ln w="12700">
            <a:solidFill>
              <a:srgbClr val="F3F5F8"/>
            </a:solidFill>
            <a:prstDash val="solid"/>
          </a:ln>
        </p:spPr>
        <p:txBody>
          <a:bodyPr/>
          <a:lstStyle/>
          <a:p>
            <a:endParaRPr lang="en-US"/>
          </a:p>
        </p:txBody>
      </p:sp>
      <p:sp>
        <p:nvSpPr>
          <p:cNvPr id="23" name="Shape 20"/>
          <p:cNvSpPr/>
          <p:nvPr/>
        </p:nvSpPr>
        <p:spPr>
          <a:xfrm>
            <a:off x="5577840" y="1389888"/>
            <a:ext cx="365760" cy="365760"/>
          </a:xfrm>
          <a:prstGeom prst="ellipse">
            <a:avLst/>
          </a:prstGeom>
          <a:solidFill>
            <a:srgbClr val="1B2A4A"/>
          </a:solidFill>
          <a:ln w="12700">
            <a:solidFill>
              <a:srgbClr val="1B2A4A"/>
            </a:solidFill>
            <a:prstDash val="solid"/>
          </a:ln>
        </p:spPr>
        <p:txBody>
          <a:bodyPr/>
          <a:lstStyle/>
          <a:p>
            <a:endParaRPr lang="en-US"/>
          </a:p>
        </p:txBody>
      </p:sp>
      <p:sp>
        <p:nvSpPr>
          <p:cNvPr id="24" name="Text 21"/>
          <p:cNvSpPr txBox="1"/>
          <p:nvPr/>
        </p:nvSpPr>
        <p:spPr>
          <a:xfrm>
            <a:off x="5577840" y="13898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2"/>
          <p:cNvSpPr txBox="1"/>
          <p:nvPr/>
        </p:nvSpPr>
        <p:spPr>
          <a:xfrm>
            <a:off x="5998464" y="1371600"/>
            <a:ext cx="100584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Design the use</a:t>
            </a:r>
            <a:endParaRPr lang="en-US" sz="1150" dirty="0"/>
          </a:p>
        </p:txBody>
      </p:sp>
      <p:sp>
        <p:nvSpPr>
          <p:cNvPr id="26" name="Text 23"/>
          <p:cNvSpPr txBox="1"/>
          <p:nvPr/>
        </p:nvSpPr>
        <p:spPr>
          <a:xfrm>
            <a:off x="5577840" y="1847088"/>
            <a:ext cx="1371600" cy="59436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Product owner + DS</a:t>
            </a:r>
            <a:endParaRPr lang="en-US" sz="1050" dirty="0"/>
          </a:p>
        </p:txBody>
      </p:sp>
      <p:sp>
        <p:nvSpPr>
          <p:cNvPr id="27" name="Shape 24"/>
          <p:cNvSpPr/>
          <p:nvPr/>
        </p:nvSpPr>
        <p:spPr>
          <a:xfrm>
            <a:off x="7168896" y="1280160"/>
            <a:ext cx="1572768" cy="1234440"/>
          </a:xfrm>
          <a:prstGeom prst="roundRect">
            <a:avLst>
              <a:gd name="adj" fmla="val 5926"/>
            </a:avLst>
          </a:prstGeom>
          <a:solidFill>
            <a:srgbClr val="F3F5F8"/>
          </a:solidFill>
          <a:ln w="12700">
            <a:solidFill>
              <a:srgbClr val="F3F5F8"/>
            </a:solidFill>
            <a:prstDash val="solid"/>
          </a:ln>
        </p:spPr>
        <p:txBody>
          <a:bodyPr/>
          <a:lstStyle/>
          <a:p>
            <a:endParaRPr lang="en-US"/>
          </a:p>
        </p:txBody>
      </p:sp>
      <p:sp>
        <p:nvSpPr>
          <p:cNvPr id="28" name="Shape 25"/>
          <p:cNvSpPr/>
          <p:nvPr/>
        </p:nvSpPr>
        <p:spPr>
          <a:xfrm>
            <a:off x="7278624" y="1389888"/>
            <a:ext cx="365760" cy="365760"/>
          </a:xfrm>
          <a:prstGeom prst="ellipse">
            <a:avLst/>
          </a:prstGeom>
          <a:solidFill>
            <a:srgbClr val="1B2A4A"/>
          </a:solidFill>
          <a:ln w="12700">
            <a:solidFill>
              <a:srgbClr val="1B2A4A"/>
            </a:solidFill>
            <a:prstDash val="solid"/>
          </a:ln>
        </p:spPr>
        <p:txBody>
          <a:bodyPr/>
          <a:lstStyle/>
          <a:p>
            <a:endParaRPr lang="en-US"/>
          </a:p>
        </p:txBody>
      </p:sp>
      <p:sp>
        <p:nvSpPr>
          <p:cNvPr id="29" name="Text 26"/>
          <p:cNvSpPr txBox="1"/>
          <p:nvPr/>
        </p:nvSpPr>
        <p:spPr>
          <a:xfrm>
            <a:off x="7278624" y="138988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7"/>
          <p:cNvSpPr txBox="1"/>
          <p:nvPr/>
        </p:nvSpPr>
        <p:spPr>
          <a:xfrm>
            <a:off x="7699248" y="1371600"/>
            <a:ext cx="100584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Sandbox test</a:t>
            </a:r>
            <a:endParaRPr lang="en-US" sz="1150" dirty="0"/>
          </a:p>
        </p:txBody>
      </p:sp>
      <p:sp>
        <p:nvSpPr>
          <p:cNvPr id="31" name="Text 28"/>
          <p:cNvSpPr txBox="1"/>
          <p:nvPr/>
        </p:nvSpPr>
        <p:spPr>
          <a:xfrm>
            <a:off x="7278624" y="1847088"/>
            <a:ext cx="1371600" cy="59436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DS + ML engineer</a:t>
            </a:r>
            <a:endParaRPr lang="en-US" sz="1050" dirty="0"/>
          </a:p>
        </p:txBody>
      </p:sp>
      <p:sp>
        <p:nvSpPr>
          <p:cNvPr id="32" name="Shape 29"/>
          <p:cNvSpPr/>
          <p:nvPr/>
        </p:nvSpPr>
        <p:spPr>
          <a:xfrm>
            <a:off x="365760" y="2697480"/>
            <a:ext cx="1572768" cy="1234440"/>
          </a:xfrm>
          <a:prstGeom prst="roundRect">
            <a:avLst>
              <a:gd name="adj" fmla="val 5926"/>
            </a:avLst>
          </a:prstGeom>
          <a:solidFill>
            <a:srgbClr val="E3F1F2"/>
          </a:solidFill>
          <a:ln w="12700">
            <a:solidFill>
              <a:srgbClr val="E3F1F2"/>
            </a:solidFill>
            <a:prstDash val="solid"/>
          </a:ln>
        </p:spPr>
        <p:txBody>
          <a:bodyPr/>
          <a:lstStyle/>
          <a:p>
            <a:endParaRPr lang="en-US"/>
          </a:p>
        </p:txBody>
      </p:sp>
      <p:sp>
        <p:nvSpPr>
          <p:cNvPr id="33" name="Shape 30"/>
          <p:cNvSpPr/>
          <p:nvPr/>
        </p:nvSpPr>
        <p:spPr>
          <a:xfrm>
            <a:off x="475488" y="2807208"/>
            <a:ext cx="365760" cy="365760"/>
          </a:xfrm>
          <a:prstGeom prst="ellipse">
            <a:avLst/>
          </a:prstGeom>
          <a:solidFill>
            <a:srgbClr val="1B2A4A"/>
          </a:solidFill>
          <a:ln w="12700">
            <a:solidFill>
              <a:srgbClr val="1B2A4A"/>
            </a:solidFill>
            <a:prstDash val="solid"/>
          </a:ln>
        </p:spPr>
        <p:txBody>
          <a:bodyPr/>
          <a:lstStyle/>
          <a:p>
            <a:endParaRPr lang="en-US"/>
          </a:p>
        </p:txBody>
      </p:sp>
      <p:sp>
        <p:nvSpPr>
          <p:cNvPr id="34" name="Text 31"/>
          <p:cNvSpPr txBox="1"/>
          <p:nvPr/>
        </p:nvSpPr>
        <p:spPr>
          <a:xfrm>
            <a:off x="475488" y="2807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5" name="Text 32"/>
          <p:cNvSpPr txBox="1"/>
          <p:nvPr/>
        </p:nvSpPr>
        <p:spPr>
          <a:xfrm>
            <a:off x="896112" y="2788920"/>
            <a:ext cx="100584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Deploy</a:t>
            </a:r>
            <a:endParaRPr lang="en-US" sz="1150" dirty="0"/>
          </a:p>
        </p:txBody>
      </p:sp>
      <p:sp>
        <p:nvSpPr>
          <p:cNvPr id="36" name="Text 33"/>
          <p:cNvSpPr txBox="1"/>
          <p:nvPr/>
        </p:nvSpPr>
        <p:spPr>
          <a:xfrm>
            <a:off x="475488" y="3264408"/>
            <a:ext cx="1371600" cy="59436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ML engineer</a:t>
            </a:r>
            <a:endParaRPr lang="en-US" sz="1050" dirty="0"/>
          </a:p>
        </p:txBody>
      </p:sp>
      <p:sp>
        <p:nvSpPr>
          <p:cNvPr id="37" name="Shape 34"/>
          <p:cNvSpPr/>
          <p:nvPr/>
        </p:nvSpPr>
        <p:spPr>
          <a:xfrm>
            <a:off x="2066544" y="2697480"/>
            <a:ext cx="1572768" cy="1234440"/>
          </a:xfrm>
          <a:prstGeom prst="roundRect">
            <a:avLst>
              <a:gd name="adj" fmla="val 5926"/>
            </a:avLst>
          </a:prstGeom>
          <a:solidFill>
            <a:srgbClr val="E3F1F2"/>
          </a:solidFill>
          <a:ln w="12700">
            <a:solidFill>
              <a:srgbClr val="E3F1F2"/>
            </a:solidFill>
            <a:prstDash val="solid"/>
          </a:ln>
        </p:spPr>
        <p:txBody>
          <a:bodyPr/>
          <a:lstStyle/>
          <a:p>
            <a:endParaRPr lang="en-US"/>
          </a:p>
        </p:txBody>
      </p:sp>
      <p:sp>
        <p:nvSpPr>
          <p:cNvPr id="38" name="Shape 35"/>
          <p:cNvSpPr/>
          <p:nvPr/>
        </p:nvSpPr>
        <p:spPr>
          <a:xfrm>
            <a:off x="2176272" y="2807208"/>
            <a:ext cx="365760" cy="365760"/>
          </a:xfrm>
          <a:prstGeom prst="ellipse">
            <a:avLst/>
          </a:prstGeom>
          <a:solidFill>
            <a:srgbClr val="1B2A4A"/>
          </a:solidFill>
          <a:ln w="12700">
            <a:solidFill>
              <a:srgbClr val="1B2A4A"/>
            </a:solidFill>
            <a:prstDash val="solid"/>
          </a:ln>
        </p:spPr>
        <p:txBody>
          <a:bodyPr/>
          <a:lstStyle/>
          <a:p>
            <a:endParaRPr lang="en-US"/>
          </a:p>
        </p:txBody>
      </p:sp>
      <p:sp>
        <p:nvSpPr>
          <p:cNvPr id="39" name="Text 36"/>
          <p:cNvSpPr txBox="1"/>
          <p:nvPr/>
        </p:nvSpPr>
        <p:spPr>
          <a:xfrm>
            <a:off x="2176272" y="2807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0" name="Text 37"/>
          <p:cNvSpPr txBox="1"/>
          <p:nvPr/>
        </p:nvSpPr>
        <p:spPr>
          <a:xfrm>
            <a:off x="2596896" y="2788920"/>
            <a:ext cx="100584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Integrate</a:t>
            </a:r>
            <a:endParaRPr lang="en-US" sz="1150" dirty="0"/>
          </a:p>
        </p:txBody>
      </p:sp>
      <p:sp>
        <p:nvSpPr>
          <p:cNvPr id="41" name="Text 38"/>
          <p:cNvSpPr txBox="1"/>
          <p:nvPr/>
        </p:nvSpPr>
        <p:spPr>
          <a:xfrm>
            <a:off x="2176272" y="3264408"/>
            <a:ext cx="1371600" cy="59436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App developer</a:t>
            </a:r>
            <a:endParaRPr lang="en-US" sz="1050" dirty="0"/>
          </a:p>
        </p:txBody>
      </p:sp>
      <p:sp>
        <p:nvSpPr>
          <p:cNvPr id="42" name="Shape 39"/>
          <p:cNvSpPr/>
          <p:nvPr/>
        </p:nvSpPr>
        <p:spPr>
          <a:xfrm>
            <a:off x="3767328" y="2697480"/>
            <a:ext cx="1572768" cy="1234440"/>
          </a:xfrm>
          <a:prstGeom prst="roundRect">
            <a:avLst>
              <a:gd name="adj" fmla="val 5926"/>
            </a:avLst>
          </a:prstGeom>
          <a:solidFill>
            <a:srgbClr val="E3F1F2"/>
          </a:solidFill>
          <a:ln w="12700">
            <a:solidFill>
              <a:srgbClr val="E3F1F2"/>
            </a:solidFill>
            <a:prstDash val="solid"/>
          </a:ln>
        </p:spPr>
        <p:txBody>
          <a:bodyPr/>
          <a:lstStyle/>
          <a:p>
            <a:endParaRPr lang="en-US"/>
          </a:p>
        </p:txBody>
      </p:sp>
      <p:sp>
        <p:nvSpPr>
          <p:cNvPr id="43" name="Shape 40"/>
          <p:cNvSpPr/>
          <p:nvPr/>
        </p:nvSpPr>
        <p:spPr>
          <a:xfrm>
            <a:off x="3877056" y="2807208"/>
            <a:ext cx="365760" cy="365760"/>
          </a:xfrm>
          <a:prstGeom prst="ellipse">
            <a:avLst/>
          </a:prstGeom>
          <a:solidFill>
            <a:srgbClr val="1B2A4A"/>
          </a:solidFill>
          <a:ln w="12700">
            <a:solidFill>
              <a:srgbClr val="1B2A4A"/>
            </a:solidFill>
            <a:prstDash val="solid"/>
          </a:ln>
        </p:spPr>
        <p:txBody>
          <a:bodyPr/>
          <a:lstStyle/>
          <a:p>
            <a:endParaRPr lang="en-US"/>
          </a:p>
        </p:txBody>
      </p:sp>
      <p:sp>
        <p:nvSpPr>
          <p:cNvPr id="44" name="Text 41"/>
          <p:cNvSpPr txBox="1"/>
          <p:nvPr/>
        </p:nvSpPr>
        <p:spPr>
          <a:xfrm>
            <a:off x="3877056" y="2807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5" name="Text 42"/>
          <p:cNvSpPr txBox="1"/>
          <p:nvPr/>
        </p:nvSpPr>
        <p:spPr>
          <a:xfrm>
            <a:off x="4297680" y="2788920"/>
            <a:ext cx="100584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Run &amp; scale</a:t>
            </a:r>
            <a:endParaRPr lang="en-US" sz="1150" dirty="0"/>
          </a:p>
        </p:txBody>
      </p:sp>
      <p:sp>
        <p:nvSpPr>
          <p:cNvPr id="46" name="Text 43"/>
          <p:cNvSpPr txBox="1"/>
          <p:nvPr/>
        </p:nvSpPr>
        <p:spPr>
          <a:xfrm>
            <a:off x="3877056" y="3264408"/>
            <a:ext cx="1371600" cy="59436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IT / DevOps</a:t>
            </a:r>
            <a:endParaRPr lang="en-US" sz="1050" dirty="0"/>
          </a:p>
        </p:txBody>
      </p:sp>
      <p:sp>
        <p:nvSpPr>
          <p:cNvPr id="47" name="Shape 44"/>
          <p:cNvSpPr/>
          <p:nvPr/>
        </p:nvSpPr>
        <p:spPr>
          <a:xfrm>
            <a:off x="5468112" y="2697480"/>
            <a:ext cx="1572768" cy="1234440"/>
          </a:xfrm>
          <a:prstGeom prst="roundRect">
            <a:avLst>
              <a:gd name="adj" fmla="val 5926"/>
            </a:avLst>
          </a:prstGeom>
          <a:solidFill>
            <a:srgbClr val="E3F1F2"/>
          </a:solidFill>
          <a:ln w="12700">
            <a:solidFill>
              <a:srgbClr val="E3F1F2"/>
            </a:solidFill>
            <a:prstDash val="solid"/>
          </a:ln>
        </p:spPr>
        <p:txBody>
          <a:bodyPr/>
          <a:lstStyle/>
          <a:p>
            <a:endParaRPr lang="en-US"/>
          </a:p>
        </p:txBody>
      </p:sp>
      <p:sp>
        <p:nvSpPr>
          <p:cNvPr id="48" name="Shape 45"/>
          <p:cNvSpPr/>
          <p:nvPr/>
        </p:nvSpPr>
        <p:spPr>
          <a:xfrm>
            <a:off x="5577840" y="2807208"/>
            <a:ext cx="365760" cy="365760"/>
          </a:xfrm>
          <a:prstGeom prst="ellipse">
            <a:avLst/>
          </a:prstGeom>
          <a:solidFill>
            <a:srgbClr val="1B2A4A"/>
          </a:solidFill>
          <a:ln w="12700">
            <a:solidFill>
              <a:srgbClr val="1B2A4A"/>
            </a:solidFill>
            <a:prstDash val="solid"/>
          </a:ln>
        </p:spPr>
        <p:txBody>
          <a:bodyPr/>
          <a:lstStyle/>
          <a:p>
            <a:endParaRPr lang="en-US"/>
          </a:p>
        </p:txBody>
      </p:sp>
      <p:sp>
        <p:nvSpPr>
          <p:cNvPr id="49" name="Text 46"/>
          <p:cNvSpPr txBox="1"/>
          <p:nvPr/>
        </p:nvSpPr>
        <p:spPr>
          <a:xfrm>
            <a:off x="5577840" y="2807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50" name="Text 47"/>
          <p:cNvSpPr txBox="1"/>
          <p:nvPr/>
        </p:nvSpPr>
        <p:spPr>
          <a:xfrm>
            <a:off x="5998464" y="2788920"/>
            <a:ext cx="1005840" cy="411480"/>
          </a:xfrm>
          <a:prstGeom prst="rect">
            <a:avLst/>
          </a:prstGeom>
          <a:noFill/>
          <a:ln/>
        </p:spPr>
        <p:txBody>
          <a:bodyPr wrap="square" lIns="0" tIns="0" rIns="0" bIns="0" rtlCol="0" anchor="ctr"/>
          <a:lstStyle/>
          <a:p>
            <a:pPr marL="0" indent="0">
              <a:buNone/>
            </a:pPr>
            <a:r>
              <a:rPr lang="en-US" sz="1150" b="1" dirty="0">
                <a:solidFill>
                  <a:srgbClr val="1B2A4A"/>
                </a:solidFill>
                <a:latin typeface="Calibri" pitchFamily="34" charset="0"/>
                <a:ea typeface="Calibri" pitchFamily="34" charset="-122"/>
                <a:cs typeface="Calibri" pitchFamily="34" charset="-120"/>
              </a:rPr>
              <a:t>Monitor &amp; feedback</a:t>
            </a:r>
            <a:endParaRPr lang="en-US" sz="1150" dirty="0"/>
          </a:p>
        </p:txBody>
      </p:sp>
      <p:sp>
        <p:nvSpPr>
          <p:cNvPr id="51" name="Text 48"/>
          <p:cNvSpPr txBox="1"/>
          <p:nvPr/>
        </p:nvSpPr>
        <p:spPr>
          <a:xfrm>
            <a:off x="5577840" y="3264408"/>
            <a:ext cx="1371600" cy="594360"/>
          </a:xfrm>
          <a:prstGeom prst="rect">
            <a:avLst/>
          </a:prstGeom>
          <a:noFill/>
          <a:ln/>
        </p:spPr>
        <p:txBody>
          <a:bodyPr wrap="square" lIns="0" tIns="0" rIns="0" bIns="0" rtlCol="0" anchor="t"/>
          <a:lstStyle/>
          <a:p>
            <a:pPr marL="0" indent="0">
              <a:buNone/>
            </a:pPr>
            <a:r>
              <a:rPr lang="en-US" sz="1050" dirty="0">
                <a:solidFill>
                  <a:srgbClr val="222222"/>
                </a:solidFill>
                <a:latin typeface="Calibri" pitchFamily="34" charset="0"/>
                <a:ea typeface="Calibri" pitchFamily="34" charset="-122"/>
                <a:cs typeface="Calibri" pitchFamily="34" charset="-120"/>
              </a:rPr>
              <a:t>All, led by ML eng.</a:t>
            </a:r>
            <a:endParaRPr lang="en-US" sz="1050" dirty="0"/>
          </a:p>
        </p:txBody>
      </p:sp>
      <p:sp>
        <p:nvSpPr>
          <p:cNvPr id="52" name="Shape 49"/>
          <p:cNvSpPr/>
          <p:nvPr/>
        </p:nvSpPr>
        <p:spPr>
          <a:xfrm>
            <a:off x="7168896" y="2697480"/>
            <a:ext cx="1572768" cy="1234440"/>
          </a:xfrm>
          <a:prstGeom prst="roundRect">
            <a:avLst>
              <a:gd name="adj" fmla="val 5926"/>
            </a:avLst>
          </a:prstGeom>
          <a:solidFill>
            <a:srgbClr val="E07A2F"/>
          </a:solidFill>
          <a:ln w="12700">
            <a:solidFill>
              <a:srgbClr val="E07A2F"/>
            </a:solidFill>
            <a:prstDash val="solid"/>
          </a:ln>
        </p:spPr>
        <p:txBody>
          <a:bodyPr/>
          <a:lstStyle/>
          <a:p>
            <a:endParaRPr lang="en-US"/>
          </a:p>
        </p:txBody>
      </p:sp>
      <p:sp>
        <p:nvSpPr>
          <p:cNvPr id="53" name="Text 50"/>
          <p:cNvSpPr txBox="1"/>
          <p:nvPr/>
        </p:nvSpPr>
        <p:spPr>
          <a:xfrm>
            <a:off x="7260336" y="2743200"/>
            <a:ext cx="1417320" cy="11430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Where it usually breaks: hand-overs 5 and 6, between data science and engineering. That is why the ML engineer role exists.</a:t>
            </a:r>
            <a:endParaRPr lang="en-US" sz="1000" dirty="0"/>
          </a:p>
        </p:txBody>
      </p:sp>
      <p:sp>
        <p:nvSpPr>
          <p:cNvPr id="54" name="Text 51"/>
          <p:cNvSpPr txBox="1"/>
          <p:nvPr/>
        </p:nvSpPr>
        <p:spPr>
          <a:xfrm>
            <a:off x="365760" y="4206240"/>
            <a:ext cx="8412480" cy="274320"/>
          </a:xfrm>
          <a:prstGeom prst="rect">
            <a:avLst/>
          </a:prstGeom>
          <a:noFill/>
          <a:ln/>
        </p:spPr>
        <p:txBody>
          <a:bodyPr wrap="square" lIns="0" tIns="0" rIns="0" bIns="0" rtlCol="0" anchor="t"/>
          <a:lstStyle/>
          <a:p>
            <a:pPr marL="0" indent="0" algn="l">
              <a:buNone/>
            </a:pPr>
            <a:r>
              <a:rPr lang="en-US" sz="900" i="1" dirty="0">
                <a:solidFill>
                  <a:srgbClr val="6B7280"/>
                </a:solidFill>
                <a:latin typeface="Calibri" pitchFamily="34" charset="0"/>
                <a:ea typeface="Calibri" pitchFamily="34" charset="-122"/>
                <a:cs typeface="Calibri" pitchFamily="34" charset="-120"/>
              </a:rPr>
              <a:t>Adapted from Treveil et al., Introducing MLOps (O'Reilly, 2020)</a:t>
            </a:r>
            <a:endParaRPr lang="en-US" sz="900" dirty="0"/>
          </a:p>
        </p:txBody>
      </p:sp>
      <p:pic>
        <p:nvPicPr>
          <p:cNvPr id="55"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A tool for the forum: the RACI map</a:t>
            </a:r>
            <a:endParaRPr lang="en-US" sz="2400" dirty="0"/>
          </a:p>
        </p:txBody>
      </p:sp>
      <p:sp>
        <p:nvSpPr>
          <p:cNvPr id="7" name="Shape 4"/>
          <p:cNvSpPr/>
          <p:nvPr/>
        </p:nvSpPr>
        <p:spPr>
          <a:xfrm>
            <a:off x="365760" y="1234440"/>
            <a:ext cx="1965960" cy="1371600"/>
          </a:xfrm>
          <a:prstGeom prst="roundRect">
            <a:avLst>
              <a:gd name="adj" fmla="val 5333"/>
            </a:avLst>
          </a:prstGeom>
          <a:solidFill>
            <a:srgbClr val="E3F1F2"/>
          </a:solidFill>
          <a:ln w="12700">
            <a:solidFill>
              <a:srgbClr val="E3F1F2"/>
            </a:solidFill>
            <a:prstDash val="solid"/>
          </a:ln>
        </p:spPr>
        <p:txBody>
          <a:bodyPr/>
          <a:lstStyle/>
          <a:p>
            <a:endParaRPr lang="en-US"/>
          </a:p>
        </p:txBody>
      </p:sp>
      <p:sp>
        <p:nvSpPr>
          <p:cNvPr id="8" name="Text 5"/>
          <p:cNvSpPr txBox="1"/>
          <p:nvPr/>
        </p:nvSpPr>
        <p:spPr>
          <a:xfrm>
            <a:off x="502920" y="1325880"/>
            <a:ext cx="1691640" cy="329184"/>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 · Responsible</a:t>
            </a:r>
            <a:endParaRPr lang="en-US" sz="1300" dirty="0"/>
          </a:p>
        </p:txBody>
      </p:sp>
      <p:sp>
        <p:nvSpPr>
          <p:cNvPr id="9" name="Text 6"/>
          <p:cNvSpPr txBox="1"/>
          <p:nvPr/>
        </p:nvSpPr>
        <p:spPr>
          <a:xfrm>
            <a:off x="502920" y="1691640"/>
            <a:ext cx="1691640" cy="82296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Does the work.</a:t>
            </a:r>
            <a:endParaRPr lang="en-US" sz="1200" dirty="0"/>
          </a:p>
        </p:txBody>
      </p:sp>
      <p:sp>
        <p:nvSpPr>
          <p:cNvPr id="10" name="Shape 7"/>
          <p:cNvSpPr/>
          <p:nvPr/>
        </p:nvSpPr>
        <p:spPr>
          <a:xfrm>
            <a:off x="2487168" y="1234440"/>
            <a:ext cx="1965960" cy="1371600"/>
          </a:xfrm>
          <a:prstGeom prst="roundRect">
            <a:avLst>
              <a:gd name="adj" fmla="val 5333"/>
            </a:avLst>
          </a:prstGeom>
          <a:solidFill>
            <a:srgbClr val="E3F1F2"/>
          </a:solidFill>
          <a:ln w="12700">
            <a:solidFill>
              <a:srgbClr val="E3F1F2"/>
            </a:solidFill>
            <a:prstDash val="solid"/>
          </a:ln>
        </p:spPr>
        <p:txBody>
          <a:bodyPr/>
          <a:lstStyle/>
          <a:p>
            <a:endParaRPr lang="en-US"/>
          </a:p>
        </p:txBody>
      </p:sp>
      <p:sp>
        <p:nvSpPr>
          <p:cNvPr id="11" name="Text 8"/>
          <p:cNvSpPr txBox="1"/>
          <p:nvPr/>
        </p:nvSpPr>
        <p:spPr>
          <a:xfrm>
            <a:off x="2624328" y="1325880"/>
            <a:ext cx="1691640" cy="329184"/>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 · Accountable</a:t>
            </a:r>
            <a:endParaRPr lang="en-US" sz="1300" dirty="0"/>
          </a:p>
        </p:txBody>
      </p:sp>
      <p:sp>
        <p:nvSpPr>
          <p:cNvPr id="12" name="Text 9"/>
          <p:cNvSpPr txBox="1"/>
          <p:nvPr/>
        </p:nvSpPr>
        <p:spPr>
          <a:xfrm>
            <a:off x="2624328" y="1691640"/>
            <a:ext cx="1691640" cy="82296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Owns the outcome and signs off. Only one A per row.</a:t>
            </a:r>
            <a:endParaRPr lang="en-US" sz="1200" dirty="0"/>
          </a:p>
        </p:txBody>
      </p:sp>
      <p:sp>
        <p:nvSpPr>
          <p:cNvPr id="13" name="Shape 10"/>
          <p:cNvSpPr/>
          <p:nvPr/>
        </p:nvSpPr>
        <p:spPr>
          <a:xfrm>
            <a:off x="4608576" y="1234440"/>
            <a:ext cx="1965960" cy="1371600"/>
          </a:xfrm>
          <a:prstGeom prst="roundRect">
            <a:avLst>
              <a:gd name="adj" fmla="val 5333"/>
            </a:avLst>
          </a:prstGeom>
          <a:solidFill>
            <a:srgbClr val="E3F1F2"/>
          </a:solidFill>
          <a:ln w="12700">
            <a:solidFill>
              <a:srgbClr val="E3F1F2"/>
            </a:solidFill>
            <a:prstDash val="solid"/>
          </a:ln>
        </p:spPr>
        <p:txBody>
          <a:bodyPr/>
          <a:lstStyle/>
          <a:p>
            <a:endParaRPr lang="en-US"/>
          </a:p>
        </p:txBody>
      </p:sp>
      <p:sp>
        <p:nvSpPr>
          <p:cNvPr id="14" name="Text 11"/>
          <p:cNvSpPr txBox="1"/>
          <p:nvPr/>
        </p:nvSpPr>
        <p:spPr>
          <a:xfrm>
            <a:off x="4745736" y="1325880"/>
            <a:ext cx="1691640" cy="329184"/>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 · Consulted</a:t>
            </a:r>
            <a:endParaRPr lang="en-US" sz="1300" dirty="0"/>
          </a:p>
        </p:txBody>
      </p:sp>
      <p:sp>
        <p:nvSpPr>
          <p:cNvPr id="15" name="Text 12"/>
          <p:cNvSpPr txBox="1"/>
          <p:nvPr/>
        </p:nvSpPr>
        <p:spPr>
          <a:xfrm>
            <a:off x="4745736" y="1691640"/>
            <a:ext cx="1691640" cy="82296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Gives input before the decision.</a:t>
            </a:r>
            <a:endParaRPr lang="en-US" sz="1200" dirty="0"/>
          </a:p>
        </p:txBody>
      </p:sp>
      <p:sp>
        <p:nvSpPr>
          <p:cNvPr id="16" name="Shape 13"/>
          <p:cNvSpPr/>
          <p:nvPr/>
        </p:nvSpPr>
        <p:spPr>
          <a:xfrm>
            <a:off x="6729984" y="1234440"/>
            <a:ext cx="2048256" cy="1371600"/>
          </a:xfrm>
          <a:prstGeom prst="roundRect">
            <a:avLst>
              <a:gd name="adj" fmla="val 5333"/>
            </a:avLst>
          </a:prstGeom>
          <a:solidFill>
            <a:srgbClr val="E3F1F2"/>
          </a:solidFill>
          <a:ln w="12700">
            <a:solidFill>
              <a:srgbClr val="E3F1F2"/>
            </a:solidFill>
            <a:prstDash val="solid"/>
          </a:ln>
        </p:spPr>
        <p:txBody>
          <a:bodyPr/>
          <a:lstStyle/>
          <a:p>
            <a:endParaRPr lang="en-US"/>
          </a:p>
        </p:txBody>
      </p:sp>
      <p:sp>
        <p:nvSpPr>
          <p:cNvPr id="17" name="Text 14"/>
          <p:cNvSpPr txBox="1"/>
          <p:nvPr/>
        </p:nvSpPr>
        <p:spPr>
          <a:xfrm>
            <a:off x="6867144" y="1325880"/>
            <a:ext cx="1773936" cy="329184"/>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I · Informed</a:t>
            </a:r>
            <a:endParaRPr lang="en-US" sz="1300" dirty="0"/>
          </a:p>
        </p:txBody>
      </p:sp>
      <p:sp>
        <p:nvSpPr>
          <p:cNvPr id="18" name="Text 15"/>
          <p:cNvSpPr txBox="1"/>
          <p:nvPr/>
        </p:nvSpPr>
        <p:spPr>
          <a:xfrm>
            <a:off x="6867144" y="1691640"/>
            <a:ext cx="1773936" cy="822960"/>
          </a:xfrm>
          <a:prstGeom prst="rect">
            <a:avLst/>
          </a:prstGeom>
          <a:noFill/>
          <a:ln/>
        </p:spPr>
        <p:txBody>
          <a:bodyPr wrap="square" lIns="0" tIns="0" rIns="0" bIns="0" rtlCol="0" anchor="t"/>
          <a:lstStyle/>
          <a:p>
            <a:pPr marL="0" indent="0" algn="l">
              <a:buNone/>
            </a:pPr>
            <a:r>
              <a:rPr lang="en-US" sz="1200" dirty="0">
                <a:solidFill>
                  <a:srgbClr val="222222"/>
                </a:solidFill>
                <a:latin typeface="Calibri" pitchFamily="34" charset="0"/>
                <a:ea typeface="Calibri" pitchFamily="34" charset="-122"/>
                <a:cs typeface="Calibri" pitchFamily="34" charset="-120"/>
              </a:rPr>
              <a:t>Is told after the decision.</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2788920"/>
          <a:ext cx="8412480" cy="1508760"/>
        </p:xfrm>
        <a:graphic>
          <a:graphicData uri="http://schemas.openxmlformats.org/drawingml/2006/table">
            <a:tbl>
              <a:tblPr/>
              <a:tblGrid>
                <a:gridCol w="2011680">
                  <a:extLst>
                    <a:ext uri="{9D8B030D-6E8A-4147-A177-3AD203B41FA5}">
                      <a16:colId xmlns:a16="http://schemas.microsoft.com/office/drawing/2014/main" val="20000"/>
                    </a:ext>
                  </a:extLst>
                </a:gridCol>
                <a:gridCol w="1069848">
                  <a:extLst>
                    <a:ext uri="{9D8B030D-6E8A-4147-A177-3AD203B41FA5}">
                      <a16:colId xmlns:a16="http://schemas.microsoft.com/office/drawing/2014/main" val="20001"/>
                    </a:ext>
                  </a:extLst>
                </a:gridCol>
                <a:gridCol w="1069848">
                  <a:extLst>
                    <a:ext uri="{9D8B030D-6E8A-4147-A177-3AD203B41FA5}">
                      <a16:colId xmlns:a16="http://schemas.microsoft.com/office/drawing/2014/main" val="20002"/>
                    </a:ext>
                  </a:extLst>
                </a:gridCol>
                <a:gridCol w="1069848">
                  <a:extLst>
                    <a:ext uri="{9D8B030D-6E8A-4147-A177-3AD203B41FA5}">
                      <a16:colId xmlns:a16="http://schemas.microsoft.com/office/drawing/2014/main" val="20003"/>
                    </a:ext>
                  </a:extLst>
                </a:gridCol>
                <a:gridCol w="1069848">
                  <a:extLst>
                    <a:ext uri="{9D8B030D-6E8A-4147-A177-3AD203B41FA5}">
                      <a16:colId xmlns:a16="http://schemas.microsoft.com/office/drawing/2014/main" val="20004"/>
                    </a:ext>
                  </a:extLst>
                </a:gridCol>
                <a:gridCol w="1069848">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tblGrid>
              <a:tr h="301752">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Lifecycle stage</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Product owner</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Data scientist</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Data engineer</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ML engineer</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IT / DevOps</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Risk &amp; Compl.</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01752">
                <a:tc>
                  <a:txBody>
                    <a:bodyPr/>
                    <a:lstStyle/>
                    <a:p>
                      <a:pPr marL="0" indent="0" algn="ctr">
                        <a:buNone/>
                      </a:pPr>
                      <a:r>
                        <a:rPr lang="en-US" sz="1050" b="1" dirty="0">
                          <a:solidFill>
                            <a:srgbClr val="222222"/>
                          </a:solidFill>
                          <a:latin typeface="Calibri" pitchFamily="34" charset="0"/>
                          <a:ea typeface="Calibri" pitchFamily="34" charset="-122"/>
                          <a:cs typeface="Calibri" pitchFamily="34" charset="-120"/>
                        </a:rPr>
                        <a:t>Data ingestion &amp; validation</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R / A</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301752">
                <a:tc>
                  <a:txBody>
                    <a:bodyPr/>
                    <a:lstStyle/>
                    <a:p>
                      <a:pPr marL="0" indent="0" algn="ctr">
                        <a:buNone/>
                      </a:pPr>
                      <a:r>
                        <a:rPr lang="en-US" sz="1050" b="1" dirty="0">
                          <a:solidFill>
                            <a:srgbClr val="222222"/>
                          </a:solidFill>
                          <a:latin typeface="Calibri" pitchFamily="34" charset="0"/>
                          <a:ea typeface="Calibri" pitchFamily="34" charset="-122"/>
                          <a:cs typeface="Calibri" pitchFamily="34" charset="-120"/>
                        </a:rPr>
                        <a:t>Model development</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R / A</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301752">
                <a:tc>
                  <a:txBody>
                    <a:bodyPr/>
                    <a:lstStyle/>
                    <a:p>
                      <a:pPr marL="0" indent="0" algn="ctr">
                        <a:buNone/>
                      </a:pPr>
                      <a:r>
                        <a:rPr lang="en-US" sz="1050" b="1" dirty="0">
                          <a:solidFill>
                            <a:srgbClr val="222222"/>
                          </a:solidFill>
                          <a:latin typeface="Calibri" pitchFamily="34" charset="0"/>
                          <a:ea typeface="Calibri" pitchFamily="34" charset="-122"/>
                          <a:cs typeface="Calibri" pitchFamily="34" charset="-120"/>
                        </a:rPr>
                        <a:t>Model deployment</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301752">
                <a:tc>
                  <a:txBody>
                    <a:bodyPr/>
                    <a:lstStyle/>
                    <a:p>
                      <a:pPr marL="0" indent="0" algn="ctr">
                        <a:buNone/>
                      </a:pPr>
                      <a:r>
                        <a:rPr lang="en-US" sz="1050" b="1" dirty="0">
                          <a:solidFill>
                            <a:srgbClr val="222222"/>
                          </a:solidFill>
                          <a:latin typeface="Calibri" pitchFamily="34" charset="0"/>
                          <a:ea typeface="Calibri" pitchFamily="34" charset="-122"/>
                          <a:cs typeface="Calibri" pitchFamily="34" charset="-120"/>
                        </a:rPr>
                        <a:t>Monitoring &amp; retraining</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I</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R / A</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marL="0" indent="0" algn="ctr">
                        <a:buNone/>
                      </a:pPr>
                      <a:r>
                        <a:rPr lang="en-US" sz="1050" dirty="0">
                          <a:solidFill>
                            <a:srgbClr val="222222"/>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36576" marR="36576"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 name="Text 16"/>
          <p:cNvSpPr txBox="1"/>
          <p:nvPr/>
        </p:nvSpPr>
        <p:spPr>
          <a:xfrm>
            <a:off x="365760" y="4370832"/>
            <a:ext cx="8412480" cy="274320"/>
          </a:xfrm>
          <a:prstGeom prst="rect">
            <a:avLst/>
          </a:prstGeom>
          <a:noFill/>
          <a:ln/>
        </p:spPr>
        <p:txBody>
          <a:bodyPr wrap="square" lIns="0" tIns="0" rIns="0" bIns="0" rtlCol="0" anchor="t"/>
          <a:lstStyle/>
          <a:p>
            <a:pPr marL="0" indent="0" algn="l">
              <a:buNone/>
            </a:pPr>
            <a:r>
              <a:rPr lang="en-US" sz="1000" i="1" dirty="0">
                <a:solidFill>
                  <a:srgbClr val="6B7280"/>
                </a:solidFill>
                <a:latin typeface="Calibri" pitchFamily="34" charset="0"/>
                <a:ea typeface="Calibri" pitchFamily="34" charset="-122"/>
                <a:cs typeface="Calibri" pitchFamily="34" charset="-120"/>
              </a:rPr>
              <a:t>An example, not the answer: the forum asks you to argue your own allocation.</a:t>
            </a:r>
            <a:endParaRPr lang="en-US" sz="1000" dirty="0"/>
          </a:p>
        </p:txBody>
      </p:sp>
      <p:pic>
        <p:nvPicPr>
          <p:cNvPr id="23"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22</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Break · 5 minutes</a:t>
            </a:r>
            <a:endParaRPr lang="en-US" sz="3600" dirty="0"/>
          </a:p>
        </p:txBody>
      </p:sp>
      <p:sp>
        <p:nvSpPr>
          <p:cNvPr id="6" name="Text 4"/>
          <p:cNvSpPr txBox="1"/>
          <p:nvPr/>
        </p:nvSpPr>
        <p:spPr>
          <a:xfrm>
            <a:off x="548640" y="2286000"/>
            <a:ext cx="8046720" cy="73152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Back at minute 51. While you wait: which of the six personas is closest to your current or future job?</a:t>
            </a:r>
            <a:endParaRPr lang="en-US" sz="16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B8C4D6"/>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B8C4D6"/>
                </a:solidFill>
                <a:latin typeface="Calibri" pitchFamily="34" charset="0"/>
                <a:ea typeface="Calibri" pitchFamily="34" charset="-122"/>
                <a:cs typeface="Calibri" pitchFamily="34" charset="-120"/>
              </a:rPr>
              <a:t>23</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The end-to-end lifecycle, and what "performance" means</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Nine steps, four kinds of performance, one plan</a:t>
            </a:r>
            <a:endParaRPr lang="en-US" sz="1600" dirty="0"/>
          </a:p>
        </p:txBody>
      </p:sp>
      <p:sp>
        <p:nvSpPr>
          <p:cNvPr id="7" name="Shape 5"/>
          <p:cNvSpPr/>
          <p:nvPr/>
        </p:nvSpPr>
        <p:spPr>
          <a:xfrm>
            <a:off x="548640"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marL="0" indent="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lifecycle in plain words: nine steps from data to feedback</a:t>
            </a:r>
            <a:endParaRPr lang="en-US" sz="2400" dirty="0"/>
          </a:p>
        </p:txBody>
      </p:sp>
      <p:sp>
        <p:nvSpPr>
          <p:cNvPr id="7" name="Shape 4"/>
          <p:cNvSpPr/>
          <p:nvPr/>
        </p:nvSpPr>
        <p:spPr>
          <a:xfrm>
            <a:off x="548640" y="123444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8" name="Text 5"/>
          <p:cNvSpPr txBox="1"/>
          <p:nvPr/>
        </p:nvSpPr>
        <p:spPr>
          <a:xfrm>
            <a:off x="548640" y="123444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ingestion &amp; versioning</a:t>
            </a:r>
            <a:endParaRPr lang="en-US" sz="800" dirty="0"/>
          </a:p>
        </p:txBody>
      </p:sp>
      <p:sp>
        <p:nvSpPr>
          <p:cNvPr id="9" name="Shape 6"/>
          <p:cNvSpPr/>
          <p:nvPr/>
        </p:nvSpPr>
        <p:spPr>
          <a:xfrm>
            <a:off x="1448816" y="123444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0" name="Text 7"/>
          <p:cNvSpPr txBox="1"/>
          <p:nvPr/>
        </p:nvSpPr>
        <p:spPr>
          <a:xfrm>
            <a:off x="1448816" y="123444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8"/>
          <p:cNvSpPr/>
          <p:nvPr/>
        </p:nvSpPr>
        <p:spPr>
          <a:xfrm>
            <a:off x="2348992" y="123444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2" name="Text 9"/>
          <p:cNvSpPr txBox="1"/>
          <p:nvPr/>
        </p:nvSpPr>
        <p:spPr>
          <a:xfrm>
            <a:off x="2348992" y="123444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pre-processing</a:t>
            </a:r>
            <a:endParaRPr lang="en-US" sz="800" dirty="0"/>
          </a:p>
        </p:txBody>
      </p:sp>
      <p:sp>
        <p:nvSpPr>
          <p:cNvPr id="13" name="Shape 10"/>
          <p:cNvSpPr/>
          <p:nvPr/>
        </p:nvSpPr>
        <p:spPr>
          <a:xfrm>
            <a:off x="3249168" y="123444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4" name="Text 11"/>
          <p:cNvSpPr txBox="1"/>
          <p:nvPr/>
        </p:nvSpPr>
        <p:spPr>
          <a:xfrm>
            <a:off x="3249168" y="123444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training</a:t>
            </a:r>
            <a:endParaRPr lang="en-US" sz="800" dirty="0"/>
          </a:p>
        </p:txBody>
      </p:sp>
      <p:sp>
        <p:nvSpPr>
          <p:cNvPr id="15" name="Shape 12"/>
          <p:cNvSpPr/>
          <p:nvPr/>
        </p:nvSpPr>
        <p:spPr>
          <a:xfrm>
            <a:off x="4149344" y="123444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6" name="Text 13"/>
          <p:cNvSpPr txBox="1"/>
          <p:nvPr/>
        </p:nvSpPr>
        <p:spPr>
          <a:xfrm>
            <a:off x="4149344" y="123444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tuning</a:t>
            </a:r>
            <a:endParaRPr lang="en-US" sz="800" dirty="0"/>
          </a:p>
        </p:txBody>
      </p:sp>
      <p:sp>
        <p:nvSpPr>
          <p:cNvPr id="17" name="Shape 14"/>
          <p:cNvSpPr/>
          <p:nvPr/>
        </p:nvSpPr>
        <p:spPr>
          <a:xfrm>
            <a:off x="5049520" y="123444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18" name="Text 15"/>
          <p:cNvSpPr txBox="1"/>
          <p:nvPr/>
        </p:nvSpPr>
        <p:spPr>
          <a:xfrm>
            <a:off x="5049520" y="123444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analysis</a:t>
            </a:r>
            <a:endParaRPr lang="en-US" sz="800" dirty="0"/>
          </a:p>
        </p:txBody>
      </p:sp>
      <p:sp>
        <p:nvSpPr>
          <p:cNvPr id="19" name="Shape 16"/>
          <p:cNvSpPr/>
          <p:nvPr/>
        </p:nvSpPr>
        <p:spPr>
          <a:xfrm>
            <a:off x="5949696" y="123444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0" name="Text 17"/>
          <p:cNvSpPr txBox="1"/>
          <p:nvPr/>
        </p:nvSpPr>
        <p:spPr>
          <a:xfrm>
            <a:off x="5949696" y="123444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8"/>
          <p:cNvSpPr/>
          <p:nvPr/>
        </p:nvSpPr>
        <p:spPr>
          <a:xfrm>
            <a:off x="6849872" y="123444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2" name="Text 19"/>
          <p:cNvSpPr txBox="1"/>
          <p:nvPr/>
        </p:nvSpPr>
        <p:spPr>
          <a:xfrm>
            <a:off x="6849872" y="123444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0"/>
          <p:cNvSpPr/>
          <p:nvPr/>
        </p:nvSpPr>
        <p:spPr>
          <a:xfrm>
            <a:off x="7750048" y="1234440"/>
            <a:ext cx="845312" cy="566928"/>
          </a:xfrm>
          <a:prstGeom prst="roundRect">
            <a:avLst>
              <a:gd name="adj" fmla="val 9677"/>
            </a:avLst>
          </a:prstGeom>
          <a:solidFill>
            <a:srgbClr val="0E7C86"/>
          </a:solidFill>
          <a:ln w="12700">
            <a:solidFill>
              <a:srgbClr val="0E7C86"/>
            </a:solidFill>
            <a:prstDash val="solid"/>
          </a:ln>
        </p:spPr>
        <p:txBody>
          <a:bodyPr/>
          <a:lstStyle/>
          <a:p>
            <a:endParaRPr lang="en-US"/>
          </a:p>
        </p:txBody>
      </p:sp>
      <p:sp>
        <p:nvSpPr>
          <p:cNvPr id="24" name="Text 21"/>
          <p:cNvSpPr txBox="1"/>
          <p:nvPr/>
        </p:nvSpPr>
        <p:spPr>
          <a:xfrm>
            <a:off x="7750048" y="1234440"/>
            <a:ext cx="845312" cy="566928"/>
          </a:xfrm>
          <a:prstGeom prst="rect">
            <a:avLst/>
          </a:prstGeom>
          <a:noFill/>
          <a:ln/>
        </p:spPr>
        <p:txBody>
          <a:bodyPr wrap="square" lIns="254" tIns="254" rIns="254" bIns="254"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2"/>
          <p:cNvSpPr txBox="1"/>
          <p:nvPr/>
        </p:nvSpPr>
        <p:spPr>
          <a:xfrm>
            <a:off x="548640" y="1920240"/>
            <a:ext cx="845312" cy="1371600"/>
          </a:xfrm>
          <a:prstGeom prst="rect">
            <a:avLst/>
          </a:prstGeom>
          <a:noFill/>
          <a:ln/>
        </p:spPr>
        <p:txBody>
          <a:bodyPr wrap="square" lIns="254" tIns="254" rIns="254" bIns="254" rtlCol="0" anchor="t"/>
          <a:lstStyle/>
          <a:p>
            <a:pPr marL="0" indent="0">
              <a:buNone/>
            </a:pPr>
            <a:r>
              <a:rPr lang="en-US" sz="900" dirty="0">
                <a:solidFill>
                  <a:srgbClr val="222222"/>
                </a:solidFill>
                <a:latin typeface="Calibri" pitchFamily="34" charset="0"/>
                <a:ea typeface="Calibri" pitchFamily="34" charset="-122"/>
                <a:cs typeface="Calibri" pitchFamily="34" charset="-120"/>
              </a:rPr>
              <a:t>Get the data and record exactly which version you used.</a:t>
            </a:r>
            <a:endParaRPr lang="en-US" sz="900" dirty="0"/>
          </a:p>
        </p:txBody>
      </p:sp>
      <p:sp>
        <p:nvSpPr>
          <p:cNvPr id="26" name="Text 23"/>
          <p:cNvSpPr txBox="1"/>
          <p:nvPr/>
        </p:nvSpPr>
        <p:spPr>
          <a:xfrm>
            <a:off x="1448816" y="1920240"/>
            <a:ext cx="845312" cy="1371600"/>
          </a:xfrm>
          <a:prstGeom prst="rect">
            <a:avLst/>
          </a:prstGeom>
          <a:noFill/>
          <a:ln/>
        </p:spPr>
        <p:txBody>
          <a:bodyPr wrap="square" lIns="254" tIns="254" rIns="254" bIns="254" rtlCol="0" anchor="t"/>
          <a:lstStyle/>
          <a:p>
            <a:pPr marL="0" indent="0">
              <a:buNone/>
            </a:pPr>
            <a:r>
              <a:rPr lang="en-US" sz="900" dirty="0">
                <a:solidFill>
                  <a:srgbClr val="222222"/>
                </a:solidFill>
                <a:latin typeface="Calibri" pitchFamily="34" charset="0"/>
                <a:ea typeface="Calibri" pitchFamily="34" charset="-122"/>
                <a:cs typeface="Calibri" pitchFamily="34" charset="-120"/>
              </a:rPr>
              <a:t>Is the data what we expect? Schema, ranges, anomalies.</a:t>
            </a:r>
            <a:endParaRPr lang="en-US" sz="900" dirty="0"/>
          </a:p>
        </p:txBody>
      </p:sp>
      <p:sp>
        <p:nvSpPr>
          <p:cNvPr id="27" name="Text 24"/>
          <p:cNvSpPr txBox="1"/>
          <p:nvPr/>
        </p:nvSpPr>
        <p:spPr>
          <a:xfrm>
            <a:off x="2348992" y="1920240"/>
            <a:ext cx="845312" cy="1371600"/>
          </a:xfrm>
          <a:prstGeom prst="rect">
            <a:avLst/>
          </a:prstGeom>
          <a:noFill/>
          <a:ln/>
        </p:spPr>
        <p:txBody>
          <a:bodyPr wrap="square" lIns="254" tIns="254" rIns="254" bIns="254" rtlCol="0" anchor="t"/>
          <a:lstStyle/>
          <a:p>
            <a:pPr marL="0" indent="0">
              <a:buNone/>
            </a:pPr>
            <a:r>
              <a:rPr lang="en-US" sz="900" dirty="0">
                <a:solidFill>
                  <a:srgbClr val="222222"/>
                </a:solidFill>
                <a:latin typeface="Calibri" pitchFamily="34" charset="0"/>
                <a:ea typeface="Calibri" pitchFamily="34" charset="-122"/>
                <a:cs typeface="Calibri" pitchFamily="34" charset="-120"/>
              </a:rPr>
              <a:t>Shape it for the model, the same way every time.</a:t>
            </a:r>
            <a:endParaRPr lang="en-US" sz="900" dirty="0"/>
          </a:p>
        </p:txBody>
      </p:sp>
      <p:sp>
        <p:nvSpPr>
          <p:cNvPr id="28" name="Text 25"/>
          <p:cNvSpPr txBox="1"/>
          <p:nvPr/>
        </p:nvSpPr>
        <p:spPr>
          <a:xfrm>
            <a:off x="3249168" y="1920240"/>
            <a:ext cx="845312" cy="1371600"/>
          </a:xfrm>
          <a:prstGeom prst="rect">
            <a:avLst/>
          </a:prstGeom>
          <a:noFill/>
          <a:ln/>
        </p:spPr>
        <p:txBody>
          <a:bodyPr wrap="square" lIns="254" tIns="254" rIns="254" bIns="254" rtlCol="0" anchor="t"/>
          <a:lstStyle/>
          <a:p>
            <a:pPr marL="0" indent="0">
              <a:buNone/>
            </a:pPr>
            <a:r>
              <a:rPr lang="en-US" sz="900" dirty="0">
                <a:solidFill>
                  <a:srgbClr val="222222"/>
                </a:solidFill>
                <a:latin typeface="Calibri" pitchFamily="34" charset="0"/>
                <a:ea typeface="Calibri" pitchFamily="34" charset="-122"/>
                <a:cs typeface="Calibri" pitchFamily="34" charset="-120"/>
              </a:rPr>
              <a:t>Fit the model to the data.</a:t>
            </a:r>
            <a:endParaRPr lang="en-US" sz="900" dirty="0"/>
          </a:p>
        </p:txBody>
      </p:sp>
      <p:sp>
        <p:nvSpPr>
          <p:cNvPr id="29" name="Text 26"/>
          <p:cNvSpPr txBox="1"/>
          <p:nvPr/>
        </p:nvSpPr>
        <p:spPr>
          <a:xfrm>
            <a:off x="4149344" y="1920240"/>
            <a:ext cx="845312" cy="1371600"/>
          </a:xfrm>
          <a:prstGeom prst="rect">
            <a:avLst/>
          </a:prstGeom>
          <a:noFill/>
          <a:ln/>
        </p:spPr>
        <p:txBody>
          <a:bodyPr wrap="square" lIns="254" tIns="254" rIns="254" bIns="254" rtlCol="0" anchor="t"/>
          <a:lstStyle/>
          <a:p>
            <a:pPr marL="0" indent="0">
              <a:buNone/>
            </a:pPr>
            <a:r>
              <a:rPr lang="en-US" sz="900" dirty="0">
                <a:solidFill>
                  <a:srgbClr val="222222"/>
                </a:solidFill>
                <a:latin typeface="Calibri" pitchFamily="34" charset="0"/>
                <a:ea typeface="Calibri" pitchFamily="34" charset="-122"/>
                <a:cs typeface="Calibri" pitchFamily="34" charset="-120"/>
              </a:rPr>
              <a:t>Find the best settings for the model.</a:t>
            </a:r>
            <a:endParaRPr lang="en-US" sz="900" dirty="0"/>
          </a:p>
        </p:txBody>
      </p:sp>
      <p:sp>
        <p:nvSpPr>
          <p:cNvPr id="30" name="Text 27"/>
          <p:cNvSpPr txBox="1"/>
          <p:nvPr/>
        </p:nvSpPr>
        <p:spPr>
          <a:xfrm>
            <a:off x="5049520" y="1920240"/>
            <a:ext cx="845312" cy="1371600"/>
          </a:xfrm>
          <a:prstGeom prst="rect">
            <a:avLst/>
          </a:prstGeom>
          <a:noFill/>
          <a:ln/>
        </p:spPr>
        <p:txBody>
          <a:bodyPr wrap="square" lIns="254" tIns="254" rIns="254" bIns="254" rtlCol="0" anchor="t"/>
          <a:lstStyle/>
          <a:p>
            <a:pPr marL="0" indent="0">
              <a:buNone/>
            </a:pPr>
            <a:r>
              <a:rPr lang="en-US" sz="900" dirty="0">
                <a:solidFill>
                  <a:srgbClr val="222222"/>
                </a:solidFill>
                <a:latin typeface="Calibri" pitchFamily="34" charset="0"/>
                <a:ea typeface="Calibri" pitchFamily="34" charset="-122"/>
                <a:cs typeface="Calibri" pitchFamily="34" charset="-120"/>
              </a:rPr>
              <a:t>Look at performance in depth, by segment, over time.</a:t>
            </a:r>
            <a:endParaRPr lang="en-US" sz="900" dirty="0"/>
          </a:p>
        </p:txBody>
      </p:sp>
      <p:sp>
        <p:nvSpPr>
          <p:cNvPr id="31" name="Text 28"/>
          <p:cNvSpPr txBox="1"/>
          <p:nvPr/>
        </p:nvSpPr>
        <p:spPr>
          <a:xfrm>
            <a:off x="5949696" y="1920240"/>
            <a:ext cx="845312" cy="1371600"/>
          </a:xfrm>
          <a:prstGeom prst="rect">
            <a:avLst/>
          </a:prstGeom>
          <a:noFill/>
          <a:ln/>
        </p:spPr>
        <p:txBody>
          <a:bodyPr wrap="square" lIns="254" tIns="254" rIns="254" bIns="254" rtlCol="0" anchor="t"/>
          <a:lstStyle/>
          <a:p>
            <a:pPr marL="0" indent="0">
              <a:buNone/>
            </a:pPr>
            <a:r>
              <a:rPr lang="en-US" sz="900" dirty="0">
                <a:solidFill>
                  <a:srgbClr val="222222"/>
                </a:solidFill>
                <a:latin typeface="Calibri" pitchFamily="34" charset="0"/>
                <a:ea typeface="Calibri" pitchFamily="34" charset="-122"/>
                <a:cs typeface="Calibri" pitchFamily="34" charset="-120"/>
              </a:rPr>
              <a:t>Better than what is in production? Safe to release?</a:t>
            </a:r>
            <a:endParaRPr lang="en-US" sz="900" dirty="0"/>
          </a:p>
        </p:txBody>
      </p:sp>
      <p:sp>
        <p:nvSpPr>
          <p:cNvPr id="32" name="Text 29"/>
          <p:cNvSpPr txBox="1"/>
          <p:nvPr/>
        </p:nvSpPr>
        <p:spPr>
          <a:xfrm>
            <a:off x="6849872" y="1920240"/>
            <a:ext cx="845312" cy="1371600"/>
          </a:xfrm>
          <a:prstGeom prst="rect">
            <a:avLst/>
          </a:prstGeom>
          <a:noFill/>
          <a:ln/>
        </p:spPr>
        <p:txBody>
          <a:bodyPr wrap="square" lIns="254" tIns="254" rIns="254" bIns="254" rtlCol="0" anchor="t"/>
          <a:lstStyle/>
          <a:p>
            <a:pPr marL="0" indent="0">
              <a:buNone/>
            </a:pPr>
            <a:r>
              <a:rPr lang="en-US" sz="900" dirty="0">
                <a:solidFill>
                  <a:srgbClr val="222222"/>
                </a:solidFill>
                <a:latin typeface="Calibri" pitchFamily="34" charset="0"/>
                <a:ea typeface="Calibri" pitchFamily="34" charset="-122"/>
                <a:cs typeface="Calibri" pitchFamily="34" charset="-120"/>
              </a:rPr>
              <a:t>Put it where the business uses it, at scale.</a:t>
            </a:r>
            <a:endParaRPr lang="en-US" sz="900" dirty="0"/>
          </a:p>
        </p:txBody>
      </p:sp>
      <p:sp>
        <p:nvSpPr>
          <p:cNvPr id="33" name="Text 30"/>
          <p:cNvSpPr txBox="1"/>
          <p:nvPr/>
        </p:nvSpPr>
        <p:spPr>
          <a:xfrm>
            <a:off x="7750048" y="1920240"/>
            <a:ext cx="845312" cy="1371600"/>
          </a:xfrm>
          <a:prstGeom prst="rect">
            <a:avLst/>
          </a:prstGeom>
          <a:noFill/>
          <a:ln/>
        </p:spPr>
        <p:txBody>
          <a:bodyPr wrap="square" lIns="254" tIns="254" rIns="254" bIns="254" rtlCol="0" anchor="t"/>
          <a:lstStyle/>
          <a:p>
            <a:pPr marL="0" indent="0">
              <a:buNone/>
            </a:pPr>
            <a:r>
              <a:rPr lang="en-US" sz="900" dirty="0">
                <a:solidFill>
                  <a:srgbClr val="222222"/>
                </a:solidFill>
                <a:latin typeface="Calibri" pitchFamily="34" charset="0"/>
                <a:ea typeface="Calibri" pitchFamily="34" charset="-122"/>
                <a:cs typeface="Calibri" pitchFamily="34" charset="-120"/>
              </a:rPr>
              <a:t>Collect what happened; feed it back to data and training.</a:t>
            </a:r>
            <a:endParaRPr lang="en-US" sz="900" dirty="0"/>
          </a:p>
        </p:txBody>
      </p:sp>
      <p:sp>
        <p:nvSpPr>
          <p:cNvPr id="34" name="Shape 31"/>
          <p:cNvSpPr/>
          <p:nvPr/>
        </p:nvSpPr>
        <p:spPr>
          <a:xfrm flipH="1">
            <a:off x="914400" y="3429000"/>
            <a:ext cx="7315200" cy="0"/>
          </a:xfrm>
          <a:prstGeom prst="line">
            <a:avLst/>
          </a:prstGeom>
          <a:noFill/>
          <a:ln w="19050">
            <a:solidFill>
              <a:srgbClr val="0E7C86"/>
            </a:solidFill>
            <a:prstDash val="solid"/>
            <a:tailEnd type="triangle"/>
          </a:ln>
        </p:spPr>
        <p:txBody>
          <a:bodyPr/>
          <a:lstStyle/>
          <a:p>
            <a:endParaRPr lang="en-US"/>
          </a:p>
        </p:txBody>
      </p:sp>
      <p:sp>
        <p:nvSpPr>
          <p:cNvPr id="35" name="Text 32"/>
          <p:cNvSpPr txBox="1"/>
          <p:nvPr/>
        </p:nvSpPr>
        <p:spPr>
          <a:xfrm>
            <a:off x="914400" y="3474720"/>
            <a:ext cx="3657600" cy="274320"/>
          </a:xfrm>
          <a:prstGeom prst="rect">
            <a:avLst/>
          </a:prstGeom>
          <a:noFill/>
          <a:ln/>
        </p:spPr>
        <p:txBody>
          <a:bodyPr wrap="square" lIns="0" tIns="0" rIns="0" bIns="0" rtlCol="0" anchor="t"/>
          <a:lstStyle/>
          <a:p>
            <a:pPr marL="0" indent="0" algn="l">
              <a:buNone/>
            </a:pPr>
            <a:r>
              <a:rPr lang="en-US" sz="1000" i="1" dirty="0">
                <a:solidFill>
                  <a:srgbClr val="0E7C86"/>
                </a:solidFill>
                <a:latin typeface="Calibri" pitchFamily="34" charset="0"/>
                <a:ea typeface="Calibri" pitchFamily="34" charset="-122"/>
                <a:cs typeface="Calibri" pitchFamily="34" charset="-120"/>
              </a:rPr>
              <a:t>Feedback returns to the data: it is a loop</a:t>
            </a:r>
            <a:endParaRPr lang="en-US" sz="1000" dirty="0"/>
          </a:p>
        </p:txBody>
      </p:sp>
      <p:sp>
        <p:nvSpPr>
          <p:cNvPr id="36" name="Shape 33"/>
          <p:cNvSpPr/>
          <p:nvPr/>
        </p:nvSpPr>
        <p:spPr>
          <a:xfrm>
            <a:off x="365760" y="3840480"/>
            <a:ext cx="8412480" cy="548640"/>
          </a:xfrm>
          <a:prstGeom prst="roundRect">
            <a:avLst>
              <a:gd name="adj" fmla="val 13333"/>
            </a:avLst>
          </a:prstGeom>
          <a:solidFill>
            <a:srgbClr val="E3F1F2"/>
          </a:solidFill>
          <a:ln w="12700">
            <a:solidFill>
              <a:srgbClr val="E3F1F2"/>
            </a:solidFill>
            <a:prstDash val="solid"/>
          </a:ln>
        </p:spPr>
        <p:txBody>
          <a:bodyPr/>
          <a:lstStyle/>
          <a:p>
            <a:endParaRPr lang="en-US"/>
          </a:p>
        </p:txBody>
      </p:sp>
      <p:pic>
        <p:nvPicPr>
          <p:cNvPr id="37" name="Image 0" descr="preencoded.png"/>
          <p:cNvPicPr>
            <a:picLocks noChangeAspect="1"/>
          </p:cNvPicPr>
          <p:nvPr/>
        </p:nvPicPr>
        <p:blipFill>
          <a:blip r:embed="rId3"/>
          <a:stretch>
            <a:fillRect/>
          </a:stretch>
        </p:blipFill>
        <p:spPr>
          <a:xfrm>
            <a:off x="502920" y="3977640"/>
            <a:ext cx="274320" cy="274320"/>
          </a:xfrm>
          <a:prstGeom prst="rect">
            <a:avLst/>
          </a:prstGeom>
        </p:spPr>
      </p:pic>
      <p:sp>
        <p:nvSpPr>
          <p:cNvPr id="38" name="Text 34"/>
          <p:cNvSpPr txBox="1"/>
          <p:nvPr/>
        </p:nvSpPr>
        <p:spPr>
          <a:xfrm>
            <a:off x="896112" y="3840480"/>
            <a:ext cx="7772400" cy="548640"/>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The first three steps are about data, not models. In practice that is where most of the time, and most of the failures, live. Session 3.</a:t>
            </a:r>
            <a:endParaRPr lang="en-US" sz="1200" dirty="0"/>
          </a:p>
        </p:txBody>
      </p:sp>
      <p:sp>
        <p:nvSpPr>
          <p:cNvPr id="39" name="Text 35"/>
          <p:cNvSpPr txBox="1"/>
          <p:nvPr/>
        </p:nvSpPr>
        <p:spPr>
          <a:xfrm>
            <a:off x="365760" y="4480560"/>
            <a:ext cx="8412480" cy="274320"/>
          </a:xfrm>
          <a:prstGeom prst="rect">
            <a:avLst/>
          </a:prstGeom>
          <a:noFill/>
          <a:ln/>
        </p:spPr>
        <p:txBody>
          <a:bodyPr wrap="square" lIns="0" tIns="0" rIns="0" bIns="0" rtlCol="0" anchor="t"/>
          <a:lstStyle/>
          <a:p>
            <a:pPr marL="0" indent="0" algn="l">
              <a:buNone/>
            </a:pPr>
            <a:r>
              <a:rPr lang="en-US" sz="900" i="1" dirty="0">
                <a:solidFill>
                  <a:srgbClr val="6B7280"/>
                </a:solidFill>
                <a:latin typeface="Calibri" pitchFamily="34" charset="0"/>
                <a:ea typeface="Calibri" pitchFamily="34" charset="-122"/>
                <a:cs typeface="Calibri" pitchFamily="34" charset="-120"/>
              </a:rPr>
              <a:t>Lifecycle from Hapke &amp; Nelson, Building Machine Learning Pipelines (O'Reilly, 2020)</a:t>
            </a:r>
            <a:endParaRPr lang="en-US" sz="900" dirty="0"/>
          </a:p>
        </p:txBody>
      </p:sp>
      <p:pic>
        <p:nvPicPr>
          <p:cNvPr id="40"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"Performance" means four different things, and you must define all four</a:t>
            </a:r>
            <a:endParaRPr lang="en-US" sz="2400" dirty="0"/>
          </a:p>
        </p:txBody>
      </p:sp>
      <p:sp>
        <p:nvSpPr>
          <p:cNvPr id="7" name="Shape 4"/>
          <p:cNvSpPr/>
          <p:nvPr/>
        </p:nvSpPr>
        <p:spPr>
          <a:xfrm>
            <a:off x="365760" y="1234440"/>
            <a:ext cx="4114800" cy="1371600"/>
          </a:xfrm>
          <a:prstGeom prst="roundRect">
            <a:avLst>
              <a:gd name="adj" fmla="val 5333"/>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Business performance</a:t>
            </a:r>
            <a:endParaRPr lang="en-US" sz="1300" dirty="0"/>
          </a:p>
        </p:txBody>
      </p:sp>
      <p:sp>
        <p:nvSpPr>
          <p:cNvPr id="11" name="Text 7"/>
          <p:cNvSpPr txBox="1"/>
          <p:nvPr/>
        </p:nvSpPr>
        <p:spPr>
          <a:xfrm>
            <a:off x="502920" y="1783080"/>
            <a:ext cx="3840480" cy="7315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Goal → product metric (click-through rate, users attracted)</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Guardrail metric that must not fall (session length)</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 only metrics that matter in the end</a:t>
            </a:r>
            <a:endParaRPr lang="en-US" sz="1100" dirty="0"/>
          </a:p>
        </p:txBody>
      </p:sp>
      <p:sp>
        <p:nvSpPr>
          <p:cNvPr id="12" name="Shape 8"/>
          <p:cNvSpPr/>
          <p:nvPr/>
        </p:nvSpPr>
        <p:spPr>
          <a:xfrm>
            <a:off x="4663440" y="1234440"/>
            <a:ext cx="4114800" cy="1371600"/>
          </a:xfrm>
          <a:prstGeom prst="roundRect">
            <a:avLst>
              <a:gd name="adj" fmla="val 5333"/>
            </a:avLst>
          </a:prstGeom>
          <a:solidFill>
            <a:srgbClr val="F3F5F8"/>
          </a:solidFill>
          <a:ln w="12700">
            <a:solidFill>
              <a:srgbClr val="F3F5F8"/>
            </a:solidFill>
            <a:prstDash val="solid"/>
          </a:ln>
        </p:spPr>
        <p:txBody>
          <a:bodyPr/>
          <a:lstStyle/>
          <a:p>
            <a:endParaRPr lang="en-US"/>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Model performance</a:t>
            </a:r>
            <a:endParaRPr lang="en-US" sz="1300" dirty="0"/>
          </a:p>
        </p:txBody>
      </p:sp>
      <p:sp>
        <p:nvSpPr>
          <p:cNvPr id="16" name="Text 11"/>
          <p:cNvSpPr txBox="1"/>
          <p:nvPr/>
        </p:nvSpPr>
        <p:spPr>
          <a:xfrm>
            <a:off x="4800600" y="1783080"/>
            <a:ext cx="3840480" cy="7315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Accuracy, AUC, F1, RMSE… chosen for the problem</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Sufficient for the goal, not the maximum</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 product that needs a perfect model will fail</a:t>
            </a:r>
            <a:endParaRPr lang="en-US" sz="1100" dirty="0"/>
          </a:p>
        </p:txBody>
      </p:sp>
      <p:sp>
        <p:nvSpPr>
          <p:cNvPr id="17" name="Shape 12"/>
          <p:cNvSpPr/>
          <p:nvPr/>
        </p:nvSpPr>
        <p:spPr>
          <a:xfrm>
            <a:off x="365760" y="2715768"/>
            <a:ext cx="4114800" cy="1371600"/>
          </a:xfrm>
          <a:prstGeom prst="roundRect">
            <a:avLst>
              <a:gd name="adj" fmla="val 5333"/>
            </a:avLst>
          </a:prstGeom>
          <a:solidFill>
            <a:srgbClr val="F3F5F8"/>
          </a:solidFill>
          <a:ln w="12700">
            <a:solidFill>
              <a:srgbClr val="F3F5F8"/>
            </a:solidFill>
            <a:prstDash val="solid"/>
          </a:ln>
        </p:spPr>
        <p:txBody>
          <a:bodyPr/>
          <a:lstStyle/>
          <a:p>
            <a:endParaRPr lang="en-US"/>
          </a:p>
        </p:txBody>
      </p:sp>
      <p:sp>
        <p:nvSpPr>
          <p:cNvPr id="18" name="Shape 13"/>
          <p:cNvSpPr/>
          <p:nvPr/>
        </p:nvSpPr>
        <p:spPr>
          <a:xfrm>
            <a:off x="502920" y="2834640"/>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576072" y="2907792"/>
            <a:ext cx="201168" cy="201168"/>
          </a:xfrm>
          <a:prstGeom prst="rect">
            <a:avLst/>
          </a:prstGeom>
        </p:spPr>
      </p:pic>
      <p:sp>
        <p:nvSpPr>
          <p:cNvPr id="20" name="Text 14"/>
          <p:cNvSpPr txBox="1"/>
          <p:nvPr/>
        </p:nvSpPr>
        <p:spPr>
          <a:xfrm>
            <a:off x="932688" y="2807208"/>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Data performance</a:t>
            </a:r>
            <a:endParaRPr lang="en-US" sz="1300" dirty="0"/>
          </a:p>
        </p:txBody>
      </p:sp>
      <p:sp>
        <p:nvSpPr>
          <p:cNvPr id="21" name="Text 15"/>
          <p:cNvSpPr txBox="1"/>
          <p:nvPr/>
        </p:nvSpPr>
        <p:spPr>
          <a:xfrm>
            <a:off x="502920" y="3264408"/>
            <a:ext cx="3840480" cy="7315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Will tomorrow's data look like the training data?</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How often must we retrain, and what does it cost each time?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Some problems need daily freshness, others yearly</a:t>
            </a:r>
            <a:endParaRPr lang="en-US" sz="1100" dirty="0"/>
          </a:p>
        </p:txBody>
      </p:sp>
      <p:sp>
        <p:nvSpPr>
          <p:cNvPr id="22" name="Shape 16"/>
          <p:cNvSpPr/>
          <p:nvPr/>
        </p:nvSpPr>
        <p:spPr>
          <a:xfrm>
            <a:off x="4663440" y="2715768"/>
            <a:ext cx="4114800" cy="1371600"/>
          </a:xfrm>
          <a:prstGeom prst="roundRect">
            <a:avLst>
              <a:gd name="adj" fmla="val 5333"/>
            </a:avLst>
          </a:prstGeom>
          <a:solidFill>
            <a:srgbClr val="F3F5F8"/>
          </a:solidFill>
          <a:ln w="12700">
            <a:solidFill>
              <a:srgbClr val="F3F5F8"/>
            </a:solidFill>
            <a:prstDash val="solid"/>
          </a:ln>
        </p:spPr>
        <p:txBody>
          <a:bodyPr/>
          <a:lstStyle/>
          <a:p>
            <a:endParaRPr lang="en-US"/>
          </a:p>
        </p:txBody>
      </p:sp>
      <p:sp>
        <p:nvSpPr>
          <p:cNvPr id="23" name="Shape 17"/>
          <p:cNvSpPr/>
          <p:nvPr/>
        </p:nvSpPr>
        <p:spPr>
          <a:xfrm>
            <a:off x="4800600" y="2834640"/>
            <a:ext cx="347472" cy="347472"/>
          </a:xfrm>
          <a:prstGeom prst="ellipse">
            <a:avLst/>
          </a:prstGeom>
          <a:solidFill>
            <a:srgbClr val="0E7C86"/>
          </a:solidFill>
          <a:ln w="12700">
            <a:solidFill>
              <a:srgbClr val="0E7C86"/>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4873752" y="2907792"/>
            <a:ext cx="201168" cy="201168"/>
          </a:xfrm>
          <a:prstGeom prst="rect">
            <a:avLst/>
          </a:prstGeom>
        </p:spPr>
      </p:pic>
      <p:sp>
        <p:nvSpPr>
          <p:cNvPr id="25" name="Text 18"/>
          <p:cNvSpPr txBox="1"/>
          <p:nvPr/>
        </p:nvSpPr>
        <p:spPr>
          <a:xfrm>
            <a:off x="5230368" y="2807208"/>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System performance</a:t>
            </a:r>
            <a:endParaRPr lang="en-US" sz="1300" dirty="0"/>
          </a:p>
        </p:txBody>
      </p:sp>
      <p:sp>
        <p:nvSpPr>
          <p:cNvPr id="26" name="Text 19"/>
          <p:cNvSpPr txBox="1"/>
          <p:nvPr/>
        </p:nvSpPr>
        <p:spPr>
          <a:xfrm>
            <a:off x="4800600" y="3264408"/>
            <a:ext cx="3840480" cy="73152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How fast is fast enough? At what cost per prediction?</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Hardware limits, development time, maintainability</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Never confuse performance in development with production</a:t>
            </a:r>
            <a:endParaRPr lang="en-US" sz="1100" dirty="0"/>
          </a:p>
        </p:txBody>
      </p:sp>
      <p:sp>
        <p:nvSpPr>
          <p:cNvPr id="27" name="Shape 20"/>
          <p:cNvSpPr/>
          <p:nvPr/>
        </p:nvSpPr>
        <p:spPr>
          <a:xfrm>
            <a:off x="365760" y="4206240"/>
            <a:ext cx="8412480" cy="502920"/>
          </a:xfrm>
          <a:prstGeom prst="roundRect">
            <a:avLst>
              <a:gd name="adj" fmla="val 14545"/>
            </a:avLst>
          </a:prstGeom>
          <a:solidFill>
            <a:srgbClr val="E3F1F2"/>
          </a:solidFill>
          <a:ln w="12700">
            <a:solidFill>
              <a:srgbClr val="E3F1F2"/>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502920" y="4320540"/>
            <a:ext cx="274320" cy="274320"/>
          </a:xfrm>
          <a:prstGeom prst="rect">
            <a:avLst/>
          </a:prstGeom>
        </p:spPr>
      </p:pic>
      <p:sp>
        <p:nvSpPr>
          <p:cNvPr id="29" name="Text 21"/>
          <p:cNvSpPr txBox="1"/>
          <p:nvPr/>
        </p:nvSpPr>
        <p:spPr>
          <a:xfrm>
            <a:off x="896112" y="4206240"/>
            <a:ext cx="7772400" cy="502920"/>
          </a:xfrm>
          <a:prstGeom prst="rect">
            <a:avLst/>
          </a:prstGeom>
          <a:noFill/>
          <a:ln/>
        </p:spPr>
        <p:txBody>
          <a:bodyPr wrap="square" lIns="0" tIns="0" rIns="0" bIns="0" rtlCol="0" anchor="ctr"/>
          <a:lstStyle/>
          <a:p>
            <a:pPr marL="0" indent="0">
              <a:buNone/>
            </a:pPr>
            <a:r>
              <a:rPr lang="en-US" sz="1100" b="1" dirty="0">
                <a:solidFill>
                  <a:srgbClr val="1B2A4A"/>
                </a:solidFill>
                <a:latin typeface="Calibri" pitchFamily="34" charset="0"/>
                <a:ea typeface="Calibri" pitchFamily="34" charset="-122"/>
                <a:cs typeface="Calibri" pitchFamily="34" charset="-120"/>
              </a:rPr>
              <a:t>Most failures are decided here, before training: a product metric and a model metric pointing in different directions, or an accurate model nobody acts on.</a:t>
            </a:r>
            <a:endParaRPr lang="en-US" sz="1100" dirty="0"/>
          </a:p>
        </p:txBody>
      </p:sp>
      <p:pic>
        <p:nvPicPr>
          <p:cNvPr id="30"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Activity · 15 minutes in breakout rooms: diagnose a failed deployment</a:t>
            </a:r>
            <a:endParaRPr lang="en-US" sz="2400" dirty="0"/>
          </a:p>
        </p:txBody>
      </p:sp>
      <p:sp>
        <p:nvSpPr>
          <p:cNvPr id="7" name="Shape 4"/>
          <p:cNvSpPr/>
          <p:nvPr/>
        </p:nvSpPr>
        <p:spPr>
          <a:xfrm>
            <a:off x="365760" y="1234440"/>
            <a:ext cx="4114800" cy="3017520"/>
          </a:xfrm>
          <a:prstGeom prst="roundRect">
            <a:avLst>
              <a:gd name="adj" fmla="val 2424"/>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Your task (15 min)</a:t>
            </a:r>
            <a:endParaRPr lang="en-US" sz="1300" dirty="0"/>
          </a:p>
        </p:txBody>
      </p:sp>
      <p:sp>
        <p:nvSpPr>
          <p:cNvPr id="11" name="Text 7"/>
          <p:cNvSpPr txBox="1"/>
          <p:nvPr/>
        </p:nvSpPr>
        <p:spPr>
          <a:xfrm>
            <a:off x="50292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Read the one-page case: NorthRetail demand forecast</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Four things went wrong. For each: which lifecycle stage did it come from? which persona should have caught it? which single control would have prevented it?</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Bonus: what should IT's dashboard have shown?</a:t>
            </a:r>
            <a:endParaRPr lang="en-US" sz="1200" dirty="0"/>
          </a:p>
        </p:txBody>
      </p:sp>
      <p:sp>
        <p:nvSpPr>
          <p:cNvPr id="12" name="Shape 8"/>
          <p:cNvSpPr/>
          <p:nvPr/>
        </p:nvSpPr>
        <p:spPr>
          <a:xfrm>
            <a:off x="4663440" y="1234440"/>
            <a:ext cx="4114800" cy="3017520"/>
          </a:xfrm>
          <a:prstGeom prst="roundRect">
            <a:avLst>
              <a:gd name="adj" fmla="val 2424"/>
            </a:avLst>
          </a:prstGeom>
          <a:solidFill>
            <a:srgbClr val="F3F5F8"/>
          </a:solidFill>
          <a:ln w="12700">
            <a:solidFill>
              <a:srgbClr val="F3F5F8"/>
            </a:solidFill>
            <a:prstDash val="solid"/>
          </a:ln>
        </p:spPr>
        <p:txBody>
          <a:bodyPr/>
          <a:lstStyle/>
          <a:p>
            <a:endParaRPr lang="en-US"/>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How to work</a:t>
            </a:r>
            <a:endParaRPr lang="en-US" sz="1300" dirty="0"/>
          </a:p>
        </p:txBody>
      </p:sp>
      <p:sp>
        <p:nvSpPr>
          <p:cNvPr id="16" name="Text 11"/>
          <p:cNvSpPr txBox="1"/>
          <p:nvPr/>
        </p:nvSpPr>
        <p:spPr>
          <a:xfrm>
            <a:off x="480060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Rooms of 4–5: your future project team</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Fill the diagnostic template from the campus (or a whiteboard)</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Nominate a spokesperson: 2 minutes to present</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Use the vocabulary from today: the nine lifecycle steps, the six personas</a:t>
            </a:r>
            <a:endParaRPr lang="en-US" sz="1200" dirty="0"/>
          </a:p>
        </p:txBody>
      </p:sp>
      <p:sp>
        <p:nvSpPr>
          <p:cNvPr id="17" name="Shape 12"/>
          <p:cNvSpPr/>
          <p:nvPr/>
        </p:nvSpPr>
        <p:spPr>
          <a:xfrm>
            <a:off x="365760" y="4389120"/>
            <a:ext cx="8412480" cy="365760"/>
          </a:xfrm>
          <a:prstGeom prst="roundRect">
            <a:avLst>
              <a:gd name="adj" fmla="val 20000"/>
            </a:avLst>
          </a:prstGeom>
          <a:solidFill>
            <a:srgbClr val="E3F1F2"/>
          </a:solidFill>
          <a:ln w="12700">
            <a:solidFill>
              <a:srgbClr val="E3F1F2"/>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02920" y="4434840"/>
            <a:ext cx="274320" cy="274320"/>
          </a:xfrm>
          <a:prstGeom prst="rect">
            <a:avLst/>
          </a:prstGeom>
        </p:spPr>
      </p:pic>
      <p:sp>
        <p:nvSpPr>
          <p:cNvPr id="19" name="Text 13"/>
          <p:cNvSpPr txBox="1"/>
          <p:nvPr/>
        </p:nvSpPr>
        <p:spPr>
          <a:xfrm>
            <a:off x="896112" y="4389120"/>
            <a:ext cx="7772400" cy="365760"/>
          </a:xfrm>
          <a:prstGeom prst="rect">
            <a:avLst/>
          </a:prstGeom>
          <a:noFill/>
          <a:ln/>
        </p:spPr>
        <p:txBody>
          <a:bodyPr wrap="square" lIns="0" tIns="0" rIns="0" bIns="0" rtlCol="0" anchor="ctr"/>
          <a:lstStyle/>
          <a:p>
            <a:pPr marL="0" indent="0">
              <a:buNone/>
            </a:pPr>
            <a:r>
              <a:rPr lang="en-US" sz="1150" dirty="0">
                <a:solidFill>
                  <a:srgbClr val="1B2A4A"/>
                </a:solidFill>
                <a:latin typeface="Calibri" pitchFamily="34" charset="0"/>
                <a:ea typeface="Calibri" pitchFamily="34" charset="-122"/>
                <a:cs typeface="Calibri" pitchFamily="34" charset="-120"/>
              </a:rPr>
              <a:t>Output per room: one slide or whiteboard. Three rooms present in the debrief; everyone posts theirs on the forum.</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The case: NorthRetail demand forecast (facts only)</a:t>
            </a:r>
            <a:endParaRPr lang="en-US" sz="2400" dirty="0"/>
          </a:p>
        </p:txBody>
      </p:sp>
      <p:sp>
        <p:nvSpPr>
          <p:cNvPr id="7" name="Text 4"/>
          <p:cNvSpPr txBox="1"/>
          <p:nvPr/>
        </p:nvSpPr>
        <p:spPr>
          <a:xfrm>
            <a:off x="365760" y="1234440"/>
            <a:ext cx="5669280" cy="320040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January: a data scientist delivers a demand-forecast model for 400 stores. Accuracy on last year's data: 92%. The project is declared complete.</a:t>
            </a:r>
            <a:endParaRPr lang="en-US" sz="1150" dirty="0"/>
          </a:p>
          <a:p>
            <a:pPr marL="177800" indent="-1778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February: a new supplier system changes the product codes. The model keeps running; the affected features arrive empty, and the model treats them as zero.</a:t>
            </a:r>
            <a:endParaRPr lang="en-US" sz="1150" dirty="0"/>
          </a:p>
          <a:p>
            <a:pPr marL="177800" indent="-1778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March: the commercial team moves to weekly promotions instead of monthly. Nobody tells the data team.</a:t>
            </a:r>
            <a:endParaRPr lang="en-US" sz="1150" dirty="0"/>
          </a:p>
          <a:p>
            <a:pPr marL="177800" indent="-1778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April: the data scientist leaves the company. The model has no documented owner.</a:t>
            </a:r>
            <a:endParaRPr lang="en-US" sz="1150" dirty="0"/>
          </a:p>
          <a:p>
            <a:pPr marL="177800" indent="-1778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January–June: IT's dashboard shows the forecasting service "green" every day: it is up, and it answers in 40 ms.</a:t>
            </a:r>
            <a:endParaRPr lang="en-US" sz="1150" dirty="0"/>
          </a:p>
          <a:p>
            <a:pPr marL="177800" indent="-177800">
              <a:spcAft>
                <a:spcPts val="800"/>
              </a:spcAft>
              <a:buSzPct val="100000"/>
              <a:buChar char="•"/>
            </a:pPr>
            <a:r>
              <a:rPr lang="en-US" sz="1150" dirty="0">
                <a:solidFill>
                  <a:srgbClr val="222222"/>
                </a:solidFill>
                <a:latin typeface="Calibri" pitchFamily="34" charset="0"/>
                <a:ea typeface="Calibri" pitchFamily="34" charset="-122"/>
                <a:cs typeface="Calibri" pitchFamily="34" charset="-120"/>
              </a:rPr>
              <a:t>June: out-of-stock incidents are up 18%; overstock write-offs reach €2.1M. The model is switched off and replaced by last year's manual spreadsheets.</a:t>
            </a:r>
            <a:endParaRPr lang="en-US" sz="1150" dirty="0"/>
          </a:p>
        </p:txBody>
      </p:sp>
      <p:sp>
        <p:nvSpPr>
          <p:cNvPr id="8" name="Shape 5"/>
          <p:cNvSpPr/>
          <p:nvPr/>
        </p:nvSpPr>
        <p:spPr>
          <a:xfrm>
            <a:off x="6309360" y="1234440"/>
            <a:ext cx="2468880" cy="3108960"/>
          </a:xfrm>
          <a:prstGeom prst="roundRect">
            <a:avLst>
              <a:gd name="adj" fmla="val 2963"/>
            </a:avLst>
          </a:prstGeom>
          <a:solidFill>
            <a:srgbClr val="F3F5F8"/>
          </a:solidFill>
          <a:ln w="12700">
            <a:solidFill>
              <a:srgbClr val="F3F5F8"/>
            </a:solidFill>
            <a:prstDash val="solid"/>
          </a:ln>
        </p:spPr>
        <p:txBody>
          <a:bodyPr/>
          <a:lstStyle/>
          <a:p>
            <a:endParaRPr lang="en-US"/>
          </a:p>
        </p:txBody>
      </p:sp>
      <p:sp>
        <p:nvSpPr>
          <p:cNvPr id="9" name="Text 6"/>
          <p:cNvSpPr txBox="1"/>
          <p:nvPr/>
        </p:nvSpPr>
        <p:spPr>
          <a:xfrm>
            <a:off x="6446520" y="1325880"/>
            <a:ext cx="2194560" cy="32004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Diagnostic template</a:t>
            </a:r>
            <a:endParaRPr lang="en-US" sz="1250" dirty="0"/>
          </a:p>
        </p:txBody>
      </p:sp>
      <p:sp>
        <p:nvSpPr>
          <p:cNvPr id="10" name="Text 7"/>
          <p:cNvSpPr txBox="1"/>
          <p:nvPr/>
        </p:nvSpPr>
        <p:spPr>
          <a:xfrm>
            <a:off x="6446520" y="1737360"/>
            <a:ext cx="2194560" cy="256032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What went wrong (4 items)</a:t>
            </a:r>
            <a:endParaRPr lang="en-US" sz="1100" dirty="0"/>
          </a:p>
          <a:p>
            <a:pPr marL="177800" indent="-1778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Lifecycle stage</a:t>
            </a:r>
            <a:endParaRPr lang="en-US" sz="1100" dirty="0"/>
          </a:p>
          <a:p>
            <a:pPr marL="177800" indent="-1778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Persona who should have caught it</a:t>
            </a:r>
            <a:endParaRPr lang="en-US" sz="1100" dirty="0"/>
          </a:p>
          <a:p>
            <a:pPr marL="177800" indent="-1778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One control that would have prevented it</a:t>
            </a:r>
            <a:endParaRPr lang="en-US" sz="1100" dirty="0"/>
          </a:p>
          <a:p>
            <a:pPr marL="177800" indent="-177800">
              <a:spcAft>
                <a:spcPts val="600"/>
              </a:spcAft>
              <a:buSzPct val="100000"/>
              <a:buChar char="•"/>
            </a:pPr>
            <a:r>
              <a:rPr lang="en-US" sz="1100" dirty="0">
                <a:solidFill>
                  <a:srgbClr val="222222"/>
                </a:solidFill>
                <a:latin typeface="Calibri" pitchFamily="34" charset="0"/>
                <a:ea typeface="Calibri" pitchFamily="34" charset="-122"/>
                <a:cs typeface="Calibri" pitchFamily="34" charset="-120"/>
              </a:rPr>
              <a:t>Bonus: what should the IT dashboard have shown?</a:t>
            </a:r>
            <a:endParaRPr lang="en-US" sz="1100" dirty="0"/>
          </a:p>
        </p:txBody>
      </p:sp>
      <p:pic>
        <p:nvPicPr>
          <p:cNvPr id="11"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Debrief: what we heard, and what it tells us</a:t>
            </a:r>
            <a:endParaRPr lang="en-US" sz="2400" dirty="0"/>
          </a:p>
        </p:txBody>
      </p:sp>
      <p:sp>
        <p:nvSpPr>
          <p:cNvPr id="7" name="Shape 4"/>
          <p:cNvSpPr/>
          <p:nvPr/>
        </p:nvSpPr>
        <p:spPr>
          <a:xfrm>
            <a:off x="365760" y="1234440"/>
            <a:ext cx="8412480" cy="2926080"/>
          </a:xfrm>
          <a:prstGeom prst="roundRect">
            <a:avLst>
              <a:gd name="adj" fmla="val 2500"/>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772668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One line per failure</a:t>
            </a:r>
            <a:endParaRPr lang="en-US" sz="1300" dirty="0"/>
          </a:p>
        </p:txBody>
      </p:sp>
      <p:sp>
        <p:nvSpPr>
          <p:cNvPr id="11" name="Text 7"/>
          <p:cNvSpPr txBox="1"/>
          <p:nvPr/>
        </p:nvSpPr>
        <p:spPr>
          <a:xfrm>
            <a:off x="502920" y="1783080"/>
            <a:ext cx="8138160" cy="228600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Empty features after the code change → data validation → data engineer, with the ML engineer → a schema check that stops the pipeline (Session 3)</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Promotions moved to weekly → monitoring and feedback → product owner informs, ML engineer detects → drift monitoring with a retraining trigger (Session 7)</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Nobody owns the model → governance and accountability → product owner accountable, Risk &amp; Compliance informed → a registry entry with a named owner (Sessions 3 and 12)</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Dashboard shows "green" → system performance is not model performance → IT with the ML engineer → monitor forecast error and out-of-stock rate, not only uptime (Sessions 7 and 9)</a:t>
            </a:r>
            <a:endParaRPr lang="en-US" sz="1200" dirty="0"/>
          </a:p>
        </p:txBody>
      </p:sp>
      <p:sp>
        <p:nvSpPr>
          <p:cNvPr id="12" name="Shape 8"/>
          <p:cNvSpPr/>
          <p:nvPr/>
        </p:nvSpPr>
        <p:spPr>
          <a:xfrm>
            <a:off x="365760" y="4297680"/>
            <a:ext cx="8412480" cy="411480"/>
          </a:xfrm>
          <a:prstGeom prst="roundRect">
            <a:avLst>
              <a:gd name="adj" fmla="val 17778"/>
            </a:avLst>
          </a:prstGeom>
          <a:solidFill>
            <a:srgbClr val="E3F1F2"/>
          </a:solidFill>
          <a:ln w="12700">
            <a:solidFill>
              <a:srgbClr val="E3F1F2"/>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502920" y="4366260"/>
            <a:ext cx="274320" cy="274320"/>
          </a:xfrm>
          <a:prstGeom prst="rect">
            <a:avLst/>
          </a:prstGeom>
        </p:spPr>
      </p:pic>
      <p:sp>
        <p:nvSpPr>
          <p:cNvPr id="14" name="Text 9"/>
          <p:cNvSpPr txBox="1"/>
          <p:nvPr/>
        </p:nvSpPr>
        <p:spPr>
          <a:xfrm>
            <a:off x="896112" y="4297680"/>
            <a:ext cx="7772400" cy="41148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Everything you proposed is a session of this course.</a:t>
            </a:r>
            <a:endParaRPr lang="en-US" sz="1300" dirty="0"/>
          </a:p>
        </p:txBody>
      </p:sp>
      <p:pic>
        <p:nvPicPr>
          <p:cNvPr id="15"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29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Three things to remember</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lstStyle/>
          <a:p>
            <a:endParaRPr lang="en-US"/>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A model in production is a running process, not a file.</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Training ends with a file and a score. Operationalising means it answers real requests every day, and someone is accountable.</a:t>
            </a:r>
            <a:endParaRPr lang="en-US" sz="1200" dirty="0"/>
          </a:p>
        </p:txBody>
      </p:sp>
      <p:sp>
        <p:nvSpPr>
          <p:cNvPr id="11" name="Shape 8"/>
          <p:cNvSpPr/>
          <p:nvPr/>
        </p:nvSpPr>
        <p:spPr>
          <a:xfrm>
            <a:off x="365760" y="2377440"/>
            <a:ext cx="640080" cy="640080"/>
          </a:xfrm>
          <a:prstGeom prst="ellipse">
            <a:avLst/>
          </a:prstGeom>
          <a:solidFill>
            <a:srgbClr val="0E7C86"/>
          </a:solidFill>
          <a:ln w="12700">
            <a:solidFill>
              <a:srgbClr val="0E7C86"/>
            </a:solidFill>
            <a:prstDash val="solid"/>
          </a:ln>
        </p:spPr>
        <p:txBody>
          <a:bodyPr/>
          <a:lstStyle/>
          <a:p>
            <a:endParaRPr lang="en-US"/>
          </a:p>
        </p:txBody>
      </p:sp>
      <p:sp>
        <p:nvSpPr>
          <p:cNvPr id="12" name="Text 9"/>
          <p:cNvSpPr txBox="1"/>
          <p:nvPr/>
        </p:nvSpPr>
        <p:spPr>
          <a:xfrm>
            <a:off x="365760" y="23774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28600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The world changes under the model.</a:t>
            </a:r>
            <a:endParaRPr lang="en-US" sz="1600" dirty="0"/>
          </a:p>
        </p:txBody>
      </p:sp>
      <p:sp>
        <p:nvSpPr>
          <p:cNvPr id="14" name="Text 11"/>
          <p:cNvSpPr txBox="1"/>
          <p:nvPr/>
        </p:nvSpPr>
        <p:spPr>
          <a:xfrm>
            <a:off x="1188720" y="269748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Unlike ordinary software, models decay as data and business change. Retraining is a question of when, not if.</a:t>
            </a:r>
            <a:endParaRPr lang="en-US" sz="1200" dirty="0"/>
          </a:p>
        </p:txBody>
      </p:sp>
      <p:sp>
        <p:nvSpPr>
          <p:cNvPr id="15" name="Shape 12"/>
          <p:cNvSpPr/>
          <p:nvPr/>
        </p:nvSpPr>
        <p:spPr>
          <a:xfrm>
            <a:off x="365760" y="3429000"/>
            <a:ext cx="640080" cy="640080"/>
          </a:xfrm>
          <a:prstGeom prst="ellipse">
            <a:avLst/>
          </a:prstGeom>
          <a:solidFill>
            <a:srgbClr val="0E7C86"/>
          </a:solidFill>
          <a:ln w="12700">
            <a:solidFill>
              <a:srgbClr val="0E7C86"/>
            </a:solidFill>
            <a:prstDash val="solid"/>
          </a:ln>
        </p:spPr>
        <p:txBody>
          <a:bodyPr/>
          <a:lstStyle/>
          <a:p>
            <a:endParaRPr lang="en-US"/>
          </a:p>
        </p:txBody>
      </p:sp>
      <p:sp>
        <p:nvSpPr>
          <p:cNvPr id="16" name="Text 13"/>
          <p:cNvSpPr txBox="1"/>
          <p:nvPr/>
        </p:nvSpPr>
        <p:spPr>
          <a:xfrm>
            <a:off x="365760" y="34290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337560"/>
            <a:ext cx="7589520" cy="41148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Six personas, nine hand-overs.</a:t>
            </a:r>
            <a:endParaRPr lang="en-US" sz="1600" dirty="0"/>
          </a:p>
        </p:txBody>
      </p:sp>
      <p:sp>
        <p:nvSpPr>
          <p:cNvPr id="18" name="Text 15"/>
          <p:cNvSpPr txBox="1"/>
          <p:nvPr/>
        </p:nvSpPr>
        <p:spPr>
          <a:xfrm>
            <a:off x="1188720" y="3749040"/>
            <a:ext cx="758952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Most failures happen between roles, not inside them. Decide who is Responsible and who is Accountable for each stage before you start.</a:t>
            </a:r>
            <a:endParaRPr lang="en-US" sz="1200" dirty="0"/>
          </a:p>
        </p:txBody>
      </p:sp>
      <p:pic>
        <p:nvPicPr>
          <p:cNvPr id="19"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Your forum this week: Session 2 · 3–9 October</a:t>
            </a:r>
            <a:endParaRPr lang="en-US" sz="2400" dirty="0"/>
          </a:p>
        </p:txBody>
      </p:sp>
      <p:sp>
        <p:nvSpPr>
          <p:cNvPr id="7" name="Shape 4"/>
          <p:cNvSpPr/>
          <p:nvPr/>
        </p:nvSpPr>
        <p:spPr>
          <a:xfrm>
            <a:off x="365760" y="1280160"/>
            <a:ext cx="502920" cy="502920"/>
          </a:xfrm>
          <a:prstGeom prst="ellipse">
            <a:avLst/>
          </a:prstGeom>
          <a:solidFill>
            <a:srgbClr val="1B2A4A"/>
          </a:solidFill>
          <a:ln w="12700">
            <a:solidFill>
              <a:srgbClr val="1B2A4A"/>
            </a:solidFill>
            <a:prstDash val="solid"/>
          </a:ln>
        </p:spPr>
        <p:txBody>
          <a:bodyPr/>
          <a:lstStyle/>
          <a:p>
            <a:endParaRPr lang="en-US"/>
          </a:p>
        </p:txBody>
      </p:sp>
      <p:sp>
        <p:nvSpPr>
          <p:cNvPr id="8" name="Text 5"/>
          <p:cNvSpPr txBox="1"/>
          <p:nvPr/>
        </p:nvSpPr>
        <p:spPr>
          <a:xfrm>
            <a:off x="365760" y="12801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9" name="Text 6"/>
          <p:cNvSpPr txBox="1"/>
          <p:nvPr/>
        </p:nvSpPr>
        <p:spPr>
          <a:xfrm>
            <a:off x="1051560" y="1234440"/>
            <a:ext cx="7726680" cy="86868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Choose a real or hypothetical company and explain, in a short post, three reasons its ML models might never reach production. Which persona is best positioned to address each?</a:t>
            </a:r>
            <a:endParaRPr lang="en-US" sz="1200" dirty="0"/>
          </a:p>
        </p:txBody>
      </p:sp>
      <p:sp>
        <p:nvSpPr>
          <p:cNvPr id="10" name="Shape 7"/>
          <p:cNvSpPr/>
          <p:nvPr/>
        </p:nvSpPr>
        <p:spPr>
          <a:xfrm>
            <a:off x="365760" y="2240280"/>
            <a:ext cx="502920" cy="502920"/>
          </a:xfrm>
          <a:prstGeom prst="ellipse">
            <a:avLst/>
          </a:prstGeom>
          <a:solidFill>
            <a:srgbClr val="1B2A4A"/>
          </a:solidFill>
          <a:ln w="12700">
            <a:solidFill>
              <a:srgbClr val="1B2A4A"/>
            </a:solidFill>
            <a:prstDash val="solid"/>
          </a:ln>
        </p:spPr>
        <p:txBody>
          <a:bodyPr/>
          <a:lstStyle/>
          <a:p>
            <a:endParaRPr lang="en-US"/>
          </a:p>
        </p:txBody>
      </p:sp>
      <p:sp>
        <p:nvSpPr>
          <p:cNvPr id="11" name="Text 8"/>
          <p:cNvSpPr txBox="1"/>
          <p:nvPr/>
        </p:nvSpPr>
        <p:spPr>
          <a:xfrm>
            <a:off x="365760" y="22402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2" name="Text 9"/>
          <p:cNvSpPr txBox="1"/>
          <p:nvPr/>
        </p:nvSpPr>
        <p:spPr>
          <a:xfrm>
            <a:off x="1051560" y="2194560"/>
            <a:ext cx="7726680" cy="86868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Draft a one-page responsibility map (RACI-style) for a fictional recommendation-model project, assigning the Data Scientist, ML Engineer, IT/DevOps, Product Owner and Risk/Compliance roles across the lifecycle stages.</a:t>
            </a:r>
            <a:endParaRPr lang="en-US" sz="1200" dirty="0"/>
          </a:p>
        </p:txBody>
      </p:sp>
      <p:sp>
        <p:nvSpPr>
          <p:cNvPr id="13" name="Shape 10"/>
          <p:cNvSpPr/>
          <p:nvPr/>
        </p:nvSpPr>
        <p:spPr>
          <a:xfrm>
            <a:off x="365760" y="3200400"/>
            <a:ext cx="502920" cy="502920"/>
          </a:xfrm>
          <a:prstGeom prst="ellipse">
            <a:avLst/>
          </a:prstGeom>
          <a:solidFill>
            <a:srgbClr val="1B2A4A"/>
          </a:solidFill>
          <a:ln w="12700">
            <a:solidFill>
              <a:srgbClr val="1B2A4A"/>
            </a:solidFill>
            <a:prstDash val="solid"/>
          </a:ln>
        </p:spPr>
        <p:txBody>
          <a:bodyPr/>
          <a:lstStyle/>
          <a:p>
            <a:endParaRPr lang="en-US"/>
          </a:p>
        </p:txBody>
      </p:sp>
      <p:sp>
        <p:nvSpPr>
          <p:cNvPr id="14" name="Text 11"/>
          <p:cNvSpPr txBox="1"/>
          <p:nvPr/>
        </p:nvSpPr>
        <p:spPr>
          <a:xfrm>
            <a:off x="365760" y="32004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5" name="Text 12"/>
          <p:cNvSpPr txBox="1"/>
          <p:nvPr/>
        </p:nvSpPr>
        <p:spPr>
          <a:xfrm>
            <a:off x="1051560" y="3154680"/>
            <a:ext cx="7726680" cy="86868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In your own words, define the difference between "training a model" and "operationalising a model", and give one concrete business consequence of confusing the two.</a:t>
            </a:r>
            <a:endParaRPr lang="en-US" sz="1200" dirty="0"/>
          </a:p>
        </p:txBody>
      </p:sp>
      <p:sp>
        <p:nvSpPr>
          <p:cNvPr id="16" name="Shape 13"/>
          <p:cNvSpPr/>
          <p:nvPr/>
        </p:nvSpPr>
        <p:spPr>
          <a:xfrm>
            <a:off x="365760" y="4114800"/>
            <a:ext cx="8412480" cy="457200"/>
          </a:xfrm>
          <a:prstGeom prst="roundRect">
            <a:avLst>
              <a:gd name="adj" fmla="val 16000"/>
            </a:avLst>
          </a:prstGeom>
          <a:solidFill>
            <a:srgbClr val="E3F1F2"/>
          </a:solidFill>
          <a:ln w="12700">
            <a:solidFill>
              <a:srgbClr val="E3F1F2"/>
            </a:solidFill>
            <a:prstDash val="solid"/>
          </a:ln>
        </p:spPr>
        <p:txBody>
          <a:bodyPr/>
          <a:lstStyle/>
          <a:p>
            <a:endParaRPr lang="en-US"/>
          </a:p>
        </p:txBody>
      </p:sp>
      <p:pic>
        <p:nvPicPr>
          <p:cNvPr id="17" name="Image 0" descr="preencoded.png"/>
          <p:cNvPicPr>
            <a:picLocks noChangeAspect="1"/>
          </p:cNvPicPr>
          <p:nvPr/>
        </p:nvPicPr>
        <p:blipFill>
          <a:blip r:embed="rId3"/>
          <a:stretch>
            <a:fillRect/>
          </a:stretch>
        </p:blipFill>
        <p:spPr>
          <a:xfrm>
            <a:off x="502920" y="4206240"/>
            <a:ext cx="274320" cy="274320"/>
          </a:xfrm>
          <a:prstGeom prst="rect">
            <a:avLst/>
          </a:prstGeom>
        </p:spPr>
      </p:pic>
      <p:sp>
        <p:nvSpPr>
          <p:cNvPr id="18" name="Text 14"/>
          <p:cNvSpPr txBox="1"/>
          <p:nvPr/>
        </p:nvSpPr>
        <p:spPr>
          <a:xfrm>
            <a:off x="896112" y="4114800"/>
            <a:ext cx="7772400" cy="457200"/>
          </a:xfrm>
          <a:prstGeom prst="rect">
            <a:avLst/>
          </a:prstGeom>
          <a:noFill/>
          <a:ln/>
        </p:spPr>
        <p:txBody>
          <a:bodyPr wrap="square" lIns="0" tIns="0" rIns="0" bIns="0" rtlCol="0" anchor="ctr"/>
          <a:lstStyle/>
          <a:p>
            <a:pPr marL="0" indent="0">
              <a:buNone/>
            </a:pPr>
            <a:r>
              <a:rPr lang="en-US" sz="1150" dirty="0">
                <a:solidFill>
                  <a:srgbClr val="1B2A4A"/>
                </a:solidFill>
                <a:latin typeface="Calibri" pitchFamily="34" charset="0"/>
                <a:ea typeface="Calibri" pitchFamily="34" charset="-122"/>
                <a:cs typeface="Calibri" pitchFamily="34" charset="-120"/>
              </a:rPr>
              <a:t>Opens today, closes Friday 9 October. Post early; reply to at least two classmates; my synthesis goes up on Friday.</a:t>
            </a:r>
            <a:endParaRPr lang="en-US" sz="1150" dirty="0"/>
          </a:p>
        </p:txBody>
      </p:sp>
      <p:pic>
        <p:nvPicPr>
          <p:cNvPr id="1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marL="0" indent="0">
              <a:buNone/>
            </a:pPr>
            <a:r>
              <a:rPr lang="en-US" sz="800" dirty="0">
                <a:solidFill>
                  <a:srgbClr val="6B7280"/>
                </a:solidFill>
                <a:latin typeface="Calibri" pitchFamily="34" charset="0"/>
                <a:ea typeface="Calibri" pitchFamily="34" charset="-122"/>
                <a:cs typeface="Calibri" pitchFamily="34" charset="-120"/>
              </a:rPr>
              <a:t>MLOps · MBDS-PT2026F · Session 1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marL="0" indent="0" algn="r">
              <a:buNone/>
            </a:pPr>
            <a:r>
              <a:rPr lang="en-US" sz="800" dirty="0">
                <a:solidFill>
                  <a:srgbClr val="6B7280"/>
                </a:solidFill>
                <a:latin typeface="Calibri" pitchFamily="34" charset="0"/>
                <a:ea typeface="Calibri" pitchFamily="34" charset="-122"/>
                <a:cs typeface="Calibri" pitchFamily="34" charset="-120"/>
              </a:rPr>
              <a:t>31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marL="0" indent="0">
              <a:buNone/>
            </a:pPr>
            <a:r>
              <a:rPr lang="en-US" sz="2400" b="1" dirty="0">
                <a:solidFill>
                  <a:srgbClr val="1B2A4A"/>
                </a:solidFill>
                <a:latin typeface="Calibri" pitchFamily="34" charset="0"/>
                <a:ea typeface="Calibri" pitchFamily="34" charset="-122"/>
                <a:cs typeface="Calibri" pitchFamily="34" charset="-120"/>
              </a:rPr>
              <a:t>Before Session 3 (Saturday 10 October): read, and look at one thing</a:t>
            </a:r>
            <a:endParaRPr lang="en-US" sz="2400" dirty="0"/>
          </a:p>
        </p:txBody>
      </p:sp>
      <p:sp>
        <p:nvSpPr>
          <p:cNvPr id="7" name="Shape 4"/>
          <p:cNvSpPr/>
          <p:nvPr/>
        </p:nvSpPr>
        <p:spPr>
          <a:xfrm>
            <a:off x="365760" y="1234440"/>
            <a:ext cx="4114800" cy="201168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Read</a:t>
            </a:r>
            <a:endParaRPr lang="en-US" sz="1300" dirty="0"/>
          </a:p>
        </p:txBody>
      </p:sp>
      <p:sp>
        <p:nvSpPr>
          <p:cNvPr id="11" name="Text 7"/>
          <p:cNvSpPr txBox="1"/>
          <p:nvPr/>
        </p:nvSpPr>
        <p:spPr>
          <a:xfrm>
            <a:off x="50292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Treveil et al., Introducing MLOps (O'Reilly, 2020), chapters 1–3: Why now, People of MLOps, Key features</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Optional: Huyen, Designing Machine Learning Systems (2022), chapter 1</a:t>
            </a:r>
            <a:endParaRPr lang="en-US" sz="1200" dirty="0"/>
          </a:p>
        </p:txBody>
      </p:sp>
      <p:sp>
        <p:nvSpPr>
          <p:cNvPr id="12" name="Shape 8"/>
          <p:cNvSpPr/>
          <p:nvPr/>
        </p:nvSpPr>
        <p:spPr>
          <a:xfrm>
            <a:off x="4663440" y="1234440"/>
            <a:ext cx="4114800" cy="2011680"/>
          </a:xfrm>
          <a:prstGeom prst="roundRect">
            <a:avLst>
              <a:gd name="adj" fmla="val 3636"/>
            </a:avLst>
          </a:prstGeom>
          <a:solidFill>
            <a:srgbClr val="F3F5F8"/>
          </a:solidFill>
          <a:ln w="12700">
            <a:solidFill>
              <a:srgbClr val="F3F5F8"/>
            </a:solidFill>
            <a:prstDash val="solid"/>
          </a:ln>
        </p:spPr>
        <p:txBody>
          <a:bodyPr/>
          <a:lstStyle/>
          <a:p>
            <a:endParaRPr lang="en-US"/>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Look at one thing</a:t>
            </a:r>
            <a:endParaRPr lang="en-US" sz="1300" dirty="0"/>
          </a:p>
        </p:txBody>
      </p:sp>
      <p:sp>
        <p:nvSpPr>
          <p:cNvPr id="16" name="Text 11"/>
          <p:cNvSpPr txBox="1"/>
          <p:nvPr/>
        </p:nvSpPr>
        <p:spPr>
          <a:xfrm>
            <a:off x="4800600" y="1783080"/>
            <a:ext cx="3840480" cy="137160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On campus: the exploratory notebook (PDF, nothing to run)</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Write down three things that look messy or fragile</a:t>
            </a:r>
            <a:endParaRPr lang="en-US" sz="1200" dirty="0"/>
          </a:p>
          <a:p>
            <a:pPr marL="177800" indent="-1778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Session 3 starts from your list</a:t>
            </a:r>
            <a:endParaRPr lang="en-US" sz="1200" dirty="0"/>
          </a:p>
        </p:txBody>
      </p:sp>
      <p:sp>
        <p:nvSpPr>
          <p:cNvPr id="17" name="Shape 12"/>
          <p:cNvSpPr/>
          <p:nvPr/>
        </p:nvSpPr>
        <p:spPr>
          <a:xfrm>
            <a:off x="365760" y="3429000"/>
            <a:ext cx="8412480" cy="914400"/>
          </a:xfrm>
          <a:prstGeom prst="roundRect">
            <a:avLst>
              <a:gd name="adj" fmla="val 8000"/>
            </a:avLst>
          </a:prstGeom>
          <a:solidFill>
            <a:srgbClr val="1B2A4A"/>
          </a:solidFill>
          <a:ln w="12700">
            <a:solidFill>
              <a:srgbClr val="1B2A4A"/>
            </a:solidFill>
            <a:prstDash val="solid"/>
          </a:ln>
        </p:spPr>
        <p:txBody>
          <a:bodyPr/>
          <a:lstStyle/>
          <a:p>
            <a:endParaRPr lang="en-US"/>
          </a:p>
        </p:txBody>
      </p:sp>
      <p:sp>
        <p:nvSpPr>
          <p:cNvPr id="18" name="Text 13"/>
          <p:cNvSpPr txBox="1"/>
          <p:nvPr/>
        </p:nvSpPr>
        <p:spPr>
          <a:xfrm>
            <a:off x="548640" y="3474720"/>
            <a:ext cx="80467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Next: Session 3 · ML Pipelines, Environments &amp; Security</a:t>
            </a:r>
            <a:endParaRPr lang="en-US" sz="1400" dirty="0"/>
          </a:p>
        </p:txBody>
      </p:sp>
      <p:sp>
        <p:nvSpPr>
          <p:cNvPr id="19" name="Text 14"/>
          <p:cNvSpPr txBox="1"/>
          <p:nvPr/>
        </p:nvSpPr>
        <p:spPr>
          <a:xfrm>
            <a:off x="548640" y="3840480"/>
            <a:ext cx="8046720" cy="45720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From notebook to pipeline · why Dev, QA and Prod are separate · how a model can be attacked, and how to protect it</a:t>
            </a:r>
            <a:endParaRPr lang="en-US" sz="1200" dirty="0"/>
          </a:p>
        </p:txBody>
      </p:sp>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8317</Words>
  <Application>Microsoft Macintosh PowerPoint</Application>
  <PresentationFormat>On-screen Show (16:9)</PresentationFormat>
  <Paragraphs>629</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Session 1 – Foundations, Personas &amp; the MLOps Lifecycle</dc:title>
  <dc:subject>PptxGenJS Presentation</dc:subject>
  <dc:creator>Juan Manuel Ramírez García</dc:creator>
  <cp:lastModifiedBy>JUAN MANUEL RAMIREZ</cp:lastModifiedBy>
  <cp:revision>2</cp:revision>
  <dcterms:created xsi:type="dcterms:W3CDTF">2026-08-26T12:41:35Z</dcterms:created>
  <dcterms:modified xsi:type="dcterms:W3CDTF">2026-10-03T09:41:38Z</dcterms:modified>
</cp:coreProperties>
</file>
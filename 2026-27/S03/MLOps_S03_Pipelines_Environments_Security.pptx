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335"/>
    <p:restoredTop sz="94610"/>
  </p:normalViewPr>
  <p:slideViewPr>
    <p:cSldViewPr snapToGrid="0" snapToObjects="1">
      <p:cViewPr varScale="1">
        <p:scale>
          <a:sx n="184" d="100"/>
          <a:sy n="184" d="100"/>
        </p:scale>
        <p:origin x="576"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notesMaster" Target="notesMasters/notesMaster1.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338801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screen 5 minutes before the start. Greet people by name as they arrive; tell them María's notebook is on the campus and we will look at it together in a few minutes.
Opening line (1 min): "Last week we said a model in production is a running process, not a file. Today we take the process apart: how a notebook becomes a pipeline, why companies keep three copies of everything (Dev, QA, Prod), and how a model can be attacked."
Housekeeping: same rhythm as last week; break at minute 46; one breakout after it; the forum opens tonight.
Timing: leave this slide by minute 2.</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column: two quotes from the Forum 1 synthesis. Read Marcos's aloud and thank him: it is Session 1's key idea in his words. Then Armen's, and add Khem's longer version of the same point: “the platform can be 100% up while every order proposal is wrong” (infrastructure health is not model health; Session 7 returns to it). The misconception of the week matches your Friday synthesis: operationalising is not “putting it on a server”; it means today's data, an output that lands where a decision is made, and a named person accountable. Two reminders: Julio M.'s open question (does a retrained model go back through validation?) is answered on slide 19; and declare AI use on every forum post, replies included. Then the outcomes.
Right column: the agenda. Same shape as last week: concept blocks, a demo, a poll, break, one breakout, debrief.
Timing: minute 2–4.</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have only just received the notebook, so explore it together. Share the PDF (S04/notebook/churn_exploration.pdf) for about two minutes and point at four things: the title "churn analysis v3 (FINAL)" with "Don't run all cells at once, some of them are old"; the cell numbers out of order; the laptop path to the data file; "looks fine" printed next to impossible values (-1 support tickets, a 999 charge). Ask the chat: "type one thing that looks messy or fragile". Come back to this slide, read four or five answers and sort them into the three columns (pre-filled with what is in the notebook: tick what they spotted, point at what they missed).
The point: every "messy thing" is a failure waiting to happen in production, and each column is a section of today. Do not diagnose the notebook fully; Forum 2 Q1 asks them to.
Timing: minute 4–7.</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map of concerns from last year's deck, now as the map of the course. Read the column headers only; give one example question per column for the four on the left (today). The two on the right are Sessions 5 and 7. The two bars at the bottom apply everywhere.
Say: "Your group project is, essentially, this table filled in for a real scenario, with a roadmap and owners."
Timing: minute 7–8 (read only the column headings).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Minute 8. The image for this block: a notebook is a workshop where one craftsman makes one thing; a pipeline is a factory that makes the same thing every time, with quality control at each station.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Demystify. In theory a model is a projection of reality. In practice, once trained, it is a mathematical formula that turns inputs into an output, one row at a time: a probability, a category, a number. Stateless and deterministic: same inputs, same output. From an operations point of view it does not matter whether it is ML or a hand-written rule.
The important part is the right-hand box: the formula is useless without the transformations that produce its inputs. "Monthly charges divided by tickets plus one" must be computed exactly the same way in production as in the notebook. That is why María's notebook cannot be handed to IT: the transformations are scattered across 20 cells.
Timing: minute 8–10.</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the notebook as students saw it; a tangle where loading, cleaning, features, training and evaluation are interleaved and depend on the order in which a human ran them. Right: the same work as four labelled steps, each with an input, an output and a check, that a machine can run in the same order every time.
Three properties of the right-hand side: each step can be tested on its own; each step can be re-run alone when it fails; and anyone can read the drawing and know what the system does. This is Forum 2, question 1: they will draw the right-hand side for María's notebook.
Timing: minute 10–13.</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Benefits from Hapke &amp; Nelson: when new data arrives, the whole chain (validate, pre-process, train, analyse, deploy) runs on its own; people work on new models instead of babysitting old ones; a whole class of bugs disappears (the classic: someone changes pre-processing after training, and nobody can debug it); experiments and releases are tracked; everything is standardised.
Bottom: orchestration in one breath. Steps must run in the right order, and a step cannot start until its inputs exist; the drawing of that is a DAG (directed: arrows have a direction; acyclic: no loops back). Tools like Airflow or Kubeflow do the scheduling. Name them; do not explain them.
Timing: minute 13–16.</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Minute 16. Three steps of the lifecycle, and, in practice, most of the calendar of any ML project.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Condensed from the "key questions about data" list. Read each as a question a product owner can ask without knowing any statistics. The two in orange are the ones that kill projects late: data that exists in the warehouse but not at the moment of prediction, and data that legally cannot be used.
Ask the chat: "Which of these did NorthRetail get wrong?" (Availability: the product codes changed; governance: nobody owned the data contract.)
Timing: minute 16–18.</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columns from last year's "notice the difference" slide, simplified. Model development: data extracted from live systems, warehoused offline, cleaned at leisure, sometimes large unstructured history. Model in production: real-time streams, whatever arrives, no time to analyse.
Two rules. The structures must be the same (a column called "MonthlyCharges" in the warehouse and "monthly_charges_eur" in the stream is a bug waiting to happen). And the data must be obtainable at the moment of the decision: a fraud model cannot wait for tonight's warehouse load.
Timing: minute 18–20.</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habits. Splits: training, evaluation and test sets are decided once and preserved; the notebook re-split at random every run, which is why the accuracy changed every day. Snapshots ("spans"): every hour, day or week the ingestion step takes a snapshot and gives it a number; the model is trained on span 12, not on "the data". Fingerprint: a hash of the dataset is stored with the model, so later you can prove that the data used for training is the data you think it is. Without this, reproducibility is a hope, and audit is impossible.
Timing: minute 20–22.</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validation is the most important checkpoint: it catches changes in the incoming data before the expensive pre-processing and training steps, and before a bad model is deployed. Three checks: anomalies (impossible values, empty columns, duplicates); schema (the columns, types and ranges are what we expect); statistics (the new dataset still looks like the previous training datasets: same distribution, roughly).
Callback: NorthRetail's empty product-code features and the demo repository's "Fix" commit are check 1 and check 2. The 60%-empty extract you will see in MLflow is check 1 (anomalies) catching what the accuracy metric barely showed.
Tools exist (TensorFlow Data Validation, Great Expectations, Evidently); name them, do not show them.
Timing: minute 22–25.</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Training-serving skew: the pre-processing used during training drifts from the pre-processing used at inference. Typical cause: the data scientist normalises in pandas, the engineer re-implements it in the API, and the two disagree (the mean used for scaling was computed on a different dataset). Fix: pre-processing is a pipeline step whose code is shared by training and scoring, not re-written.
Feature engineering: yes, new variables make the model more accurate; but every engineered feature must be reproducible in the operational system, and complexity costs money and explainability (the triangle).
Feature store: a shared, versioned library of features used for both training and scoring, so 40 models do not each compute "customer tenure" differently. One slide only; concerns: rigidity, complexity.
Timing: minute 25–28.</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Experimentation means trying many combinations: algorithms, features, settings. Trying them by hand quickly becomes untraceable (the three copy-pasted random forests). Two pieces of memory fix it. The experiment log records every run: which code, which data version, which settings, which metrics, and the model file itself. The registry is the shortlist: the models that matter, each with a version number, an owner, a status (in production, candidate, retired) and the run it came from.
Then the demo (7 minutes): MLflow, in the browser, with five runs already logged. Script in MLOps_S03_Demo_Script.md. Do not type commands; do not open code. Optional, if the runs table goes quickly: register the rf-100 run live as version 3 ("registering is cheap, promoting is the gate") and, at most, move the production alias to version 2. Reset with rebuild_demo.command afterwards.
Timing: minute 28–35 including the demo (36 with the optional registration).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 the demo in memory: three things. The runs table (every attempt, comparable in one view; the best number is not automatically the best model). The rejected run (accuracy 0.80, barely lower, but the data was 60% empty; only validation caught it). The registry (version 1 in production with an owner and an approval date; version 2 a candidate waiting for sign-off; the alias is what the application points to, so promoting a model is changing a pointer, not copying files). If you registered rf-100 live, add: "registering took three seconds and gave it nothing: no alias, no owner. Registering is cheap; promoting is the gate."
Bridge: "The registry says which model is approved. It does not say where it runs. That is the next block."
Timing: minute 35–36.</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Minute 36. This block answers Forum 2, question 2, directly.</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step of preparing for production: make sure it is technically possible. Production environments vary: a data-science platform, a custom service, a Kubernetes cluster, a Java application, an embedded device. Ideally the validated model goes to production as is. In practice there is often an adaptation, sometimes a complete re-implementation by another team in another language, which takes hours, days or weeks and introduces its own bugs.
Three reasons for adaptation, from last year: tooling (the model is scikit-learn, production expects a Java-compatible format such as PMML or ONNX); performance (Python is slow per record; the device is low-power); data access (the features must be reachable from where the model runs). Lesson: decide the production format at the start, not at the end.
Timing: minute 36–38.</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recurring diagram of this session. Dev: where data scientists and engineers build; anything goes; sample data, may be broken. QA (also called staging or pre-production): a copy of production, same infrastructure, same data shapes, where the model is tested as if live, with no real customers. Prod: real customers, real money; only what passed QA gets in.
The two gates matter more than the three boxes. Gate 1 (Dev → QA): tests pass, data validated, model registered with a version. Gate 2 (QA → Prod): behaves like production (latency, load), sign-off by the accountable owner, rollback plan. Who can promote: not the person who built it.
Forum 1 callback: answer Julio M.'s open question here. Does a model retrained after drift go back through validation? Yes: a retrained model is a new version, so it passes Gate 1 and Gate 2 like any other. Otherwise, as the synthesis said, the ML engineer is approving a new model alone.
Timing: minute 38–41.</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Forum 2, question 2, in one slide. Six things, each of which has happened somewhere: the laptop had a library version that production does not; the pre-processing was in cells that were not shipped; nobody tested the latency under load; the data scientist used a test file, not the live feed; there is no version, so there is nothing to roll back to; and nobody signed off, so nobody is accountable.
Then the chat poll (2 minutes): the statement on screen. Read two contrasting answers. Do not resolve; send it to Forum 2 Optional Theme B ("skip QA to hit the launch date"). The honest answer: sometimes yes, for a low-risk internal model, with a named owner and a rollback plan; never for a customer-facing model.
Timing: minute 41–44.</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Reproducibility: the ability to re-run the exact same experiment: documentation, the data used, and an artefact that bundles the model with the full specification of its environment. Auditability: the full history of the pipeline from a central, reliable place, for every model version: documentation, the runnable artefact, test results including explanations and fairness reports, logs and monitoring metadata.
Lineage is the picture: from a single prediction made on 14 April you can walk back to the model version, the run that produced it, the code commit, the data snapshot, and who approved it. This is also how you detect an attack or an integrity problem after the fact (Forum 2, Q3): if predictions went wrong from a certain day, lineage tells you which data snapshot and which change entered that day.
Timing: minute 44–46. Then the break.</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Five-minute break at minute 46. The question on screen primes the security block. Check the breakout rooms.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Minute 51. Seven minutes: risk sources, four attacks, controls. Then the activity brief.</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with three questions from last year: what if the model acts in the worst imaginable way? what if a user manages to extract the training data or the model's logic? what are the financial, legal, safety and reputational consequences? Then the sources: bugs in design, training or data preparation; bugs in the runtime or in the conversion between environments; low-quality training data; production data different from training data; error rates as expected but with worse consequences than expected; misuse or misinterpretation of outputs; adversarial attacks; legal liability; reputational damage from bias. Amplified by broad use, a fast-changing environment and interactions between models.
Mention the IBM AI Risk Atlas as a catalogue organised by input, training, inference, output and non-technical risks; it is the reference for the group project.
Timing: minute 51–53.</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minute per threat, with a concrete story each. Data poisoning: the attacker corrupts the training data so the model learns something wrong (a fraud ring makes its pattern look normal in the labelled data; control: validation, provenance of labels, lineage). Adversarial input / evasion: the attacker crafts inputs that the model misreads (transactions just below a threshold at a merchant type the model trusts; control: monitoring for probing patterns, rate limits, retraining on discovered patterns, never exposing raw scores). Model extraction and inversion: by querying the API many times the attacker rebuilds the model or recovers training data (control: authentication, rate limits, output rounding, monitoring of query patterns). Prompt injection: for LLM applications, instructions hidden in the input hijack the model (control: input filtering, output guardrails; Session 10).
Mention the two public catalogues: OWASP Machine Learning Top 10 and MITRE ATLAS. Names only.
Timing: minute 53–56.</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risk identification come controls. Three groups, from last year's slide simplified. Information-security controls the company already has (access, encryption, backups, incident handling, audits): apply them to data, models and endpoints. AI-specific controls: drift detection and retraining, protection of endpoints against probing and injection, security of training datasets. AI-system-level controls: a register of AI systems, risk assessments, data governance with lineage, model monitoring, bias checks, accountability.
The activity asks them to pick controls for three threats and to say who owns each and how it would be detected. Point at the three columns: "your answers come from here".
Timing: minute 56–58. Then the activity brief.</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Brief before sending them to rooms; the brief and the case are on campus.
Every room gets the same one-page case: IberBank's card-fraud model, with three incidents from last year: a data-integrity incident, an adversarial incident and an environment incident. For each, they fill a row of the blueprint: threat, lifecycle stage where it enters, one control, who owns the control, how you would detect the threat (which lineage or monitoring signal). Bonus: which of the three would a financial regulator care about most, and why (a preview of Session 12).
Output: one slide or whiteboard; spokesperson; three rooms present.
Timing: brief 58–60; case 60–61; rooms 61–76; debrief 76–86.</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facts once, aloud, without diagnosing. The three incidents are of different kinds on purpose: integrity (the vendor feed), adversarial (the fraud ring probing the threshold), environment (the Friday hotfix from a laptop). Full text on campus. Send them to rooms at minute 61.</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rooms present (76–82), then four minutes of synthesis with this slide (82–86).
Expected: Incident 1, integrity → enters at data ingestion/validation → control: schema and range validation on the feed plus a contract with the vendor → owner: data engineer → detection: validation report per span, a spike in blocked transactions per merchant. Incident 2, adversarial evasion → enters at inference (model feedback) → control: monitoring for probing patterns (many small transactions just under a threshold), never a fixed public threshold, retrain on discovered patterns → owner: ML engineer with the fraud team → detection: transaction patterns by merchant and amount band, chargebacks arriving 60 days later confirm. Incident 3, environment → enters at deployment → control: the two gates: no promotion from a laptop, QA sign-off, a versioned artefact and rollback → owner: product owner accountable, ML engineer responsible, IT enforcing → detection: lineage shows a change without a QA record; false-positive rate over the weekend.
Bonus: the regulator cares most about incident 3 (no human oversight, no record) and about false blocks affecting customers (incident 1). Careful with the EU AI Act: it lists credit scoring as high-risk but explicitly excludes fraud detection (Annex III, point 5(b)), so this model is not high-risk under the Act. The pressure here comes from banking supervisors (model-risk and IT-change controls) and from GDPR's safeguards for automated decisions that significantly affect people. Session 12.
Close: "Every control you named is a step in the pipeline or a gate between environments. That is what MLOps is."
Timing: minute 76–86.</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Cheat-sheet material. Read slowly. Timing: minute 86–87.</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three questions; verbatim from the syllabus. Point to where each was covered: Q1 = the notebook-vs-pipeline slide and the lifecycle; Q2 = the three-environments slide and the laptop-to-production slide; Q3 = the four attacks, the controls and the lineage slide. The poll from earlier is Optional Theme B (all themes are optional).
Timing: minute 87–89.</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Treveil chapters 5 and 6 (Preparing for production; Deploying to production) and the first half of the Google Cloud whitepaper "MLOps: continuous delivery and automation pipelines in machine learning" (up to "MLOps level 1"). Optional: Huyen chapter 7.
Look at one thing: the demo repository's Actions tab, where every push shows a green tick or a red cross; note what the tick is checking. Session 5 starts there.
Preview: CI/CD for models, tests for code and tests for data, and how to release a model to customers without downtime: canary, blue-green, A/B. Thank them; stop on time. Minute 89–90.</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divider. Not covered live. Kept from last year for students who want the technical detail of model tuning.</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covered live. Hyperparameters are configuration variables set before training (number of trees, depth, learning rate), not learned from the data. Tuning runs many trials, each a complete training with different values within limits you set. There is little universal advice; experience with the technique is what tells you which settings matter.</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covered live. Grid search tries every combination of a list of values per hyperparameter; exhaustive and expensive. Random search samples combinations at random within ranges; usually finds good settings faster. Bayesian optimisation uses the results of previous trials to choose the next candidate (a surrogate model estimates how good a candidate will be); more efficient, but starts cold with random trials.</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covered live. AutoML tools (cloud AutoML services, DataRobot, IBM AutoAI, auto-sklearn) automate algorithm selection, feature pre-processing and hyperparameter search, and often ensembling. They estimate performance, select features and sometimes explain the model. They do not decide what to predict, whether the data is allowed, or what "good enough" means; domain knowledge becomes more important, not less.</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covered live but useful for the group project. Model analysis and validation, after training: do not rely on the single metric used during training; look at several; check how predictions react to changes in inputs; split by subpopulation (is the error rate the same for men and women, for regions, for new and old customers?); and check that the new model is actually better than the one in production. Session 7 returns to fairness by segment.</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covered live unless someone asks "what does logging to MLflow actually look like?" (or use it in Optional C of the demo, with the real file train_with_mlflow.py open in an editor). Left: a plain training script, the kind María would write once she moved out of the notebook. Right: the same script with the MLflow lines added. Nothing about the model changes; what changes is that every run is now recorded, comparable, taggable and, if you choose, registered. Point at the four kinds of things it records: the settings (what was tried), the metrics (how good it was), the tags (who, for whom, why) and the model file itself.</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8.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8.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8.png"/><Relationship Id="rId7"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6.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5.png"/><Relationship Id="rId8" Type="http://schemas.openxmlformats.org/officeDocument/2006/relationships/image" Target="../media/image15.png"/><Relationship Id="rId9" Type="http://schemas.openxmlformats.org/officeDocument/2006/relationships/image" Target="../media/image16.png"/><Relationship Id="rId10"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7.png"/><Relationship Id="rId4" Type="http://schemas.openxmlformats.org/officeDocument/2006/relationships/image" Target="../media/image3.png"/><Relationship Id="rId5" Type="http://schemas.openxmlformats.org/officeDocument/2006/relationships/image" Target="../media/image18.png"/><Relationship Id="rId6"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image" Target="../media/image8.png"/><Relationship Id="rId7"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2.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7.png"/><Relationship Id="rId4" Type="http://schemas.openxmlformats.org/officeDocument/2006/relationships/image" Target="../media/image23.png"/><Relationship Id="rId5"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7.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image" Target="../media/image24.png"/><Relationship Id="rId6" Type="http://schemas.openxmlformats.org/officeDocument/2006/relationships/image" Target="../media/image8.png"/><Relationship Id="rId7"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8.png"/><Relationship Id="rId4" Type="http://schemas.openxmlformats.org/officeDocument/2006/relationships/image" Target="../media/image13.png"/><Relationship Id="rId5" Type="http://schemas.openxmlformats.org/officeDocument/2006/relationships/image" Target="../media/image6.png"/><Relationship Id="rId6" Type="http://schemas.openxmlformats.org/officeDocument/2006/relationships/image" Target="../media/image8.png"/><Relationship Id="rId7"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image" Target="../media/image13.png"/><Relationship Id="rId6" Type="http://schemas.openxmlformats.org/officeDocument/2006/relationships/image" Target="../media/image6.png"/><Relationship Id="rId7" Type="http://schemas.openxmlformats.org/officeDocument/2006/relationships/image" Target="../media/image11.png"/><Relationship Id="rId8" Type="http://schemas.openxmlformats.org/officeDocument/2006/relationships/image" Target="../media/image30.png"/><Relationship Id="rId9" Type="http://schemas.openxmlformats.org/officeDocument/2006/relationships/image" Target="../media/image16.png"/><Relationship Id="rId10"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5.png"/><Relationship Id="rId4" Type="http://schemas.openxmlformats.org/officeDocument/2006/relationships/image" Target="../media/image31.png"/><Relationship Id="rId5" Type="http://schemas.openxmlformats.org/officeDocument/2006/relationships/image" Target="../media/image32.png"/><Relationship Id="rId6"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7.png"/><Relationship Id="rId4" Type="http://schemas.openxmlformats.org/officeDocument/2006/relationships/image" Target="../media/image33.png"/><Relationship Id="rId5" Type="http://schemas.openxmlformats.org/officeDocument/2006/relationships/image" Target="../media/image34.png"/><Relationship Id="rId6" Type="http://schemas.openxmlformats.org/officeDocument/2006/relationships/image" Target="../media/image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35.png"/><Relationship Id="rId4" Type="http://schemas.openxmlformats.org/officeDocument/2006/relationships/image" Target="../media/image36.png"/><Relationship Id="rId5" Type="http://schemas.openxmlformats.org/officeDocument/2006/relationships/image" Target="../media/image37.png"/><Relationship Id="rId6" Type="http://schemas.openxmlformats.org/officeDocument/2006/relationships/image" Target="../media/image38.png"/><Relationship Id="rId7" Type="http://schemas.openxmlformats.org/officeDocument/2006/relationships/image" Target="../media/image39.png"/><Relationship Id="rId8" Type="http://schemas.openxmlformats.org/officeDocument/2006/relationships/image" Target="../media/image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40.png"/><Relationship Id="rId4" Type="http://schemas.openxmlformats.org/officeDocument/2006/relationships/image" Target="../media/image41.png"/><Relationship Id="rId5" Type="http://schemas.openxmlformats.org/officeDocument/2006/relationships/image" Target="../media/image15.png"/><Relationship Id="rId6" Type="http://schemas.openxmlformats.org/officeDocument/2006/relationships/image" Target="../media/image8.png"/><Relationship Id="rId7" Type="http://schemas.openxmlformats.org/officeDocument/2006/relationships/image" Target="../media/image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41.png"/><Relationship Id="rId4" Type="http://schemas.openxmlformats.org/officeDocument/2006/relationships/image" Target="../media/image42.png"/><Relationship Id="rId5" Type="http://schemas.openxmlformats.org/officeDocument/2006/relationships/image" Target="../media/image8.png"/><Relationship Id="rId6" Type="http://schemas.openxmlformats.org/officeDocument/2006/relationships/image" Target="../media/image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8.png"/><Relationship Id="rId4" Type="http://schemas.openxmlformats.org/officeDocument/2006/relationships/image" Target="../media/image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43.png"/><Relationship Id="rId4" Type="http://schemas.openxmlformats.org/officeDocument/2006/relationships/image" Target="../media/image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34.png"/><Relationship Id="rId4" Type="http://schemas.openxmlformats.org/officeDocument/2006/relationships/image" Target="../media/image44.png"/><Relationship Id="rId5" Type="http://schemas.openxmlformats.org/officeDocument/2006/relationships/image" Target="../media/image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28.png"/><Relationship Id="rId4" Type="http://schemas.openxmlformats.org/officeDocument/2006/relationships/image" Target="../media/image17.png"/><Relationship Id="rId5" Type="http://schemas.openxmlformats.org/officeDocument/2006/relationships/image" Target="../media/image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26.png"/><Relationship Id="rId4" Type="http://schemas.openxmlformats.org/officeDocument/2006/relationships/image" Target="../media/image19.png"/><Relationship Id="rId5" Type="http://schemas.openxmlformats.org/officeDocument/2006/relationships/image" Target="../media/image33.png"/><Relationship Id="rId6" Type="http://schemas.openxmlformats.org/officeDocument/2006/relationships/image" Target="../media/image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9.png"/><Relationship Id="rId4" Type="http://schemas.openxmlformats.org/officeDocument/2006/relationships/image" Target="../media/image30.png"/><Relationship Id="rId5" Type="http://schemas.openxmlformats.org/officeDocument/2006/relationships/image" Target="../media/image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a:effectLst/>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marL="0" indent="0">
              <a:buNone/>
            </a:pPr>
            <a:r>
              <a:rPr lang="en-US" sz="900" dirty="0">
                <a:solidFill>
                  <a:srgbClr val="B8C4D6"/>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marL="0" indent="0">
              <a:buNone/>
            </a:pPr>
            <a:r>
              <a:rPr lang="en-US" sz="800" dirty="0">
                <a:solidFill>
                  <a:srgbClr val="B8C4D6"/>
                </a:solidFill>
                <a:latin typeface="Calibri" pitchFamily="34" charset="0"/>
                <a:ea typeface="Calibri" pitchFamily="34" charset="-122"/>
                <a:cs typeface="Calibri" pitchFamily="34" charset="-120"/>
              </a:rPr>
              <a:t>MLOps · MBDS-PT2026F · Session 3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marL="0" indent="0" algn="r">
              <a:buNone/>
            </a:pPr>
            <a:r>
              <a:rPr lang="en-US" sz="800" dirty="0">
                <a:solidFill>
                  <a:srgbClr val="B8C4D6"/>
                </a:solidFill>
                <a:latin typeface="Calibri" pitchFamily="34" charset="0"/>
                <a:ea typeface="Calibri" pitchFamily="34" charset="-122"/>
                <a:cs typeface="Calibri" pitchFamily="34" charset="-120"/>
              </a:rPr>
              <a:t>1</a:t>
            </a:r>
            <a:endParaRPr lang="en-US" sz="800" dirty="0"/>
          </a:p>
        </p:txBody>
      </p:sp>
      <p:sp>
        <p:nvSpPr>
          <p:cNvPr id="5" name="Text 3"/>
          <p:cNvSpPr txBox="1"/>
          <p:nvPr/>
        </p:nvSpPr>
        <p:spPr>
          <a:xfrm>
            <a:off x="548640" y="822960"/>
            <a:ext cx="8046720" cy="457200"/>
          </a:xfrm>
          <a:prstGeom prst="rect">
            <a:avLst/>
          </a:prstGeom>
          <a:noFill/>
          <a:ln/>
        </p:spPr>
        <p:txBody>
          <a:bodyPr wrap="square" lIns="0" tIns="0" rIns="0" bIns="0" rtlCol="0" anchor="ctr"/>
          <a:lstStyle/>
          <a:p>
            <a:pPr marL="0" indent="0">
              <a:buNone/>
            </a:pPr>
            <a:r>
              <a:rPr lang="en-US" sz="1600" dirty="0">
                <a:solidFill>
                  <a:srgbClr val="CADCFC"/>
                </a:solidFill>
                <a:latin typeface="Calibri" pitchFamily="34" charset="0"/>
                <a:ea typeface="Calibri" pitchFamily="34" charset="-122"/>
                <a:cs typeface="Calibri" pitchFamily="34" charset="-120"/>
              </a:rPr>
              <a:t>MLOps: Machine Learning Operations</a:t>
            </a:r>
            <a:endParaRPr lang="en-US" sz="1600" dirty="0"/>
          </a:p>
        </p:txBody>
      </p:sp>
      <p:sp>
        <p:nvSpPr>
          <p:cNvPr id="6" name="Text 4"/>
          <p:cNvSpPr txBox="1"/>
          <p:nvPr/>
        </p:nvSpPr>
        <p:spPr>
          <a:xfrm>
            <a:off x="548640" y="1280160"/>
            <a:ext cx="8046720" cy="457200"/>
          </a:xfrm>
          <a:prstGeom prst="rect">
            <a:avLst/>
          </a:prstGeom>
          <a:noFill/>
          <a:ln/>
        </p:spPr>
        <p:txBody>
          <a:bodyPr wrap="square" lIns="0" tIns="0" rIns="0" bIns="0" rtlCol="0" anchor="ctr"/>
          <a:lstStyle/>
          <a:p>
            <a:pPr marL="0" indent="0">
              <a:buNone/>
            </a:pPr>
            <a:r>
              <a:rPr lang="en-US" sz="2000" b="1" dirty="0">
                <a:solidFill>
                  <a:srgbClr val="CADCFC"/>
                </a:solidFill>
                <a:latin typeface="Calibri" pitchFamily="34" charset="0"/>
                <a:ea typeface="Calibri" pitchFamily="34" charset="-122"/>
                <a:cs typeface="Calibri" pitchFamily="34" charset="-120"/>
              </a:rPr>
              <a:t>Session 3</a:t>
            </a:r>
            <a:endParaRPr lang="en-US" sz="2000" dirty="0"/>
          </a:p>
        </p:txBody>
      </p:sp>
      <p:sp>
        <p:nvSpPr>
          <p:cNvPr id="7" name="Text 5"/>
          <p:cNvSpPr txBox="1"/>
          <p:nvPr/>
        </p:nvSpPr>
        <p:spPr>
          <a:xfrm>
            <a:off x="548640" y="1737360"/>
            <a:ext cx="8046720" cy="1097280"/>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ML Pipelines, Environments &amp; Security</a:t>
            </a:r>
            <a:endParaRPr lang="en-US" sz="3600" dirty="0"/>
          </a:p>
        </p:txBody>
      </p:sp>
      <p:sp>
        <p:nvSpPr>
          <p:cNvPr id="8" name="Text 6"/>
          <p:cNvSpPr txBox="1"/>
          <p:nvPr/>
        </p:nvSpPr>
        <p:spPr>
          <a:xfrm>
            <a:off x="548640" y="3017520"/>
            <a:ext cx="8046720" cy="365760"/>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Juan Manuel Ramírez García · jramirezg@faculty.ie.edu</a:t>
            </a:r>
            <a:endParaRPr lang="en-US" sz="1400" dirty="0"/>
          </a:p>
        </p:txBody>
      </p:sp>
      <p:sp>
        <p:nvSpPr>
          <p:cNvPr id="9" name="Text 7"/>
          <p:cNvSpPr txBox="1"/>
          <p:nvPr/>
        </p:nvSpPr>
        <p:spPr>
          <a:xfrm>
            <a:off x="548640" y="3383280"/>
            <a:ext cx="8046720" cy="365760"/>
          </a:xfrm>
          <a:prstGeom prst="rect">
            <a:avLst/>
          </a:prstGeom>
          <a:noFill/>
          <a:ln/>
        </p:spPr>
        <p:txBody>
          <a:bodyPr wrap="square" lIns="0" tIns="0" rIns="0" bIns="0" rtlCol="0" anchor="ctr"/>
          <a:lstStyle/>
          <a:p>
            <a:pPr marL="0" indent="0">
              <a:buNone/>
            </a:pPr>
            <a:r>
              <a:rPr lang="en-US" sz="1200" dirty="0">
                <a:solidFill>
                  <a:srgbClr val="B8C4D6"/>
                </a:solidFill>
                <a:latin typeface="Calibri" pitchFamily="34" charset="0"/>
                <a:ea typeface="Calibri" pitchFamily="34" charset="-122"/>
                <a:cs typeface="Calibri" pitchFamily="34" charset="-120"/>
              </a:rPr>
              <a:t>Live online session · Saturday 10 October 2026 · 90 minutes</a:t>
            </a:r>
            <a:endParaRPr lang="en-US" sz="1200" dirty="0"/>
          </a:p>
        </p:txBody>
      </p:sp>
      <p:sp>
        <p:nvSpPr>
          <p:cNvPr id="10" name="Shape 8"/>
          <p:cNvSpPr/>
          <p:nvPr/>
        </p:nvSpPr>
        <p:spPr>
          <a:xfrm>
            <a:off x="548640" y="3977640"/>
            <a:ext cx="845312" cy="566928"/>
          </a:xfrm>
          <a:prstGeom prst="roundRect">
            <a:avLst>
              <a:gd name="adj" fmla="val 9677"/>
            </a:avLst>
          </a:prstGeom>
          <a:solidFill>
            <a:srgbClr val="2E3F63"/>
          </a:solidFill>
          <a:ln w="12700">
            <a:solidFill>
              <a:srgbClr val="2E3F63"/>
            </a:solidFill>
            <a:prstDash val="solid"/>
          </a:ln>
        </p:spPr>
        <p:txBody>
          <a:bodyPr/>
          <a:lstStyle/>
          <a:p>
            <a:endParaRPr/>
          </a:p>
        </p:txBody>
      </p:sp>
      <p:sp>
        <p:nvSpPr>
          <p:cNvPr id="11" name="Text 9"/>
          <p:cNvSpPr txBox="1"/>
          <p:nvPr/>
        </p:nvSpPr>
        <p:spPr>
          <a:xfrm>
            <a:off x="548640" y="3977640"/>
            <a:ext cx="845312" cy="566928"/>
          </a:xfrm>
          <a:prstGeom prst="rect">
            <a:avLst/>
          </a:prstGeom>
          <a:noFill/>
          <a:ln/>
        </p:spPr>
        <p:txBody>
          <a:bodyPr wrap="square" lIns="254" tIns="254" rIns="254" bIns="254" rtlCol="0" anchor="ctr"/>
          <a:lstStyle/>
          <a:p>
            <a:pPr marL="0" indent="0" algn="ctr">
              <a:buNone/>
            </a:pPr>
            <a:r>
              <a:rPr lang="en-US" sz="800" dirty="0">
                <a:solidFill>
                  <a:srgbClr val="B8C4D6"/>
                </a:solidFill>
                <a:latin typeface="Calibri" pitchFamily="34" charset="0"/>
                <a:ea typeface="Calibri" pitchFamily="34" charset="-122"/>
                <a:cs typeface="Calibri" pitchFamily="34" charset="-120"/>
              </a:rPr>
              <a:t>Data ingestion &amp; versioning</a:t>
            </a:r>
            <a:endParaRPr lang="en-US" sz="800" dirty="0"/>
          </a:p>
        </p:txBody>
      </p:sp>
      <p:sp>
        <p:nvSpPr>
          <p:cNvPr id="12" name="Shape 10"/>
          <p:cNvSpPr/>
          <p:nvPr/>
        </p:nvSpPr>
        <p:spPr>
          <a:xfrm>
            <a:off x="1448816" y="3977640"/>
            <a:ext cx="845312" cy="566928"/>
          </a:xfrm>
          <a:prstGeom prst="roundRect">
            <a:avLst>
              <a:gd name="adj" fmla="val 9677"/>
            </a:avLst>
          </a:prstGeom>
          <a:solidFill>
            <a:srgbClr val="2E3F63"/>
          </a:solidFill>
          <a:ln w="12700">
            <a:solidFill>
              <a:srgbClr val="2E3F63"/>
            </a:solidFill>
            <a:prstDash val="solid"/>
          </a:ln>
        </p:spPr>
        <p:txBody>
          <a:bodyPr/>
          <a:lstStyle/>
          <a:p>
            <a:endParaRPr/>
          </a:p>
        </p:txBody>
      </p:sp>
      <p:sp>
        <p:nvSpPr>
          <p:cNvPr id="13" name="Text 11"/>
          <p:cNvSpPr txBox="1"/>
          <p:nvPr/>
        </p:nvSpPr>
        <p:spPr>
          <a:xfrm>
            <a:off x="1448816" y="3977640"/>
            <a:ext cx="845312" cy="566928"/>
          </a:xfrm>
          <a:prstGeom prst="rect">
            <a:avLst/>
          </a:prstGeom>
          <a:noFill/>
          <a:ln/>
        </p:spPr>
        <p:txBody>
          <a:bodyPr wrap="square" lIns="254" tIns="254" rIns="254" bIns="254" rtlCol="0" anchor="ctr"/>
          <a:lstStyle/>
          <a:p>
            <a:pPr marL="0" indent="0" algn="ctr">
              <a:buNone/>
            </a:pPr>
            <a:r>
              <a:rPr lang="en-US" sz="800" dirty="0">
                <a:solidFill>
                  <a:srgbClr val="B8C4D6"/>
                </a:solidFill>
                <a:latin typeface="Calibri" pitchFamily="34" charset="0"/>
                <a:ea typeface="Calibri" pitchFamily="34" charset="-122"/>
                <a:cs typeface="Calibri" pitchFamily="34" charset="-120"/>
              </a:rPr>
              <a:t>Data validation</a:t>
            </a:r>
            <a:endParaRPr lang="en-US" sz="800" dirty="0"/>
          </a:p>
        </p:txBody>
      </p:sp>
      <p:sp>
        <p:nvSpPr>
          <p:cNvPr id="14" name="Shape 12"/>
          <p:cNvSpPr/>
          <p:nvPr/>
        </p:nvSpPr>
        <p:spPr>
          <a:xfrm>
            <a:off x="2348992" y="3977640"/>
            <a:ext cx="845312" cy="566928"/>
          </a:xfrm>
          <a:prstGeom prst="roundRect">
            <a:avLst>
              <a:gd name="adj" fmla="val 9677"/>
            </a:avLst>
          </a:prstGeom>
          <a:solidFill>
            <a:srgbClr val="2E3F63"/>
          </a:solidFill>
          <a:ln w="12700">
            <a:solidFill>
              <a:srgbClr val="2E3F63"/>
            </a:solidFill>
            <a:prstDash val="solid"/>
          </a:ln>
        </p:spPr>
        <p:txBody>
          <a:bodyPr/>
          <a:lstStyle/>
          <a:p>
            <a:endParaRPr/>
          </a:p>
        </p:txBody>
      </p:sp>
      <p:sp>
        <p:nvSpPr>
          <p:cNvPr id="15" name="Text 13"/>
          <p:cNvSpPr txBox="1"/>
          <p:nvPr/>
        </p:nvSpPr>
        <p:spPr>
          <a:xfrm>
            <a:off x="2348992" y="3977640"/>
            <a:ext cx="845312" cy="566928"/>
          </a:xfrm>
          <a:prstGeom prst="rect">
            <a:avLst/>
          </a:prstGeom>
          <a:noFill/>
          <a:ln/>
        </p:spPr>
        <p:txBody>
          <a:bodyPr wrap="square" lIns="254" tIns="254" rIns="254" bIns="254" rtlCol="0" anchor="ctr"/>
          <a:lstStyle/>
          <a:p>
            <a:pPr marL="0" indent="0" algn="ctr">
              <a:buNone/>
            </a:pPr>
            <a:r>
              <a:rPr lang="en-US" sz="800" dirty="0">
                <a:solidFill>
                  <a:srgbClr val="B8C4D6"/>
                </a:solidFill>
                <a:latin typeface="Calibri" pitchFamily="34" charset="0"/>
                <a:ea typeface="Calibri" pitchFamily="34" charset="-122"/>
                <a:cs typeface="Calibri" pitchFamily="34" charset="-120"/>
              </a:rPr>
              <a:t>Data pre-processing</a:t>
            </a:r>
            <a:endParaRPr lang="en-US" sz="800" dirty="0"/>
          </a:p>
        </p:txBody>
      </p:sp>
      <p:sp>
        <p:nvSpPr>
          <p:cNvPr id="16" name="Shape 14"/>
          <p:cNvSpPr/>
          <p:nvPr/>
        </p:nvSpPr>
        <p:spPr>
          <a:xfrm>
            <a:off x="3249168" y="3977640"/>
            <a:ext cx="845312" cy="566928"/>
          </a:xfrm>
          <a:prstGeom prst="roundRect">
            <a:avLst>
              <a:gd name="adj" fmla="val 9677"/>
            </a:avLst>
          </a:prstGeom>
          <a:solidFill>
            <a:srgbClr val="2E3F63"/>
          </a:solidFill>
          <a:ln w="12700">
            <a:solidFill>
              <a:srgbClr val="2E3F63"/>
            </a:solidFill>
            <a:prstDash val="solid"/>
          </a:ln>
        </p:spPr>
        <p:txBody>
          <a:bodyPr/>
          <a:lstStyle/>
          <a:p>
            <a:endParaRPr/>
          </a:p>
        </p:txBody>
      </p:sp>
      <p:sp>
        <p:nvSpPr>
          <p:cNvPr id="17" name="Text 15"/>
          <p:cNvSpPr txBox="1"/>
          <p:nvPr/>
        </p:nvSpPr>
        <p:spPr>
          <a:xfrm>
            <a:off x="3249168" y="3977640"/>
            <a:ext cx="845312" cy="566928"/>
          </a:xfrm>
          <a:prstGeom prst="rect">
            <a:avLst/>
          </a:prstGeom>
          <a:noFill/>
          <a:ln/>
        </p:spPr>
        <p:txBody>
          <a:bodyPr wrap="square" lIns="254" tIns="254" rIns="254" bIns="254" rtlCol="0" anchor="ctr"/>
          <a:lstStyle/>
          <a:p>
            <a:pPr marL="0" indent="0" algn="ctr">
              <a:buNone/>
            </a:pPr>
            <a:r>
              <a:rPr lang="en-US" sz="800" dirty="0">
                <a:solidFill>
                  <a:srgbClr val="B8C4D6"/>
                </a:solidFill>
                <a:latin typeface="Calibri" pitchFamily="34" charset="0"/>
                <a:ea typeface="Calibri" pitchFamily="34" charset="-122"/>
                <a:cs typeface="Calibri" pitchFamily="34" charset="-120"/>
              </a:rPr>
              <a:t>Model training</a:t>
            </a:r>
            <a:endParaRPr lang="en-US" sz="800" dirty="0"/>
          </a:p>
        </p:txBody>
      </p:sp>
      <p:sp>
        <p:nvSpPr>
          <p:cNvPr id="18" name="Shape 16"/>
          <p:cNvSpPr/>
          <p:nvPr/>
        </p:nvSpPr>
        <p:spPr>
          <a:xfrm>
            <a:off x="4149344" y="3977640"/>
            <a:ext cx="845312" cy="566928"/>
          </a:xfrm>
          <a:prstGeom prst="roundRect">
            <a:avLst>
              <a:gd name="adj" fmla="val 9677"/>
            </a:avLst>
          </a:prstGeom>
          <a:solidFill>
            <a:srgbClr val="2E3F63"/>
          </a:solidFill>
          <a:ln w="12700">
            <a:solidFill>
              <a:srgbClr val="2E3F63"/>
            </a:solidFill>
            <a:prstDash val="solid"/>
          </a:ln>
        </p:spPr>
        <p:txBody>
          <a:bodyPr/>
          <a:lstStyle/>
          <a:p>
            <a:endParaRPr/>
          </a:p>
        </p:txBody>
      </p:sp>
      <p:sp>
        <p:nvSpPr>
          <p:cNvPr id="19" name="Text 17"/>
          <p:cNvSpPr txBox="1"/>
          <p:nvPr/>
        </p:nvSpPr>
        <p:spPr>
          <a:xfrm>
            <a:off x="4149344" y="3977640"/>
            <a:ext cx="845312" cy="566928"/>
          </a:xfrm>
          <a:prstGeom prst="rect">
            <a:avLst/>
          </a:prstGeom>
          <a:noFill/>
          <a:ln/>
        </p:spPr>
        <p:txBody>
          <a:bodyPr wrap="square" lIns="254" tIns="254" rIns="254" bIns="254" rtlCol="0" anchor="ctr"/>
          <a:lstStyle/>
          <a:p>
            <a:pPr marL="0" indent="0" algn="ctr">
              <a:buNone/>
            </a:pPr>
            <a:r>
              <a:rPr lang="en-US" sz="800" dirty="0">
                <a:solidFill>
                  <a:srgbClr val="B8C4D6"/>
                </a:solidFill>
                <a:latin typeface="Calibri" pitchFamily="34" charset="0"/>
                <a:ea typeface="Calibri" pitchFamily="34" charset="-122"/>
                <a:cs typeface="Calibri" pitchFamily="34" charset="-120"/>
              </a:rPr>
              <a:t>Model tuning</a:t>
            </a:r>
            <a:endParaRPr lang="en-US" sz="800" dirty="0"/>
          </a:p>
        </p:txBody>
      </p:sp>
      <p:sp>
        <p:nvSpPr>
          <p:cNvPr id="20" name="Shape 18"/>
          <p:cNvSpPr/>
          <p:nvPr/>
        </p:nvSpPr>
        <p:spPr>
          <a:xfrm>
            <a:off x="5049520" y="3977640"/>
            <a:ext cx="845312" cy="566928"/>
          </a:xfrm>
          <a:prstGeom prst="roundRect">
            <a:avLst>
              <a:gd name="adj" fmla="val 9677"/>
            </a:avLst>
          </a:prstGeom>
          <a:solidFill>
            <a:srgbClr val="2E3F63"/>
          </a:solidFill>
          <a:ln w="12700">
            <a:solidFill>
              <a:srgbClr val="2E3F63"/>
            </a:solidFill>
            <a:prstDash val="solid"/>
          </a:ln>
        </p:spPr>
        <p:txBody>
          <a:bodyPr/>
          <a:lstStyle/>
          <a:p>
            <a:endParaRPr/>
          </a:p>
        </p:txBody>
      </p:sp>
      <p:sp>
        <p:nvSpPr>
          <p:cNvPr id="21" name="Text 19"/>
          <p:cNvSpPr txBox="1"/>
          <p:nvPr/>
        </p:nvSpPr>
        <p:spPr>
          <a:xfrm>
            <a:off x="5049520" y="3977640"/>
            <a:ext cx="845312" cy="566928"/>
          </a:xfrm>
          <a:prstGeom prst="rect">
            <a:avLst/>
          </a:prstGeom>
          <a:noFill/>
          <a:ln/>
        </p:spPr>
        <p:txBody>
          <a:bodyPr wrap="square" lIns="254" tIns="254" rIns="254" bIns="254" rtlCol="0" anchor="ctr"/>
          <a:lstStyle/>
          <a:p>
            <a:pPr marL="0" indent="0" algn="ctr">
              <a:buNone/>
            </a:pPr>
            <a:r>
              <a:rPr lang="en-US" sz="800" dirty="0">
                <a:solidFill>
                  <a:srgbClr val="B8C4D6"/>
                </a:solidFill>
                <a:latin typeface="Calibri" pitchFamily="34" charset="0"/>
                <a:ea typeface="Calibri" pitchFamily="34" charset="-122"/>
                <a:cs typeface="Calibri" pitchFamily="34" charset="-120"/>
              </a:rPr>
              <a:t>Model analysis</a:t>
            </a:r>
            <a:endParaRPr lang="en-US" sz="800" dirty="0"/>
          </a:p>
        </p:txBody>
      </p:sp>
      <p:sp>
        <p:nvSpPr>
          <p:cNvPr id="22" name="Shape 20"/>
          <p:cNvSpPr/>
          <p:nvPr/>
        </p:nvSpPr>
        <p:spPr>
          <a:xfrm>
            <a:off x="5949696" y="3977640"/>
            <a:ext cx="845312" cy="566928"/>
          </a:xfrm>
          <a:prstGeom prst="roundRect">
            <a:avLst>
              <a:gd name="adj" fmla="val 9677"/>
            </a:avLst>
          </a:prstGeom>
          <a:solidFill>
            <a:srgbClr val="2E3F63"/>
          </a:solidFill>
          <a:ln w="12700">
            <a:solidFill>
              <a:srgbClr val="2E3F63"/>
            </a:solidFill>
            <a:prstDash val="solid"/>
          </a:ln>
        </p:spPr>
        <p:txBody>
          <a:bodyPr/>
          <a:lstStyle/>
          <a:p>
            <a:endParaRPr/>
          </a:p>
        </p:txBody>
      </p:sp>
      <p:sp>
        <p:nvSpPr>
          <p:cNvPr id="23" name="Text 21"/>
          <p:cNvSpPr txBox="1"/>
          <p:nvPr/>
        </p:nvSpPr>
        <p:spPr>
          <a:xfrm>
            <a:off x="5949696" y="3977640"/>
            <a:ext cx="845312" cy="566928"/>
          </a:xfrm>
          <a:prstGeom prst="rect">
            <a:avLst/>
          </a:prstGeom>
          <a:noFill/>
          <a:ln/>
        </p:spPr>
        <p:txBody>
          <a:bodyPr wrap="square" lIns="254" tIns="254" rIns="254" bIns="254" rtlCol="0" anchor="ctr"/>
          <a:lstStyle/>
          <a:p>
            <a:pPr marL="0" indent="0" algn="ctr">
              <a:buNone/>
            </a:pPr>
            <a:r>
              <a:rPr lang="en-US" sz="800" dirty="0">
                <a:solidFill>
                  <a:srgbClr val="B8C4D6"/>
                </a:solidFill>
                <a:latin typeface="Calibri" pitchFamily="34" charset="0"/>
                <a:ea typeface="Calibri" pitchFamily="34" charset="-122"/>
                <a:cs typeface="Calibri" pitchFamily="34" charset="-120"/>
              </a:rPr>
              <a:t>Model validation</a:t>
            </a:r>
            <a:endParaRPr lang="en-US" sz="800" dirty="0"/>
          </a:p>
        </p:txBody>
      </p:sp>
      <p:sp>
        <p:nvSpPr>
          <p:cNvPr id="24" name="Shape 22"/>
          <p:cNvSpPr/>
          <p:nvPr/>
        </p:nvSpPr>
        <p:spPr>
          <a:xfrm>
            <a:off x="6849872" y="3977640"/>
            <a:ext cx="845312" cy="566928"/>
          </a:xfrm>
          <a:prstGeom prst="roundRect">
            <a:avLst>
              <a:gd name="adj" fmla="val 9677"/>
            </a:avLst>
          </a:prstGeom>
          <a:solidFill>
            <a:srgbClr val="2E3F63"/>
          </a:solidFill>
          <a:ln w="12700">
            <a:solidFill>
              <a:srgbClr val="2E3F63"/>
            </a:solidFill>
            <a:prstDash val="solid"/>
          </a:ln>
        </p:spPr>
        <p:txBody>
          <a:bodyPr/>
          <a:lstStyle/>
          <a:p>
            <a:endParaRPr/>
          </a:p>
        </p:txBody>
      </p:sp>
      <p:sp>
        <p:nvSpPr>
          <p:cNvPr id="25" name="Text 23"/>
          <p:cNvSpPr txBox="1"/>
          <p:nvPr/>
        </p:nvSpPr>
        <p:spPr>
          <a:xfrm>
            <a:off x="6849872" y="3977640"/>
            <a:ext cx="845312" cy="566928"/>
          </a:xfrm>
          <a:prstGeom prst="rect">
            <a:avLst/>
          </a:prstGeom>
          <a:noFill/>
          <a:ln/>
        </p:spPr>
        <p:txBody>
          <a:bodyPr wrap="square" lIns="254" tIns="254" rIns="254" bIns="254" rtlCol="0" anchor="ctr"/>
          <a:lstStyle/>
          <a:p>
            <a:pPr marL="0" indent="0" algn="ctr">
              <a:buNone/>
            </a:pPr>
            <a:r>
              <a:rPr lang="en-US" sz="800" dirty="0">
                <a:solidFill>
                  <a:srgbClr val="B8C4D6"/>
                </a:solidFill>
                <a:latin typeface="Calibri" pitchFamily="34" charset="0"/>
                <a:ea typeface="Calibri" pitchFamily="34" charset="-122"/>
                <a:cs typeface="Calibri" pitchFamily="34" charset="-120"/>
              </a:rPr>
              <a:t>Model deployment</a:t>
            </a:r>
            <a:endParaRPr lang="en-US" sz="800" dirty="0"/>
          </a:p>
        </p:txBody>
      </p:sp>
      <p:sp>
        <p:nvSpPr>
          <p:cNvPr id="26" name="Shape 24"/>
          <p:cNvSpPr/>
          <p:nvPr/>
        </p:nvSpPr>
        <p:spPr>
          <a:xfrm>
            <a:off x="7750048" y="3977640"/>
            <a:ext cx="845312" cy="566928"/>
          </a:xfrm>
          <a:prstGeom prst="roundRect">
            <a:avLst>
              <a:gd name="adj" fmla="val 9677"/>
            </a:avLst>
          </a:prstGeom>
          <a:solidFill>
            <a:srgbClr val="2E3F63"/>
          </a:solidFill>
          <a:ln w="12700">
            <a:solidFill>
              <a:srgbClr val="2E3F63"/>
            </a:solidFill>
            <a:prstDash val="solid"/>
          </a:ln>
        </p:spPr>
        <p:txBody>
          <a:bodyPr/>
          <a:lstStyle/>
          <a:p>
            <a:endParaRPr/>
          </a:p>
        </p:txBody>
      </p:sp>
      <p:sp>
        <p:nvSpPr>
          <p:cNvPr id="27" name="Text 25"/>
          <p:cNvSpPr txBox="1"/>
          <p:nvPr/>
        </p:nvSpPr>
        <p:spPr>
          <a:xfrm>
            <a:off x="7750048" y="3977640"/>
            <a:ext cx="845312" cy="566928"/>
          </a:xfrm>
          <a:prstGeom prst="rect">
            <a:avLst/>
          </a:prstGeom>
          <a:noFill/>
          <a:ln/>
        </p:spPr>
        <p:txBody>
          <a:bodyPr wrap="square" lIns="254" tIns="254" rIns="254" bIns="254" rtlCol="0" anchor="ctr"/>
          <a:lstStyle/>
          <a:p>
            <a:pPr marL="0" indent="0" algn="ctr">
              <a:buNone/>
            </a:pPr>
            <a:r>
              <a:rPr lang="en-US" sz="800" dirty="0">
                <a:solidFill>
                  <a:srgbClr val="B8C4D6"/>
                </a:solidFill>
                <a:latin typeface="Calibri" pitchFamily="34" charset="0"/>
                <a:ea typeface="Calibri" pitchFamily="34" charset="-122"/>
                <a:cs typeface="Calibri" pitchFamily="34" charset="-120"/>
              </a:rPr>
              <a:t>Model feedback</a:t>
            </a:r>
            <a:endParaRPr lang="en-US" sz="800" dirty="0"/>
          </a:p>
        </p:txBody>
      </p:sp>
      <p:pic>
        <p:nvPicPr>
          <p:cNvPr id="28" name="IE University logo" descr="IE University, School of Science &amp; Technology"/>
          <p:cNvPicPr>
            <a:picLocks noChangeAspect="1"/>
          </p:cNvPicPr>
          <p:nvPr/>
        </p:nvPicPr>
        <p:blipFill>
          <a:blip r:embed="rId3"/>
          <a:stretch>
            <a:fillRect/>
          </a:stretch>
        </p:blipFill>
        <p:spPr>
          <a:xfrm>
            <a:off x="8252653" y="109728"/>
            <a:ext cx="525587" cy="70439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marL="0" indent="0">
              <a:buNone/>
            </a:pPr>
            <a:r>
              <a:rPr lang="en-US" sz="800" dirty="0">
                <a:solidFill>
                  <a:srgbClr val="6B7280"/>
                </a:solidFill>
                <a:latin typeface="Calibri" pitchFamily="34" charset="0"/>
                <a:ea typeface="Calibri" pitchFamily="34" charset="-122"/>
                <a:cs typeface="Calibri" pitchFamily="34" charset="-120"/>
              </a:rPr>
              <a:t>MLOps · MBDS-PT2026F · Session 3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marL="0" indent="0" algn="r">
              <a:buNone/>
            </a:pPr>
            <a:r>
              <a:rPr lang="en-US" sz="800" dirty="0">
                <a:solidFill>
                  <a:srgbClr val="6B7280"/>
                </a:solidFill>
                <a:latin typeface="Calibri" pitchFamily="34" charset="0"/>
                <a:ea typeface="Calibri" pitchFamily="34" charset="-122"/>
                <a:cs typeface="Calibri" pitchFamily="34" charset="-120"/>
              </a:rPr>
              <a:t>2</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marL="0" indent="0">
              <a:buNone/>
            </a:pPr>
            <a:r>
              <a:rPr lang="en-US" sz="2400" b="1" dirty="0">
                <a:solidFill>
                  <a:srgbClr val="1B2A4A"/>
                </a:solidFill>
                <a:latin typeface="Calibri" pitchFamily="34" charset="0"/>
                <a:ea typeface="Calibri" pitchFamily="34" charset="-122"/>
                <a:cs typeface="Calibri" pitchFamily="34" charset="-120"/>
              </a:rPr>
              <a:t>Where we are: what Forum 1 said, and what today adds</a:t>
            </a:r>
            <a:endParaRPr lang="en-US" sz="2400" dirty="0"/>
          </a:p>
        </p:txBody>
      </p:sp>
      <p:sp>
        <p:nvSpPr>
          <p:cNvPr id="7" name="Text 4"/>
          <p:cNvSpPr txBox="1"/>
          <p:nvPr/>
        </p:nvSpPr>
        <p:spPr>
          <a:xfrm>
            <a:off x="365760" y="1143000"/>
            <a:ext cx="4023360" cy="274320"/>
          </a:xfrm>
          <a:prstGeom prst="rect">
            <a:avLst/>
          </a:prstGeom>
          <a:noFill/>
          <a:ln/>
        </p:spPr>
        <p:txBody>
          <a:bodyPr wrap="square" lIns="0" tIns="0" rIns="0" bIns="0" rtlCol="0" anchor="t"/>
          <a:lstStyle/>
          <a:p>
            <a:pPr marL="0" indent="0" algn="l">
              <a:buNone/>
            </a:pPr>
            <a:r>
              <a:rPr lang="en-US" sz="1300" b="1" dirty="0">
                <a:solidFill>
                  <a:srgbClr val="0E7C86"/>
                </a:solidFill>
                <a:latin typeface="Calibri" pitchFamily="34" charset="0"/>
                <a:ea typeface="Calibri" pitchFamily="34" charset="-122"/>
                <a:cs typeface="Calibri" pitchFamily="34" charset="-120"/>
              </a:rPr>
              <a:t>From Forum 1</a:t>
            </a:r>
            <a:endParaRPr lang="en-US" sz="1300" dirty="0"/>
          </a:p>
        </p:txBody>
      </p:sp>
      <p:sp>
        <p:nvSpPr>
          <p:cNvPr id="8" name="Shape 5"/>
          <p:cNvSpPr/>
          <p:nvPr/>
        </p:nvSpPr>
        <p:spPr>
          <a:xfrm>
            <a:off x="365760" y="1463040"/>
            <a:ext cx="4023360" cy="1417320"/>
          </a:xfrm>
          <a:prstGeom prst="roundRect">
            <a:avLst>
              <a:gd name="adj" fmla="val 5161"/>
            </a:avLst>
          </a:prstGeom>
          <a:solidFill>
            <a:srgbClr val="F3F5F8"/>
          </a:solidFill>
          <a:ln w="12700">
            <a:solidFill>
              <a:srgbClr val="F3F5F8"/>
            </a:solidFill>
            <a:prstDash val="solid"/>
          </a:ln>
        </p:spPr>
        <p:txBody>
          <a:bodyPr/>
          <a:lstStyle/>
          <a:p>
            <a:endParaRPr/>
          </a:p>
        </p:txBody>
      </p:sp>
      <p:sp>
        <p:nvSpPr>
          <p:cNvPr id="9" name="Text 6"/>
          <p:cNvSpPr txBox="1"/>
          <p:nvPr/>
        </p:nvSpPr>
        <p:spPr>
          <a:xfrm>
            <a:off x="502920" y="1554480"/>
            <a:ext cx="3749040" cy="329184"/>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What you said</a:t>
            </a:r>
            <a:endParaRPr lang="en-US" sz="1300" dirty="0"/>
          </a:p>
        </p:txBody>
      </p:sp>
      <p:sp>
        <p:nvSpPr>
          <p:cNvPr id="10" name="Text 7"/>
          <p:cNvSpPr txBox="1"/>
          <p:nvPr/>
        </p:nvSpPr>
        <p:spPr>
          <a:xfrm>
            <a:off x="502920" y="1920240"/>
            <a:ext cx="3749040" cy="868680"/>
          </a:xfrm>
          <a:prstGeom prst="rect">
            <a:avLst/>
          </a:prstGeom>
          <a:noFill/>
          <a:ln/>
        </p:spPr>
        <p:txBody>
          <a:bodyPr wrap="square" lIns="0" tIns="0" rIns="0" bIns="0" rtlCol="0" anchor="t"/>
          <a:lstStyle/>
          <a:p>
            <a:pPr marL="177800" indent="-177800">
              <a:spcAft>
                <a:spcPts val="300"/>
              </a:spcAft>
              <a:buSzPct val="100000"/>
              <a:buChar char="•"/>
            </a:pPr>
            <a:r>
              <a:rPr lang="en-US" sz="1100" dirty="0">
                <a:solidFill>
                  <a:srgbClr val="222222"/>
                </a:solidFill>
                <a:latin typeface="Calibri" pitchFamily="34" charset="0"/>
                <a:ea typeface="Calibri" pitchFamily="34" charset="-122"/>
                <a:cs typeface="Calibri" pitchFamily="34" charset="-120"/>
              </a:rPr>
              <a:t>“A trained model is a result; an operational model is a service.” — Marcos</a:t>
            </a:r>
            <a:endParaRPr lang="en-US" sz="1100" dirty="0"/>
          </a:p>
          <a:p>
            <a:pPr marL="177800" indent="-177800">
              <a:spcAft>
                <a:spcPts val="300"/>
              </a:spcAft>
              <a:buSzPct val="100000"/>
              <a:buChar char="•"/>
            </a:pPr>
            <a:r>
              <a:rPr lang="en-US" sz="1100" dirty="0">
                <a:solidFill>
                  <a:srgbClr val="222222"/>
                </a:solidFill>
                <a:latin typeface="Calibri" pitchFamily="34" charset="0"/>
                <a:ea typeface="Calibri" pitchFamily="34" charset="-122"/>
                <a:cs typeface="Calibri" pitchFamily="34" charset="-120"/>
              </a:rPr>
              <a:t>“Green means up, not right.” — Armen</a:t>
            </a:r>
            <a:endParaRPr lang="en-US" sz="1100" dirty="0"/>
          </a:p>
          <a:p>
            <a:pPr marL="177800" indent="-177800">
              <a:spcAft>
                <a:spcPts val="300"/>
              </a:spcAft>
              <a:buSzPct val="100000"/>
              <a:buChar char="•"/>
            </a:pPr>
            <a:r>
              <a:rPr lang="en-US" sz="1100" dirty="0">
                <a:solidFill>
                  <a:srgbClr val="222222"/>
                </a:solidFill>
                <a:latin typeface="Calibri" pitchFamily="34" charset="0"/>
                <a:ea typeface="Calibri" pitchFamily="34" charset="-122"/>
                <a:cs typeface="Calibri" pitchFamily="34" charset="-120"/>
              </a:rPr>
              <a:t>Misconception of the week: operationalising = “putting it on a server”</a:t>
            </a:r>
            <a:endParaRPr lang="en-US" sz="1100" dirty="0"/>
          </a:p>
        </p:txBody>
      </p:sp>
      <p:sp>
        <p:nvSpPr>
          <p:cNvPr id="11" name="Text 8"/>
          <p:cNvSpPr txBox="1"/>
          <p:nvPr/>
        </p:nvSpPr>
        <p:spPr>
          <a:xfrm>
            <a:off x="365760" y="3017520"/>
            <a:ext cx="4023360" cy="274320"/>
          </a:xfrm>
          <a:prstGeom prst="rect">
            <a:avLst/>
          </a:prstGeom>
          <a:noFill/>
          <a:ln/>
        </p:spPr>
        <p:txBody>
          <a:bodyPr wrap="square" lIns="0" tIns="0" rIns="0" bIns="0" rtlCol="0" anchor="t"/>
          <a:lstStyle/>
          <a:p>
            <a:pPr marL="0" indent="0" algn="l">
              <a:buNone/>
            </a:pPr>
            <a:r>
              <a:rPr lang="en-US" sz="1300" b="1" dirty="0">
                <a:solidFill>
                  <a:srgbClr val="0E7C86"/>
                </a:solidFill>
                <a:latin typeface="Calibri" pitchFamily="34" charset="0"/>
                <a:ea typeface="Calibri" pitchFamily="34" charset="-122"/>
                <a:cs typeface="Calibri" pitchFamily="34" charset="-120"/>
              </a:rPr>
              <a:t>By the end of this session you can…</a:t>
            </a:r>
            <a:endParaRPr lang="en-US" sz="1300" dirty="0"/>
          </a:p>
        </p:txBody>
      </p:sp>
      <p:sp>
        <p:nvSpPr>
          <p:cNvPr id="12" name="Shape 9"/>
          <p:cNvSpPr/>
          <p:nvPr/>
        </p:nvSpPr>
        <p:spPr>
          <a:xfrm>
            <a:off x="365760" y="3337560"/>
            <a:ext cx="420624" cy="420624"/>
          </a:xfrm>
          <a:prstGeom prst="ellipse">
            <a:avLst/>
          </a:prstGeom>
          <a:solidFill>
            <a:srgbClr val="0E7C86"/>
          </a:solidFill>
          <a:ln w="12700">
            <a:solidFill>
              <a:srgbClr val="0E7C86"/>
            </a:solidFill>
            <a:prstDash val="solid"/>
          </a:ln>
        </p:spPr>
        <p:txBody>
          <a:bodyPr/>
          <a:lstStyle/>
          <a:p>
            <a:endParaRPr/>
          </a:p>
        </p:txBody>
      </p:sp>
      <p:pic>
        <p:nvPicPr>
          <p:cNvPr id="13" name="Image 0" descr="preencoded.png"/>
          <p:cNvPicPr>
            <a:picLocks noChangeAspect="1"/>
          </p:cNvPicPr>
          <p:nvPr/>
        </p:nvPicPr>
        <p:blipFill>
          <a:blip r:embed="rId3"/>
          <a:stretch>
            <a:fillRect/>
          </a:stretch>
        </p:blipFill>
        <p:spPr>
          <a:xfrm>
            <a:off x="457200" y="3429000"/>
            <a:ext cx="237744" cy="237744"/>
          </a:xfrm>
          <a:prstGeom prst="rect">
            <a:avLst/>
          </a:prstGeom>
        </p:spPr>
      </p:pic>
      <p:sp>
        <p:nvSpPr>
          <p:cNvPr id="14" name="Text 10"/>
          <p:cNvSpPr txBox="1"/>
          <p:nvPr/>
        </p:nvSpPr>
        <p:spPr>
          <a:xfrm>
            <a:off x="914400" y="3319272"/>
            <a:ext cx="3474720" cy="256032"/>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Turn a notebook into a pipeline</a:t>
            </a:r>
            <a:endParaRPr lang="en-US" sz="1300" dirty="0"/>
          </a:p>
        </p:txBody>
      </p:sp>
      <p:sp>
        <p:nvSpPr>
          <p:cNvPr id="15" name="Text 11"/>
          <p:cNvSpPr txBox="1"/>
          <p:nvPr/>
        </p:nvSpPr>
        <p:spPr>
          <a:xfrm>
            <a:off x="914400" y="3575304"/>
            <a:ext cx="3474720" cy="365760"/>
          </a:xfrm>
          <a:prstGeom prst="rect">
            <a:avLst/>
          </a:prstGeom>
          <a:noFill/>
          <a:ln/>
        </p:spPr>
        <p:txBody>
          <a:bodyPr wrap="square" lIns="0" tIns="0" rIns="0" bIns="0" rtlCol="0" anchor="t"/>
          <a:lstStyle/>
          <a:p>
            <a:pPr marL="0" indent="0">
              <a:buNone/>
            </a:pPr>
            <a:r>
              <a:rPr lang="en-US" sz="1100" dirty="0">
                <a:solidFill>
                  <a:srgbClr val="222222"/>
                </a:solidFill>
                <a:latin typeface="Calibri" pitchFamily="34" charset="0"/>
                <a:ea typeface="Calibri" pitchFamily="34" charset="-122"/>
                <a:cs typeface="Calibri" pitchFamily="34" charset="-120"/>
              </a:rPr>
              <a:t>Name the steps and say what each one protects against.</a:t>
            </a:r>
            <a:endParaRPr lang="en-US" sz="1100" dirty="0"/>
          </a:p>
        </p:txBody>
      </p:sp>
      <p:sp>
        <p:nvSpPr>
          <p:cNvPr id="16" name="Shape 12"/>
          <p:cNvSpPr/>
          <p:nvPr/>
        </p:nvSpPr>
        <p:spPr>
          <a:xfrm>
            <a:off x="365760" y="3977640"/>
            <a:ext cx="420624" cy="420624"/>
          </a:xfrm>
          <a:prstGeom prst="ellipse">
            <a:avLst/>
          </a:prstGeom>
          <a:solidFill>
            <a:srgbClr val="0E7C86"/>
          </a:solidFill>
          <a:ln w="12700">
            <a:solidFill>
              <a:srgbClr val="0E7C86"/>
            </a:solidFill>
            <a:prstDash val="solid"/>
          </a:ln>
        </p:spPr>
        <p:txBody>
          <a:bodyPr/>
          <a:lstStyle/>
          <a:p>
            <a:endParaRPr/>
          </a:p>
        </p:txBody>
      </p:sp>
      <p:pic>
        <p:nvPicPr>
          <p:cNvPr id="17" name="Image 1" descr="preencoded.png"/>
          <p:cNvPicPr>
            <a:picLocks noChangeAspect="1"/>
          </p:cNvPicPr>
          <p:nvPr/>
        </p:nvPicPr>
        <p:blipFill>
          <a:blip r:embed="rId4"/>
          <a:stretch>
            <a:fillRect/>
          </a:stretch>
        </p:blipFill>
        <p:spPr>
          <a:xfrm>
            <a:off x="457200" y="4069080"/>
            <a:ext cx="237744" cy="237744"/>
          </a:xfrm>
          <a:prstGeom prst="rect">
            <a:avLst/>
          </a:prstGeom>
        </p:spPr>
      </p:pic>
      <p:sp>
        <p:nvSpPr>
          <p:cNvPr id="18" name="Text 13"/>
          <p:cNvSpPr txBox="1"/>
          <p:nvPr/>
        </p:nvSpPr>
        <p:spPr>
          <a:xfrm>
            <a:off x="914400" y="3959352"/>
            <a:ext cx="3474720" cy="256032"/>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Justify Dev, QA and Prod</a:t>
            </a:r>
            <a:endParaRPr lang="en-US" sz="1300" dirty="0"/>
          </a:p>
        </p:txBody>
      </p:sp>
      <p:sp>
        <p:nvSpPr>
          <p:cNvPr id="19" name="Text 14"/>
          <p:cNvSpPr txBox="1"/>
          <p:nvPr/>
        </p:nvSpPr>
        <p:spPr>
          <a:xfrm>
            <a:off x="914400" y="4215384"/>
            <a:ext cx="3474720" cy="365760"/>
          </a:xfrm>
          <a:prstGeom prst="rect">
            <a:avLst/>
          </a:prstGeom>
          <a:noFill/>
          <a:ln/>
        </p:spPr>
        <p:txBody>
          <a:bodyPr wrap="square" lIns="0" tIns="0" rIns="0" bIns="0" rtlCol="0" anchor="t"/>
          <a:lstStyle/>
          <a:p>
            <a:pPr marL="0" indent="0">
              <a:buNone/>
            </a:pPr>
            <a:r>
              <a:rPr lang="en-US" sz="1100" dirty="0">
                <a:solidFill>
                  <a:srgbClr val="222222"/>
                </a:solidFill>
                <a:latin typeface="Calibri" pitchFamily="34" charset="0"/>
                <a:ea typeface="Calibri" pitchFamily="34" charset="-122"/>
                <a:cs typeface="Calibri" pitchFamily="34" charset="-120"/>
              </a:rPr>
              <a:t>And name one way a model can be attacked, with a control.</a:t>
            </a:r>
            <a:endParaRPr lang="en-US" sz="11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754880" y="1143000"/>
          <a:ext cx="4023360" cy="3374136"/>
        </p:xfrm>
        <a:graphic>
          <a:graphicData uri="http://schemas.openxmlformats.org/drawingml/2006/table">
            <a:tbl>
              <a:tblPr/>
              <a:tblGrid>
                <a:gridCol w="82296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tblGrid>
              <a:tr h="329184">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Minute</a:t>
                      </a:r>
                      <a:endParaRPr lang="en-US" sz="1050" dirty="0">
                        <a:latin typeface="Calibri" charset="0"/>
                        <a:ea typeface="Calibri" charset="0"/>
                        <a:cs typeface="Calibri" charset="0"/>
                      </a:endParaRPr>
                    </a:p>
                  </a:txBody>
                  <a:tcPr marL="45720" marR="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Block</a:t>
                      </a:r>
                      <a:endParaRPr lang="en-US" sz="1050" dirty="0">
                        <a:latin typeface="Calibri" charset="0"/>
                        <a:ea typeface="Calibri" charset="0"/>
                        <a:cs typeface="Calibri" charset="0"/>
                      </a:endParaRPr>
                    </a:p>
                  </a:txBody>
                  <a:tcPr marL="45720" marR="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329184">
                <a:tc>
                  <a:txBody>
                    <a:bodyPr/>
                    <a:lstStyle/>
                    <a:p>
                      <a:pPr marL="0" indent="0" algn="l">
                        <a:buNone/>
                      </a:pPr>
                      <a:r>
                        <a:rPr lang="en-US" sz="1050" b="1" dirty="0">
                          <a:solidFill>
                            <a:srgbClr val="222222"/>
                          </a:solidFill>
                          <a:latin typeface="Calibri" pitchFamily="34" charset="0"/>
                          <a:ea typeface="Calibri" pitchFamily="34" charset="-122"/>
                          <a:cs typeface="Calibri" pitchFamily="34" charset="-120"/>
                        </a:rPr>
                        <a:t>0–8</a:t>
                      </a:r>
                      <a:endParaRPr lang="en-US" sz="1050" dirty="0">
                        <a:latin typeface="Calibri" charset="0"/>
                        <a:ea typeface="Calibri" charset="0"/>
                        <a:cs typeface="Calibri" charset="0"/>
                      </a:endParaRPr>
                    </a:p>
                  </a:txBody>
                  <a:tcPr marL="45720" marR="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marL="0" indent="0" algn="l">
                        <a:buNone/>
                      </a:pPr>
                      <a:r>
                        <a:rPr lang="en-US" sz="1050" dirty="0">
                          <a:solidFill>
                            <a:srgbClr val="222222"/>
                          </a:solidFill>
                          <a:latin typeface="Calibri" pitchFamily="34" charset="0"/>
                          <a:ea typeface="Calibri" pitchFamily="34" charset="-122"/>
                          <a:cs typeface="Calibri" pitchFamily="34" charset="-120"/>
                        </a:rPr>
                        <a:t>Recap, outcomes, your "messy things", the plan map</a:t>
                      </a:r>
                      <a:endParaRPr lang="en-US" sz="1050" dirty="0">
                        <a:latin typeface="Calibri" charset="0"/>
                        <a:ea typeface="Calibri" charset="0"/>
                        <a:cs typeface="Calibri" charset="0"/>
                      </a:endParaRPr>
                    </a:p>
                  </a:txBody>
                  <a:tcPr marL="45720" marR="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extLst>
                  <a:ext uri="{0D108BD9-81ED-4DB2-BD59-A6C34878D82A}">
                    <a16:rowId xmlns:a16="http://schemas.microsoft.com/office/drawing/2014/main" val="10001"/>
                  </a:ext>
                </a:extLst>
              </a:tr>
              <a:tr h="329184">
                <a:tc>
                  <a:txBody>
                    <a:bodyPr/>
                    <a:lstStyle/>
                    <a:p>
                      <a:pPr marL="0" indent="0" algn="l">
                        <a:buNone/>
                      </a:pPr>
                      <a:r>
                        <a:rPr lang="en-US" sz="1050" b="1" dirty="0">
                          <a:solidFill>
                            <a:srgbClr val="222222"/>
                          </a:solidFill>
                          <a:latin typeface="Calibri" pitchFamily="34" charset="0"/>
                          <a:ea typeface="Calibri" pitchFamily="34" charset="-122"/>
                          <a:cs typeface="Calibri" pitchFamily="34" charset="-120"/>
                        </a:rPr>
                        <a:t>8–16</a:t>
                      </a:r>
                      <a:endParaRPr lang="en-US" sz="1050" dirty="0">
                        <a:latin typeface="Calibri" charset="0"/>
                        <a:ea typeface="Calibri" charset="0"/>
                        <a:cs typeface="Calibri" charset="0"/>
                      </a:endParaRPr>
                    </a:p>
                  </a:txBody>
                  <a:tcPr marL="45720" marR="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marL="0" indent="0" algn="l">
                        <a:buNone/>
                      </a:pPr>
                      <a:r>
                        <a:rPr lang="en-US" sz="1050" dirty="0">
                          <a:solidFill>
                            <a:srgbClr val="222222"/>
                          </a:solidFill>
                          <a:latin typeface="Calibri" pitchFamily="34" charset="0"/>
                          <a:ea typeface="Calibri" pitchFamily="34" charset="-122"/>
                          <a:cs typeface="Calibri" pitchFamily="34" charset="-120"/>
                        </a:rPr>
                        <a:t>From notebook to pipeline</a:t>
                      </a:r>
                      <a:endParaRPr lang="en-US" sz="1050" dirty="0">
                        <a:latin typeface="Calibri" charset="0"/>
                        <a:ea typeface="Calibri" charset="0"/>
                        <a:cs typeface="Calibri" charset="0"/>
                      </a:endParaRPr>
                    </a:p>
                  </a:txBody>
                  <a:tcPr marL="45720" marR="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extLst>
                  <a:ext uri="{0D108BD9-81ED-4DB2-BD59-A6C34878D82A}">
                    <a16:rowId xmlns:a16="http://schemas.microsoft.com/office/drawing/2014/main" val="10002"/>
                  </a:ext>
                </a:extLst>
              </a:tr>
              <a:tr h="329184">
                <a:tc>
                  <a:txBody>
                    <a:bodyPr/>
                    <a:lstStyle/>
                    <a:p>
                      <a:pPr marL="0" indent="0" algn="l">
                        <a:buNone/>
                      </a:pPr>
                      <a:r>
                        <a:rPr lang="en-US" sz="1050" b="1" dirty="0">
                          <a:solidFill>
                            <a:srgbClr val="222222"/>
                          </a:solidFill>
                          <a:latin typeface="Calibri" pitchFamily="34" charset="0"/>
                          <a:ea typeface="Calibri" pitchFamily="34" charset="-122"/>
                          <a:cs typeface="Calibri" pitchFamily="34" charset="-120"/>
                        </a:rPr>
                        <a:t>16–35</a:t>
                      </a:r>
                      <a:endParaRPr lang="en-US" sz="1050" dirty="0">
                        <a:latin typeface="Calibri" charset="0"/>
                        <a:ea typeface="Calibri" charset="0"/>
                        <a:cs typeface="Calibri" charset="0"/>
                      </a:endParaRPr>
                    </a:p>
                  </a:txBody>
                  <a:tcPr marL="45720" marR="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marL="0" indent="0" algn="l">
                        <a:buNone/>
                      </a:pPr>
                      <a:r>
                        <a:rPr lang="en-US" sz="1050" dirty="0">
                          <a:solidFill>
                            <a:srgbClr val="222222"/>
                          </a:solidFill>
                          <a:latin typeface="Calibri" pitchFamily="34" charset="0"/>
                          <a:ea typeface="Calibri" pitchFamily="34" charset="-122"/>
                          <a:cs typeface="Calibri" pitchFamily="34" charset="-120"/>
                        </a:rPr>
                        <a:t>Data: questions, versioning, validation (+ 7-min MLflow demo)</a:t>
                      </a:r>
                      <a:endParaRPr lang="en-US" sz="1050" dirty="0">
                        <a:latin typeface="Calibri" charset="0"/>
                        <a:ea typeface="Calibri" charset="0"/>
                        <a:cs typeface="Calibri" charset="0"/>
                      </a:endParaRPr>
                    </a:p>
                  </a:txBody>
                  <a:tcPr marL="45720" marR="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extLst>
                  <a:ext uri="{0D108BD9-81ED-4DB2-BD59-A6C34878D82A}">
                    <a16:rowId xmlns:a16="http://schemas.microsoft.com/office/drawing/2014/main" val="10003"/>
                  </a:ext>
                </a:extLst>
              </a:tr>
              <a:tr h="329184">
                <a:tc>
                  <a:txBody>
                    <a:bodyPr/>
                    <a:lstStyle/>
                    <a:p>
                      <a:pPr marL="0" indent="0" algn="l">
                        <a:buNone/>
                      </a:pPr>
                      <a:r>
                        <a:rPr lang="en-US" sz="1050" b="1" dirty="0">
                          <a:solidFill>
                            <a:srgbClr val="222222"/>
                          </a:solidFill>
                          <a:latin typeface="Calibri" pitchFamily="34" charset="0"/>
                          <a:ea typeface="Calibri" pitchFamily="34" charset="-122"/>
                          <a:cs typeface="Calibri" pitchFamily="34" charset="-120"/>
                        </a:rPr>
                        <a:t>35–46</a:t>
                      </a:r>
                      <a:endParaRPr lang="en-US" sz="1050" dirty="0">
                        <a:latin typeface="Calibri" charset="0"/>
                        <a:ea typeface="Calibri" charset="0"/>
                        <a:cs typeface="Calibri" charset="0"/>
                      </a:endParaRPr>
                    </a:p>
                  </a:txBody>
                  <a:tcPr marL="45720" marR="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marL="0" indent="0" algn="l">
                        <a:buNone/>
                      </a:pPr>
                      <a:r>
                        <a:rPr lang="en-US" sz="1050" dirty="0">
                          <a:solidFill>
                            <a:srgbClr val="222222"/>
                          </a:solidFill>
                          <a:latin typeface="Calibri" pitchFamily="34" charset="0"/>
                          <a:ea typeface="Calibri" pitchFamily="34" charset="-122"/>
                          <a:cs typeface="Calibri" pitchFamily="34" charset="-120"/>
                        </a:rPr>
                        <a:t>Environments: Dev, QA, Prod (+ 1 poll)</a:t>
                      </a:r>
                      <a:endParaRPr lang="en-US" sz="1050" dirty="0">
                        <a:latin typeface="Calibri" charset="0"/>
                        <a:ea typeface="Calibri" charset="0"/>
                        <a:cs typeface="Calibri" charset="0"/>
                      </a:endParaRPr>
                    </a:p>
                  </a:txBody>
                  <a:tcPr marL="45720" marR="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extLst>
                  <a:ext uri="{0D108BD9-81ED-4DB2-BD59-A6C34878D82A}">
                    <a16:rowId xmlns:a16="http://schemas.microsoft.com/office/drawing/2014/main" val="10004"/>
                  </a:ext>
                </a:extLst>
              </a:tr>
              <a:tr h="329184">
                <a:tc>
                  <a:txBody>
                    <a:bodyPr/>
                    <a:lstStyle/>
                    <a:p>
                      <a:pPr marL="0" indent="0" algn="l">
                        <a:buNone/>
                      </a:pPr>
                      <a:r>
                        <a:rPr lang="en-US" sz="1050" b="1" dirty="0">
                          <a:solidFill>
                            <a:srgbClr val="222222"/>
                          </a:solidFill>
                          <a:latin typeface="Calibri" pitchFamily="34" charset="0"/>
                          <a:ea typeface="Calibri" pitchFamily="34" charset="-122"/>
                          <a:cs typeface="Calibri" pitchFamily="34" charset="-120"/>
                        </a:rPr>
                        <a:t>46–51</a:t>
                      </a:r>
                      <a:endParaRPr lang="en-US" sz="1050" dirty="0">
                        <a:latin typeface="Calibri" charset="0"/>
                        <a:ea typeface="Calibri" charset="0"/>
                        <a:cs typeface="Calibri" charset="0"/>
                      </a:endParaRPr>
                    </a:p>
                  </a:txBody>
                  <a:tcPr marL="45720" marR="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marL="0" indent="0" algn="l">
                        <a:buNone/>
                      </a:pPr>
                      <a:r>
                        <a:rPr lang="en-US" sz="1050" dirty="0">
                          <a:solidFill>
                            <a:srgbClr val="222222"/>
                          </a:solidFill>
                          <a:latin typeface="Calibri" pitchFamily="34" charset="0"/>
                          <a:ea typeface="Calibri" pitchFamily="34" charset="-122"/>
                          <a:cs typeface="Calibri" pitchFamily="34" charset="-120"/>
                        </a:rPr>
                        <a:t>Break</a:t>
                      </a:r>
                      <a:endParaRPr lang="en-US" sz="1050" dirty="0">
                        <a:latin typeface="Calibri" charset="0"/>
                        <a:ea typeface="Calibri" charset="0"/>
                        <a:cs typeface="Calibri" charset="0"/>
                      </a:endParaRPr>
                    </a:p>
                  </a:txBody>
                  <a:tcPr marL="45720" marR="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extLst>
                  <a:ext uri="{0D108BD9-81ED-4DB2-BD59-A6C34878D82A}">
                    <a16:rowId xmlns:a16="http://schemas.microsoft.com/office/drawing/2014/main" val="10005"/>
                  </a:ext>
                </a:extLst>
              </a:tr>
              <a:tr h="329184">
                <a:tc>
                  <a:txBody>
                    <a:bodyPr/>
                    <a:lstStyle/>
                    <a:p>
                      <a:pPr marL="0" indent="0" algn="l">
                        <a:buNone/>
                      </a:pPr>
                      <a:r>
                        <a:rPr lang="en-US" sz="1050" b="1" dirty="0">
                          <a:solidFill>
                            <a:srgbClr val="222222"/>
                          </a:solidFill>
                          <a:latin typeface="Calibri" pitchFamily="34" charset="0"/>
                          <a:ea typeface="Calibri" pitchFamily="34" charset="-122"/>
                          <a:cs typeface="Calibri" pitchFamily="34" charset="-120"/>
                        </a:rPr>
                        <a:t>51–58</a:t>
                      </a:r>
                      <a:endParaRPr lang="en-US" sz="1050" dirty="0">
                        <a:latin typeface="Calibri" charset="0"/>
                        <a:ea typeface="Calibri" charset="0"/>
                        <a:cs typeface="Calibri" charset="0"/>
                      </a:endParaRPr>
                    </a:p>
                  </a:txBody>
                  <a:tcPr marL="45720" marR="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marL="0" indent="0" algn="l">
                        <a:buNone/>
                      </a:pPr>
                      <a:r>
                        <a:rPr lang="en-US" sz="1050" dirty="0">
                          <a:solidFill>
                            <a:srgbClr val="222222"/>
                          </a:solidFill>
                          <a:latin typeface="Calibri" pitchFamily="34" charset="0"/>
                          <a:ea typeface="Calibri" pitchFamily="34" charset="-122"/>
                          <a:cs typeface="Calibri" pitchFamily="34" charset="-120"/>
                        </a:rPr>
                        <a:t>Security: how a model can be attacked</a:t>
                      </a:r>
                      <a:endParaRPr lang="en-US" sz="1050" dirty="0">
                        <a:latin typeface="Calibri" charset="0"/>
                        <a:ea typeface="Calibri" charset="0"/>
                        <a:cs typeface="Calibri" charset="0"/>
                      </a:endParaRPr>
                    </a:p>
                  </a:txBody>
                  <a:tcPr marL="45720" marR="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extLst>
                  <a:ext uri="{0D108BD9-81ED-4DB2-BD59-A6C34878D82A}">
                    <a16:rowId xmlns:a16="http://schemas.microsoft.com/office/drawing/2014/main" val="10006"/>
                  </a:ext>
                </a:extLst>
              </a:tr>
              <a:tr h="329184">
                <a:tc>
                  <a:txBody>
                    <a:bodyPr/>
                    <a:lstStyle/>
                    <a:p>
                      <a:pPr marL="0" indent="0" algn="l">
                        <a:buNone/>
                      </a:pPr>
                      <a:r>
                        <a:rPr lang="en-US" sz="1050" b="1" dirty="0">
                          <a:solidFill>
                            <a:srgbClr val="222222"/>
                          </a:solidFill>
                          <a:latin typeface="Calibri" pitchFamily="34" charset="0"/>
                          <a:ea typeface="Calibri" pitchFamily="34" charset="-122"/>
                          <a:cs typeface="Calibri" pitchFamily="34" charset="-120"/>
                        </a:rPr>
                        <a:t>58–76</a:t>
                      </a:r>
                      <a:endParaRPr lang="en-US" sz="1050" dirty="0">
                        <a:latin typeface="Calibri" charset="0"/>
                        <a:ea typeface="Calibri" charset="0"/>
                        <a:cs typeface="Calibri" charset="0"/>
                      </a:endParaRPr>
                    </a:p>
                  </a:txBody>
                  <a:tcPr marL="45720" marR="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marL="0" indent="0" algn="l">
                        <a:buNone/>
                      </a:pPr>
                      <a:r>
                        <a:rPr lang="en-US" sz="1050" dirty="0">
                          <a:solidFill>
                            <a:srgbClr val="222222"/>
                          </a:solidFill>
                          <a:latin typeface="Calibri" pitchFamily="34" charset="0"/>
                          <a:ea typeface="Calibri" pitchFamily="34" charset="-122"/>
                          <a:cs typeface="Calibri" pitchFamily="34" charset="-120"/>
                        </a:rPr>
                        <a:t>Activity: a risk-mitigation blueprint for a bank</a:t>
                      </a:r>
                      <a:endParaRPr lang="en-US" sz="1050" dirty="0">
                        <a:latin typeface="Calibri" charset="0"/>
                        <a:ea typeface="Calibri" charset="0"/>
                        <a:cs typeface="Calibri" charset="0"/>
                      </a:endParaRPr>
                    </a:p>
                  </a:txBody>
                  <a:tcPr marL="45720" marR="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extLst>
                  <a:ext uri="{0D108BD9-81ED-4DB2-BD59-A6C34878D82A}">
                    <a16:rowId xmlns:a16="http://schemas.microsoft.com/office/drawing/2014/main" val="10007"/>
                  </a:ext>
                </a:extLst>
              </a:tr>
              <a:tr h="329184">
                <a:tc>
                  <a:txBody>
                    <a:bodyPr/>
                    <a:lstStyle/>
                    <a:p>
                      <a:pPr marL="0" indent="0" algn="l">
                        <a:buNone/>
                      </a:pPr>
                      <a:r>
                        <a:rPr lang="en-US" sz="1050" b="1" dirty="0">
                          <a:solidFill>
                            <a:srgbClr val="222222"/>
                          </a:solidFill>
                          <a:latin typeface="Calibri" pitchFamily="34" charset="0"/>
                          <a:ea typeface="Calibri" pitchFamily="34" charset="-122"/>
                          <a:cs typeface="Calibri" pitchFamily="34" charset="-120"/>
                        </a:rPr>
                        <a:t>76–86</a:t>
                      </a:r>
                      <a:endParaRPr lang="en-US" sz="1050" dirty="0">
                        <a:latin typeface="Calibri" charset="0"/>
                        <a:ea typeface="Calibri" charset="0"/>
                        <a:cs typeface="Calibri" charset="0"/>
                      </a:endParaRPr>
                    </a:p>
                  </a:txBody>
                  <a:tcPr marL="45720" marR="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marL="0" indent="0" algn="l">
                        <a:buNone/>
                      </a:pPr>
                      <a:r>
                        <a:rPr lang="en-US" sz="1050" dirty="0">
                          <a:solidFill>
                            <a:srgbClr val="222222"/>
                          </a:solidFill>
                          <a:latin typeface="Calibri" pitchFamily="34" charset="0"/>
                          <a:ea typeface="Calibri" pitchFamily="34" charset="-122"/>
                          <a:cs typeface="Calibri" pitchFamily="34" charset="-120"/>
                        </a:rPr>
                        <a:t>Debrief</a:t>
                      </a:r>
                      <a:endParaRPr lang="en-US" sz="1050" dirty="0">
                        <a:latin typeface="Calibri" charset="0"/>
                        <a:ea typeface="Calibri" charset="0"/>
                        <a:cs typeface="Calibri" charset="0"/>
                      </a:endParaRPr>
                    </a:p>
                  </a:txBody>
                  <a:tcPr marL="45720" marR="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extLst>
                  <a:ext uri="{0D108BD9-81ED-4DB2-BD59-A6C34878D82A}">
                    <a16:rowId xmlns:a16="http://schemas.microsoft.com/office/drawing/2014/main" val="10008"/>
                  </a:ext>
                </a:extLst>
              </a:tr>
              <a:tr h="329184">
                <a:tc>
                  <a:txBody>
                    <a:bodyPr/>
                    <a:lstStyle/>
                    <a:p>
                      <a:pPr marL="0" indent="0" algn="l">
                        <a:buNone/>
                      </a:pPr>
                      <a:r>
                        <a:rPr lang="en-US" sz="1050" b="1" dirty="0">
                          <a:solidFill>
                            <a:srgbClr val="222222"/>
                          </a:solidFill>
                          <a:latin typeface="Calibri" pitchFamily="34" charset="0"/>
                          <a:ea typeface="Calibri" pitchFamily="34" charset="-122"/>
                          <a:cs typeface="Calibri" pitchFamily="34" charset="-120"/>
                        </a:rPr>
                        <a:t>86–90</a:t>
                      </a:r>
                      <a:endParaRPr lang="en-US" sz="1050" dirty="0">
                        <a:latin typeface="Calibri" charset="0"/>
                        <a:ea typeface="Calibri" charset="0"/>
                        <a:cs typeface="Calibri" charset="0"/>
                      </a:endParaRPr>
                    </a:p>
                  </a:txBody>
                  <a:tcPr marL="45720" marR="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marL="0" indent="0" algn="l">
                        <a:buNone/>
                      </a:pPr>
                      <a:r>
                        <a:rPr lang="en-US" sz="1050" dirty="0">
                          <a:solidFill>
                            <a:srgbClr val="222222"/>
                          </a:solidFill>
                          <a:latin typeface="Calibri" pitchFamily="34" charset="0"/>
                          <a:ea typeface="Calibri" pitchFamily="34" charset="-122"/>
                          <a:cs typeface="Calibri" pitchFamily="34" charset="-120"/>
                        </a:rPr>
                        <a:t>Three things, your forum, your reading</a:t>
                      </a:r>
                      <a:endParaRPr lang="en-US" sz="1050" dirty="0">
                        <a:latin typeface="Calibri" charset="0"/>
                        <a:ea typeface="Calibri" charset="0"/>
                        <a:cs typeface="Calibri" charset="0"/>
                      </a:endParaRPr>
                    </a:p>
                  </a:txBody>
                  <a:tcPr marL="45720" marR="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pic>
        <p:nvPicPr>
          <p:cNvPr id="20" name="IE University logo" descr="IE University, School of Science &amp; Technology"/>
          <p:cNvPicPr>
            <a:picLocks noChangeAspect="1"/>
          </p:cNvPicPr>
          <p:nvPr/>
        </p:nvPicPr>
        <p:blipFill>
          <a:blip r:embed="rId5"/>
          <a:stretch>
            <a:fillRect/>
          </a:stretch>
        </p:blipFill>
        <p:spPr>
          <a:xfrm>
            <a:off x="8013607" y="92634"/>
            <a:ext cx="764633" cy="26278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marL="0" indent="0">
              <a:buNone/>
            </a:pPr>
            <a:r>
              <a:rPr lang="en-US" sz="800" dirty="0">
                <a:solidFill>
                  <a:srgbClr val="6B7280"/>
                </a:solidFill>
                <a:latin typeface="Calibri" pitchFamily="34" charset="0"/>
                <a:ea typeface="Calibri" pitchFamily="34" charset="-122"/>
                <a:cs typeface="Calibri" pitchFamily="34" charset="-120"/>
              </a:rPr>
              <a:t>MLOps · MBDS-PT2026F · Session 3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marL="0" indent="0" algn="r">
              <a:buNone/>
            </a:pPr>
            <a:r>
              <a:rPr lang="en-US" sz="800" dirty="0">
                <a:solidFill>
                  <a:srgbClr val="6B7280"/>
                </a:solidFill>
                <a:latin typeface="Calibri" pitchFamily="34" charset="0"/>
                <a:ea typeface="Calibri" pitchFamily="34" charset="-122"/>
                <a:cs typeface="Calibri" pitchFamily="34" charset="-120"/>
              </a:rPr>
              <a:t>3</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marL="0" indent="0">
              <a:buNone/>
            </a:pPr>
            <a:r>
              <a:rPr lang="en-US" sz="2400" b="1" dirty="0">
                <a:solidFill>
                  <a:srgbClr val="1B2A4A"/>
                </a:solidFill>
                <a:latin typeface="Calibri" pitchFamily="34" charset="0"/>
                <a:ea typeface="Calibri" pitchFamily="34" charset="-122"/>
                <a:cs typeface="Calibri" pitchFamily="34" charset="-120"/>
              </a:rPr>
              <a:t>What's messy in María's notebook</a:t>
            </a:r>
            <a:endParaRPr lang="en-US" sz="2400" dirty="0"/>
          </a:p>
        </p:txBody>
      </p:sp>
      <p:sp>
        <p:nvSpPr>
          <p:cNvPr id="7" name="Shape 4"/>
          <p:cNvSpPr/>
          <p:nvPr/>
        </p:nvSpPr>
        <p:spPr>
          <a:xfrm>
            <a:off x="365760" y="1234440"/>
            <a:ext cx="2697480" cy="2834640"/>
          </a:xfrm>
          <a:prstGeom prst="roundRect">
            <a:avLst>
              <a:gd name="adj" fmla="val 2712"/>
            </a:avLst>
          </a:prstGeom>
          <a:solidFill>
            <a:srgbClr val="F3F5F8"/>
          </a:solidFill>
          <a:ln w="12700">
            <a:solidFill>
              <a:srgbClr val="F3F5F8"/>
            </a:solidFill>
            <a:prstDash val="solid"/>
          </a:ln>
        </p:spPr>
        <p:txBody>
          <a:bodyPr/>
          <a:lstStyle/>
          <a:p>
            <a:endParaRPr/>
          </a:p>
        </p:txBody>
      </p:sp>
      <p:sp>
        <p:nvSpPr>
          <p:cNvPr id="8" name="Shape 5"/>
          <p:cNvSpPr/>
          <p:nvPr/>
        </p:nvSpPr>
        <p:spPr>
          <a:xfrm>
            <a:off x="502920" y="1353312"/>
            <a:ext cx="347472" cy="347472"/>
          </a:xfrm>
          <a:prstGeom prst="ellipse">
            <a:avLst/>
          </a:prstGeom>
          <a:solidFill>
            <a:srgbClr val="0E7C86"/>
          </a:solidFill>
          <a:ln w="12700">
            <a:solidFill>
              <a:srgbClr val="0E7C86"/>
            </a:solidFill>
            <a:prstDash val="solid"/>
          </a:ln>
        </p:spPr>
        <p:txBody>
          <a:bodyPr/>
          <a:lstStyle/>
          <a:p>
            <a:endParaRPr/>
          </a:p>
        </p:txBody>
      </p:sp>
      <p:pic>
        <p:nvPicPr>
          <p:cNvPr id="9" name="Image 0" descr="preencoded.png"/>
          <p:cNvPicPr>
            <a:picLocks noChangeAspect="1"/>
          </p:cNvPicPr>
          <p:nvPr/>
        </p:nvPicPr>
        <p:blipFill>
          <a:blip r:embed="rId3"/>
          <a:stretch>
            <a:fillRect/>
          </a:stretch>
        </p:blipFill>
        <p:spPr>
          <a:xfrm>
            <a:off x="576072" y="1426464"/>
            <a:ext cx="201168" cy="201168"/>
          </a:xfrm>
          <a:prstGeom prst="rect">
            <a:avLst/>
          </a:prstGeom>
        </p:spPr>
      </p:pic>
      <p:sp>
        <p:nvSpPr>
          <p:cNvPr id="10" name="Text 6"/>
          <p:cNvSpPr txBox="1"/>
          <p:nvPr/>
        </p:nvSpPr>
        <p:spPr>
          <a:xfrm>
            <a:off x="932688" y="1325880"/>
            <a:ext cx="2011680" cy="402336"/>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It cannot be re-run</a:t>
            </a:r>
            <a:endParaRPr lang="en-US" sz="1300" dirty="0"/>
          </a:p>
        </p:txBody>
      </p:sp>
      <p:sp>
        <p:nvSpPr>
          <p:cNvPr id="11" name="Text 7"/>
          <p:cNvSpPr txBox="1"/>
          <p:nvPr/>
        </p:nvSpPr>
        <p:spPr>
          <a:xfrm>
            <a:off x="502920" y="1783080"/>
            <a:ext cx="2423160" cy="2194560"/>
          </a:xfrm>
          <a:prstGeom prst="rect">
            <a:avLst/>
          </a:prstGeom>
          <a:noFill/>
          <a:ln/>
        </p:spPr>
        <p:txBody>
          <a:bodyPr wrap="square" lIns="0" tIns="0" rIns="0" bIns="0" rtlCol="0" anchor="t"/>
          <a:lstStyle/>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"Don't run all cells at once"</a:t>
            </a:r>
            <a:endParaRPr lang="en-US" sz="1150" dirty="0"/>
          </a:p>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Cells executed out of order (look at the numbers)</a:t>
            </a:r>
            <a:endParaRPr lang="en-US" sz="1150" dirty="0"/>
          </a:p>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A laptop path, then a relative path</a:t>
            </a:r>
            <a:endParaRPr lang="en-US" sz="1150" dirty="0"/>
          </a:p>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The scaler cell breaks if run twice</a:t>
            </a:r>
            <a:endParaRPr lang="en-US" sz="1150" dirty="0"/>
          </a:p>
        </p:txBody>
      </p:sp>
      <p:sp>
        <p:nvSpPr>
          <p:cNvPr id="12" name="Shape 8"/>
          <p:cNvSpPr/>
          <p:nvPr/>
        </p:nvSpPr>
        <p:spPr>
          <a:xfrm>
            <a:off x="3218688" y="1234440"/>
            <a:ext cx="2697480" cy="2834640"/>
          </a:xfrm>
          <a:prstGeom prst="roundRect">
            <a:avLst>
              <a:gd name="adj" fmla="val 2712"/>
            </a:avLst>
          </a:prstGeom>
          <a:solidFill>
            <a:srgbClr val="F3F5F8"/>
          </a:solidFill>
          <a:ln w="12700">
            <a:solidFill>
              <a:srgbClr val="F3F5F8"/>
            </a:solidFill>
            <a:prstDash val="solid"/>
          </a:ln>
        </p:spPr>
        <p:txBody>
          <a:bodyPr/>
          <a:lstStyle/>
          <a:p>
            <a:endParaRPr/>
          </a:p>
        </p:txBody>
      </p:sp>
      <p:sp>
        <p:nvSpPr>
          <p:cNvPr id="13" name="Shape 9"/>
          <p:cNvSpPr/>
          <p:nvPr/>
        </p:nvSpPr>
        <p:spPr>
          <a:xfrm>
            <a:off x="3355848" y="1353312"/>
            <a:ext cx="347472" cy="347472"/>
          </a:xfrm>
          <a:prstGeom prst="ellipse">
            <a:avLst/>
          </a:prstGeom>
          <a:solidFill>
            <a:srgbClr val="0E7C86"/>
          </a:solidFill>
          <a:ln w="12700">
            <a:solidFill>
              <a:srgbClr val="0E7C86"/>
            </a:solidFill>
            <a:prstDash val="solid"/>
          </a:ln>
        </p:spPr>
        <p:txBody>
          <a:bodyPr/>
          <a:lstStyle/>
          <a:p>
            <a:endParaRPr/>
          </a:p>
        </p:txBody>
      </p:sp>
      <p:pic>
        <p:nvPicPr>
          <p:cNvPr id="14" name="Image 1" descr="preencoded.png"/>
          <p:cNvPicPr>
            <a:picLocks noChangeAspect="1"/>
          </p:cNvPicPr>
          <p:nvPr/>
        </p:nvPicPr>
        <p:blipFill>
          <a:blip r:embed="rId4"/>
          <a:stretch>
            <a:fillRect/>
          </a:stretch>
        </p:blipFill>
        <p:spPr>
          <a:xfrm>
            <a:off x="3429000" y="1426464"/>
            <a:ext cx="201168" cy="201168"/>
          </a:xfrm>
          <a:prstGeom prst="rect">
            <a:avLst/>
          </a:prstGeom>
        </p:spPr>
      </p:pic>
      <p:sp>
        <p:nvSpPr>
          <p:cNvPr id="15" name="Text 10"/>
          <p:cNvSpPr txBox="1"/>
          <p:nvPr/>
        </p:nvSpPr>
        <p:spPr>
          <a:xfrm>
            <a:off x="3785616" y="1325880"/>
            <a:ext cx="2011680" cy="402336"/>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Nobody checks the data</a:t>
            </a:r>
            <a:endParaRPr lang="en-US" sz="1300" dirty="0"/>
          </a:p>
        </p:txBody>
      </p:sp>
      <p:sp>
        <p:nvSpPr>
          <p:cNvPr id="16" name="Text 11"/>
          <p:cNvSpPr txBox="1"/>
          <p:nvPr/>
        </p:nvSpPr>
        <p:spPr>
          <a:xfrm>
            <a:off x="3355848" y="1783080"/>
            <a:ext cx="2423160" cy="2194560"/>
          </a:xfrm>
          <a:prstGeom prst="rect">
            <a:avLst/>
          </a:prstGeom>
          <a:noFill/>
          <a:ln/>
        </p:spPr>
        <p:txBody>
          <a:bodyPr wrap="square" lIns="0" tIns="0" rIns="0" bIns="0" rtlCol="0" anchor="t"/>
          <a:lstStyle/>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"Looks fine" is a comment, not a test</a:t>
            </a:r>
            <a:endParaRPr lang="en-US" sz="1150" dirty="0"/>
          </a:p>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-1 support tickets, 999 charges, "north"</a:t>
            </a:r>
            <a:endParaRPr lang="en-US" sz="1150" dirty="0"/>
          </a:p>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Duplicated customers, dates as text</a:t>
            </a:r>
            <a:endParaRPr lang="en-US" sz="1150" dirty="0"/>
          </a:p>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Missing values filled with the mean, mid-way</a:t>
            </a:r>
            <a:endParaRPr lang="en-US" sz="1150" dirty="0"/>
          </a:p>
        </p:txBody>
      </p:sp>
      <p:sp>
        <p:nvSpPr>
          <p:cNvPr id="17" name="Shape 12"/>
          <p:cNvSpPr/>
          <p:nvPr/>
        </p:nvSpPr>
        <p:spPr>
          <a:xfrm>
            <a:off x="6080760" y="1234440"/>
            <a:ext cx="2697480" cy="2834640"/>
          </a:xfrm>
          <a:prstGeom prst="roundRect">
            <a:avLst>
              <a:gd name="adj" fmla="val 2712"/>
            </a:avLst>
          </a:prstGeom>
          <a:solidFill>
            <a:srgbClr val="F3F5F8"/>
          </a:solidFill>
          <a:ln w="12700">
            <a:solidFill>
              <a:srgbClr val="F3F5F8"/>
            </a:solidFill>
            <a:prstDash val="solid"/>
          </a:ln>
        </p:spPr>
        <p:txBody>
          <a:bodyPr/>
          <a:lstStyle/>
          <a:p>
            <a:endParaRPr/>
          </a:p>
        </p:txBody>
      </p:sp>
      <p:sp>
        <p:nvSpPr>
          <p:cNvPr id="18" name="Shape 13"/>
          <p:cNvSpPr/>
          <p:nvPr/>
        </p:nvSpPr>
        <p:spPr>
          <a:xfrm>
            <a:off x="6217920" y="1353312"/>
            <a:ext cx="347472" cy="347472"/>
          </a:xfrm>
          <a:prstGeom prst="ellipse">
            <a:avLst/>
          </a:prstGeom>
          <a:solidFill>
            <a:srgbClr val="E07A2F"/>
          </a:solidFill>
          <a:ln w="12700">
            <a:solidFill>
              <a:srgbClr val="E07A2F"/>
            </a:solidFill>
            <a:prstDash val="solid"/>
          </a:ln>
        </p:spPr>
        <p:txBody>
          <a:bodyPr/>
          <a:lstStyle/>
          <a:p>
            <a:endParaRPr/>
          </a:p>
        </p:txBody>
      </p:sp>
      <p:pic>
        <p:nvPicPr>
          <p:cNvPr id="19" name="Image 2" descr="preencoded.png"/>
          <p:cNvPicPr>
            <a:picLocks noChangeAspect="1"/>
          </p:cNvPicPr>
          <p:nvPr/>
        </p:nvPicPr>
        <p:blipFill>
          <a:blip r:embed="rId5"/>
          <a:stretch>
            <a:fillRect/>
          </a:stretch>
        </p:blipFill>
        <p:spPr>
          <a:xfrm>
            <a:off x="6291072" y="1426464"/>
            <a:ext cx="201168" cy="201168"/>
          </a:xfrm>
          <a:prstGeom prst="rect">
            <a:avLst/>
          </a:prstGeom>
        </p:spPr>
      </p:pic>
      <p:sp>
        <p:nvSpPr>
          <p:cNvPr id="20" name="Text 14"/>
          <p:cNvSpPr txBox="1"/>
          <p:nvPr/>
        </p:nvSpPr>
        <p:spPr>
          <a:xfrm>
            <a:off x="6647688" y="1325880"/>
            <a:ext cx="2011680" cy="402336"/>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The result cannot be trusted</a:t>
            </a:r>
            <a:endParaRPr lang="en-US" sz="1300" dirty="0"/>
          </a:p>
        </p:txBody>
      </p:sp>
      <p:sp>
        <p:nvSpPr>
          <p:cNvPr id="21" name="Text 15"/>
          <p:cNvSpPr txBox="1"/>
          <p:nvPr/>
        </p:nvSpPr>
        <p:spPr>
          <a:xfrm>
            <a:off x="6217920" y="1783080"/>
            <a:ext cx="2423160" cy="2194560"/>
          </a:xfrm>
          <a:prstGeom prst="rect">
            <a:avLst/>
          </a:prstGeom>
          <a:noFill/>
          <a:ln/>
        </p:spPr>
        <p:txBody>
          <a:bodyPr wrap="square" lIns="0" tIns="0" rIns="0" bIns="0" rtlCol="0" anchor="t"/>
          <a:lstStyle/>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0.84 yesterday, 0.87 today</a:t>
            </a:r>
            <a:endParaRPr lang="en-US" sz="1150" dirty="0"/>
          </a:p>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Three copies of the same model, edited by hand</a:t>
            </a:r>
            <a:endParaRPr lang="en-US" sz="1150" dirty="0"/>
          </a:p>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Threshold chosen on the test set</a:t>
            </a:r>
            <a:endParaRPr lang="en-US" sz="1150" dirty="0"/>
          </a:p>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Scaler and "churn rate by plan" see the answers</a:t>
            </a:r>
            <a:endParaRPr lang="en-US" sz="1150" dirty="0"/>
          </a:p>
        </p:txBody>
      </p:sp>
      <p:sp>
        <p:nvSpPr>
          <p:cNvPr id="22" name="Shape 16"/>
          <p:cNvSpPr/>
          <p:nvPr/>
        </p:nvSpPr>
        <p:spPr>
          <a:xfrm>
            <a:off x="365760" y="4206240"/>
            <a:ext cx="8412480" cy="457200"/>
          </a:xfrm>
          <a:prstGeom prst="roundRect">
            <a:avLst>
              <a:gd name="adj" fmla="val 16000"/>
            </a:avLst>
          </a:prstGeom>
          <a:solidFill>
            <a:srgbClr val="E3F1F2"/>
          </a:solidFill>
          <a:ln w="12700">
            <a:solidFill>
              <a:srgbClr val="E3F1F2"/>
            </a:solidFill>
            <a:prstDash val="solid"/>
          </a:ln>
        </p:spPr>
        <p:txBody>
          <a:bodyPr/>
          <a:lstStyle/>
          <a:p>
            <a:endParaRPr/>
          </a:p>
        </p:txBody>
      </p:sp>
      <p:pic>
        <p:nvPicPr>
          <p:cNvPr id="23" name="Image 3" descr="preencoded.png"/>
          <p:cNvPicPr>
            <a:picLocks noChangeAspect="1"/>
          </p:cNvPicPr>
          <p:nvPr/>
        </p:nvPicPr>
        <p:blipFill>
          <a:blip r:embed="rId6"/>
          <a:stretch>
            <a:fillRect/>
          </a:stretch>
        </p:blipFill>
        <p:spPr>
          <a:xfrm>
            <a:off x="502920" y="4297680"/>
            <a:ext cx="274320" cy="274320"/>
          </a:xfrm>
          <a:prstGeom prst="rect">
            <a:avLst/>
          </a:prstGeom>
        </p:spPr>
      </p:pic>
      <p:sp>
        <p:nvSpPr>
          <p:cNvPr id="24" name="Text 17"/>
          <p:cNvSpPr txBox="1"/>
          <p:nvPr/>
        </p:nvSpPr>
        <p:spPr>
          <a:xfrm>
            <a:off x="896112" y="4206240"/>
            <a:ext cx="7772400" cy="457200"/>
          </a:xfrm>
          <a:prstGeom prst="rect">
            <a:avLst/>
          </a:prstGeom>
          <a:noFill/>
          <a:ln/>
        </p:spPr>
        <p:txBody>
          <a:bodyPr wrap="square" lIns="0" tIns="0" rIns="0" bIns="0" rtlCol="0" anchor="ctr"/>
          <a:lstStyle/>
          <a:p>
            <a:pPr marL="0" indent="0">
              <a:buNone/>
            </a:pPr>
            <a:r>
              <a:rPr lang="en-US" sz="1200" b="1" dirty="0">
                <a:solidFill>
                  <a:srgbClr val="1B2A4A"/>
                </a:solidFill>
                <a:latin typeface="Calibri" pitchFamily="34" charset="0"/>
                <a:ea typeface="Calibri" pitchFamily="34" charset="-122"/>
                <a:cs typeface="Calibri" pitchFamily="34" charset="-120"/>
              </a:rPr>
              <a:t>Every messy thing is a production failure waiting to happen. Each column is a part of today.</a:t>
            </a:r>
            <a:endParaRPr lang="en-US" sz="1200" dirty="0"/>
          </a:p>
        </p:txBody>
      </p:sp>
      <p:pic>
        <p:nvPicPr>
          <p:cNvPr id="25" name="IE University logo" descr="IE University, School of Science &amp; Technology"/>
          <p:cNvPicPr>
            <a:picLocks noChangeAspect="1"/>
          </p:cNvPicPr>
          <p:nvPr/>
        </p:nvPicPr>
        <p:blipFill>
          <a:blip r:embed="rId7"/>
          <a:stretch>
            <a:fillRect/>
          </a:stretch>
        </p:blipFill>
        <p:spPr>
          <a:xfrm>
            <a:off x="8013607" y="92634"/>
            <a:ext cx="764633" cy="26278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marL="0" indent="0">
              <a:buNone/>
            </a:pPr>
            <a:r>
              <a:rPr lang="en-US" sz="800" dirty="0">
                <a:solidFill>
                  <a:srgbClr val="6B7280"/>
                </a:solidFill>
                <a:latin typeface="Calibri" pitchFamily="34" charset="0"/>
                <a:ea typeface="Calibri" pitchFamily="34" charset="-122"/>
                <a:cs typeface="Calibri" pitchFamily="34" charset="-120"/>
              </a:rPr>
              <a:t>MLOps · MBDS-PT2026F · Session 3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marL="0" indent="0" algn="r">
              <a:buNone/>
            </a:pPr>
            <a:r>
              <a:rPr lang="en-US" sz="800" dirty="0">
                <a:solidFill>
                  <a:srgbClr val="6B7280"/>
                </a:solidFill>
                <a:latin typeface="Calibri" pitchFamily="34" charset="0"/>
                <a:ea typeface="Calibri" pitchFamily="34" charset="-122"/>
                <a:cs typeface="Calibri" pitchFamily="34" charset="-120"/>
              </a:rPr>
              <a:t>4</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marL="0" indent="0">
              <a:buNone/>
            </a:pPr>
            <a:r>
              <a:rPr lang="en-US" sz="2400" b="1" dirty="0">
                <a:solidFill>
                  <a:srgbClr val="1B2A4A"/>
                </a:solidFill>
                <a:latin typeface="Calibri" pitchFamily="34" charset="0"/>
                <a:ea typeface="Calibri" pitchFamily="34" charset="-122"/>
                <a:cs typeface="Calibri" pitchFamily="34" charset="-120"/>
              </a:rPr>
              <a:t>The questions an MLOps plan must answer; today we take the first four</a:t>
            </a:r>
            <a:endParaRPr lang="en-US" sz="24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365760" y="1234440"/>
          <a:ext cx="8412480" cy="1691640"/>
        </p:xfrm>
        <a:graphic>
          <a:graphicData uri="http://schemas.openxmlformats.org/drawingml/2006/table">
            <a:tbl>
              <a:tblPr/>
              <a:tblGrid>
                <a:gridCol w="1399032">
                  <a:extLst>
                    <a:ext uri="{9D8B030D-6E8A-4147-A177-3AD203B41FA5}">
                      <a16:colId xmlns:a16="http://schemas.microsoft.com/office/drawing/2014/main" val="20000"/>
                    </a:ext>
                  </a:extLst>
                </a:gridCol>
                <a:gridCol w="1399032">
                  <a:extLst>
                    <a:ext uri="{9D8B030D-6E8A-4147-A177-3AD203B41FA5}">
                      <a16:colId xmlns:a16="http://schemas.microsoft.com/office/drawing/2014/main" val="20001"/>
                    </a:ext>
                  </a:extLst>
                </a:gridCol>
                <a:gridCol w="1399032">
                  <a:extLst>
                    <a:ext uri="{9D8B030D-6E8A-4147-A177-3AD203B41FA5}">
                      <a16:colId xmlns:a16="http://schemas.microsoft.com/office/drawing/2014/main" val="20002"/>
                    </a:ext>
                  </a:extLst>
                </a:gridCol>
                <a:gridCol w="1399032">
                  <a:extLst>
                    <a:ext uri="{9D8B030D-6E8A-4147-A177-3AD203B41FA5}">
                      <a16:colId xmlns:a16="http://schemas.microsoft.com/office/drawing/2014/main" val="20003"/>
                    </a:ext>
                  </a:extLst>
                </a:gridCol>
                <a:gridCol w="1399032">
                  <a:extLst>
                    <a:ext uri="{9D8B030D-6E8A-4147-A177-3AD203B41FA5}">
                      <a16:colId xmlns:a16="http://schemas.microsoft.com/office/drawing/2014/main" val="20004"/>
                    </a:ext>
                  </a:extLst>
                </a:gridCol>
                <a:gridCol w="1417320">
                  <a:extLst>
                    <a:ext uri="{9D8B030D-6E8A-4147-A177-3AD203B41FA5}">
                      <a16:colId xmlns:a16="http://schemas.microsoft.com/office/drawing/2014/main" val="20005"/>
                    </a:ext>
                  </a:extLst>
                </a:gridCol>
              </a:tblGrid>
              <a:tr h="365760">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Access data</a:t>
                      </a:r>
                      <a:endParaRPr lang="en-US" sz="1050" dirty="0">
                        <a:latin typeface="Calibri" charset="0"/>
                        <a:ea typeface="Calibri" charset="0"/>
                        <a:cs typeface="Calibri" charset="0"/>
                      </a:endParaRPr>
                    </a:p>
                  </a:txBody>
                  <a:tcPr marL="54864" marR="54864" marT="54864" marB="54864">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0E7C86"/>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Feature engineering</a:t>
                      </a:r>
                      <a:endParaRPr lang="en-US" sz="1050" dirty="0">
                        <a:latin typeface="Calibri" charset="0"/>
                        <a:ea typeface="Calibri" charset="0"/>
                        <a:cs typeface="Calibri" charset="0"/>
                      </a:endParaRPr>
                    </a:p>
                  </a:txBody>
                  <a:tcPr marL="54864" marR="54864" marT="54864" marB="54864">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0E7C86"/>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Model training</a:t>
                      </a:r>
                      <a:endParaRPr lang="en-US" sz="1050" dirty="0">
                        <a:latin typeface="Calibri" charset="0"/>
                        <a:ea typeface="Calibri" charset="0"/>
                        <a:cs typeface="Calibri" charset="0"/>
                      </a:endParaRPr>
                    </a:p>
                  </a:txBody>
                  <a:tcPr marL="54864" marR="54864" marT="54864" marB="54864">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0E7C86"/>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Model registry</a:t>
                      </a:r>
                      <a:endParaRPr lang="en-US" sz="1050" dirty="0">
                        <a:latin typeface="Calibri" charset="0"/>
                        <a:ea typeface="Calibri" charset="0"/>
                        <a:cs typeface="Calibri" charset="0"/>
                      </a:endParaRPr>
                    </a:p>
                  </a:txBody>
                  <a:tcPr marL="54864" marR="54864" marT="54864" marB="54864">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0E7C86"/>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Model deployment</a:t>
                      </a:r>
                      <a:endParaRPr lang="en-US" sz="1050" dirty="0">
                        <a:latin typeface="Calibri" charset="0"/>
                        <a:ea typeface="Calibri" charset="0"/>
                        <a:cs typeface="Calibri" charset="0"/>
                      </a:endParaRPr>
                    </a:p>
                  </a:txBody>
                  <a:tcPr marL="54864" marR="54864" marT="54864" marB="54864">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Model monitoring</a:t>
                      </a:r>
                      <a:endParaRPr lang="en-US" sz="1050" dirty="0">
                        <a:latin typeface="Calibri" charset="0"/>
                        <a:ea typeface="Calibri" charset="0"/>
                        <a:cs typeface="Calibri" charset="0"/>
                      </a:endParaRPr>
                    </a:p>
                  </a:txBody>
                  <a:tcPr marL="54864" marR="54864" marT="54864" marB="54864">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1325880">
                <a:tc>
                  <a:txBody>
                    <a:bodyPr/>
                    <a:lstStyle/>
                    <a:p>
                      <a:pPr marL="0" indent="0">
                        <a:buNone/>
                      </a:pPr>
                      <a:r>
                        <a:rPr lang="en-US" sz="1050" dirty="0">
                          <a:solidFill>
                            <a:srgbClr val="222222"/>
                          </a:solidFill>
                          <a:latin typeface="Calibri" pitchFamily="34" charset="0"/>
                          <a:ea typeface="Calibri" pitchFamily="34" charset="-122"/>
                          <a:cs typeface="Calibri" pitchFamily="34" charset="-120"/>
                        </a:rPr>
                        <a:t>Data accessibility</a:t>
                      </a:r>
                      <a:endParaRPr lang="en-US" sz="1050" dirty="0">
                        <a:latin typeface="Calibri" charset="0"/>
                        <a:ea typeface="Calibri" charset="0"/>
                        <a:cs typeface="Calibri" charset="0"/>
                      </a:endParaRPr>
                    </a:p>
                    <a:p>
                      <a:pPr marL="0" indent="0">
                        <a:buNone/>
                      </a:pPr>
                      <a:r>
                        <a:rPr lang="en-US" sz="1050" dirty="0">
                          <a:solidFill>
                            <a:srgbClr val="222222"/>
                          </a:solidFill>
                          <a:latin typeface="Calibri" pitchFamily="34" charset="0"/>
                          <a:ea typeface="Calibri" pitchFamily="34" charset="-122"/>
                          <a:cs typeface="Calibri" pitchFamily="34" charset="-120"/>
                        </a:rPr>
                        <a:t>Data format</a:t>
                      </a:r>
                      <a:endParaRPr lang="en-US" sz="1050" dirty="0">
                        <a:latin typeface="Calibri" charset="0"/>
                        <a:ea typeface="Calibri" charset="0"/>
                        <a:cs typeface="Calibri" charset="0"/>
                      </a:endParaRPr>
                    </a:p>
                    <a:p>
                      <a:pPr marL="0" indent="0">
                        <a:buNone/>
                      </a:pPr>
                      <a:r>
                        <a:rPr lang="en-US" sz="1050" dirty="0">
                          <a:solidFill>
                            <a:srgbClr val="222222"/>
                          </a:solidFill>
                          <a:latin typeface="Calibri" pitchFamily="34" charset="0"/>
                          <a:ea typeface="Calibri" pitchFamily="34" charset="-122"/>
                          <a:cs typeface="Calibri" pitchFamily="34" charset="-120"/>
                        </a:rPr>
                        <a:t>Data validation</a:t>
                      </a:r>
                      <a:endParaRPr lang="en-US" sz="1050" dirty="0">
                        <a:latin typeface="Calibri" charset="0"/>
                        <a:ea typeface="Calibri" charset="0"/>
                        <a:cs typeface="Calibri" charset="0"/>
                      </a:endParaRPr>
                    </a:p>
                  </a:txBody>
                  <a:tcPr marL="54864" marR="54864" marT="54864" marB="54864">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marL="0" indent="0">
                        <a:buNone/>
                      </a:pPr>
                      <a:r>
                        <a:rPr lang="en-US" sz="1050" dirty="0">
                          <a:solidFill>
                            <a:srgbClr val="222222"/>
                          </a:solidFill>
                          <a:latin typeface="Calibri" pitchFamily="34" charset="0"/>
                          <a:ea typeface="Calibri" pitchFamily="34" charset="-122"/>
                          <a:cs typeface="Calibri" pitchFamily="34" charset="-120"/>
                        </a:rPr>
                        <a:t>Reproducibility</a:t>
                      </a:r>
                      <a:endParaRPr lang="en-US" sz="1050" dirty="0">
                        <a:latin typeface="Calibri" charset="0"/>
                        <a:ea typeface="Calibri" charset="0"/>
                        <a:cs typeface="Calibri" charset="0"/>
                      </a:endParaRPr>
                    </a:p>
                    <a:p>
                      <a:pPr marL="0" indent="0">
                        <a:buNone/>
                      </a:pPr>
                      <a:r>
                        <a:rPr lang="en-US" sz="1050" dirty="0">
                          <a:solidFill>
                            <a:srgbClr val="222222"/>
                          </a:solidFill>
                          <a:latin typeface="Calibri" pitchFamily="34" charset="0"/>
                          <a:ea typeface="Calibri" pitchFamily="34" charset="-122"/>
                          <a:cs typeface="Calibri" pitchFamily="34" charset="-120"/>
                        </a:rPr>
                        <a:t>Scalability</a:t>
                      </a:r>
                      <a:endParaRPr lang="en-US" sz="1050" dirty="0">
                        <a:latin typeface="Calibri" charset="0"/>
                        <a:ea typeface="Calibri" charset="0"/>
                        <a:cs typeface="Calibri" charset="0"/>
                      </a:endParaRPr>
                    </a:p>
                    <a:p>
                      <a:pPr marL="0" indent="0">
                        <a:buNone/>
                      </a:pPr>
                      <a:r>
                        <a:rPr lang="en-US" sz="1050" dirty="0">
                          <a:solidFill>
                            <a:srgbClr val="222222"/>
                          </a:solidFill>
                          <a:latin typeface="Calibri" pitchFamily="34" charset="0"/>
                          <a:ea typeface="Calibri" pitchFamily="34" charset="-122"/>
                          <a:cs typeface="Calibri" pitchFamily="34" charset="-120"/>
                        </a:rPr>
                        <a:t>Training-serving skew</a:t>
                      </a:r>
                      <a:endParaRPr lang="en-US" sz="1050" dirty="0">
                        <a:latin typeface="Calibri" charset="0"/>
                        <a:ea typeface="Calibri" charset="0"/>
                        <a:cs typeface="Calibri" charset="0"/>
                      </a:endParaRPr>
                    </a:p>
                  </a:txBody>
                  <a:tcPr marL="54864" marR="54864" marT="54864" marB="54864">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marL="0" indent="0">
                        <a:buNone/>
                      </a:pPr>
                      <a:r>
                        <a:rPr lang="en-US" sz="1050" dirty="0">
                          <a:solidFill>
                            <a:srgbClr val="222222"/>
                          </a:solidFill>
                          <a:latin typeface="Calibri" pitchFamily="34" charset="0"/>
                          <a:ea typeface="Calibri" pitchFamily="34" charset="-122"/>
                          <a:cs typeface="Calibri" pitchFamily="34" charset="-120"/>
                        </a:rPr>
                        <a:t>Experiment tracking</a:t>
                      </a:r>
                      <a:endParaRPr lang="en-US" sz="1050" dirty="0">
                        <a:latin typeface="Calibri" charset="0"/>
                        <a:ea typeface="Calibri" charset="0"/>
                        <a:cs typeface="Calibri" charset="0"/>
                      </a:endParaRPr>
                    </a:p>
                    <a:p>
                      <a:pPr marL="0" indent="0">
                        <a:buNone/>
                      </a:pPr>
                      <a:r>
                        <a:rPr lang="en-US" sz="1050" dirty="0">
                          <a:solidFill>
                            <a:srgbClr val="222222"/>
                          </a:solidFill>
                          <a:latin typeface="Calibri" pitchFamily="34" charset="0"/>
                          <a:ea typeface="Calibri" pitchFamily="34" charset="-122"/>
                          <a:cs typeface="Calibri" pitchFamily="34" charset="-120"/>
                        </a:rPr>
                        <a:t>Reproducibility</a:t>
                      </a:r>
                      <a:endParaRPr lang="en-US" sz="1050" dirty="0">
                        <a:latin typeface="Calibri" charset="0"/>
                        <a:ea typeface="Calibri" charset="0"/>
                        <a:cs typeface="Calibri" charset="0"/>
                      </a:endParaRPr>
                    </a:p>
                    <a:p>
                      <a:pPr marL="0" indent="0">
                        <a:buNone/>
                      </a:pPr>
                      <a:r>
                        <a:rPr lang="en-US" sz="1050" dirty="0">
                          <a:solidFill>
                            <a:srgbClr val="222222"/>
                          </a:solidFill>
                          <a:latin typeface="Calibri" pitchFamily="34" charset="0"/>
                          <a:ea typeface="Calibri" pitchFamily="34" charset="-122"/>
                          <a:cs typeface="Calibri" pitchFamily="34" charset="-120"/>
                        </a:rPr>
                        <a:t>Scalability</a:t>
                      </a:r>
                      <a:endParaRPr lang="en-US" sz="1050" dirty="0">
                        <a:latin typeface="Calibri" charset="0"/>
                        <a:ea typeface="Calibri" charset="0"/>
                        <a:cs typeface="Calibri" charset="0"/>
                      </a:endParaRPr>
                    </a:p>
                  </a:txBody>
                  <a:tcPr marL="54864" marR="54864" marT="54864" marB="54864">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marL="0" indent="0">
                        <a:buNone/>
                      </a:pPr>
                      <a:r>
                        <a:rPr lang="en-US" sz="1050" dirty="0">
                          <a:solidFill>
                            <a:srgbClr val="222222"/>
                          </a:solidFill>
                          <a:latin typeface="Calibri" pitchFamily="34" charset="0"/>
                          <a:ea typeface="Calibri" pitchFamily="34" charset="-122"/>
                          <a:cs typeface="Calibri" pitchFamily="34" charset="-120"/>
                        </a:rPr>
                        <a:t>Model versioning</a:t>
                      </a:r>
                      <a:endParaRPr lang="en-US" sz="1050" dirty="0">
                        <a:latin typeface="Calibri" charset="0"/>
                        <a:ea typeface="Calibri" charset="0"/>
                        <a:cs typeface="Calibri" charset="0"/>
                      </a:endParaRPr>
                    </a:p>
                    <a:p>
                      <a:pPr marL="0" indent="0">
                        <a:buNone/>
                      </a:pPr>
                      <a:r>
                        <a:rPr lang="en-US" sz="1050" dirty="0">
                          <a:solidFill>
                            <a:srgbClr val="222222"/>
                          </a:solidFill>
                          <a:latin typeface="Calibri" pitchFamily="34" charset="0"/>
                          <a:ea typeface="Calibri" pitchFamily="34" charset="-122"/>
                          <a:cs typeface="Calibri" pitchFamily="34" charset="-120"/>
                        </a:rPr>
                        <a:t>Auditing</a:t>
                      </a:r>
                      <a:endParaRPr lang="en-US" sz="1050" dirty="0">
                        <a:latin typeface="Calibri" charset="0"/>
                        <a:ea typeface="Calibri" charset="0"/>
                        <a:cs typeface="Calibri" charset="0"/>
                      </a:endParaRPr>
                    </a:p>
                    <a:p>
                      <a:pPr marL="0" indent="0">
                        <a:buNone/>
                      </a:pPr>
                      <a:r>
                        <a:rPr lang="en-US" sz="1050" dirty="0">
                          <a:solidFill>
                            <a:srgbClr val="222222"/>
                          </a:solidFill>
                          <a:latin typeface="Calibri" pitchFamily="34" charset="0"/>
                          <a:ea typeface="Calibri" pitchFamily="34" charset="-122"/>
                          <a:cs typeface="Calibri" pitchFamily="34" charset="-120"/>
                        </a:rPr>
                        <a:t>Ownership</a:t>
                      </a:r>
                      <a:endParaRPr lang="en-US" sz="1050" dirty="0">
                        <a:latin typeface="Calibri" charset="0"/>
                        <a:ea typeface="Calibri" charset="0"/>
                        <a:cs typeface="Calibri" charset="0"/>
                      </a:endParaRPr>
                    </a:p>
                  </a:txBody>
                  <a:tcPr marL="54864" marR="54864" marT="54864" marB="54864">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marL="0" indent="0">
                        <a:buNone/>
                      </a:pPr>
                      <a:r>
                        <a:rPr lang="en-US" sz="1050" dirty="0">
                          <a:solidFill>
                            <a:srgbClr val="222222"/>
                          </a:solidFill>
                          <a:latin typeface="Calibri" pitchFamily="34" charset="0"/>
                          <a:ea typeface="Calibri" pitchFamily="34" charset="-122"/>
                          <a:cs typeface="Calibri" pitchFamily="34" charset="-120"/>
                        </a:rPr>
                        <a:t>Reliability</a:t>
                      </a:r>
                      <a:endParaRPr lang="en-US" sz="1050" dirty="0">
                        <a:latin typeface="Calibri" charset="0"/>
                        <a:ea typeface="Calibri" charset="0"/>
                        <a:cs typeface="Calibri" charset="0"/>
                      </a:endParaRPr>
                    </a:p>
                    <a:p>
                      <a:pPr marL="0" indent="0">
                        <a:buNone/>
                      </a:pPr>
                      <a:r>
                        <a:rPr lang="en-US" sz="1050" dirty="0">
                          <a:solidFill>
                            <a:srgbClr val="222222"/>
                          </a:solidFill>
                          <a:latin typeface="Calibri" pitchFamily="34" charset="0"/>
                          <a:ea typeface="Calibri" pitchFamily="34" charset="-122"/>
                          <a:cs typeface="Calibri" pitchFamily="34" charset="-120"/>
                        </a:rPr>
                        <a:t>Scalability</a:t>
                      </a:r>
                      <a:endParaRPr lang="en-US" sz="1050" dirty="0">
                        <a:latin typeface="Calibri" charset="0"/>
                        <a:ea typeface="Calibri" charset="0"/>
                        <a:cs typeface="Calibri" charset="0"/>
                      </a:endParaRPr>
                    </a:p>
                    <a:p>
                      <a:pPr marL="0" indent="0">
                        <a:buNone/>
                      </a:pPr>
                      <a:r>
                        <a:rPr lang="en-US" sz="1050" dirty="0">
                          <a:solidFill>
                            <a:srgbClr val="222222"/>
                          </a:solidFill>
                          <a:latin typeface="Calibri" pitchFamily="34" charset="0"/>
                          <a:ea typeface="Calibri" pitchFamily="34" charset="-122"/>
                          <a:cs typeface="Calibri" pitchFamily="34" charset="-120"/>
                        </a:rPr>
                        <a:t>Endpoint</a:t>
                      </a:r>
                      <a:endParaRPr lang="en-US" sz="1050" dirty="0">
                        <a:latin typeface="Calibri" charset="0"/>
                        <a:ea typeface="Calibri" charset="0"/>
                        <a:cs typeface="Calibri" charset="0"/>
                      </a:endParaRPr>
                    </a:p>
                    <a:p>
                      <a:pPr marL="0" indent="0">
                        <a:buNone/>
                      </a:pPr>
                      <a:r>
                        <a:rPr lang="en-US" sz="1050" dirty="0">
                          <a:solidFill>
                            <a:srgbClr val="222222"/>
                          </a:solidFill>
                          <a:latin typeface="Calibri" pitchFamily="34" charset="0"/>
                          <a:ea typeface="Calibri" pitchFamily="34" charset="-122"/>
                          <a:cs typeface="Calibri" pitchFamily="34" charset="-120"/>
                        </a:rPr>
                        <a:t>(Session 5)</a:t>
                      </a:r>
                      <a:endParaRPr lang="en-US" sz="1050" dirty="0">
                        <a:latin typeface="Calibri" charset="0"/>
                        <a:ea typeface="Calibri" charset="0"/>
                        <a:cs typeface="Calibri" charset="0"/>
                      </a:endParaRPr>
                    </a:p>
                  </a:txBody>
                  <a:tcPr marL="54864" marR="54864" marT="54864" marB="54864">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marL="0" indent="0">
                        <a:buNone/>
                      </a:pPr>
                      <a:r>
                        <a:rPr lang="en-US" sz="1050" dirty="0">
                          <a:solidFill>
                            <a:srgbClr val="222222"/>
                          </a:solidFill>
                          <a:latin typeface="Calibri" pitchFamily="34" charset="0"/>
                          <a:ea typeface="Calibri" pitchFamily="34" charset="-122"/>
                          <a:cs typeface="Calibri" pitchFamily="34" charset="-120"/>
                        </a:rPr>
                        <a:t>Logging &amp; observability</a:t>
                      </a:r>
                      <a:endParaRPr lang="en-US" sz="1050" dirty="0">
                        <a:latin typeface="Calibri" charset="0"/>
                        <a:ea typeface="Calibri" charset="0"/>
                        <a:cs typeface="Calibri" charset="0"/>
                      </a:endParaRPr>
                    </a:p>
                    <a:p>
                      <a:pPr marL="0" indent="0">
                        <a:buNone/>
                      </a:pPr>
                      <a:r>
                        <a:rPr lang="en-US" sz="1050" dirty="0">
                          <a:solidFill>
                            <a:srgbClr val="222222"/>
                          </a:solidFill>
                          <a:latin typeface="Calibri" pitchFamily="34" charset="0"/>
                          <a:ea typeface="Calibri" pitchFamily="34" charset="-122"/>
                          <a:cs typeface="Calibri" pitchFamily="34" charset="-120"/>
                        </a:rPr>
                        <a:t>Data drift</a:t>
                      </a:r>
                      <a:endParaRPr lang="en-US" sz="1050" dirty="0">
                        <a:latin typeface="Calibri" charset="0"/>
                        <a:ea typeface="Calibri" charset="0"/>
                        <a:cs typeface="Calibri" charset="0"/>
                      </a:endParaRPr>
                    </a:p>
                    <a:p>
                      <a:pPr marL="0" indent="0">
                        <a:buNone/>
                      </a:pPr>
                      <a:r>
                        <a:rPr lang="en-US" sz="1050" dirty="0">
                          <a:solidFill>
                            <a:srgbClr val="222222"/>
                          </a:solidFill>
                          <a:latin typeface="Calibri" pitchFamily="34" charset="0"/>
                          <a:ea typeface="Calibri" pitchFamily="34" charset="-122"/>
                          <a:cs typeface="Calibri" pitchFamily="34" charset="-120"/>
                        </a:rPr>
                        <a:t>Fairness, quality, explicability</a:t>
                      </a:r>
                      <a:endParaRPr lang="en-US" sz="1050" dirty="0">
                        <a:latin typeface="Calibri" charset="0"/>
                        <a:ea typeface="Calibri" charset="0"/>
                        <a:cs typeface="Calibri" charset="0"/>
                      </a:endParaRPr>
                    </a:p>
                    <a:p>
                      <a:pPr marL="0" indent="0">
                        <a:buNone/>
                      </a:pPr>
                      <a:r>
                        <a:rPr lang="en-US" sz="1050" dirty="0">
                          <a:solidFill>
                            <a:srgbClr val="222222"/>
                          </a:solidFill>
                          <a:latin typeface="Calibri" pitchFamily="34" charset="0"/>
                          <a:ea typeface="Calibri" pitchFamily="34" charset="-122"/>
                          <a:cs typeface="Calibri" pitchFamily="34" charset="-120"/>
                        </a:rPr>
                        <a:t>(Session 7)</a:t>
                      </a:r>
                      <a:endParaRPr lang="en-US" sz="1050" dirty="0">
                        <a:latin typeface="Calibri" charset="0"/>
                        <a:ea typeface="Calibri" charset="0"/>
                        <a:cs typeface="Calibri" charset="0"/>
                      </a:endParaRPr>
                    </a:p>
                  </a:txBody>
                  <a:tcPr marL="54864" marR="54864" marT="54864" marB="54864">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8" name="Shape 4"/>
          <p:cNvSpPr/>
          <p:nvPr/>
        </p:nvSpPr>
        <p:spPr>
          <a:xfrm>
            <a:off x="365760" y="3063240"/>
            <a:ext cx="8412480" cy="411480"/>
          </a:xfrm>
          <a:prstGeom prst="roundRect">
            <a:avLst>
              <a:gd name="adj" fmla="val 13333"/>
            </a:avLst>
          </a:prstGeom>
          <a:solidFill>
            <a:srgbClr val="E3F1F2"/>
          </a:solidFill>
          <a:ln w="9525">
            <a:solidFill>
              <a:srgbClr val="E3F1F2"/>
            </a:solidFill>
            <a:prstDash val="solid"/>
          </a:ln>
        </p:spPr>
        <p:txBody>
          <a:bodyPr/>
          <a:lstStyle/>
          <a:p>
            <a:endParaRPr/>
          </a:p>
        </p:txBody>
      </p:sp>
      <p:sp>
        <p:nvSpPr>
          <p:cNvPr id="9" name="Text 5"/>
          <p:cNvSpPr txBox="1"/>
          <p:nvPr/>
        </p:nvSpPr>
        <p:spPr>
          <a:xfrm>
            <a:off x="365760" y="3063240"/>
            <a:ext cx="8412480" cy="411480"/>
          </a:xfrm>
          <a:prstGeom prst="rect">
            <a:avLst/>
          </a:prstGeom>
          <a:noFill/>
          <a:ln/>
        </p:spPr>
        <p:txBody>
          <a:bodyPr wrap="square" lIns="635" tIns="635" rIns="635" bIns="635" rtlCol="0" anchor="ctr"/>
          <a:lstStyle/>
          <a:p>
            <a:pPr marL="0" indent="0" algn="l">
              <a:buNone/>
            </a:pPr>
            <a:r>
              <a:rPr lang="en-US" sz="1200" b="1" dirty="0">
                <a:solidFill>
                  <a:srgbClr val="1B2A4A"/>
                </a:solidFill>
                <a:latin typeface="Calibri" pitchFamily="34" charset="0"/>
                <a:ea typeface="Calibri" pitchFamily="34" charset="-122"/>
                <a:cs typeface="Calibri" pitchFamily="34" charset="-120"/>
              </a:rPr>
              <a:t>Across all stages: CI/CD and automation (Session 5)</a:t>
            </a:r>
            <a:endParaRPr lang="en-US" sz="1200" dirty="0"/>
          </a:p>
        </p:txBody>
      </p:sp>
      <p:sp>
        <p:nvSpPr>
          <p:cNvPr id="10" name="Shape 6"/>
          <p:cNvSpPr/>
          <p:nvPr/>
        </p:nvSpPr>
        <p:spPr>
          <a:xfrm>
            <a:off x="365760" y="3566160"/>
            <a:ext cx="8412480" cy="411480"/>
          </a:xfrm>
          <a:prstGeom prst="roundRect">
            <a:avLst>
              <a:gd name="adj" fmla="val 13333"/>
            </a:avLst>
          </a:prstGeom>
          <a:solidFill>
            <a:srgbClr val="E3F1F2"/>
          </a:solidFill>
          <a:ln w="9525">
            <a:solidFill>
              <a:srgbClr val="E3F1F2"/>
            </a:solidFill>
            <a:prstDash val="solid"/>
          </a:ln>
        </p:spPr>
        <p:txBody>
          <a:bodyPr/>
          <a:lstStyle/>
          <a:p>
            <a:endParaRPr/>
          </a:p>
        </p:txBody>
      </p:sp>
      <p:sp>
        <p:nvSpPr>
          <p:cNvPr id="11" name="Text 7"/>
          <p:cNvSpPr txBox="1"/>
          <p:nvPr/>
        </p:nvSpPr>
        <p:spPr>
          <a:xfrm>
            <a:off x="365760" y="3566160"/>
            <a:ext cx="8412480" cy="411480"/>
          </a:xfrm>
          <a:prstGeom prst="rect">
            <a:avLst/>
          </a:prstGeom>
          <a:noFill/>
          <a:ln/>
        </p:spPr>
        <p:txBody>
          <a:bodyPr wrap="square" lIns="635" tIns="635" rIns="635" bIns="635" rtlCol="0" anchor="ctr"/>
          <a:lstStyle/>
          <a:p>
            <a:pPr marL="0" indent="0" algn="l">
              <a:buNone/>
            </a:pPr>
            <a:r>
              <a:rPr lang="en-US" sz="1200" b="1" dirty="0">
                <a:solidFill>
                  <a:srgbClr val="1B2A4A"/>
                </a:solidFill>
                <a:latin typeface="Calibri" pitchFamily="34" charset="0"/>
                <a:ea typeface="Calibri" pitchFamily="34" charset="-122"/>
                <a:cs typeface="Calibri" pitchFamily="34" charset="-120"/>
              </a:rPr>
              <a:t>Across all stages: security, audit and governance (today, Sessions 7 and 12)</a:t>
            </a:r>
            <a:endParaRPr lang="en-US" sz="1200" dirty="0"/>
          </a:p>
        </p:txBody>
      </p:sp>
      <p:sp>
        <p:nvSpPr>
          <p:cNvPr id="12" name="Text 8"/>
          <p:cNvSpPr txBox="1"/>
          <p:nvPr/>
        </p:nvSpPr>
        <p:spPr>
          <a:xfrm>
            <a:off x="365760" y="4114800"/>
            <a:ext cx="8412480" cy="365760"/>
          </a:xfrm>
          <a:prstGeom prst="rect">
            <a:avLst/>
          </a:prstGeom>
          <a:noFill/>
          <a:ln/>
        </p:spPr>
        <p:txBody>
          <a:bodyPr wrap="square" lIns="0" tIns="0" rIns="0" bIns="0" rtlCol="0" anchor="t"/>
          <a:lstStyle/>
          <a:p>
            <a:pPr marL="0" indent="0" algn="l">
              <a:buNone/>
            </a:pPr>
            <a:r>
              <a:rPr lang="en-US" sz="1150" b="1" i="1" dirty="0">
                <a:solidFill>
                  <a:srgbClr val="0E7C86"/>
                </a:solidFill>
                <a:latin typeface="Calibri" pitchFamily="34" charset="0"/>
                <a:ea typeface="Calibri" pitchFamily="34" charset="-122"/>
                <a:cs typeface="Calibri" pitchFamily="34" charset="-120"/>
              </a:rPr>
              <a:t>Your group project is this table, filled in for a real scenario, with a roadmap and owners.</a:t>
            </a:r>
            <a:endParaRPr lang="en-US" sz="1150" dirty="0"/>
          </a:p>
        </p:txBody>
      </p:sp>
      <p:pic>
        <p:nvPicPr>
          <p:cNvPr id="13" name="IE University logo" descr="IE University, School of Science &amp; Technology"/>
          <p:cNvPicPr>
            <a:picLocks noChangeAspect="1"/>
          </p:cNvPicPr>
          <p:nvPr/>
        </p:nvPicPr>
        <p:blipFill>
          <a:blip r:embed="rId3"/>
          <a:stretch>
            <a:fillRect/>
          </a:stretch>
        </p:blipFill>
        <p:spPr>
          <a:xfrm>
            <a:off x="8013607" y="92634"/>
            <a:ext cx="764633" cy="26278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B2A4A"/>
        </a:solidFill>
        <a:effectLst/>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marL="0" indent="0">
              <a:buNone/>
            </a:pPr>
            <a:r>
              <a:rPr lang="en-US" sz="900" dirty="0">
                <a:solidFill>
                  <a:srgbClr val="B8C4D6"/>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marL="0" indent="0">
              <a:buNone/>
            </a:pPr>
            <a:r>
              <a:rPr lang="en-US" sz="800" dirty="0">
                <a:solidFill>
                  <a:srgbClr val="B8C4D6"/>
                </a:solidFill>
                <a:latin typeface="Calibri" pitchFamily="34" charset="0"/>
                <a:ea typeface="Calibri" pitchFamily="34" charset="-122"/>
                <a:cs typeface="Calibri" pitchFamily="34" charset="-120"/>
              </a:rPr>
              <a:t>MLOps · MBDS-PT2026F · Session 3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marL="0" indent="0" algn="r">
              <a:buNone/>
            </a:pPr>
            <a:r>
              <a:rPr lang="en-US" sz="800" dirty="0">
                <a:solidFill>
                  <a:srgbClr val="B8C4D6"/>
                </a:solidFill>
                <a:latin typeface="Calibri" pitchFamily="34" charset="0"/>
                <a:ea typeface="Calibri" pitchFamily="34" charset="-122"/>
                <a:cs typeface="Calibri" pitchFamily="34" charset="-120"/>
              </a:rPr>
              <a:t>5</a:t>
            </a:r>
            <a:endParaRPr lang="en-US" sz="800" dirty="0"/>
          </a:p>
        </p:txBody>
      </p:sp>
      <p:sp>
        <p:nvSpPr>
          <p:cNvPr id="5" name="Text 3"/>
          <p:cNvSpPr txBox="1"/>
          <p:nvPr/>
        </p:nvSpPr>
        <p:spPr>
          <a:xfrm>
            <a:off x="548640" y="1188720"/>
            <a:ext cx="8046720" cy="91440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From notebook to pipeline</a:t>
            </a:r>
            <a:endParaRPr lang="en-US" sz="3000" dirty="0"/>
          </a:p>
        </p:txBody>
      </p:sp>
      <p:sp>
        <p:nvSpPr>
          <p:cNvPr id="6" name="Text 4"/>
          <p:cNvSpPr txBox="1"/>
          <p:nvPr/>
        </p:nvSpPr>
        <p:spPr>
          <a:xfrm>
            <a:off x="548640" y="2103120"/>
            <a:ext cx="8046720" cy="548640"/>
          </a:xfrm>
          <a:prstGeom prst="rect">
            <a:avLst/>
          </a:prstGeom>
          <a:noFill/>
          <a:ln/>
        </p:spPr>
        <p:txBody>
          <a:bodyPr wrap="square" lIns="0" tIns="0" rIns="0" bIns="0" rtlCol="0" anchor="ctr"/>
          <a:lstStyle/>
          <a:p>
            <a:pPr marL="0" indent="0">
              <a:buNone/>
            </a:pPr>
            <a:r>
              <a:rPr lang="en-US" sz="1600" dirty="0">
                <a:solidFill>
                  <a:srgbClr val="CADCFC"/>
                </a:solidFill>
                <a:latin typeface="Calibri" pitchFamily="34" charset="0"/>
                <a:ea typeface="Calibri" pitchFamily="34" charset="-122"/>
                <a:cs typeface="Calibri" pitchFamily="34" charset="-120"/>
              </a:rPr>
              <a:t>What a model really is, and why it needs a factory rather than a workshop</a:t>
            </a:r>
            <a:endParaRPr lang="en-US" sz="1600" dirty="0"/>
          </a:p>
        </p:txBody>
      </p:sp>
      <p:sp>
        <p:nvSpPr>
          <p:cNvPr id="7" name="Shape 5"/>
          <p:cNvSpPr/>
          <p:nvPr/>
        </p:nvSpPr>
        <p:spPr>
          <a:xfrm>
            <a:off x="548640" y="3246120"/>
            <a:ext cx="845312" cy="566928"/>
          </a:xfrm>
          <a:prstGeom prst="roundRect">
            <a:avLst>
              <a:gd name="adj" fmla="val 9677"/>
            </a:avLst>
          </a:prstGeom>
          <a:solidFill>
            <a:srgbClr val="0E7C86"/>
          </a:solidFill>
          <a:ln w="12700">
            <a:solidFill>
              <a:srgbClr val="0E7C86"/>
            </a:solidFill>
            <a:prstDash val="solid"/>
          </a:ln>
        </p:spPr>
        <p:txBody>
          <a:bodyPr/>
          <a:lstStyle/>
          <a:p>
            <a:endParaRPr/>
          </a:p>
        </p:txBody>
      </p:sp>
      <p:sp>
        <p:nvSpPr>
          <p:cNvPr id="8" name="Text 6"/>
          <p:cNvSpPr txBox="1"/>
          <p:nvPr/>
        </p:nvSpPr>
        <p:spPr>
          <a:xfrm>
            <a:off x="548640" y="3246120"/>
            <a:ext cx="845312" cy="566928"/>
          </a:xfrm>
          <a:prstGeom prst="rect">
            <a:avLst/>
          </a:prstGeom>
          <a:noFill/>
          <a:ln/>
        </p:spPr>
        <p:txBody>
          <a:bodyPr wrap="square" lIns="254" tIns="254" rIns="254" bIns="254"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Data ingestion &amp; versioning</a:t>
            </a:r>
            <a:endParaRPr lang="en-US" sz="800" dirty="0"/>
          </a:p>
        </p:txBody>
      </p:sp>
      <p:sp>
        <p:nvSpPr>
          <p:cNvPr id="9" name="Shape 7"/>
          <p:cNvSpPr/>
          <p:nvPr/>
        </p:nvSpPr>
        <p:spPr>
          <a:xfrm>
            <a:off x="1448816" y="3246120"/>
            <a:ext cx="845312" cy="566928"/>
          </a:xfrm>
          <a:prstGeom prst="roundRect">
            <a:avLst>
              <a:gd name="adj" fmla="val 9677"/>
            </a:avLst>
          </a:prstGeom>
          <a:solidFill>
            <a:srgbClr val="0E7C86"/>
          </a:solidFill>
          <a:ln w="12700">
            <a:solidFill>
              <a:srgbClr val="0E7C86"/>
            </a:solidFill>
            <a:prstDash val="solid"/>
          </a:ln>
        </p:spPr>
        <p:txBody>
          <a:bodyPr/>
          <a:lstStyle/>
          <a:p>
            <a:endParaRPr/>
          </a:p>
        </p:txBody>
      </p:sp>
      <p:sp>
        <p:nvSpPr>
          <p:cNvPr id="10" name="Text 8"/>
          <p:cNvSpPr txBox="1"/>
          <p:nvPr/>
        </p:nvSpPr>
        <p:spPr>
          <a:xfrm>
            <a:off x="1448816" y="3246120"/>
            <a:ext cx="845312" cy="566928"/>
          </a:xfrm>
          <a:prstGeom prst="rect">
            <a:avLst/>
          </a:prstGeom>
          <a:noFill/>
          <a:ln/>
        </p:spPr>
        <p:txBody>
          <a:bodyPr wrap="square" lIns="254" tIns="254" rIns="254" bIns="254"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Data validation</a:t>
            </a:r>
            <a:endParaRPr lang="en-US" sz="800" dirty="0"/>
          </a:p>
        </p:txBody>
      </p:sp>
      <p:sp>
        <p:nvSpPr>
          <p:cNvPr id="11" name="Shape 9"/>
          <p:cNvSpPr/>
          <p:nvPr/>
        </p:nvSpPr>
        <p:spPr>
          <a:xfrm>
            <a:off x="2348992" y="3246120"/>
            <a:ext cx="845312" cy="566928"/>
          </a:xfrm>
          <a:prstGeom prst="roundRect">
            <a:avLst>
              <a:gd name="adj" fmla="val 9677"/>
            </a:avLst>
          </a:prstGeom>
          <a:solidFill>
            <a:srgbClr val="0E7C86"/>
          </a:solidFill>
          <a:ln w="12700">
            <a:solidFill>
              <a:srgbClr val="0E7C86"/>
            </a:solidFill>
            <a:prstDash val="solid"/>
          </a:ln>
        </p:spPr>
        <p:txBody>
          <a:bodyPr/>
          <a:lstStyle/>
          <a:p>
            <a:endParaRPr/>
          </a:p>
        </p:txBody>
      </p:sp>
      <p:sp>
        <p:nvSpPr>
          <p:cNvPr id="12" name="Text 10"/>
          <p:cNvSpPr txBox="1"/>
          <p:nvPr/>
        </p:nvSpPr>
        <p:spPr>
          <a:xfrm>
            <a:off x="2348992" y="3246120"/>
            <a:ext cx="845312" cy="566928"/>
          </a:xfrm>
          <a:prstGeom prst="rect">
            <a:avLst/>
          </a:prstGeom>
          <a:noFill/>
          <a:ln/>
        </p:spPr>
        <p:txBody>
          <a:bodyPr wrap="square" lIns="254" tIns="254" rIns="254" bIns="254"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Data pre-processing</a:t>
            </a:r>
            <a:endParaRPr lang="en-US" sz="800" dirty="0"/>
          </a:p>
        </p:txBody>
      </p:sp>
      <p:sp>
        <p:nvSpPr>
          <p:cNvPr id="13" name="Shape 11"/>
          <p:cNvSpPr/>
          <p:nvPr/>
        </p:nvSpPr>
        <p:spPr>
          <a:xfrm>
            <a:off x="3249168" y="3246120"/>
            <a:ext cx="845312" cy="566928"/>
          </a:xfrm>
          <a:prstGeom prst="roundRect">
            <a:avLst>
              <a:gd name="adj" fmla="val 9677"/>
            </a:avLst>
          </a:prstGeom>
          <a:solidFill>
            <a:srgbClr val="0E7C86"/>
          </a:solidFill>
          <a:ln w="12700">
            <a:solidFill>
              <a:srgbClr val="0E7C86"/>
            </a:solidFill>
            <a:prstDash val="solid"/>
          </a:ln>
        </p:spPr>
        <p:txBody>
          <a:bodyPr/>
          <a:lstStyle/>
          <a:p>
            <a:endParaRPr/>
          </a:p>
        </p:txBody>
      </p:sp>
      <p:sp>
        <p:nvSpPr>
          <p:cNvPr id="14" name="Text 12"/>
          <p:cNvSpPr txBox="1"/>
          <p:nvPr/>
        </p:nvSpPr>
        <p:spPr>
          <a:xfrm>
            <a:off x="3249168" y="3246120"/>
            <a:ext cx="845312" cy="566928"/>
          </a:xfrm>
          <a:prstGeom prst="rect">
            <a:avLst/>
          </a:prstGeom>
          <a:noFill/>
          <a:ln/>
        </p:spPr>
        <p:txBody>
          <a:bodyPr wrap="square" lIns="254" tIns="254" rIns="254" bIns="254"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Model training</a:t>
            </a:r>
            <a:endParaRPr lang="en-US" sz="800" dirty="0"/>
          </a:p>
        </p:txBody>
      </p:sp>
      <p:sp>
        <p:nvSpPr>
          <p:cNvPr id="15" name="Shape 13"/>
          <p:cNvSpPr/>
          <p:nvPr/>
        </p:nvSpPr>
        <p:spPr>
          <a:xfrm>
            <a:off x="4149344" y="3246120"/>
            <a:ext cx="845312" cy="566928"/>
          </a:xfrm>
          <a:prstGeom prst="roundRect">
            <a:avLst>
              <a:gd name="adj" fmla="val 9677"/>
            </a:avLst>
          </a:prstGeom>
          <a:solidFill>
            <a:srgbClr val="0E7C86"/>
          </a:solidFill>
          <a:ln w="12700">
            <a:solidFill>
              <a:srgbClr val="0E7C86"/>
            </a:solidFill>
            <a:prstDash val="solid"/>
          </a:ln>
        </p:spPr>
        <p:txBody>
          <a:bodyPr/>
          <a:lstStyle/>
          <a:p>
            <a:endParaRPr/>
          </a:p>
        </p:txBody>
      </p:sp>
      <p:sp>
        <p:nvSpPr>
          <p:cNvPr id="16" name="Text 14"/>
          <p:cNvSpPr txBox="1"/>
          <p:nvPr/>
        </p:nvSpPr>
        <p:spPr>
          <a:xfrm>
            <a:off x="4149344" y="3246120"/>
            <a:ext cx="845312" cy="566928"/>
          </a:xfrm>
          <a:prstGeom prst="rect">
            <a:avLst/>
          </a:prstGeom>
          <a:noFill/>
          <a:ln/>
        </p:spPr>
        <p:txBody>
          <a:bodyPr wrap="square" lIns="254" tIns="254" rIns="254" bIns="254"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Model tuning</a:t>
            </a:r>
            <a:endParaRPr lang="en-US" sz="800" dirty="0"/>
          </a:p>
        </p:txBody>
      </p:sp>
      <p:sp>
        <p:nvSpPr>
          <p:cNvPr id="17" name="Shape 15"/>
          <p:cNvSpPr/>
          <p:nvPr/>
        </p:nvSpPr>
        <p:spPr>
          <a:xfrm>
            <a:off x="5049520" y="3246120"/>
            <a:ext cx="845312" cy="566928"/>
          </a:xfrm>
          <a:prstGeom prst="roundRect">
            <a:avLst>
              <a:gd name="adj" fmla="val 9677"/>
            </a:avLst>
          </a:prstGeom>
          <a:solidFill>
            <a:srgbClr val="0E7C86"/>
          </a:solidFill>
          <a:ln w="12700">
            <a:solidFill>
              <a:srgbClr val="0E7C86"/>
            </a:solidFill>
            <a:prstDash val="solid"/>
          </a:ln>
        </p:spPr>
        <p:txBody>
          <a:bodyPr/>
          <a:lstStyle/>
          <a:p>
            <a:endParaRPr/>
          </a:p>
        </p:txBody>
      </p:sp>
      <p:sp>
        <p:nvSpPr>
          <p:cNvPr id="18" name="Text 16"/>
          <p:cNvSpPr txBox="1"/>
          <p:nvPr/>
        </p:nvSpPr>
        <p:spPr>
          <a:xfrm>
            <a:off x="5049520" y="3246120"/>
            <a:ext cx="845312" cy="566928"/>
          </a:xfrm>
          <a:prstGeom prst="rect">
            <a:avLst/>
          </a:prstGeom>
          <a:noFill/>
          <a:ln/>
        </p:spPr>
        <p:txBody>
          <a:bodyPr wrap="square" lIns="254" tIns="254" rIns="254" bIns="254"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Model analysis</a:t>
            </a:r>
            <a:endParaRPr lang="en-US" sz="800" dirty="0"/>
          </a:p>
        </p:txBody>
      </p:sp>
      <p:sp>
        <p:nvSpPr>
          <p:cNvPr id="19" name="Shape 17"/>
          <p:cNvSpPr/>
          <p:nvPr/>
        </p:nvSpPr>
        <p:spPr>
          <a:xfrm>
            <a:off x="5949696" y="3246120"/>
            <a:ext cx="845312" cy="566928"/>
          </a:xfrm>
          <a:prstGeom prst="roundRect">
            <a:avLst>
              <a:gd name="adj" fmla="val 9677"/>
            </a:avLst>
          </a:prstGeom>
          <a:solidFill>
            <a:srgbClr val="0E7C86"/>
          </a:solidFill>
          <a:ln w="12700">
            <a:solidFill>
              <a:srgbClr val="0E7C86"/>
            </a:solidFill>
            <a:prstDash val="solid"/>
          </a:ln>
        </p:spPr>
        <p:txBody>
          <a:bodyPr/>
          <a:lstStyle/>
          <a:p>
            <a:endParaRPr/>
          </a:p>
        </p:txBody>
      </p:sp>
      <p:sp>
        <p:nvSpPr>
          <p:cNvPr id="20" name="Text 18"/>
          <p:cNvSpPr txBox="1"/>
          <p:nvPr/>
        </p:nvSpPr>
        <p:spPr>
          <a:xfrm>
            <a:off x="5949696" y="3246120"/>
            <a:ext cx="845312" cy="566928"/>
          </a:xfrm>
          <a:prstGeom prst="rect">
            <a:avLst/>
          </a:prstGeom>
          <a:noFill/>
          <a:ln/>
        </p:spPr>
        <p:txBody>
          <a:bodyPr wrap="square" lIns="254" tIns="254" rIns="254" bIns="254"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Model validation</a:t>
            </a:r>
            <a:endParaRPr lang="en-US" sz="800" dirty="0"/>
          </a:p>
        </p:txBody>
      </p:sp>
      <p:sp>
        <p:nvSpPr>
          <p:cNvPr id="21" name="Shape 19"/>
          <p:cNvSpPr/>
          <p:nvPr/>
        </p:nvSpPr>
        <p:spPr>
          <a:xfrm>
            <a:off x="6849872" y="3246120"/>
            <a:ext cx="845312" cy="566928"/>
          </a:xfrm>
          <a:prstGeom prst="roundRect">
            <a:avLst>
              <a:gd name="adj" fmla="val 9677"/>
            </a:avLst>
          </a:prstGeom>
          <a:solidFill>
            <a:srgbClr val="2E3F63"/>
          </a:solidFill>
          <a:ln w="12700">
            <a:solidFill>
              <a:srgbClr val="2E3F63"/>
            </a:solidFill>
            <a:prstDash val="solid"/>
          </a:ln>
        </p:spPr>
        <p:txBody>
          <a:bodyPr/>
          <a:lstStyle/>
          <a:p>
            <a:endParaRPr/>
          </a:p>
        </p:txBody>
      </p:sp>
      <p:sp>
        <p:nvSpPr>
          <p:cNvPr id="22" name="Text 20"/>
          <p:cNvSpPr txBox="1"/>
          <p:nvPr/>
        </p:nvSpPr>
        <p:spPr>
          <a:xfrm>
            <a:off x="6849872" y="3246120"/>
            <a:ext cx="845312" cy="566928"/>
          </a:xfrm>
          <a:prstGeom prst="rect">
            <a:avLst/>
          </a:prstGeom>
          <a:noFill/>
          <a:ln/>
        </p:spPr>
        <p:txBody>
          <a:bodyPr wrap="square" lIns="254" tIns="254" rIns="254" bIns="254" rtlCol="0" anchor="ctr"/>
          <a:lstStyle/>
          <a:p>
            <a:pPr marL="0" indent="0" algn="ctr">
              <a:buNone/>
            </a:pPr>
            <a:r>
              <a:rPr lang="en-US" sz="800" dirty="0">
                <a:solidFill>
                  <a:srgbClr val="B8C4D6"/>
                </a:solidFill>
                <a:latin typeface="Calibri" pitchFamily="34" charset="0"/>
                <a:ea typeface="Calibri" pitchFamily="34" charset="-122"/>
                <a:cs typeface="Calibri" pitchFamily="34" charset="-120"/>
              </a:rPr>
              <a:t>Model deployment</a:t>
            </a:r>
            <a:endParaRPr lang="en-US" sz="800" dirty="0"/>
          </a:p>
        </p:txBody>
      </p:sp>
      <p:sp>
        <p:nvSpPr>
          <p:cNvPr id="23" name="Shape 21"/>
          <p:cNvSpPr/>
          <p:nvPr/>
        </p:nvSpPr>
        <p:spPr>
          <a:xfrm>
            <a:off x="7750048" y="3246120"/>
            <a:ext cx="845312" cy="566928"/>
          </a:xfrm>
          <a:prstGeom prst="roundRect">
            <a:avLst>
              <a:gd name="adj" fmla="val 9677"/>
            </a:avLst>
          </a:prstGeom>
          <a:solidFill>
            <a:srgbClr val="2E3F63"/>
          </a:solidFill>
          <a:ln w="12700">
            <a:solidFill>
              <a:srgbClr val="2E3F63"/>
            </a:solidFill>
            <a:prstDash val="solid"/>
          </a:ln>
        </p:spPr>
        <p:txBody>
          <a:bodyPr/>
          <a:lstStyle/>
          <a:p>
            <a:endParaRPr/>
          </a:p>
        </p:txBody>
      </p:sp>
      <p:sp>
        <p:nvSpPr>
          <p:cNvPr id="24" name="Text 22"/>
          <p:cNvSpPr txBox="1"/>
          <p:nvPr/>
        </p:nvSpPr>
        <p:spPr>
          <a:xfrm>
            <a:off x="7750048" y="3246120"/>
            <a:ext cx="845312" cy="566928"/>
          </a:xfrm>
          <a:prstGeom prst="rect">
            <a:avLst/>
          </a:prstGeom>
          <a:noFill/>
          <a:ln/>
        </p:spPr>
        <p:txBody>
          <a:bodyPr wrap="square" lIns="254" tIns="254" rIns="254" bIns="254" rtlCol="0" anchor="ctr"/>
          <a:lstStyle/>
          <a:p>
            <a:pPr marL="0" indent="0" algn="ctr">
              <a:buNone/>
            </a:pPr>
            <a:r>
              <a:rPr lang="en-US" sz="800" dirty="0">
                <a:solidFill>
                  <a:srgbClr val="B8C4D6"/>
                </a:solidFill>
                <a:latin typeface="Calibri" pitchFamily="34" charset="0"/>
                <a:ea typeface="Calibri" pitchFamily="34" charset="-122"/>
                <a:cs typeface="Calibri" pitchFamily="34" charset="-120"/>
              </a:rPr>
              <a:t>Model feedback</a:t>
            </a:r>
            <a:endParaRPr lang="en-US" sz="800" dirty="0"/>
          </a:p>
        </p:txBody>
      </p:sp>
      <p:sp>
        <p:nvSpPr>
          <p:cNvPr id="25" name="Text 23"/>
          <p:cNvSpPr txBox="1"/>
          <p:nvPr/>
        </p:nvSpPr>
        <p:spPr>
          <a:xfrm>
            <a:off x="548640" y="4160520"/>
            <a:ext cx="8046720" cy="274320"/>
          </a:xfrm>
          <a:prstGeom prst="rect">
            <a:avLst/>
          </a:prstGeom>
          <a:noFill/>
          <a:ln/>
        </p:spPr>
        <p:txBody>
          <a:bodyPr wrap="square" lIns="0" tIns="0" rIns="0" bIns="0" rtlCol="0" anchor="ctr"/>
          <a:lstStyle/>
          <a:p>
            <a:pPr marL="0" indent="0">
              <a:buNone/>
            </a:pPr>
            <a:r>
              <a:rPr lang="en-US" sz="1000" i="1" dirty="0">
                <a:solidFill>
                  <a:srgbClr val="B8C4D6"/>
                </a:solidFill>
                <a:latin typeface="Calibri" pitchFamily="34" charset="0"/>
                <a:ea typeface="Calibri" pitchFamily="34" charset="-122"/>
                <a:cs typeface="Calibri" pitchFamily="34" charset="-120"/>
              </a:rPr>
              <a:t>The lifecycle we follow through the course · highlighted: where this section sits</a:t>
            </a:r>
            <a:endParaRPr lang="en-US" sz="1000" dirty="0"/>
          </a:p>
        </p:txBody>
      </p:sp>
      <p:pic>
        <p:nvPicPr>
          <p:cNvPr id="26" name="IE University logo" descr="IE University, School of Science &amp; Technology"/>
          <p:cNvPicPr>
            <a:picLocks noChangeAspect="1"/>
          </p:cNvPicPr>
          <p:nvPr/>
        </p:nvPicPr>
        <p:blipFill>
          <a:blip r:embed="rId3"/>
          <a:stretch>
            <a:fillRect/>
          </a:stretch>
        </p:blipFill>
        <p:spPr>
          <a:xfrm>
            <a:off x="8252653" y="109728"/>
            <a:ext cx="525587" cy="70439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marL="0" indent="0">
              <a:buNone/>
            </a:pPr>
            <a:r>
              <a:rPr lang="en-US" sz="800" dirty="0">
                <a:solidFill>
                  <a:srgbClr val="6B7280"/>
                </a:solidFill>
                <a:latin typeface="Calibri" pitchFamily="34" charset="0"/>
                <a:ea typeface="Calibri" pitchFamily="34" charset="-122"/>
                <a:cs typeface="Calibri" pitchFamily="34" charset="-120"/>
              </a:rPr>
              <a:t>MLOps · MBDS-PT2026F · Session 3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marL="0" indent="0" algn="r">
              <a:buNone/>
            </a:pPr>
            <a:r>
              <a:rPr lang="en-US" sz="800" dirty="0">
                <a:solidFill>
                  <a:srgbClr val="6B7280"/>
                </a:solidFill>
                <a:latin typeface="Calibri" pitchFamily="34" charset="0"/>
                <a:ea typeface="Calibri" pitchFamily="34" charset="-122"/>
                <a:cs typeface="Calibri" pitchFamily="34" charset="-120"/>
              </a:rPr>
              <a:t>6</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marL="0" indent="0">
              <a:buNone/>
            </a:pPr>
            <a:r>
              <a:rPr lang="en-US" sz="2400" b="1" dirty="0">
                <a:solidFill>
                  <a:srgbClr val="1B2A4A"/>
                </a:solidFill>
                <a:latin typeface="Calibri" pitchFamily="34" charset="0"/>
                <a:ea typeface="Calibri" pitchFamily="34" charset="-122"/>
                <a:cs typeface="Calibri" pitchFamily="34" charset="-120"/>
              </a:rPr>
              <a:t>In practice, a model is a formula plus everything needed to feed it</a:t>
            </a:r>
            <a:endParaRPr lang="en-US" sz="2400" dirty="0"/>
          </a:p>
        </p:txBody>
      </p:sp>
      <p:sp>
        <p:nvSpPr>
          <p:cNvPr id="7" name="Shape 4"/>
          <p:cNvSpPr/>
          <p:nvPr/>
        </p:nvSpPr>
        <p:spPr>
          <a:xfrm>
            <a:off x="365760" y="1234440"/>
            <a:ext cx="4023360" cy="1828800"/>
          </a:xfrm>
          <a:prstGeom prst="roundRect">
            <a:avLst>
              <a:gd name="adj" fmla="val 4000"/>
            </a:avLst>
          </a:prstGeom>
          <a:solidFill>
            <a:srgbClr val="1B2A4A"/>
          </a:solidFill>
          <a:ln w="12700">
            <a:solidFill>
              <a:srgbClr val="1B2A4A"/>
            </a:solidFill>
            <a:prstDash val="solid"/>
          </a:ln>
        </p:spPr>
        <p:txBody>
          <a:bodyPr/>
          <a:lstStyle/>
          <a:p>
            <a:endParaRPr/>
          </a:p>
        </p:txBody>
      </p:sp>
      <p:sp>
        <p:nvSpPr>
          <p:cNvPr id="8" name="Text 5"/>
          <p:cNvSpPr txBox="1"/>
          <p:nvPr/>
        </p:nvSpPr>
        <p:spPr>
          <a:xfrm>
            <a:off x="548640" y="1307592"/>
            <a:ext cx="365760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The formula</a:t>
            </a:r>
            <a:endParaRPr lang="en-US" sz="1400" dirty="0"/>
          </a:p>
        </p:txBody>
      </p:sp>
      <p:sp>
        <p:nvSpPr>
          <p:cNvPr id="9" name="Text 6"/>
          <p:cNvSpPr txBox="1"/>
          <p:nvPr/>
        </p:nvSpPr>
        <p:spPr>
          <a:xfrm>
            <a:off x="548640" y="1673352"/>
            <a:ext cx="3657600" cy="1325880"/>
          </a:xfrm>
          <a:prstGeom prst="rect">
            <a:avLst/>
          </a:prstGeom>
          <a:noFill/>
          <a:ln/>
        </p:spPr>
        <p:txBody>
          <a:bodyPr wrap="square" lIns="0" tIns="0" rIns="0" bIns="0" rtlCol="0" anchor="t"/>
          <a:lstStyle/>
          <a:p>
            <a:pPr marL="0" indent="0">
              <a:buNone/>
            </a:pPr>
            <a:r>
              <a:rPr lang="en-US" sz="1200" dirty="0">
                <a:solidFill>
                  <a:srgbClr val="CADCFC"/>
                </a:solidFill>
                <a:latin typeface="Calibri" pitchFamily="34" charset="0"/>
                <a:ea typeface="Calibri" pitchFamily="34" charset="-122"/>
                <a:cs typeface="Calibri" pitchFamily="34" charset="-120"/>
              </a:rPr>
              <a:t>Once trained, a model is a function: inputs in, a number out. Stateless, deterministic. Whether it is a neural network or a rule, operations treat it the same way.</a:t>
            </a:r>
            <a:endParaRPr lang="en-US" sz="1200" dirty="0"/>
          </a:p>
        </p:txBody>
      </p:sp>
      <p:sp>
        <p:nvSpPr>
          <p:cNvPr id="10" name="Shape 7"/>
          <p:cNvSpPr/>
          <p:nvPr/>
        </p:nvSpPr>
        <p:spPr>
          <a:xfrm>
            <a:off x="4754880" y="1234440"/>
            <a:ext cx="4023360" cy="1828800"/>
          </a:xfrm>
          <a:prstGeom prst="roundRect">
            <a:avLst>
              <a:gd name="adj" fmla="val 4000"/>
            </a:avLst>
          </a:prstGeom>
          <a:solidFill>
            <a:srgbClr val="1B2A4A"/>
          </a:solidFill>
          <a:ln w="12700">
            <a:solidFill>
              <a:srgbClr val="1B2A4A"/>
            </a:solidFill>
            <a:prstDash val="solid"/>
          </a:ln>
        </p:spPr>
        <p:txBody>
          <a:bodyPr/>
          <a:lstStyle/>
          <a:p>
            <a:endParaRPr/>
          </a:p>
        </p:txBody>
      </p:sp>
      <p:sp>
        <p:nvSpPr>
          <p:cNvPr id="11" name="Text 8"/>
          <p:cNvSpPr txBox="1"/>
          <p:nvPr/>
        </p:nvSpPr>
        <p:spPr>
          <a:xfrm>
            <a:off x="4937760" y="1307592"/>
            <a:ext cx="365760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…plus its transformations</a:t>
            </a:r>
            <a:endParaRPr lang="en-US" sz="1400" dirty="0"/>
          </a:p>
        </p:txBody>
      </p:sp>
      <p:sp>
        <p:nvSpPr>
          <p:cNvPr id="12" name="Text 9"/>
          <p:cNvSpPr txBox="1"/>
          <p:nvPr/>
        </p:nvSpPr>
        <p:spPr>
          <a:xfrm>
            <a:off x="4937760" y="1673352"/>
            <a:ext cx="3657600" cy="1325880"/>
          </a:xfrm>
          <a:prstGeom prst="rect">
            <a:avLst/>
          </a:prstGeom>
          <a:noFill/>
          <a:ln/>
        </p:spPr>
        <p:txBody>
          <a:bodyPr wrap="square" lIns="0" tIns="0" rIns="0" bIns="0" rtlCol="0" anchor="t"/>
          <a:lstStyle/>
          <a:p>
            <a:pPr marL="0" indent="0">
              <a:buNone/>
            </a:pPr>
            <a:r>
              <a:rPr lang="en-US" sz="1200" dirty="0">
                <a:solidFill>
                  <a:srgbClr val="CADCFC"/>
                </a:solidFill>
                <a:latin typeface="Calibri" pitchFamily="34" charset="0"/>
                <a:ea typeface="Calibri" pitchFamily="34" charset="-122"/>
                <a:cs typeface="Calibri" pitchFamily="34" charset="-120"/>
              </a:rPr>
              <a:t>Cleaning, scaling, derived features, encodings. They are part of the model. If production computes them differently, the formula receives numbers it has never seen.</a:t>
            </a:r>
            <a:endParaRPr lang="en-US" sz="1200" dirty="0"/>
          </a:p>
        </p:txBody>
      </p:sp>
      <p:sp>
        <p:nvSpPr>
          <p:cNvPr id="13" name="Shape 10"/>
          <p:cNvSpPr/>
          <p:nvPr/>
        </p:nvSpPr>
        <p:spPr>
          <a:xfrm>
            <a:off x="365760" y="3246120"/>
            <a:ext cx="1737360" cy="548640"/>
          </a:xfrm>
          <a:prstGeom prst="roundRect">
            <a:avLst>
              <a:gd name="adj" fmla="val 10000"/>
            </a:avLst>
          </a:prstGeom>
          <a:solidFill>
            <a:srgbClr val="F3F5F8"/>
          </a:solidFill>
          <a:ln w="9525">
            <a:solidFill>
              <a:srgbClr val="F3F5F8"/>
            </a:solidFill>
            <a:prstDash val="solid"/>
          </a:ln>
        </p:spPr>
        <p:txBody>
          <a:bodyPr/>
          <a:lstStyle/>
          <a:p>
            <a:endParaRPr/>
          </a:p>
        </p:txBody>
      </p:sp>
      <p:sp>
        <p:nvSpPr>
          <p:cNvPr id="14" name="Text 11"/>
          <p:cNvSpPr txBox="1"/>
          <p:nvPr/>
        </p:nvSpPr>
        <p:spPr>
          <a:xfrm>
            <a:off x="365760" y="3246120"/>
            <a:ext cx="1737360" cy="548640"/>
          </a:xfrm>
          <a:prstGeom prst="rect">
            <a:avLst/>
          </a:prstGeom>
          <a:noFill/>
          <a:ln/>
        </p:spPr>
        <p:txBody>
          <a:bodyPr wrap="square" lIns="635" tIns="635" rIns="635" bIns="635" rtlCol="0" anchor="ctr"/>
          <a:lstStyle/>
          <a:p>
            <a:pPr marL="0" indent="0" algn="ctr">
              <a:buNone/>
            </a:pPr>
            <a:r>
              <a:rPr lang="en-US" sz="1100" dirty="0">
                <a:solidFill>
                  <a:srgbClr val="1B2A4A"/>
                </a:solidFill>
                <a:latin typeface="Calibri" pitchFamily="34" charset="0"/>
                <a:ea typeface="Calibri" pitchFamily="34" charset="-122"/>
                <a:cs typeface="Calibri" pitchFamily="34" charset="-120"/>
              </a:rPr>
              <a:t>Raw data</a:t>
            </a:r>
            <a:endParaRPr lang="en-US" sz="1100" dirty="0"/>
          </a:p>
        </p:txBody>
      </p:sp>
      <p:sp>
        <p:nvSpPr>
          <p:cNvPr id="15" name="Shape 12"/>
          <p:cNvSpPr/>
          <p:nvPr/>
        </p:nvSpPr>
        <p:spPr>
          <a:xfrm>
            <a:off x="2148840" y="3520440"/>
            <a:ext cx="502920" cy="0"/>
          </a:xfrm>
          <a:prstGeom prst="line">
            <a:avLst/>
          </a:prstGeom>
          <a:noFill/>
          <a:ln w="19050">
            <a:solidFill>
              <a:srgbClr val="0E7C86"/>
            </a:solidFill>
            <a:prstDash val="solid"/>
            <a:tailEnd type="triangle"/>
          </a:ln>
        </p:spPr>
        <p:txBody>
          <a:bodyPr/>
          <a:lstStyle/>
          <a:p>
            <a:endParaRPr/>
          </a:p>
        </p:txBody>
      </p:sp>
      <p:sp>
        <p:nvSpPr>
          <p:cNvPr id="16" name="Shape 13"/>
          <p:cNvSpPr/>
          <p:nvPr/>
        </p:nvSpPr>
        <p:spPr>
          <a:xfrm>
            <a:off x="2697480" y="3246120"/>
            <a:ext cx="2011680" cy="548640"/>
          </a:xfrm>
          <a:prstGeom prst="roundRect">
            <a:avLst>
              <a:gd name="adj" fmla="val 10000"/>
            </a:avLst>
          </a:prstGeom>
          <a:solidFill>
            <a:srgbClr val="E3F1F2"/>
          </a:solidFill>
          <a:ln w="9525">
            <a:solidFill>
              <a:srgbClr val="E3F1F2"/>
            </a:solidFill>
            <a:prstDash val="solid"/>
          </a:ln>
        </p:spPr>
        <p:txBody>
          <a:bodyPr/>
          <a:lstStyle/>
          <a:p>
            <a:endParaRPr/>
          </a:p>
        </p:txBody>
      </p:sp>
      <p:sp>
        <p:nvSpPr>
          <p:cNvPr id="17" name="Text 14"/>
          <p:cNvSpPr txBox="1"/>
          <p:nvPr/>
        </p:nvSpPr>
        <p:spPr>
          <a:xfrm>
            <a:off x="2697480" y="3246120"/>
            <a:ext cx="2011680" cy="548640"/>
          </a:xfrm>
          <a:prstGeom prst="rect">
            <a:avLst/>
          </a:prstGeom>
          <a:noFill/>
          <a:ln/>
        </p:spPr>
        <p:txBody>
          <a:bodyPr wrap="square" lIns="635" tIns="635" rIns="635" bIns="635" rtlCol="0" anchor="ctr"/>
          <a:lstStyle/>
          <a:p>
            <a:pPr marL="0" indent="0" algn="ctr">
              <a:buNone/>
            </a:pPr>
            <a:r>
              <a:rPr lang="en-US" sz="1100" b="1" dirty="0">
                <a:solidFill>
                  <a:srgbClr val="1B2A4A"/>
                </a:solidFill>
                <a:latin typeface="Calibri" pitchFamily="34" charset="0"/>
                <a:ea typeface="Calibri" pitchFamily="34" charset="-122"/>
                <a:cs typeface="Calibri" pitchFamily="34" charset="-120"/>
              </a:rPr>
              <a:t>Transformations</a:t>
            </a:r>
            <a:endParaRPr lang="en-US" sz="1100" dirty="0"/>
          </a:p>
        </p:txBody>
      </p:sp>
      <p:sp>
        <p:nvSpPr>
          <p:cNvPr id="18" name="Shape 15"/>
          <p:cNvSpPr/>
          <p:nvPr/>
        </p:nvSpPr>
        <p:spPr>
          <a:xfrm>
            <a:off x="4754880" y="3520440"/>
            <a:ext cx="502920" cy="0"/>
          </a:xfrm>
          <a:prstGeom prst="line">
            <a:avLst/>
          </a:prstGeom>
          <a:noFill/>
          <a:ln w="19050">
            <a:solidFill>
              <a:srgbClr val="0E7C86"/>
            </a:solidFill>
            <a:prstDash val="solid"/>
            <a:tailEnd type="triangle"/>
          </a:ln>
        </p:spPr>
        <p:txBody>
          <a:bodyPr/>
          <a:lstStyle/>
          <a:p>
            <a:endParaRPr/>
          </a:p>
        </p:txBody>
      </p:sp>
      <p:sp>
        <p:nvSpPr>
          <p:cNvPr id="19" name="Shape 16"/>
          <p:cNvSpPr/>
          <p:nvPr/>
        </p:nvSpPr>
        <p:spPr>
          <a:xfrm>
            <a:off x="5303520" y="3246120"/>
            <a:ext cx="1554480" cy="548640"/>
          </a:xfrm>
          <a:prstGeom prst="roundRect">
            <a:avLst>
              <a:gd name="adj" fmla="val 10000"/>
            </a:avLst>
          </a:prstGeom>
          <a:solidFill>
            <a:srgbClr val="0E7C86"/>
          </a:solidFill>
          <a:ln w="9525">
            <a:solidFill>
              <a:srgbClr val="0E7C86"/>
            </a:solidFill>
            <a:prstDash val="solid"/>
          </a:ln>
        </p:spPr>
        <p:txBody>
          <a:bodyPr/>
          <a:lstStyle/>
          <a:p>
            <a:endParaRPr/>
          </a:p>
        </p:txBody>
      </p:sp>
      <p:sp>
        <p:nvSpPr>
          <p:cNvPr id="20" name="Text 17"/>
          <p:cNvSpPr txBox="1"/>
          <p:nvPr/>
        </p:nvSpPr>
        <p:spPr>
          <a:xfrm>
            <a:off x="5303520" y="3246120"/>
            <a:ext cx="1554480" cy="548640"/>
          </a:xfrm>
          <a:prstGeom prst="rect">
            <a:avLst/>
          </a:prstGeom>
          <a:noFill/>
          <a:ln/>
        </p:spPr>
        <p:txBody>
          <a:bodyPr wrap="square" lIns="635" tIns="635" rIns="635" bIns="635"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Formula</a:t>
            </a:r>
            <a:endParaRPr lang="en-US" sz="1100" dirty="0"/>
          </a:p>
        </p:txBody>
      </p:sp>
      <p:sp>
        <p:nvSpPr>
          <p:cNvPr id="21" name="Shape 18"/>
          <p:cNvSpPr/>
          <p:nvPr/>
        </p:nvSpPr>
        <p:spPr>
          <a:xfrm>
            <a:off x="6903720" y="3520440"/>
            <a:ext cx="502920" cy="0"/>
          </a:xfrm>
          <a:prstGeom prst="line">
            <a:avLst/>
          </a:prstGeom>
          <a:noFill/>
          <a:ln w="19050">
            <a:solidFill>
              <a:srgbClr val="0E7C86"/>
            </a:solidFill>
            <a:prstDash val="solid"/>
            <a:tailEnd type="triangle"/>
          </a:ln>
        </p:spPr>
        <p:txBody>
          <a:bodyPr/>
          <a:lstStyle/>
          <a:p>
            <a:endParaRPr/>
          </a:p>
        </p:txBody>
      </p:sp>
      <p:sp>
        <p:nvSpPr>
          <p:cNvPr id="22" name="Shape 19"/>
          <p:cNvSpPr/>
          <p:nvPr/>
        </p:nvSpPr>
        <p:spPr>
          <a:xfrm>
            <a:off x="7452360" y="3246120"/>
            <a:ext cx="1325880" cy="548640"/>
          </a:xfrm>
          <a:prstGeom prst="roundRect">
            <a:avLst>
              <a:gd name="adj" fmla="val 10000"/>
            </a:avLst>
          </a:prstGeom>
          <a:solidFill>
            <a:srgbClr val="F3F5F8"/>
          </a:solidFill>
          <a:ln w="9525">
            <a:solidFill>
              <a:srgbClr val="F3F5F8"/>
            </a:solidFill>
            <a:prstDash val="solid"/>
          </a:ln>
        </p:spPr>
        <p:txBody>
          <a:bodyPr/>
          <a:lstStyle/>
          <a:p>
            <a:endParaRPr/>
          </a:p>
        </p:txBody>
      </p:sp>
      <p:sp>
        <p:nvSpPr>
          <p:cNvPr id="23" name="Text 20"/>
          <p:cNvSpPr txBox="1"/>
          <p:nvPr/>
        </p:nvSpPr>
        <p:spPr>
          <a:xfrm>
            <a:off x="7452360" y="3246120"/>
            <a:ext cx="1325880" cy="548640"/>
          </a:xfrm>
          <a:prstGeom prst="rect">
            <a:avLst/>
          </a:prstGeom>
          <a:noFill/>
          <a:ln/>
        </p:spPr>
        <p:txBody>
          <a:bodyPr wrap="square" lIns="635" tIns="635" rIns="635" bIns="635" rtlCol="0" anchor="ctr"/>
          <a:lstStyle/>
          <a:p>
            <a:pPr marL="0" indent="0" algn="ctr">
              <a:buNone/>
            </a:pPr>
            <a:r>
              <a:rPr lang="en-US" sz="1100" dirty="0">
                <a:solidFill>
                  <a:srgbClr val="1B2A4A"/>
                </a:solidFill>
                <a:latin typeface="Calibri" pitchFamily="34" charset="0"/>
                <a:ea typeface="Calibri" pitchFamily="34" charset="-122"/>
                <a:cs typeface="Calibri" pitchFamily="34" charset="-120"/>
              </a:rPr>
              <a:t>Decision</a:t>
            </a:r>
            <a:endParaRPr lang="en-US" sz="1100" dirty="0"/>
          </a:p>
        </p:txBody>
      </p:sp>
      <p:sp>
        <p:nvSpPr>
          <p:cNvPr id="24" name="Shape 21"/>
          <p:cNvSpPr/>
          <p:nvPr/>
        </p:nvSpPr>
        <p:spPr>
          <a:xfrm>
            <a:off x="365760" y="4023360"/>
            <a:ext cx="8412480" cy="548640"/>
          </a:xfrm>
          <a:prstGeom prst="roundRect">
            <a:avLst>
              <a:gd name="adj" fmla="val 13333"/>
            </a:avLst>
          </a:prstGeom>
          <a:solidFill>
            <a:srgbClr val="E3F1F2"/>
          </a:solidFill>
          <a:ln w="12700">
            <a:solidFill>
              <a:srgbClr val="E3F1F2"/>
            </a:solidFill>
            <a:prstDash val="solid"/>
          </a:ln>
        </p:spPr>
        <p:txBody>
          <a:bodyPr/>
          <a:lstStyle/>
          <a:p>
            <a:endParaRPr/>
          </a:p>
        </p:txBody>
      </p:sp>
      <p:pic>
        <p:nvPicPr>
          <p:cNvPr id="25" name="Image 0" descr="preencoded.png"/>
          <p:cNvPicPr>
            <a:picLocks noChangeAspect="1"/>
          </p:cNvPicPr>
          <p:nvPr/>
        </p:nvPicPr>
        <p:blipFill>
          <a:blip r:embed="rId3"/>
          <a:stretch>
            <a:fillRect/>
          </a:stretch>
        </p:blipFill>
        <p:spPr>
          <a:xfrm>
            <a:off x="502920" y="4160520"/>
            <a:ext cx="274320" cy="274320"/>
          </a:xfrm>
          <a:prstGeom prst="rect">
            <a:avLst/>
          </a:prstGeom>
        </p:spPr>
      </p:pic>
      <p:sp>
        <p:nvSpPr>
          <p:cNvPr id="26" name="Text 22"/>
          <p:cNvSpPr txBox="1"/>
          <p:nvPr/>
        </p:nvSpPr>
        <p:spPr>
          <a:xfrm>
            <a:off x="896112" y="4023360"/>
            <a:ext cx="7772400" cy="548640"/>
          </a:xfrm>
          <a:prstGeom prst="rect">
            <a:avLst/>
          </a:prstGeom>
          <a:noFill/>
          <a:ln/>
        </p:spPr>
        <p:txBody>
          <a:bodyPr wrap="square" lIns="0" tIns="0" rIns="0" bIns="0" rtlCol="0" anchor="ctr"/>
          <a:lstStyle/>
          <a:p>
            <a:pPr marL="0" indent="0">
              <a:buNone/>
            </a:pPr>
            <a:r>
              <a:rPr lang="en-US" sz="1100" dirty="0">
                <a:solidFill>
                  <a:srgbClr val="1B2A4A"/>
                </a:solidFill>
                <a:latin typeface="Calibri" pitchFamily="34" charset="0"/>
                <a:ea typeface="Calibri" pitchFamily="34" charset="-122"/>
                <a:cs typeface="Calibri" pitchFamily="34" charset="-120"/>
              </a:rPr>
              <a:t>Adapted from Treveil et al., Introducing MLOps (O'Reilly, 2020). In María's notebook the transformations live in 20 scattered cells: that is what cannot be handed to IT.</a:t>
            </a:r>
            <a:endParaRPr lang="en-US" sz="1100" dirty="0"/>
          </a:p>
        </p:txBody>
      </p:sp>
      <p:pic>
        <p:nvPicPr>
          <p:cNvPr id="27" name="IE University logo" descr="IE University, School of Science &amp; Technology"/>
          <p:cNvPicPr>
            <a:picLocks noChangeAspect="1"/>
          </p:cNvPicPr>
          <p:nvPr/>
        </p:nvPicPr>
        <p:blipFill>
          <a:blip r:embed="rId4"/>
          <a:stretch>
            <a:fillRect/>
          </a:stretch>
        </p:blipFill>
        <p:spPr>
          <a:xfrm>
            <a:off x="8013607" y="92634"/>
            <a:ext cx="764633" cy="26278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marL="0" indent="0">
              <a:buNone/>
            </a:pPr>
            <a:r>
              <a:rPr lang="en-US" sz="800" dirty="0">
                <a:solidFill>
                  <a:srgbClr val="6B7280"/>
                </a:solidFill>
                <a:latin typeface="Calibri" pitchFamily="34" charset="0"/>
                <a:ea typeface="Calibri" pitchFamily="34" charset="-122"/>
                <a:cs typeface="Calibri" pitchFamily="34" charset="-120"/>
              </a:rPr>
              <a:t>MLOps · MBDS-PT2026F · Session 3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marL="0" indent="0" algn="r">
              <a:buNone/>
            </a:pPr>
            <a:r>
              <a:rPr lang="en-US" sz="800" dirty="0">
                <a:solidFill>
                  <a:srgbClr val="6B7280"/>
                </a:solidFill>
                <a:latin typeface="Calibri" pitchFamily="34" charset="0"/>
                <a:ea typeface="Calibri" pitchFamily="34" charset="-122"/>
                <a:cs typeface="Calibri" pitchFamily="34" charset="-120"/>
              </a:rPr>
              <a:t>7</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marL="0" indent="0">
              <a:buNone/>
            </a:pPr>
            <a:r>
              <a:rPr lang="en-US" sz="2400" b="1" dirty="0">
                <a:solidFill>
                  <a:srgbClr val="1B2A4A"/>
                </a:solidFill>
                <a:latin typeface="Calibri" pitchFamily="34" charset="0"/>
                <a:ea typeface="Calibri" pitchFamily="34" charset="-122"/>
                <a:cs typeface="Calibri" pitchFamily="34" charset="-120"/>
              </a:rPr>
              <a:t>The same work, drawn twice: a notebook and a pipeline</a:t>
            </a:r>
            <a:endParaRPr lang="en-US" sz="2400" dirty="0"/>
          </a:p>
        </p:txBody>
      </p:sp>
      <p:sp>
        <p:nvSpPr>
          <p:cNvPr id="7" name="Text 4"/>
          <p:cNvSpPr txBox="1"/>
          <p:nvPr/>
        </p:nvSpPr>
        <p:spPr>
          <a:xfrm>
            <a:off x="365760" y="1188720"/>
            <a:ext cx="4023360" cy="274320"/>
          </a:xfrm>
          <a:prstGeom prst="rect">
            <a:avLst/>
          </a:prstGeom>
          <a:noFill/>
          <a:ln/>
        </p:spPr>
        <p:txBody>
          <a:bodyPr wrap="square" lIns="0" tIns="0" rIns="0" bIns="0" rtlCol="0" anchor="t"/>
          <a:lstStyle/>
          <a:p>
            <a:pPr marL="0" indent="0" algn="l">
              <a:buNone/>
            </a:pPr>
            <a:r>
              <a:rPr lang="en-US" sz="1300" b="1" dirty="0">
                <a:solidFill>
                  <a:srgbClr val="E07A2F"/>
                </a:solidFill>
                <a:latin typeface="Calibri" pitchFamily="34" charset="0"/>
                <a:ea typeface="Calibri" pitchFamily="34" charset="-122"/>
                <a:cs typeface="Calibri" pitchFamily="34" charset="-120"/>
              </a:rPr>
              <a:t>Notebook: one person, one order, one laptop</a:t>
            </a:r>
            <a:endParaRPr lang="en-US" sz="1300" dirty="0"/>
          </a:p>
        </p:txBody>
      </p:sp>
      <p:sp>
        <p:nvSpPr>
          <p:cNvPr id="8" name="Shape 5"/>
          <p:cNvSpPr/>
          <p:nvPr/>
        </p:nvSpPr>
        <p:spPr>
          <a:xfrm>
            <a:off x="365760" y="1554480"/>
            <a:ext cx="914400" cy="457200"/>
          </a:xfrm>
          <a:prstGeom prst="roundRect">
            <a:avLst>
              <a:gd name="adj" fmla="val 12000"/>
            </a:avLst>
          </a:prstGeom>
          <a:solidFill>
            <a:srgbClr val="FBE9DC"/>
          </a:solidFill>
          <a:ln w="9525">
            <a:solidFill>
              <a:srgbClr val="F0C9A8"/>
            </a:solidFill>
            <a:prstDash val="solid"/>
          </a:ln>
        </p:spPr>
        <p:txBody>
          <a:bodyPr/>
          <a:lstStyle/>
          <a:p>
            <a:endParaRPr/>
          </a:p>
        </p:txBody>
      </p:sp>
      <p:sp>
        <p:nvSpPr>
          <p:cNvPr id="9" name="Text 6"/>
          <p:cNvSpPr txBox="1"/>
          <p:nvPr/>
        </p:nvSpPr>
        <p:spPr>
          <a:xfrm>
            <a:off x="365760" y="1554480"/>
            <a:ext cx="914400" cy="457200"/>
          </a:xfrm>
          <a:prstGeom prst="rect">
            <a:avLst/>
          </a:prstGeom>
          <a:noFill/>
          <a:ln/>
        </p:spPr>
        <p:txBody>
          <a:bodyPr wrap="square" lIns="635" tIns="635" rIns="635" bIns="635" rtlCol="0" anchor="ctr"/>
          <a:lstStyle/>
          <a:p>
            <a:pPr marL="0" indent="0" algn="ctr">
              <a:buNone/>
            </a:pPr>
            <a:r>
              <a:rPr lang="en-US" sz="1000" dirty="0">
                <a:solidFill>
                  <a:srgbClr val="1B2A4A"/>
                </a:solidFill>
                <a:latin typeface="Calibri" pitchFamily="34" charset="0"/>
                <a:ea typeface="Calibri" pitchFamily="34" charset="-122"/>
                <a:cs typeface="Calibri" pitchFamily="34" charset="-120"/>
              </a:rPr>
              <a:t>load</a:t>
            </a:r>
            <a:endParaRPr lang="en-US" sz="1000" dirty="0"/>
          </a:p>
        </p:txBody>
      </p:sp>
      <p:sp>
        <p:nvSpPr>
          <p:cNvPr id="10" name="Shape 7"/>
          <p:cNvSpPr/>
          <p:nvPr/>
        </p:nvSpPr>
        <p:spPr>
          <a:xfrm>
            <a:off x="1371600" y="1554480"/>
            <a:ext cx="914400" cy="457200"/>
          </a:xfrm>
          <a:prstGeom prst="roundRect">
            <a:avLst>
              <a:gd name="adj" fmla="val 12000"/>
            </a:avLst>
          </a:prstGeom>
          <a:solidFill>
            <a:srgbClr val="FBE9DC"/>
          </a:solidFill>
          <a:ln w="9525">
            <a:solidFill>
              <a:srgbClr val="F0C9A8"/>
            </a:solidFill>
            <a:prstDash val="solid"/>
          </a:ln>
        </p:spPr>
        <p:txBody>
          <a:bodyPr/>
          <a:lstStyle/>
          <a:p>
            <a:endParaRPr/>
          </a:p>
        </p:txBody>
      </p:sp>
      <p:sp>
        <p:nvSpPr>
          <p:cNvPr id="11" name="Text 8"/>
          <p:cNvSpPr txBox="1"/>
          <p:nvPr/>
        </p:nvSpPr>
        <p:spPr>
          <a:xfrm>
            <a:off x="1371600" y="1554480"/>
            <a:ext cx="914400" cy="457200"/>
          </a:xfrm>
          <a:prstGeom prst="rect">
            <a:avLst/>
          </a:prstGeom>
          <a:noFill/>
          <a:ln/>
        </p:spPr>
        <p:txBody>
          <a:bodyPr wrap="square" lIns="635" tIns="635" rIns="635" bIns="635" rtlCol="0" anchor="ctr"/>
          <a:lstStyle/>
          <a:p>
            <a:pPr marL="0" indent="0" algn="ctr">
              <a:buNone/>
            </a:pPr>
            <a:r>
              <a:rPr lang="en-US" sz="1000" dirty="0">
                <a:solidFill>
                  <a:srgbClr val="1B2A4A"/>
                </a:solidFill>
                <a:latin typeface="Calibri" pitchFamily="34" charset="0"/>
                <a:ea typeface="Calibri" pitchFamily="34" charset="-122"/>
                <a:cs typeface="Calibri" pitchFamily="34" charset="-120"/>
              </a:rPr>
              <a:t>peek</a:t>
            </a:r>
            <a:endParaRPr lang="en-US" sz="1000" dirty="0"/>
          </a:p>
        </p:txBody>
      </p:sp>
      <p:sp>
        <p:nvSpPr>
          <p:cNvPr id="12" name="Shape 9"/>
          <p:cNvSpPr/>
          <p:nvPr/>
        </p:nvSpPr>
        <p:spPr>
          <a:xfrm>
            <a:off x="2377440" y="1554480"/>
            <a:ext cx="914400" cy="457200"/>
          </a:xfrm>
          <a:prstGeom prst="roundRect">
            <a:avLst>
              <a:gd name="adj" fmla="val 12000"/>
            </a:avLst>
          </a:prstGeom>
          <a:solidFill>
            <a:srgbClr val="FBE9DC"/>
          </a:solidFill>
          <a:ln w="9525">
            <a:solidFill>
              <a:srgbClr val="F0C9A8"/>
            </a:solidFill>
            <a:prstDash val="solid"/>
          </a:ln>
        </p:spPr>
        <p:txBody>
          <a:bodyPr/>
          <a:lstStyle/>
          <a:p>
            <a:endParaRPr/>
          </a:p>
        </p:txBody>
      </p:sp>
      <p:sp>
        <p:nvSpPr>
          <p:cNvPr id="13" name="Text 10"/>
          <p:cNvSpPr txBox="1"/>
          <p:nvPr/>
        </p:nvSpPr>
        <p:spPr>
          <a:xfrm>
            <a:off x="2377440" y="1554480"/>
            <a:ext cx="914400" cy="457200"/>
          </a:xfrm>
          <a:prstGeom prst="rect">
            <a:avLst/>
          </a:prstGeom>
          <a:noFill/>
          <a:ln/>
        </p:spPr>
        <p:txBody>
          <a:bodyPr wrap="square" lIns="635" tIns="635" rIns="635" bIns="635" rtlCol="0" anchor="ctr"/>
          <a:lstStyle/>
          <a:p>
            <a:pPr marL="0" indent="0" algn="ctr">
              <a:buNone/>
            </a:pPr>
            <a:r>
              <a:rPr lang="en-US" sz="1000" dirty="0">
                <a:solidFill>
                  <a:srgbClr val="1B2A4A"/>
                </a:solidFill>
                <a:latin typeface="Calibri" pitchFamily="34" charset="0"/>
                <a:ea typeface="Calibri" pitchFamily="34" charset="-122"/>
                <a:cs typeface="Calibri" pitchFamily="34" charset="-120"/>
              </a:rPr>
              <a:t>model v1</a:t>
            </a:r>
            <a:endParaRPr lang="en-US" sz="1000" dirty="0"/>
          </a:p>
        </p:txBody>
      </p:sp>
      <p:sp>
        <p:nvSpPr>
          <p:cNvPr id="14" name="Shape 11"/>
          <p:cNvSpPr/>
          <p:nvPr/>
        </p:nvSpPr>
        <p:spPr>
          <a:xfrm>
            <a:off x="3383280" y="1554480"/>
            <a:ext cx="914400" cy="457200"/>
          </a:xfrm>
          <a:prstGeom prst="roundRect">
            <a:avLst>
              <a:gd name="adj" fmla="val 12000"/>
            </a:avLst>
          </a:prstGeom>
          <a:solidFill>
            <a:srgbClr val="FBE9DC"/>
          </a:solidFill>
          <a:ln w="9525">
            <a:solidFill>
              <a:srgbClr val="F0C9A8"/>
            </a:solidFill>
            <a:prstDash val="solid"/>
          </a:ln>
        </p:spPr>
        <p:txBody>
          <a:bodyPr/>
          <a:lstStyle/>
          <a:p>
            <a:endParaRPr/>
          </a:p>
        </p:txBody>
      </p:sp>
      <p:sp>
        <p:nvSpPr>
          <p:cNvPr id="15" name="Text 12"/>
          <p:cNvSpPr txBox="1"/>
          <p:nvPr/>
        </p:nvSpPr>
        <p:spPr>
          <a:xfrm>
            <a:off x="3383280" y="1554480"/>
            <a:ext cx="914400" cy="457200"/>
          </a:xfrm>
          <a:prstGeom prst="rect">
            <a:avLst/>
          </a:prstGeom>
          <a:noFill/>
          <a:ln/>
        </p:spPr>
        <p:txBody>
          <a:bodyPr wrap="square" lIns="635" tIns="635" rIns="635" bIns="635" rtlCol="0" anchor="ctr"/>
          <a:lstStyle/>
          <a:p>
            <a:pPr marL="0" indent="0" algn="ctr">
              <a:buNone/>
            </a:pPr>
            <a:r>
              <a:rPr lang="en-US" sz="1000" dirty="0">
                <a:solidFill>
                  <a:srgbClr val="1B2A4A"/>
                </a:solidFill>
                <a:latin typeface="Calibri" pitchFamily="34" charset="0"/>
                <a:ea typeface="Calibri" pitchFamily="34" charset="-122"/>
                <a:cs typeface="Calibri" pitchFamily="34" charset="-120"/>
              </a:rPr>
              <a:t>fill NaN</a:t>
            </a:r>
            <a:endParaRPr lang="en-US" sz="1000" dirty="0"/>
          </a:p>
        </p:txBody>
      </p:sp>
      <p:sp>
        <p:nvSpPr>
          <p:cNvPr id="16" name="Shape 13"/>
          <p:cNvSpPr/>
          <p:nvPr/>
        </p:nvSpPr>
        <p:spPr>
          <a:xfrm>
            <a:off x="365760" y="2121408"/>
            <a:ext cx="914400" cy="457200"/>
          </a:xfrm>
          <a:prstGeom prst="roundRect">
            <a:avLst>
              <a:gd name="adj" fmla="val 12000"/>
            </a:avLst>
          </a:prstGeom>
          <a:solidFill>
            <a:srgbClr val="FBE9DC"/>
          </a:solidFill>
          <a:ln w="9525">
            <a:solidFill>
              <a:srgbClr val="F0C9A8"/>
            </a:solidFill>
            <a:prstDash val="solid"/>
          </a:ln>
        </p:spPr>
        <p:txBody>
          <a:bodyPr/>
          <a:lstStyle/>
          <a:p>
            <a:endParaRPr/>
          </a:p>
        </p:txBody>
      </p:sp>
      <p:sp>
        <p:nvSpPr>
          <p:cNvPr id="17" name="Text 14"/>
          <p:cNvSpPr txBox="1"/>
          <p:nvPr/>
        </p:nvSpPr>
        <p:spPr>
          <a:xfrm>
            <a:off x="365760" y="2121408"/>
            <a:ext cx="914400" cy="457200"/>
          </a:xfrm>
          <a:prstGeom prst="rect">
            <a:avLst/>
          </a:prstGeom>
          <a:noFill/>
          <a:ln/>
        </p:spPr>
        <p:txBody>
          <a:bodyPr wrap="square" lIns="635" tIns="635" rIns="635" bIns="635" rtlCol="0" anchor="ctr"/>
          <a:lstStyle/>
          <a:p>
            <a:pPr marL="0" indent="0" algn="ctr">
              <a:buNone/>
            </a:pPr>
            <a:r>
              <a:rPr lang="en-US" sz="1000" dirty="0">
                <a:solidFill>
                  <a:srgbClr val="1B2A4A"/>
                </a:solidFill>
                <a:latin typeface="Calibri" pitchFamily="34" charset="0"/>
                <a:ea typeface="Calibri" pitchFamily="34" charset="-122"/>
                <a:cs typeface="Calibri" pitchFamily="34" charset="-120"/>
              </a:rPr>
              <a:t>filter</a:t>
            </a:r>
            <a:endParaRPr lang="en-US" sz="1000" dirty="0"/>
          </a:p>
        </p:txBody>
      </p:sp>
      <p:sp>
        <p:nvSpPr>
          <p:cNvPr id="18" name="Shape 15"/>
          <p:cNvSpPr/>
          <p:nvPr/>
        </p:nvSpPr>
        <p:spPr>
          <a:xfrm>
            <a:off x="1371600" y="2121408"/>
            <a:ext cx="914400" cy="457200"/>
          </a:xfrm>
          <a:prstGeom prst="roundRect">
            <a:avLst>
              <a:gd name="adj" fmla="val 12000"/>
            </a:avLst>
          </a:prstGeom>
          <a:solidFill>
            <a:srgbClr val="FBE9DC"/>
          </a:solidFill>
          <a:ln w="9525">
            <a:solidFill>
              <a:srgbClr val="F0C9A8"/>
            </a:solidFill>
            <a:prstDash val="solid"/>
          </a:ln>
        </p:spPr>
        <p:txBody>
          <a:bodyPr/>
          <a:lstStyle/>
          <a:p>
            <a:endParaRPr/>
          </a:p>
        </p:txBody>
      </p:sp>
      <p:sp>
        <p:nvSpPr>
          <p:cNvPr id="19" name="Text 16"/>
          <p:cNvSpPr txBox="1"/>
          <p:nvPr/>
        </p:nvSpPr>
        <p:spPr>
          <a:xfrm>
            <a:off x="1371600" y="2121408"/>
            <a:ext cx="914400" cy="457200"/>
          </a:xfrm>
          <a:prstGeom prst="rect">
            <a:avLst/>
          </a:prstGeom>
          <a:noFill/>
          <a:ln/>
        </p:spPr>
        <p:txBody>
          <a:bodyPr wrap="square" lIns="635" tIns="635" rIns="635" bIns="635" rtlCol="0" anchor="ctr"/>
          <a:lstStyle/>
          <a:p>
            <a:pPr marL="0" indent="0" algn="ctr">
              <a:buNone/>
            </a:pPr>
            <a:r>
              <a:rPr lang="en-US" sz="1000" dirty="0">
                <a:solidFill>
                  <a:srgbClr val="1B2A4A"/>
                </a:solidFill>
                <a:latin typeface="Calibri" pitchFamily="34" charset="0"/>
                <a:ea typeface="Calibri" pitchFamily="34" charset="-122"/>
                <a:cs typeface="Calibri" pitchFamily="34" charset="-120"/>
              </a:rPr>
              <a:t>features</a:t>
            </a:r>
            <a:endParaRPr lang="en-US" sz="1000" dirty="0"/>
          </a:p>
        </p:txBody>
      </p:sp>
      <p:sp>
        <p:nvSpPr>
          <p:cNvPr id="20" name="Shape 17"/>
          <p:cNvSpPr/>
          <p:nvPr/>
        </p:nvSpPr>
        <p:spPr>
          <a:xfrm>
            <a:off x="2377440" y="2121408"/>
            <a:ext cx="914400" cy="457200"/>
          </a:xfrm>
          <a:prstGeom prst="roundRect">
            <a:avLst>
              <a:gd name="adj" fmla="val 12000"/>
            </a:avLst>
          </a:prstGeom>
          <a:solidFill>
            <a:srgbClr val="FBE9DC"/>
          </a:solidFill>
          <a:ln w="9525">
            <a:solidFill>
              <a:srgbClr val="F0C9A8"/>
            </a:solidFill>
            <a:prstDash val="solid"/>
          </a:ln>
        </p:spPr>
        <p:txBody>
          <a:bodyPr/>
          <a:lstStyle/>
          <a:p>
            <a:endParaRPr/>
          </a:p>
        </p:txBody>
      </p:sp>
      <p:sp>
        <p:nvSpPr>
          <p:cNvPr id="21" name="Text 18"/>
          <p:cNvSpPr txBox="1"/>
          <p:nvPr/>
        </p:nvSpPr>
        <p:spPr>
          <a:xfrm>
            <a:off x="2377440" y="2121408"/>
            <a:ext cx="914400" cy="457200"/>
          </a:xfrm>
          <a:prstGeom prst="rect">
            <a:avLst/>
          </a:prstGeom>
          <a:noFill/>
          <a:ln/>
        </p:spPr>
        <p:txBody>
          <a:bodyPr wrap="square" lIns="635" tIns="635" rIns="635" bIns="635" rtlCol="0" anchor="ctr"/>
          <a:lstStyle/>
          <a:p>
            <a:pPr marL="0" indent="0" algn="ctr">
              <a:buNone/>
            </a:pPr>
            <a:r>
              <a:rPr lang="en-US" sz="1000" dirty="0">
                <a:solidFill>
                  <a:srgbClr val="1B2A4A"/>
                </a:solidFill>
                <a:latin typeface="Calibri" pitchFamily="34" charset="0"/>
                <a:ea typeface="Calibri" pitchFamily="34" charset="-122"/>
                <a:cs typeface="Calibri" pitchFamily="34" charset="-120"/>
              </a:rPr>
              <a:t>scale</a:t>
            </a:r>
            <a:endParaRPr lang="en-US" sz="1000" dirty="0"/>
          </a:p>
        </p:txBody>
      </p:sp>
      <p:sp>
        <p:nvSpPr>
          <p:cNvPr id="22" name="Shape 19"/>
          <p:cNvSpPr/>
          <p:nvPr/>
        </p:nvSpPr>
        <p:spPr>
          <a:xfrm>
            <a:off x="3383280" y="2121408"/>
            <a:ext cx="914400" cy="457200"/>
          </a:xfrm>
          <a:prstGeom prst="roundRect">
            <a:avLst>
              <a:gd name="adj" fmla="val 12000"/>
            </a:avLst>
          </a:prstGeom>
          <a:solidFill>
            <a:srgbClr val="FBE9DC"/>
          </a:solidFill>
          <a:ln w="9525">
            <a:solidFill>
              <a:srgbClr val="F0C9A8"/>
            </a:solidFill>
            <a:prstDash val="solid"/>
          </a:ln>
        </p:spPr>
        <p:txBody>
          <a:bodyPr/>
          <a:lstStyle/>
          <a:p>
            <a:endParaRPr/>
          </a:p>
        </p:txBody>
      </p:sp>
      <p:sp>
        <p:nvSpPr>
          <p:cNvPr id="23" name="Text 20"/>
          <p:cNvSpPr txBox="1"/>
          <p:nvPr/>
        </p:nvSpPr>
        <p:spPr>
          <a:xfrm>
            <a:off x="3383280" y="2121408"/>
            <a:ext cx="914400" cy="457200"/>
          </a:xfrm>
          <a:prstGeom prst="rect">
            <a:avLst/>
          </a:prstGeom>
          <a:noFill/>
          <a:ln/>
        </p:spPr>
        <p:txBody>
          <a:bodyPr wrap="square" lIns="635" tIns="635" rIns="635" bIns="635" rtlCol="0" anchor="ctr"/>
          <a:lstStyle/>
          <a:p>
            <a:pPr marL="0" indent="0" algn="ctr">
              <a:buNone/>
            </a:pPr>
            <a:r>
              <a:rPr lang="en-US" sz="1000" dirty="0">
                <a:solidFill>
                  <a:srgbClr val="1B2A4A"/>
                </a:solidFill>
                <a:latin typeface="Calibri" pitchFamily="34" charset="0"/>
                <a:ea typeface="Calibri" pitchFamily="34" charset="-122"/>
                <a:cs typeface="Calibri" pitchFamily="34" charset="-120"/>
              </a:rPr>
              <a:t>model v2</a:t>
            </a:r>
            <a:endParaRPr lang="en-US" sz="1000" dirty="0"/>
          </a:p>
        </p:txBody>
      </p:sp>
      <p:sp>
        <p:nvSpPr>
          <p:cNvPr id="24" name="Shape 21"/>
          <p:cNvSpPr/>
          <p:nvPr/>
        </p:nvSpPr>
        <p:spPr>
          <a:xfrm>
            <a:off x="365760" y="2688336"/>
            <a:ext cx="914400" cy="457200"/>
          </a:xfrm>
          <a:prstGeom prst="roundRect">
            <a:avLst>
              <a:gd name="adj" fmla="val 12000"/>
            </a:avLst>
          </a:prstGeom>
          <a:solidFill>
            <a:srgbClr val="FBE9DC"/>
          </a:solidFill>
          <a:ln w="9525">
            <a:solidFill>
              <a:srgbClr val="F0C9A8"/>
            </a:solidFill>
            <a:prstDash val="solid"/>
          </a:ln>
        </p:spPr>
        <p:txBody>
          <a:bodyPr/>
          <a:lstStyle/>
          <a:p>
            <a:endParaRPr/>
          </a:p>
        </p:txBody>
      </p:sp>
      <p:sp>
        <p:nvSpPr>
          <p:cNvPr id="25" name="Text 22"/>
          <p:cNvSpPr txBox="1"/>
          <p:nvPr/>
        </p:nvSpPr>
        <p:spPr>
          <a:xfrm>
            <a:off x="365760" y="2688336"/>
            <a:ext cx="914400" cy="457200"/>
          </a:xfrm>
          <a:prstGeom prst="rect">
            <a:avLst/>
          </a:prstGeom>
          <a:noFill/>
          <a:ln/>
        </p:spPr>
        <p:txBody>
          <a:bodyPr wrap="square" lIns="635" tIns="635" rIns="635" bIns="635" rtlCol="0" anchor="ctr"/>
          <a:lstStyle/>
          <a:p>
            <a:pPr marL="0" indent="0" algn="ctr">
              <a:buNone/>
            </a:pPr>
            <a:r>
              <a:rPr lang="en-US" sz="1000" dirty="0">
                <a:solidFill>
                  <a:srgbClr val="1B2A4A"/>
                </a:solidFill>
                <a:latin typeface="Calibri" pitchFamily="34" charset="0"/>
                <a:ea typeface="Calibri" pitchFamily="34" charset="-122"/>
                <a:cs typeface="Calibri" pitchFamily="34" charset="-120"/>
              </a:rPr>
              <a:t>rf ×3</a:t>
            </a:r>
            <a:endParaRPr lang="en-US" sz="1000" dirty="0"/>
          </a:p>
        </p:txBody>
      </p:sp>
      <p:sp>
        <p:nvSpPr>
          <p:cNvPr id="26" name="Shape 23"/>
          <p:cNvSpPr/>
          <p:nvPr/>
        </p:nvSpPr>
        <p:spPr>
          <a:xfrm>
            <a:off x="1371600" y="2688336"/>
            <a:ext cx="914400" cy="457200"/>
          </a:xfrm>
          <a:prstGeom prst="roundRect">
            <a:avLst>
              <a:gd name="adj" fmla="val 12000"/>
            </a:avLst>
          </a:prstGeom>
          <a:solidFill>
            <a:srgbClr val="FBE9DC"/>
          </a:solidFill>
          <a:ln w="9525">
            <a:solidFill>
              <a:srgbClr val="F0C9A8"/>
            </a:solidFill>
            <a:prstDash val="solid"/>
          </a:ln>
        </p:spPr>
        <p:txBody>
          <a:bodyPr/>
          <a:lstStyle/>
          <a:p>
            <a:endParaRPr/>
          </a:p>
        </p:txBody>
      </p:sp>
      <p:sp>
        <p:nvSpPr>
          <p:cNvPr id="27" name="Text 24"/>
          <p:cNvSpPr txBox="1"/>
          <p:nvPr/>
        </p:nvSpPr>
        <p:spPr>
          <a:xfrm>
            <a:off x="1371600" y="2688336"/>
            <a:ext cx="914400" cy="457200"/>
          </a:xfrm>
          <a:prstGeom prst="rect">
            <a:avLst/>
          </a:prstGeom>
          <a:noFill/>
          <a:ln/>
        </p:spPr>
        <p:txBody>
          <a:bodyPr wrap="square" lIns="635" tIns="635" rIns="635" bIns="635" rtlCol="0" anchor="ctr"/>
          <a:lstStyle/>
          <a:p>
            <a:pPr marL="0" indent="0" algn="ctr">
              <a:buNone/>
            </a:pPr>
            <a:r>
              <a:rPr lang="en-US" sz="1000" dirty="0">
                <a:solidFill>
                  <a:srgbClr val="1B2A4A"/>
                </a:solidFill>
                <a:latin typeface="Calibri" pitchFamily="34" charset="0"/>
                <a:ea typeface="Calibri" pitchFamily="34" charset="-122"/>
                <a:cs typeface="Calibri" pitchFamily="34" charset="-120"/>
              </a:rPr>
              <a:t>threshold</a:t>
            </a:r>
            <a:endParaRPr lang="en-US" sz="1000" dirty="0"/>
          </a:p>
        </p:txBody>
      </p:sp>
      <p:sp>
        <p:nvSpPr>
          <p:cNvPr id="28" name="Shape 25"/>
          <p:cNvSpPr/>
          <p:nvPr/>
        </p:nvSpPr>
        <p:spPr>
          <a:xfrm>
            <a:off x="2377440" y="2688336"/>
            <a:ext cx="914400" cy="457200"/>
          </a:xfrm>
          <a:prstGeom prst="roundRect">
            <a:avLst>
              <a:gd name="adj" fmla="val 12000"/>
            </a:avLst>
          </a:prstGeom>
          <a:solidFill>
            <a:srgbClr val="FBE9DC"/>
          </a:solidFill>
          <a:ln w="9525">
            <a:solidFill>
              <a:srgbClr val="F0C9A8"/>
            </a:solidFill>
            <a:prstDash val="solid"/>
          </a:ln>
        </p:spPr>
        <p:txBody>
          <a:bodyPr/>
          <a:lstStyle/>
          <a:p>
            <a:endParaRPr/>
          </a:p>
        </p:txBody>
      </p:sp>
      <p:sp>
        <p:nvSpPr>
          <p:cNvPr id="29" name="Text 26"/>
          <p:cNvSpPr txBox="1"/>
          <p:nvPr/>
        </p:nvSpPr>
        <p:spPr>
          <a:xfrm>
            <a:off x="2377440" y="2688336"/>
            <a:ext cx="914400" cy="457200"/>
          </a:xfrm>
          <a:prstGeom prst="rect">
            <a:avLst/>
          </a:prstGeom>
          <a:noFill/>
          <a:ln/>
        </p:spPr>
        <p:txBody>
          <a:bodyPr wrap="square" lIns="635" tIns="635" rIns="635" bIns="635" rtlCol="0" anchor="ctr"/>
          <a:lstStyle/>
          <a:p>
            <a:pPr marL="0" indent="0" algn="ctr">
              <a:buNone/>
            </a:pPr>
            <a:r>
              <a:rPr lang="en-US" sz="1000" dirty="0">
                <a:solidFill>
                  <a:srgbClr val="1B2A4A"/>
                </a:solidFill>
                <a:latin typeface="Calibri" pitchFamily="34" charset="0"/>
                <a:ea typeface="Calibri" pitchFamily="34" charset="-122"/>
                <a:cs typeface="Calibri" pitchFamily="34" charset="-120"/>
              </a:rPr>
              <a:t>pickle</a:t>
            </a:r>
            <a:endParaRPr lang="en-US" sz="1000" dirty="0"/>
          </a:p>
        </p:txBody>
      </p:sp>
      <p:sp>
        <p:nvSpPr>
          <p:cNvPr id="30" name="Shape 27"/>
          <p:cNvSpPr/>
          <p:nvPr/>
        </p:nvSpPr>
        <p:spPr>
          <a:xfrm>
            <a:off x="3383280" y="2688336"/>
            <a:ext cx="914400" cy="457200"/>
          </a:xfrm>
          <a:prstGeom prst="roundRect">
            <a:avLst>
              <a:gd name="adj" fmla="val 12000"/>
            </a:avLst>
          </a:prstGeom>
          <a:solidFill>
            <a:srgbClr val="FBE9DC"/>
          </a:solidFill>
          <a:ln w="9525">
            <a:solidFill>
              <a:srgbClr val="F0C9A8"/>
            </a:solidFill>
            <a:prstDash val="solid"/>
          </a:ln>
        </p:spPr>
        <p:txBody>
          <a:bodyPr/>
          <a:lstStyle/>
          <a:p>
            <a:endParaRPr/>
          </a:p>
        </p:txBody>
      </p:sp>
      <p:sp>
        <p:nvSpPr>
          <p:cNvPr id="31" name="Text 28"/>
          <p:cNvSpPr txBox="1"/>
          <p:nvPr/>
        </p:nvSpPr>
        <p:spPr>
          <a:xfrm>
            <a:off x="3383280" y="2688336"/>
            <a:ext cx="914400" cy="457200"/>
          </a:xfrm>
          <a:prstGeom prst="rect">
            <a:avLst/>
          </a:prstGeom>
          <a:noFill/>
          <a:ln/>
        </p:spPr>
        <p:txBody>
          <a:bodyPr wrap="square" lIns="635" tIns="635" rIns="635" bIns="635" rtlCol="0" anchor="ctr"/>
          <a:lstStyle/>
          <a:p>
            <a:pPr marL="0" indent="0" algn="ctr">
              <a:buNone/>
            </a:pPr>
            <a:r>
              <a:rPr lang="en-US" sz="1000" dirty="0">
                <a:solidFill>
                  <a:srgbClr val="1B2A4A"/>
                </a:solidFill>
                <a:latin typeface="Calibri" pitchFamily="34" charset="0"/>
                <a:ea typeface="Calibri" pitchFamily="34" charset="-122"/>
                <a:cs typeface="Calibri" pitchFamily="34" charset="-120"/>
              </a:rPr>
              <a:t>plots</a:t>
            </a:r>
            <a:endParaRPr lang="en-US" sz="1000" dirty="0"/>
          </a:p>
        </p:txBody>
      </p:sp>
      <p:sp>
        <p:nvSpPr>
          <p:cNvPr id="32" name="Shape 29"/>
          <p:cNvSpPr/>
          <p:nvPr/>
        </p:nvSpPr>
        <p:spPr>
          <a:xfrm>
            <a:off x="1280160" y="1783080"/>
            <a:ext cx="91440" cy="566928"/>
          </a:xfrm>
          <a:prstGeom prst="line">
            <a:avLst/>
          </a:prstGeom>
          <a:noFill/>
          <a:ln w="12700">
            <a:solidFill>
              <a:srgbClr val="E07A2F"/>
            </a:solidFill>
            <a:prstDash val="solid"/>
            <a:tailEnd type="triangle"/>
          </a:ln>
        </p:spPr>
        <p:txBody>
          <a:bodyPr/>
          <a:lstStyle/>
          <a:p>
            <a:endParaRPr/>
          </a:p>
        </p:txBody>
      </p:sp>
      <p:sp>
        <p:nvSpPr>
          <p:cNvPr id="33" name="Shape 30"/>
          <p:cNvSpPr/>
          <p:nvPr/>
        </p:nvSpPr>
        <p:spPr>
          <a:xfrm flipH="1">
            <a:off x="2286000" y="2350008"/>
            <a:ext cx="0" cy="566928"/>
          </a:xfrm>
          <a:prstGeom prst="line">
            <a:avLst/>
          </a:prstGeom>
          <a:noFill/>
          <a:ln w="12700">
            <a:solidFill>
              <a:srgbClr val="E07A2F"/>
            </a:solidFill>
            <a:prstDash val="solid"/>
            <a:tailEnd type="triangle"/>
          </a:ln>
        </p:spPr>
        <p:txBody>
          <a:bodyPr/>
          <a:lstStyle/>
          <a:p>
            <a:endParaRPr/>
          </a:p>
        </p:txBody>
      </p:sp>
      <p:sp>
        <p:nvSpPr>
          <p:cNvPr id="34" name="Shape 31"/>
          <p:cNvSpPr/>
          <p:nvPr/>
        </p:nvSpPr>
        <p:spPr>
          <a:xfrm flipH="1">
            <a:off x="3291840" y="1783080"/>
            <a:ext cx="0" cy="1133856"/>
          </a:xfrm>
          <a:prstGeom prst="line">
            <a:avLst/>
          </a:prstGeom>
          <a:noFill/>
          <a:ln w="12700">
            <a:solidFill>
              <a:srgbClr val="E07A2F"/>
            </a:solidFill>
            <a:prstDash val="solid"/>
            <a:tailEnd type="triangle"/>
          </a:ln>
        </p:spPr>
        <p:txBody>
          <a:bodyPr/>
          <a:lstStyle/>
          <a:p>
            <a:endParaRPr/>
          </a:p>
        </p:txBody>
      </p:sp>
      <p:sp>
        <p:nvSpPr>
          <p:cNvPr id="35" name="Shape 32"/>
          <p:cNvSpPr/>
          <p:nvPr/>
        </p:nvSpPr>
        <p:spPr>
          <a:xfrm>
            <a:off x="822960" y="2011680"/>
            <a:ext cx="1463040" cy="0"/>
          </a:xfrm>
          <a:prstGeom prst="line">
            <a:avLst/>
          </a:prstGeom>
          <a:noFill/>
          <a:ln w="12700">
            <a:solidFill>
              <a:srgbClr val="E07A2F"/>
            </a:solidFill>
            <a:prstDash val="solid"/>
            <a:tailEnd type="triangle"/>
          </a:ln>
        </p:spPr>
        <p:txBody>
          <a:bodyPr/>
          <a:lstStyle/>
          <a:p>
            <a:endParaRPr/>
          </a:p>
        </p:txBody>
      </p:sp>
      <p:sp>
        <p:nvSpPr>
          <p:cNvPr id="36" name="Text 33"/>
          <p:cNvSpPr txBox="1"/>
          <p:nvPr/>
        </p:nvSpPr>
        <p:spPr>
          <a:xfrm>
            <a:off x="365760" y="3291840"/>
            <a:ext cx="4023360" cy="548640"/>
          </a:xfrm>
          <a:prstGeom prst="rect">
            <a:avLst/>
          </a:prstGeom>
          <a:noFill/>
          <a:ln/>
        </p:spPr>
        <p:txBody>
          <a:bodyPr wrap="square" lIns="0" tIns="0" rIns="0" bIns="0" rtlCol="0" anchor="t"/>
          <a:lstStyle/>
          <a:p>
            <a:pPr marL="0" indent="0" algn="l">
              <a:buNone/>
            </a:pPr>
            <a:r>
              <a:rPr lang="en-US" sz="1100" i="1" dirty="0">
                <a:solidFill>
                  <a:srgbClr val="6B7280"/>
                </a:solidFill>
                <a:latin typeface="Calibri" pitchFamily="34" charset="0"/>
                <a:ea typeface="Calibri" pitchFamily="34" charset="-122"/>
                <a:cs typeface="Calibri" pitchFamily="34" charset="-120"/>
              </a:rPr>
              <a:t>Cells run out of order; the state lives in memory; "don't run all cells at once".</a:t>
            </a:r>
            <a:endParaRPr lang="en-US" sz="1100" dirty="0"/>
          </a:p>
        </p:txBody>
      </p:sp>
      <p:sp>
        <p:nvSpPr>
          <p:cNvPr id="37" name="Text 34"/>
          <p:cNvSpPr txBox="1"/>
          <p:nvPr/>
        </p:nvSpPr>
        <p:spPr>
          <a:xfrm>
            <a:off x="4754880" y="1188720"/>
            <a:ext cx="4023360" cy="274320"/>
          </a:xfrm>
          <a:prstGeom prst="rect">
            <a:avLst/>
          </a:prstGeom>
          <a:noFill/>
          <a:ln/>
        </p:spPr>
        <p:txBody>
          <a:bodyPr wrap="square" lIns="0" tIns="0" rIns="0" bIns="0" rtlCol="0" anchor="t"/>
          <a:lstStyle/>
          <a:p>
            <a:pPr marL="0" indent="0" algn="l">
              <a:buNone/>
            </a:pPr>
            <a:r>
              <a:rPr lang="en-US" sz="1300" b="1" dirty="0">
                <a:solidFill>
                  <a:srgbClr val="0E7C86"/>
                </a:solidFill>
                <a:latin typeface="Calibri" pitchFamily="34" charset="0"/>
                <a:ea typeface="Calibri" pitchFamily="34" charset="-122"/>
                <a:cs typeface="Calibri" pitchFamily="34" charset="-120"/>
              </a:rPr>
              <a:t>Pipeline: steps a machine runs, in order, every time</a:t>
            </a:r>
            <a:endParaRPr lang="en-US" sz="1300" dirty="0"/>
          </a:p>
        </p:txBody>
      </p:sp>
      <p:sp>
        <p:nvSpPr>
          <p:cNvPr id="38" name="Shape 35"/>
          <p:cNvSpPr/>
          <p:nvPr/>
        </p:nvSpPr>
        <p:spPr>
          <a:xfrm>
            <a:off x="4754880" y="1554480"/>
            <a:ext cx="1737360" cy="502920"/>
          </a:xfrm>
          <a:prstGeom prst="roundRect">
            <a:avLst>
              <a:gd name="adj" fmla="val 10909"/>
            </a:avLst>
          </a:prstGeom>
          <a:solidFill>
            <a:srgbClr val="0E7C86"/>
          </a:solidFill>
          <a:ln w="9525">
            <a:solidFill>
              <a:srgbClr val="0E7C86"/>
            </a:solidFill>
            <a:prstDash val="solid"/>
          </a:ln>
        </p:spPr>
        <p:txBody>
          <a:bodyPr/>
          <a:lstStyle/>
          <a:p>
            <a:endParaRPr/>
          </a:p>
        </p:txBody>
      </p:sp>
      <p:sp>
        <p:nvSpPr>
          <p:cNvPr id="39" name="Text 36"/>
          <p:cNvSpPr txBox="1"/>
          <p:nvPr/>
        </p:nvSpPr>
        <p:spPr>
          <a:xfrm>
            <a:off x="4754880" y="1554480"/>
            <a:ext cx="1737360" cy="502920"/>
          </a:xfrm>
          <a:prstGeom prst="rect">
            <a:avLst/>
          </a:prstGeom>
          <a:noFill/>
          <a:ln/>
        </p:spPr>
        <p:txBody>
          <a:bodyPr wrap="square" lIns="635" tIns="635" rIns="635" bIns="635"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Ingest &amp; version</a:t>
            </a:r>
            <a:endParaRPr lang="en-US" sz="1050" dirty="0"/>
          </a:p>
        </p:txBody>
      </p:sp>
      <p:sp>
        <p:nvSpPr>
          <p:cNvPr id="40" name="Text 37"/>
          <p:cNvSpPr txBox="1"/>
          <p:nvPr/>
        </p:nvSpPr>
        <p:spPr>
          <a:xfrm>
            <a:off x="6583680" y="1600200"/>
            <a:ext cx="2194560" cy="457200"/>
          </a:xfrm>
          <a:prstGeom prst="rect">
            <a:avLst/>
          </a:prstGeom>
          <a:noFill/>
          <a:ln/>
        </p:spPr>
        <p:txBody>
          <a:bodyPr wrap="square" lIns="0" tIns="0" rIns="0" bIns="0" rtlCol="0" anchor="ctr"/>
          <a:lstStyle/>
          <a:p>
            <a:pPr marL="0" indent="0" algn="l">
              <a:buNone/>
            </a:pPr>
            <a:r>
              <a:rPr lang="en-US" sz="1050" dirty="0">
                <a:solidFill>
                  <a:srgbClr val="222222"/>
                </a:solidFill>
                <a:latin typeface="Calibri" pitchFamily="34" charset="0"/>
                <a:ea typeface="Calibri" pitchFamily="34" charset="-122"/>
                <a:cs typeface="Calibri" pitchFamily="34" charset="-120"/>
              </a:rPr>
              <a:t>raw file → dataset v12</a:t>
            </a:r>
            <a:endParaRPr lang="en-US" sz="1050" dirty="0"/>
          </a:p>
        </p:txBody>
      </p:sp>
      <p:sp>
        <p:nvSpPr>
          <p:cNvPr id="41" name="Shape 38"/>
          <p:cNvSpPr/>
          <p:nvPr/>
        </p:nvSpPr>
        <p:spPr>
          <a:xfrm>
            <a:off x="5623560" y="2057400"/>
            <a:ext cx="0" cy="118872"/>
          </a:xfrm>
          <a:prstGeom prst="line">
            <a:avLst/>
          </a:prstGeom>
          <a:noFill/>
          <a:ln w="19050">
            <a:solidFill>
              <a:srgbClr val="0E7C86"/>
            </a:solidFill>
            <a:prstDash val="solid"/>
            <a:tailEnd type="triangle"/>
          </a:ln>
        </p:spPr>
        <p:txBody>
          <a:bodyPr/>
          <a:lstStyle/>
          <a:p>
            <a:endParaRPr/>
          </a:p>
        </p:txBody>
      </p:sp>
      <p:sp>
        <p:nvSpPr>
          <p:cNvPr id="42" name="Shape 39"/>
          <p:cNvSpPr/>
          <p:nvPr/>
        </p:nvSpPr>
        <p:spPr>
          <a:xfrm>
            <a:off x="4754880" y="2176272"/>
            <a:ext cx="1737360" cy="502920"/>
          </a:xfrm>
          <a:prstGeom prst="roundRect">
            <a:avLst>
              <a:gd name="adj" fmla="val 10909"/>
            </a:avLst>
          </a:prstGeom>
          <a:solidFill>
            <a:srgbClr val="0E7C86"/>
          </a:solidFill>
          <a:ln w="9525">
            <a:solidFill>
              <a:srgbClr val="0E7C86"/>
            </a:solidFill>
            <a:prstDash val="solid"/>
          </a:ln>
        </p:spPr>
        <p:txBody>
          <a:bodyPr/>
          <a:lstStyle/>
          <a:p>
            <a:endParaRPr/>
          </a:p>
        </p:txBody>
      </p:sp>
      <p:sp>
        <p:nvSpPr>
          <p:cNvPr id="43" name="Text 40"/>
          <p:cNvSpPr txBox="1"/>
          <p:nvPr/>
        </p:nvSpPr>
        <p:spPr>
          <a:xfrm>
            <a:off x="4754880" y="2176272"/>
            <a:ext cx="1737360" cy="502920"/>
          </a:xfrm>
          <a:prstGeom prst="rect">
            <a:avLst/>
          </a:prstGeom>
          <a:noFill/>
          <a:ln/>
        </p:spPr>
        <p:txBody>
          <a:bodyPr wrap="square" lIns="635" tIns="635" rIns="635" bIns="635"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Validate</a:t>
            </a:r>
            <a:endParaRPr lang="en-US" sz="1050" dirty="0"/>
          </a:p>
        </p:txBody>
      </p:sp>
      <p:sp>
        <p:nvSpPr>
          <p:cNvPr id="44" name="Text 41"/>
          <p:cNvSpPr txBox="1"/>
          <p:nvPr/>
        </p:nvSpPr>
        <p:spPr>
          <a:xfrm>
            <a:off x="6583680" y="2221992"/>
            <a:ext cx="2194560" cy="457200"/>
          </a:xfrm>
          <a:prstGeom prst="rect">
            <a:avLst/>
          </a:prstGeom>
          <a:noFill/>
          <a:ln/>
        </p:spPr>
        <p:txBody>
          <a:bodyPr wrap="square" lIns="0" tIns="0" rIns="0" bIns="0" rtlCol="0" anchor="ctr"/>
          <a:lstStyle/>
          <a:p>
            <a:pPr marL="0" indent="0" algn="l">
              <a:buNone/>
            </a:pPr>
            <a:r>
              <a:rPr lang="en-US" sz="1050" dirty="0">
                <a:solidFill>
                  <a:srgbClr val="222222"/>
                </a:solidFill>
                <a:latin typeface="Calibri" pitchFamily="34" charset="0"/>
                <a:ea typeface="Calibri" pitchFamily="34" charset="-122"/>
                <a:cs typeface="Calibri" pitchFamily="34" charset="-120"/>
              </a:rPr>
              <a:t>schema, ranges, duplicates → stop if wrong</a:t>
            </a:r>
            <a:endParaRPr lang="en-US" sz="1050" dirty="0"/>
          </a:p>
        </p:txBody>
      </p:sp>
      <p:sp>
        <p:nvSpPr>
          <p:cNvPr id="45" name="Shape 42"/>
          <p:cNvSpPr/>
          <p:nvPr/>
        </p:nvSpPr>
        <p:spPr>
          <a:xfrm>
            <a:off x="5623560" y="2679192"/>
            <a:ext cx="0" cy="118872"/>
          </a:xfrm>
          <a:prstGeom prst="line">
            <a:avLst/>
          </a:prstGeom>
          <a:noFill/>
          <a:ln w="19050">
            <a:solidFill>
              <a:srgbClr val="0E7C86"/>
            </a:solidFill>
            <a:prstDash val="solid"/>
            <a:tailEnd type="triangle"/>
          </a:ln>
        </p:spPr>
        <p:txBody>
          <a:bodyPr/>
          <a:lstStyle/>
          <a:p>
            <a:endParaRPr/>
          </a:p>
        </p:txBody>
      </p:sp>
      <p:sp>
        <p:nvSpPr>
          <p:cNvPr id="46" name="Shape 43"/>
          <p:cNvSpPr/>
          <p:nvPr/>
        </p:nvSpPr>
        <p:spPr>
          <a:xfrm>
            <a:off x="4754880" y="2798064"/>
            <a:ext cx="1737360" cy="502920"/>
          </a:xfrm>
          <a:prstGeom prst="roundRect">
            <a:avLst>
              <a:gd name="adj" fmla="val 10909"/>
            </a:avLst>
          </a:prstGeom>
          <a:solidFill>
            <a:srgbClr val="0E7C86"/>
          </a:solidFill>
          <a:ln w="9525">
            <a:solidFill>
              <a:srgbClr val="0E7C86"/>
            </a:solidFill>
            <a:prstDash val="solid"/>
          </a:ln>
        </p:spPr>
        <p:txBody>
          <a:bodyPr/>
          <a:lstStyle/>
          <a:p>
            <a:endParaRPr/>
          </a:p>
        </p:txBody>
      </p:sp>
      <p:sp>
        <p:nvSpPr>
          <p:cNvPr id="47" name="Text 44"/>
          <p:cNvSpPr txBox="1"/>
          <p:nvPr/>
        </p:nvSpPr>
        <p:spPr>
          <a:xfrm>
            <a:off x="4754880" y="2798064"/>
            <a:ext cx="1737360" cy="502920"/>
          </a:xfrm>
          <a:prstGeom prst="rect">
            <a:avLst/>
          </a:prstGeom>
          <a:noFill/>
          <a:ln/>
        </p:spPr>
        <p:txBody>
          <a:bodyPr wrap="square" lIns="635" tIns="635" rIns="635" bIns="635"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Pre-process &amp; features</a:t>
            </a:r>
            <a:endParaRPr lang="en-US" sz="1050" dirty="0"/>
          </a:p>
        </p:txBody>
      </p:sp>
      <p:sp>
        <p:nvSpPr>
          <p:cNvPr id="48" name="Text 45"/>
          <p:cNvSpPr txBox="1"/>
          <p:nvPr/>
        </p:nvSpPr>
        <p:spPr>
          <a:xfrm>
            <a:off x="6583680" y="2843784"/>
            <a:ext cx="2194560" cy="457200"/>
          </a:xfrm>
          <a:prstGeom prst="rect">
            <a:avLst/>
          </a:prstGeom>
          <a:noFill/>
          <a:ln/>
        </p:spPr>
        <p:txBody>
          <a:bodyPr wrap="square" lIns="0" tIns="0" rIns="0" bIns="0" rtlCol="0" anchor="ctr"/>
          <a:lstStyle/>
          <a:p>
            <a:pPr marL="0" indent="0" algn="l">
              <a:buNone/>
            </a:pPr>
            <a:r>
              <a:rPr lang="en-US" sz="1050" dirty="0">
                <a:solidFill>
                  <a:srgbClr val="222222"/>
                </a:solidFill>
                <a:latin typeface="Calibri" pitchFamily="34" charset="0"/>
                <a:ea typeface="Calibri" pitchFamily="34" charset="-122"/>
                <a:cs typeface="Calibri" pitchFamily="34" charset="-120"/>
              </a:rPr>
              <a:t>the same code for training and scoring</a:t>
            </a:r>
            <a:endParaRPr lang="en-US" sz="1050" dirty="0"/>
          </a:p>
        </p:txBody>
      </p:sp>
      <p:sp>
        <p:nvSpPr>
          <p:cNvPr id="49" name="Shape 46"/>
          <p:cNvSpPr/>
          <p:nvPr/>
        </p:nvSpPr>
        <p:spPr>
          <a:xfrm>
            <a:off x="5623560" y="3300984"/>
            <a:ext cx="0" cy="118872"/>
          </a:xfrm>
          <a:prstGeom prst="line">
            <a:avLst/>
          </a:prstGeom>
          <a:noFill/>
          <a:ln w="19050">
            <a:solidFill>
              <a:srgbClr val="0E7C86"/>
            </a:solidFill>
            <a:prstDash val="solid"/>
            <a:tailEnd type="triangle"/>
          </a:ln>
        </p:spPr>
        <p:txBody>
          <a:bodyPr/>
          <a:lstStyle/>
          <a:p>
            <a:endParaRPr/>
          </a:p>
        </p:txBody>
      </p:sp>
      <p:sp>
        <p:nvSpPr>
          <p:cNvPr id="50" name="Shape 47"/>
          <p:cNvSpPr/>
          <p:nvPr/>
        </p:nvSpPr>
        <p:spPr>
          <a:xfrm>
            <a:off x="4754880" y="3419856"/>
            <a:ext cx="1737360" cy="502920"/>
          </a:xfrm>
          <a:prstGeom prst="roundRect">
            <a:avLst>
              <a:gd name="adj" fmla="val 10909"/>
            </a:avLst>
          </a:prstGeom>
          <a:solidFill>
            <a:srgbClr val="0E7C86"/>
          </a:solidFill>
          <a:ln w="9525">
            <a:solidFill>
              <a:srgbClr val="0E7C86"/>
            </a:solidFill>
            <a:prstDash val="solid"/>
          </a:ln>
        </p:spPr>
        <p:txBody>
          <a:bodyPr/>
          <a:lstStyle/>
          <a:p>
            <a:endParaRPr/>
          </a:p>
        </p:txBody>
      </p:sp>
      <p:sp>
        <p:nvSpPr>
          <p:cNvPr id="51" name="Text 48"/>
          <p:cNvSpPr txBox="1"/>
          <p:nvPr/>
        </p:nvSpPr>
        <p:spPr>
          <a:xfrm>
            <a:off x="4754880" y="3419856"/>
            <a:ext cx="1737360" cy="502920"/>
          </a:xfrm>
          <a:prstGeom prst="rect">
            <a:avLst/>
          </a:prstGeom>
          <a:noFill/>
          <a:ln/>
        </p:spPr>
        <p:txBody>
          <a:bodyPr wrap="square" lIns="635" tIns="635" rIns="635" bIns="635"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Train, evaluate, register</a:t>
            </a:r>
            <a:endParaRPr lang="en-US" sz="1050" dirty="0"/>
          </a:p>
        </p:txBody>
      </p:sp>
      <p:sp>
        <p:nvSpPr>
          <p:cNvPr id="52" name="Text 49"/>
          <p:cNvSpPr txBox="1"/>
          <p:nvPr/>
        </p:nvSpPr>
        <p:spPr>
          <a:xfrm>
            <a:off x="6583680" y="3465576"/>
            <a:ext cx="2194560" cy="457200"/>
          </a:xfrm>
          <a:prstGeom prst="rect">
            <a:avLst/>
          </a:prstGeom>
          <a:noFill/>
          <a:ln/>
        </p:spPr>
        <p:txBody>
          <a:bodyPr wrap="square" lIns="0" tIns="0" rIns="0" bIns="0" rtlCol="0" anchor="ctr"/>
          <a:lstStyle/>
          <a:p>
            <a:pPr marL="0" indent="0" algn="l">
              <a:buNone/>
            </a:pPr>
            <a:r>
              <a:rPr lang="en-US" sz="1050" dirty="0">
                <a:solidFill>
                  <a:srgbClr val="222222"/>
                </a:solidFill>
                <a:latin typeface="Calibri" pitchFamily="34" charset="0"/>
                <a:ea typeface="Calibri" pitchFamily="34" charset="-122"/>
                <a:cs typeface="Calibri" pitchFamily="34" charset="-120"/>
              </a:rPr>
              <a:t>metrics logged; model v1.1 in the registry</a:t>
            </a:r>
            <a:endParaRPr lang="en-US" sz="1050" dirty="0"/>
          </a:p>
        </p:txBody>
      </p:sp>
      <p:sp>
        <p:nvSpPr>
          <p:cNvPr id="53" name="Shape 50"/>
          <p:cNvSpPr/>
          <p:nvPr/>
        </p:nvSpPr>
        <p:spPr>
          <a:xfrm>
            <a:off x="365760" y="4069080"/>
            <a:ext cx="8412480" cy="502920"/>
          </a:xfrm>
          <a:prstGeom prst="roundRect">
            <a:avLst>
              <a:gd name="adj" fmla="val 14545"/>
            </a:avLst>
          </a:prstGeom>
          <a:solidFill>
            <a:srgbClr val="E3F1F2"/>
          </a:solidFill>
          <a:ln w="12700">
            <a:solidFill>
              <a:srgbClr val="E3F1F2"/>
            </a:solidFill>
            <a:prstDash val="solid"/>
          </a:ln>
        </p:spPr>
        <p:txBody>
          <a:bodyPr/>
          <a:lstStyle/>
          <a:p>
            <a:endParaRPr/>
          </a:p>
        </p:txBody>
      </p:sp>
      <p:pic>
        <p:nvPicPr>
          <p:cNvPr id="54" name="Image 0" descr="preencoded.png"/>
          <p:cNvPicPr>
            <a:picLocks noChangeAspect="1"/>
          </p:cNvPicPr>
          <p:nvPr/>
        </p:nvPicPr>
        <p:blipFill>
          <a:blip r:embed="rId3"/>
          <a:stretch>
            <a:fillRect/>
          </a:stretch>
        </p:blipFill>
        <p:spPr>
          <a:xfrm>
            <a:off x="502920" y="4183380"/>
            <a:ext cx="274320" cy="274320"/>
          </a:xfrm>
          <a:prstGeom prst="rect">
            <a:avLst/>
          </a:prstGeom>
        </p:spPr>
      </p:pic>
      <p:sp>
        <p:nvSpPr>
          <p:cNvPr id="55" name="Text 51"/>
          <p:cNvSpPr txBox="1"/>
          <p:nvPr/>
        </p:nvSpPr>
        <p:spPr>
          <a:xfrm>
            <a:off x="896112" y="4069080"/>
            <a:ext cx="7772400" cy="502920"/>
          </a:xfrm>
          <a:prstGeom prst="rect">
            <a:avLst/>
          </a:prstGeom>
          <a:noFill/>
          <a:ln/>
        </p:spPr>
        <p:txBody>
          <a:bodyPr wrap="square" lIns="0" tIns="0" rIns="0" bIns="0" rtlCol="0" anchor="ctr"/>
          <a:lstStyle/>
          <a:p>
            <a:pPr marL="0" indent="0">
              <a:buNone/>
            </a:pPr>
            <a:r>
              <a:rPr lang="en-US" sz="1150" b="1" dirty="0">
                <a:solidFill>
                  <a:srgbClr val="1B2A4A"/>
                </a:solidFill>
                <a:latin typeface="Calibri" pitchFamily="34" charset="0"/>
                <a:ea typeface="Calibri" pitchFamily="34" charset="-122"/>
                <a:cs typeface="Calibri" pitchFamily="34" charset="-120"/>
              </a:rPr>
              <a:t>Each step can be tested alone, re-run alone, and read by anyone. Forum 2, Q1: draw this for María's notebook.</a:t>
            </a:r>
            <a:endParaRPr lang="en-US" sz="1150" dirty="0"/>
          </a:p>
        </p:txBody>
      </p:sp>
      <p:pic>
        <p:nvPicPr>
          <p:cNvPr id="56" name="IE University logo" descr="IE University, School of Science &amp; Technology"/>
          <p:cNvPicPr>
            <a:picLocks noChangeAspect="1"/>
          </p:cNvPicPr>
          <p:nvPr/>
        </p:nvPicPr>
        <p:blipFill>
          <a:blip r:embed="rId4"/>
          <a:stretch>
            <a:fillRect/>
          </a:stretch>
        </p:blipFill>
        <p:spPr>
          <a:xfrm>
            <a:off x="8013607" y="92634"/>
            <a:ext cx="764633" cy="26278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marL="0" indent="0">
              <a:buNone/>
            </a:pPr>
            <a:r>
              <a:rPr lang="en-US" sz="800" dirty="0">
                <a:solidFill>
                  <a:srgbClr val="6B7280"/>
                </a:solidFill>
                <a:latin typeface="Calibri" pitchFamily="34" charset="0"/>
                <a:ea typeface="Calibri" pitchFamily="34" charset="-122"/>
                <a:cs typeface="Calibri" pitchFamily="34" charset="-120"/>
              </a:rPr>
              <a:t>MLOps · MBDS-PT2026F · Session 3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marL="0" indent="0" algn="r">
              <a:buNone/>
            </a:pPr>
            <a:r>
              <a:rPr lang="en-US" sz="800" dirty="0">
                <a:solidFill>
                  <a:srgbClr val="6B7280"/>
                </a:solidFill>
                <a:latin typeface="Calibri" pitchFamily="34" charset="0"/>
                <a:ea typeface="Calibri" pitchFamily="34" charset="-122"/>
                <a:cs typeface="Calibri" pitchFamily="34" charset="-120"/>
              </a:rPr>
              <a:t>8</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marL="0" indent="0">
              <a:buNone/>
            </a:pPr>
            <a:r>
              <a:rPr lang="en-US" sz="2400" b="1" dirty="0">
                <a:solidFill>
                  <a:srgbClr val="1B2A4A"/>
                </a:solidFill>
                <a:latin typeface="Calibri" pitchFamily="34" charset="0"/>
                <a:ea typeface="Calibri" pitchFamily="34" charset="-122"/>
                <a:cs typeface="Calibri" pitchFamily="34" charset="-120"/>
              </a:rPr>
              <a:t>Why pipelines: less maintenance, fewer bugs, and a system that runs itself</a:t>
            </a:r>
            <a:endParaRPr lang="en-US" sz="2400" dirty="0"/>
          </a:p>
        </p:txBody>
      </p:sp>
      <p:sp>
        <p:nvSpPr>
          <p:cNvPr id="7" name="Shape 4"/>
          <p:cNvSpPr/>
          <p:nvPr/>
        </p:nvSpPr>
        <p:spPr>
          <a:xfrm>
            <a:off x="365760" y="1280160"/>
            <a:ext cx="420624" cy="420624"/>
          </a:xfrm>
          <a:prstGeom prst="ellipse">
            <a:avLst/>
          </a:prstGeom>
          <a:solidFill>
            <a:srgbClr val="0E7C86"/>
          </a:solidFill>
          <a:ln w="12700">
            <a:solidFill>
              <a:srgbClr val="0E7C86"/>
            </a:solidFill>
            <a:prstDash val="solid"/>
          </a:ln>
        </p:spPr>
        <p:txBody>
          <a:bodyPr/>
          <a:lstStyle/>
          <a:p>
            <a:endParaRPr/>
          </a:p>
        </p:txBody>
      </p:sp>
      <p:pic>
        <p:nvPicPr>
          <p:cNvPr id="8" name="Image 0" descr="preencoded.png"/>
          <p:cNvPicPr>
            <a:picLocks noChangeAspect="1"/>
          </p:cNvPicPr>
          <p:nvPr/>
        </p:nvPicPr>
        <p:blipFill>
          <a:blip r:embed="rId3"/>
          <a:stretch>
            <a:fillRect/>
          </a:stretch>
        </p:blipFill>
        <p:spPr>
          <a:xfrm>
            <a:off x="457200" y="1371600"/>
            <a:ext cx="237744" cy="237744"/>
          </a:xfrm>
          <a:prstGeom prst="rect">
            <a:avLst/>
          </a:prstGeom>
        </p:spPr>
      </p:pic>
      <p:sp>
        <p:nvSpPr>
          <p:cNvPr id="9" name="Text 5"/>
          <p:cNvSpPr txBox="1"/>
          <p:nvPr/>
        </p:nvSpPr>
        <p:spPr>
          <a:xfrm>
            <a:off x="914400" y="1261872"/>
            <a:ext cx="3474720" cy="256032"/>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New data triggers the whole chain</a:t>
            </a:r>
            <a:endParaRPr lang="en-US" sz="1300" dirty="0"/>
          </a:p>
        </p:txBody>
      </p:sp>
      <p:sp>
        <p:nvSpPr>
          <p:cNvPr id="10" name="Text 6"/>
          <p:cNvSpPr txBox="1"/>
          <p:nvPr/>
        </p:nvSpPr>
        <p:spPr>
          <a:xfrm>
            <a:off x="914400" y="1517904"/>
            <a:ext cx="3474720" cy="457200"/>
          </a:xfrm>
          <a:prstGeom prst="rect">
            <a:avLst/>
          </a:prstGeom>
          <a:noFill/>
          <a:ln/>
        </p:spPr>
        <p:txBody>
          <a:bodyPr wrap="square" lIns="0" tIns="0" rIns="0" bIns="0" rtlCol="0" anchor="t"/>
          <a:lstStyle/>
          <a:p>
            <a:pPr marL="0" indent="0">
              <a:buNone/>
            </a:pPr>
            <a:r>
              <a:rPr lang="en-US" sz="1100" dirty="0">
                <a:solidFill>
                  <a:srgbClr val="222222"/>
                </a:solidFill>
                <a:latin typeface="Calibri" pitchFamily="34" charset="0"/>
                <a:ea typeface="Calibri" pitchFamily="34" charset="-122"/>
                <a:cs typeface="Calibri" pitchFamily="34" charset="-120"/>
              </a:rPr>
              <a:t>Validate, pre-process, train, analyse, deploy: nobody has to remember the steps.</a:t>
            </a:r>
            <a:endParaRPr lang="en-US" sz="1100" dirty="0"/>
          </a:p>
        </p:txBody>
      </p:sp>
      <p:sp>
        <p:nvSpPr>
          <p:cNvPr id="11" name="Shape 7"/>
          <p:cNvSpPr/>
          <p:nvPr/>
        </p:nvSpPr>
        <p:spPr>
          <a:xfrm>
            <a:off x="365760" y="2103120"/>
            <a:ext cx="420624" cy="420624"/>
          </a:xfrm>
          <a:prstGeom prst="ellipse">
            <a:avLst/>
          </a:prstGeom>
          <a:solidFill>
            <a:srgbClr val="0E7C86"/>
          </a:solidFill>
          <a:ln w="12700">
            <a:solidFill>
              <a:srgbClr val="0E7C86"/>
            </a:solidFill>
            <a:prstDash val="solid"/>
          </a:ln>
        </p:spPr>
        <p:txBody>
          <a:bodyPr/>
          <a:lstStyle/>
          <a:p>
            <a:endParaRPr/>
          </a:p>
        </p:txBody>
      </p:sp>
      <p:pic>
        <p:nvPicPr>
          <p:cNvPr id="12" name="Image 1" descr="preencoded.png"/>
          <p:cNvPicPr>
            <a:picLocks noChangeAspect="1"/>
          </p:cNvPicPr>
          <p:nvPr/>
        </p:nvPicPr>
        <p:blipFill>
          <a:blip r:embed="rId4"/>
          <a:stretch>
            <a:fillRect/>
          </a:stretch>
        </p:blipFill>
        <p:spPr>
          <a:xfrm>
            <a:off x="457200" y="2194560"/>
            <a:ext cx="237744" cy="237744"/>
          </a:xfrm>
          <a:prstGeom prst="rect">
            <a:avLst/>
          </a:prstGeom>
        </p:spPr>
      </p:pic>
      <p:sp>
        <p:nvSpPr>
          <p:cNvPr id="13" name="Text 8"/>
          <p:cNvSpPr txBox="1"/>
          <p:nvPr/>
        </p:nvSpPr>
        <p:spPr>
          <a:xfrm>
            <a:off x="914400" y="2084832"/>
            <a:ext cx="3474720" cy="256032"/>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A whole class of bugs disappears</a:t>
            </a:r>
            <a:endParaRPr lang="en-US" sz="1300" dirty="0"/>
          </a:p>
        </p:txBody>
      </p:sp>
      <p:sp>
        <p:nvSpPr>
          <p:cNvPr id="14" name="Text 9"/>
          <p:cNvSpPr txBox="1"/>
          <p:nvPr/>
        </p:nvSpPr>
        <p:spPr>
          <a:xfrm>
            <a:off x="914400" y="2340864"/>
            <a:ext cx="3474720" cy="457200"/>
          </a:xfrm>
          <a:prstGeom prst="rect">
            <a:avLst/>
          </a:prstGeom>
          <a:noFill/>
          <a:ln/>
        </p:spPr>
        <p:txBody>
          <a:bodyPr wrap="square" lIns="0" tIns="0" rIns="0" bIns="0" rtlCol="0" anchor="t"/>
          <a:lstStyle/>
          <a:p>
            <a:pPr marL="0" indent="0">
              <a:buNone/>
            </a:pPr>
            <a:r>
              <a:rPr lang="en-US" sz="1100" dirty="0">
                <a:solidFill>
                  <a:srgbClr val="222222"/>
                </a:solidFill>
                <a:latin typeface="Calibri" pitchFamily="34" charset="0"/>
                <a:ea typeface="Calibri" pitchFamily="34" charset="-122"/>
                <a:cs typeface="Calibri" pitchFamily="34" charset="-120"/>
              </a:rPr>
              <a:t>The classic: pre-processing changed after training; the model silently receives different numbers.</a:t>
            </a:r>
            <a:endParaRPr lang="en-US" sz="1100" dirty="0"/>
          </a:p>
        </p:txBody>
      </p:sp>
      <p:sp>
        <p:nvSpPr>
          <p:cNvPr id="15" name="Shape 10"/>
          <p:cNvSpPr/>
          <p:nvPr/>
        </p:nvSpPr>
        <p:spPr>
          <a:xfrm>
            <a:off x="365760" y="2926080"/>
            <a:ext cx="420624" cy="420624"/>
          </a:xfrm>
          <a:prstGeom prst="ellipse">
            <a:avLst/>
          </a:prstGeom>
          <a:solidFill>
            <a:srgbClr val="0E7C86"/>
          </a:solidFill>
          <a:ln w="12700">
            <a:solidFill>
              <a:srgbClr val="0E7C86"/>
            </a:solidFill>
            <a:prstDash val="solid"/>
          </a:ln>
        </p:spPr>
        <p:txBody>
          <a:bodyPr/>
          <a:lstStyle/>
          <a:p>
            <a:endParaRPr/>
          </a:p>
        </p:txBody>
      </p:sp>
      <p:pic>
        <p:nvPicPr>
          <p:cNvPr id="16" name="Image 2" descr="preencoded.png"/>
          <p:cNvPicPr>
            <a:picLocks noChangeAspect="1"/>
          </p:cNvPicPr>
          <p:nvPr/>
        </p:nvPicPr>
        <p:blipFill>
          <a:blip r:embed="rId5"/>
          <a:stretch>
            <a:fillRect/>
          </a:stretch>
        </p:blipFill>
        <p:spPr>
          <a:xfrm>
            <a:off x="457200" y="3017520"/>
            <a:ext cx="237744" cy="237744"/>
          </a:xfrm>
          <a:prstGeom prst="rect">
            <a:avLst/>
          </a:prstGeom>
        </p:spPr>
      </p:pic>
      <p:sp>
        <p:nvSpPr>
          <p:cNvPr id="17" name="Text 11"/>
          <p:cNvSpPr txBox="1"/>
          <p:nvPr/>
        </p:nvSpPr>
        <p:spPr>
          <a:xfrm>
            <a:off x="914400" y="2907792"/>
            <a:ext cx="3474720" cy="256032"/>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Experiments and releases are tracked</a:t>
            </a:r>
            <a:endParaRPr lang="en-US" sz="1300" dirty="0"/>
          </a:p>
        </p:txBody>
      </p:sp>
      <p:sp>
        <p:nvSpPr>
          <p:cNvPr id="18" name="Text 12"/>
          <p:cNvSpPr txBox="1"/>
          <p:nvPr/>
        </p:nvSpPr>
        <p:spPr>
          <a:xfrm>
            <a:off x="914400" y="3163824"/>
            <a:ext cx="3474720" cy="457200"/>
          </a:xfrm>
          <a:prstGeom prst="rect">
            <a:avLst/>
          </a:prstGeom>
          <a:noFill/>
          <a:ln/>
        </p:spPr>
        <p:txBody>
          <a:bodyPr wrap="square" lIns="0" tIns="0" rIns="0" bIns="0" rtlCol="0" anchor="t"/>
          <a:lstStyle/>
          <a:p>
            <a:pPr marL="0" indent="0">
              <a:buNone/>
            </a:pPr>
            <a:r>
              <a:rPr lang="en-US" sz="1100" dirty="0">
                <a:solidFill>
                  <a:srgbClr val="222222"/>
                </a:solidFill>
                <a:latin typeface="Calibri" pitchFamily="34" charset="0"/>
                <a:ea typeface="Calibri" pitchFamily="34" charset="-122"/>
                <a:cs typeface="Calibri" pitchFamily="34" charset="-120"/>
              </a:rPr>
              <a:t>Which data, which code, which settings produced which model. Reproducible.</a:t>
            </a:r>
            <a:endParaRPr lang="en-US" sz="1100" dirty="0"/>
          </a:p>
        </p:txBody>
      </p:sp>
      <p:sp>
        <p:nvSpPr>
          <p:cNvPr id="19" name="Text 13"/>
          <p:cNvSpPr txBox="1"/>
          <p:nvPr/>
        </p:nvSpPr>
        <p:spPr>
          <a:xfrm>
            <a:off x="4754880" y="1188720"/>
            <a:ext cx="4023360" cy="274320"/>
          </a:xfrm>
          <a:prstGeom prst="rect">
            <a:avLst/>
          </a:prstGeom>
          <a:noFill/>
          <a:ln/>
        </p:spPr>
        <p:txBody>
          <a:bodyPr wrap="square" lIns="0" tIns="0" rIns="0" bIns="0" rtlCol="0" anchor="t"/>
          <a:lstStyle/>
          <a:p>
            <a:pPr marL="0" indent="0" algn="l">
              <a:buNone/>
            </a:pPr>
            <a:r>
              <a:rPr lang="en-US" sz="1250" b="1" dirty="0">
                <a:solidFill>
                  <a:srgbClr val="0E7C86"/>
                </a:solidFill>
                <a:latin typeface="Calibri" pitchFamily="34" charset="0"/>
                <a:ea typeface="Calibri" pitchFamily="34" charset="-122"/>
                <a:cs typeface="Calibri" pitchFamily="34" charset="-120"/>
              </a:rPr>
              <a:t>Orchestration: steps in the right order, drawn as a DAG</a:t>
            </a:r>
            <a:endParaRPr lang="en-US" sz="1250" dirty="0"/>
          </a:p>
        </p:txBody>
      </p:sp>
      <p:sp>
        <p:nvSpPr>
          <p:cNvPr id="20" name="Shape 14"/>
          <p:cNvSpPr/>
          <p:nvPr/>
        </p:nvSpPr>
        <p:spPr>
          <a:xfrm>
            <a:off x="4754880" y="1920240"/>
            <a:ext cx="1188720" cy="457200"/>
          </a:xfrm>
          <a:prstGeom prst="roundRect">
            <a:avLst>
              <a:gd name="adj" fmla="val 12000"/>
            </a:avLst>
          </a:prstGeom>
          <a:solidFill>
            <a:srgbClr val="F3F5F8"/>
          </a:solidFill>
          <a:ln w="9525">
            <a:solidFill>
              <a:srgbClr val="F3F5F8"/>
            </a:solidFill>
            <a:prstDash val="solid"/>
          </a:ln>
        </p:spPr>
        <p:txBody>
          <a:bodyPr/>
          <a:lstStyle/>
          <a:p>
            <a:endParaRPr/>
          </a:p>
        </p:txBody>
      </p:sp>
      <p:sp>
        <p:nvSpPr>
          <p:cNvPr id="21" name="Text 15"/>
          <p:cNvSpPr txBox="1"/>
          <p:nvPr/>
        </p:nvSpPr>
        <p:spPr>
          <a:xfrm>
            <a:off x="4754880" y="1920240"/>
            <a:ext cx="1188720" cy="457200"/>
          </a:xfrm>
          <a:prstGeom prst="rect">
            <a:avLst/>
          </a:prstGeom>
          <a:noFill/>
          <a:ln/>
        </p:spPr>
        <p:txBody>
          <a:bodyPr wrap="square" lIns="635" tIns="635" rIns="635" bIns="635" rtlCol="0" anchor="ctr"/>
          <a:lstStyle/>
          <a:p>
            <a:pPr marL="0" indent="0" algn="ctr">
              <a:buNone/>
            </a:pPr>
            <a:r>
              <a:rPr lang="en-US" sz="1100" dirty="0">
                <a:solidFill>
                  <a:srgbClr val="1B2A4A"/>
                </a:solidFill>
                <a:latin typeface="Calibri" pitchFamily="34" charset="0"/>
                <a:ea typeface="Calibri" pitchFamily="34" charset="-122"/>
                <a:cs typeface="Calibri" pitchFamily="34" charset="-120"/>
              </a:rPr>
              <a:t>Ingest</a:t>
            </a:r>
            <a:endParaRPr lang="en-US" sz="1100" dirty="0"/>
          </a:p>
        </p:txBody>
      </p:sp>
      <p:sp>
        <p:nvSpPr>
          <p:cNvPr id="22" name="Shape 16"/>
          <p:cNvSpPr/>
          <p:nvPr/>
        </p:nvSpPr>
        <p:spPr>
          <a:xfrm>
            <a:off x="6217920" y="1920240"/>
            <a:ext cx="1188720" cy="457200"/>
          </a:xfrm>
          <a:prstGeom prst="roundRect">
            <a:avLst>
              <a:gd name="adj" fmla="val 12000"/>
            </a:avLst>
          </a:prstGeom>
          <a:solidFill>
            <a:srgbClr val="F3F5F8"/>
          </a:solidFill>
          <a:ln w="9525">
            <a:solidFill>
              <a:srgbClr val="F3F5F8"/>
            </a:solidFill>
            <a:prstDash val="solid"/>
          </a:ln>
        </p:spPr>
        <p:txBody>
          <a:bodyPr/>
          <a:lstStyle/>
          <a:p>
            <a:endParaRPr/>
          </a:p>
        </p:txBody>
      </p:sp>
      <p:sp>
        <p:nvSpPr>
          <p:cNvPr id="23" name="Text 17"/>
          <p:cNvSpPr txBox="1"/>
          <p:nvPr/>
        </p:nvSpPr>
        <p:spPr>
          <a:xfrm>
            <a:off x="6217920" y="1920240"/>
            <a:ext cx="1188720" cy="457200"/>
          </a:xfrm>
          <a:prstGeom prst="rect">
            <a:avLst/>
          </a:prstGeom>
          <a:noFill/>
          <a:ln/>
        </p:spPr>
        <p:txBody>
          <a:bodyPr wrap="square" lIns="635" tIns="635" rIns="635" bIns="635" rtlCol="0" anchor="ctr"/>
          <a:lstStyle/>
          <a:p>
            <a:pPr marL="0" indent="0" algn="ctr">
              <a:buNone/>
            </a:pPr>
            <a:r>
              <a:rPr lang="en-US" sz="1100" dirty="0">
                <a:solidFill>
                  <a:srgbClr val="1B2A4A"/>
                </a:solidFill>
                <a:latin typeface="Calibri" pitchFamily="34" charset="0"/>
                <a:ea typeface="Calibri" pitchFamily="34" charset="-122"/>
                <a:cs typeface="Calibri" pitchFamily="34" charset="-120"/>
              </a:rPr>
              <a:t>Validate</a:t>
            </a:r>
            <a:endParaRPr lang="en-US" sz="1100" dirty="0"/>
          </a:p>
        </p:txBody>
      </p:sp>
      <p:sp>
        <p:nvSpPr>
          <p:cNvPr id="24" name="Shape 18"/>
          <p:cNvSpPr/>
          <p:nvPr/>
        </p:nvSpPr>
        <p:spPr>
          <a:xfrm>
            <a:off x="7589520" y="1600200"/>
            <a:ext cx="1188720" cy="457200"/>
          </a:xfrm>
          <a:prstGeom prst="roundRect">
            <a:avLst>
              <a:gd name="adj" fmla="val 12000"/>
            </a:avLst>
          </a:prstGeom>
          <a:solidFill>
            <a:srgbClr val="F3F5F8"/>
          </a:solidFill>
          <a:ln w="9525">
            <a:solidFill>
              <a:srgbClr val="F3F5F8"/>
            </a:solidFill>
            <a:prstDash val="solid"/>
          </a:ln>
        </p:spPr>
        <p:txBody>
          <a:bodyPr/>
          <a:lstStyle/>
          <a:p>
            <a:endParaRPr/>
          </a:p>
        </p:txBody>
      </p:sp>
      <p:sp>
        <p:nvSpPr>
          <p:cNvPr id="25" name="Text 19"/>
          <p:cNvSpPr txBox="1"/>
          <p:nvPr/>
        </p:nvSpPr>
        <p:spPr>
          <a:xfrm>
            <a:off x="7589520" y="1600200"/>
            <a:ext cx="1188720" cy="457200"/>
          </a:xfrm>
          <a:prstGeom prst="rect">
            <a:avLst/>
          </a:prstGeom>
          <a:noFill/>
          <a:ln/>
        </p:spPr>
        <p:txBody>
          <a:bodyPr wrap="square" lIns="635" tIns="635" rIns="635" bIns="635" rtlCol="0" anchor="ctr"/>
          <a:lstStyle/>
          <a:p>
            <a:pPr marL="0" indent="0" algn="ctr">
              <a:buNone/>
            </a:pPr>
            <a:r>
              <a:rPr lang="en-US" sz="1100" dirty="0">
                <a:solidFill>
                  <a:srgbClr val="1B2A4A"/>
                </a:solidFill>
                <a:latin typeface="Calibri" pitchFamily="34" charset="0"/>
                <a:ea typeface="Calibri" pitchFamily="34" charset="-122"/>
                <a:cs typeface="Calibri" pitchFamily="34" charset="-120"/>
              </a:rPr>
              <a:t>Features A</a:t>
            </a:r>
            <a:endParaRPr lang="en-US" sz="1100" dirty="0"/>
          </a:p>
        </p:txBody>
      </p:sp>
      <p:sp>
        <p:nvSpPr>
          <p:cNvPr id="26" name="Shape 20"/>
          <p:cNvSpPr/>
          <p:nvPr/>
        </p:nvSpPr>
        <p:spPr>
          <a:xfrm>
            <a:off x="7589520" y="2240280"/>
            <a:ext cx="1188720" cy="457200"/>
          </a:xfrm>
          <a:prstGeom prst="roundRect">
            <a:avLst>
              <a:gd name="adj" fmla="val 12000"/>
            </a:avLst>
          </a:prstGeom>
          <a:solidFill>
            <a:srgbClr val="F3F5F8"/>
          </a:solidFill>
          <a:ln w="9525">
            <a:solidFill>
              <a:srgbClr val="F3F5F8"/>
            </a:solidFill>
            <a:prstDash val="solid"/>
          </a:ln>
        </p:spPr>
        <p:txBody>
          <a:bodyPr/>
          <a:lstStyle/>
          <a:p>
            <a:endParaRPr/>
          </a:p>
        </p:txBody>
      </p:sp>
      <p:sp>
        <p:nvSpPr>
          <p:cNvPr id="27" name="Text 21"/>
          <p:cNvSpPr txBox="1"/>
          <p:nvPr/>
        </p:nvSpPr>
        <p:spPr>
          <a:xfrm>
            <a:off x="7589520" y="2240280"/>
            <a:ext cx="1188720" cy="457200"/>
          </a:xfrm>
          <a:prstGeom prst="rect">
            <a:avLst/>
          </a:prstGeom>
          <a:noFill/>
          <a:ln/>
        </p:spPr>
        <p:txBody>
          <a:bodyPr wrap="square" lIns="635" tIns="635" rIns="635" bIns="635" rtlCol="0" anchor="ctr"/>
          <a:lstStyle/>
          <a:p>
            <a:pPr marL="0" indent="0" algn="ctr">
              <a:buNone/>
            </a:pPr>
            <a:r>
              <a:rPr lang="en-US" sz="1100" dirty="0">
                <a:solidFill>
                  <a:srgbClr val="1B2A4A"/>
                </a:solidFill>
                <a:latin typeface="Calibri" pitchFamily="34" charset="0"/>
                <a:ea typeface="Calibri" pitchFamily="34" charset="-122"/>
                <a:cs typeface="Calibri" pitchFamily="34" charset="-120"/>
              </a:rPr>
              <a:t>Features B</a:t>
            </a:r>
            <a:endParaRPr lang="en-US" sz="1100" dirty="0"/>
          </a:p>
        </p:txBody>
      </p:sp>
      <p:sp>
        <p:nvSpPr>
          <p:cNvPr id="28" name="Shape 22"/>
          <p:cNvSpPr/>
          <p:nvPr/>
        </p:nvSpPr>
        <p:spPr>
          <a:xfrm>
            <a:off x="6217920" y="2926080"/>
            <a:ext cx="1188720" cy="457200"/>
          </a:xfrm>
          <a:prstGeom prst="roundRect">
            <a:avLst>
              <a:gd name="adj" fmla="val 12000"/>
            </a:avLst>
          </a:prstGeom>
          <a:solidFill>
            <a:srgbClr val="0E7C86"/>
          </a:solidFill>
          <a:ln w="9525">
            <a:solidFill>
              <a:srgbClr val="0E7C86"/>
            </a:solidFill>
            <a:prstDash val="solid"/>
          </a:ln>
        </p:spPr>
        <p:txBody>
          <a:bodyPr/>
          <a:lstStyle/>
          <a:p>
            <a:endParaRPr/>
          </a:p>
        </p:txBody>
      </p:sp>
      <p:sp>
        <p:nvSpPr>
          <p:cNvPr id="29" name="Text 23"/>
          <p:cNvSpPr txBox="1"/>
          <p:nvPr/>
        </p:nvSpPr>
        <p:spPr>
          <a:xfrm>
            <a:off x="6217920" y="2926080"/>
            <a:ext cx="1188720" cy="457200"/>
          </a:xfrm>
          <a:prstGeom prst="rect">
            <a:avLst/>
          </a:prstGeom>
          <a:noFill/>
          <a:ln/>
        </p:spPr>
        <p:txBody>
          <a:bodyPr wrap="square" lIns="635" tIns="635" rIns="635" bIns="635"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Train</a:t>
            </a:r>
            <a:endParaRPr lang="en-US" sz="1100" dirty="0"/>
          </a:p>
        </p:txBody>
      </p:sp>
      <p:sp>
        <p:nvSpPr>
          <p:cNvPr id="30" name="Shape 24"/>
          <p:cNvSpPr/>
          <p:nvPr/>
        </p:nvSpPr>
        <p:spPr>
          <a:xfrm>
            <a:off x="7589520" y="2926080"/>
            <a:ext cx="1188720" cy="457200"/>
          </a:xfrm>
          <a:prstGeom prst="roundRect">
            <a:avLst>
              <a:gd name="adj" fmla="val 12000"/>
            </a:avLst>
          </a:prstGeom>
          <a:solidFill>
            <a:srgbClr val="F3F5F8"/>
          </a:solidFill>
          <a:ln w="9525">
            <a:solidFill>
              <a:srgbClr val="F3F5F8"/>
            </a:solidFill>
            <a:prstDash val="solid"/>
          </a:ln>
        </p:spPr>
        <p:txBody>
          <a:bodyPr/>
          <a:lstStyle/>
          <a:p>
            <a:endParaRPr/>
          </a:p>
        </p:txBody>
      </p:sp>
      <p:sp>
        <p:nvSpPr>
          <p:cNvPr id="31" name="Text 25"/>
          <p:cNvSpPr txBox="1"/>
          <p:nvPr/>
        </p:nvSpPr>
        <p:spPr>
          <a:xfrm>
            <a:off x="7589520" y="2926080"/>
            <a:ext cx="1188720" cy="457200"/>
          </a:xfrm>
          <a:prstGeom prst="rect">
            <a:avLst/>
          </a:prstGeom>
          <a:noFill/>
          <a:ln/>
        </p:spPr>
        <p:txBody>
          <a:bodyPr wrap="square" lIns="635" tIns="635" rIns="635" bIns="635" rtlCol="0" anchor="ctr"/>
          <a:lstStyle/>
          <a:p>
            <a:pPr marL="0" indent="0" algn="ctr">
              <a:buNone/>
            </a:pPr>
            <a:r>
              <a:rPr lang="en-US" sz="1100" dirty="0">
                <a:solidFill>
                  <a:srgbClr val="1B2A4A"/>
                </a:solidFill>
                <a:latin typeface="Calibri" pitchFamily="34" charset="0"/>
                <a:ea typeface="Calibri" pitchFamily="34" charset="-122"/>
                <a:cs typeface="Calibri" pitchFamily="34" charset="-120"/>
              </a:rPr>
              <a:t>Evaluate</a:t>
            </a:r>
            <a:endParaRPr lang="en-US" sz="1100" dirty="0"/>
          </a:p>
        </p:txBody>
      </p:sp>
      <p:sp>
        <p:nvSpPr>
          <p:cNvPr id="32" name="Shape 26"/>
          <p:cNvSpPr/>
          <p:nvPr/>
        </p:nvSpPr>
        <p:spPr>
          <a:xfrm>
            <a:off x="5943600" y="2148840"/>
            <a:ext cx="274320" cy="0"/>
          </a:xfrm>
          <a:prstGeom prst="line">
            <a:avLst/>
          </a:prstGeom>
          <a:noFill/>
          <a:ln w="19050">
            <a:solidFill>
              <a:srgbClr val="0E7C86"/>
            </a:solidFill>
            <a:prstDash val="solid"/>
            <a:tailEnd type="triangle"/>
          </a:ln>
        </p:spPr>
        <p:txBody>
          <a:bodyPr/>
          <a:lstStyle/>
          <a:p>
            <a:endParaRPr/>
          </a:p>
        </p:txBody>
      </p:sp>
      <p:sp>
        <p:nvSpPr>
          <p:cNvPr id="33" name="Shape 27"/>
          <p:cNvSpPr/>
          <p:nvPr/>
        </p:nvSpPr>
        <p:spPr>
          <a:xfrm flipV="1">
            <a:off x="7406640" y="1828800"/>
            <a:ext cx="182880" cy="320040"/>
          </a:xfrm>
          <a:prstGeom prst="line">
            <a:avLst/>
          </a:prstGeom>
          <a:noFill/>
          <a:ln w="19050">
            <a:solidFill>
              <a:srgbClr val="0E7C86"/>
            </a:solidFill>
            <a:prstDash val="solid"/>
            <a:tailEnd type="triangle"/>
          </a:ln>
        </p:spPr>
        <p:txBody>
          <a:bodyPr/>
          <a:lstStyle/>
          <a:p>
            <a:endParaRPr/>
          </a:p>
        </p:txBody>
      </p:sp>
      <p:sp>
        <p:nvSpPr>
          <p:cNvPr id="34" name="Shape 28"/>
          <p:cNvSpPr/>
          <p:nvPr/>
        </p:nvSpPr>
        <p:spPr>
          <a:xfrm>
            <a:off x="7406640" y="2148840"/>
            <a:ext cx="182880" cy="320040"/>
          </a:xfrm>
          <a:prstGeom prst="line">
            <a:avLst/>
          </a:prstGeom>
          <a:noFill/>
          <a:ln w="19050">
            <a:solidFill>
              <a:srgbClr val="0E7C86"/>
            </a:solidFill>
            <a:prstDash val="solid"/>
            <a:tailEnd type="triangle"/>
          </a:ln>
        </p:spPr>
        <p:txBody>
          <a:bodyPr/>
          <a:lstStyle/>
          <a:p>
            <a:endParaRPr/>
          </a:p>
        </p:txBody>
      </p:sp>
      <p:sp>
        <p:nvSpPr>
          <p:cNvPr id="35" name="Shape 29"/>
          <p:cNvSpPr/>
          <p:nvPr/>
        </p:nvSpPr>
        <p:spPr>
          <a:xfrm flipH="1">
            <a:off x="6949440" y="2560320"/>
            <a:ext cx="640080" cy="365760"/>
          </a:xfrm>
          <a:prstGeom prst="line">
            <a:avLst/>
          </a:prstGeom>
          <a:noFill/>
          <a:ln w="19050">
            <a:solidFill>
              <a:srgbClr val="0E7C86"/>
            </a:solidFill>
            <a:prstDash val="solid"/>
            <a:tailEnd type="triangle"/>
          </a:ln>
        </p:spPr>
        <p:txBody>
          <a:bodyPr/>
          <a:lstStyle/>
          <a:p>
            <a:endParaRPr/>
          </a:p>
        </p:txBody>
      </p:sp>
      <p:sp>
        <p:nvSpPr>
          <p:cNvPr id="36" name="Shape 30"/>
          <p:cNvSpPr/>
          <p:nvPr/>
        </p:nvSpPr>
        <p:spPr>
          <a:xfrm>
            <a:off x="8183880" y="2697480"/>
            <a:ext cx="0" cy="228600"/>
          </a:xfrm>
          <a:prstGeom prst="line">
            <a:avLst/>
          </a:prstGeom>
          <a:noFill/>
          <a:ln w="19050">
            <a:solidFill>
              <a:srgbClr val="0E7C86"/>
            </a:solidFill>
            <a:prstDash val="solid"/>
            <a:tailEnd type="triangle"/>
          </a:ln>
        </p:spPr>
        <p:txBody>
          <a:bodyPr/>
          <a:lstStyle/>
          <a:p>
            <a:endParaRPr/>
          </a:p>
        </p:txBody>
      </p:sp>
      <p:sp>
        <p:nvSpPr>
          <p:cNvPr id="37" name="Shape 31"/>
          <p:cNvSpPr/>
          <p:nvPr/>
        </p:nvSpPr>
        <p:spPr>
          <a:xfrm>
            <a:off x="7406640" y="3154680"/>
            <a:ext cx="182880" cy="0"/>
          </a:xfrm>
          <a:prstGeom prst="line">
            <a:avLst/>
          </a:prstGeom>
          <a:noFill/>
          <a:ln w="19050">
            <a:solidFill>
              <a:srgbClr val="0E7C86"/>
            </a:solidFill>
            <a:prstDash val="solid"/>
            <a:tailEnd type="triangle"/>
          </a:ln>
        </p:spPr>
        <p:txBody>
          <a:bodyPr/>
          <a:lstStyle/>
          <a:p>
            <a:endParaRPr/>
          </a:p>
        </p:txBody>
      </p:sp>
      <p:sp>
        <p:nvSpPr>
          <p:cNvPr id="38" name="Text 32"/>
          <p:cNvSpPr txBox="1"/>
          <p:nvPr/>
        </p:nvSpPr>
        <p:spPr>
          <a:xfrm>
            <a:off x="4754880" y="3474720"/>
            <a:ext cx="4023360" cy="594360"/>
          </a:xfrm>
          <a:prstGeom prst="rect">
            <a:avLst/>
          </a:prstGeom>
          <a:noFill/>
          <a:ln/>
        </p:spPr>
        <p:txBody>
          <a:bodyPr wrap="square" lIns="0" tIns="0" rIns="0" bIns="0" rtlCol="0" anchor="t"/>
          <a:lstStyle/>
          <a:p>
            <a:pPr marL="0" indent="0" algn="l">
              <a:buNone/>
            </a:pPr>
            <a:r>
              <a:rPr lang="en-US" sz="1000" i="1" dirty="0">
                <a:solidFill>
                  <a:srgbClr val="6B7280"/>
                </a:solidFill>
                <a:latin typeface="Calibri" pitchFamily="34" charset="0"/>
                <a:ea typeface="Calibri" pitchFamily="34" charset="-122"/>
                <a:cs typeface="Calibri" pitchFamily="34" charset="-120"/>
              </a:rPr>
              <a:t>Directed: arrows have a direction. Acyclic: no loops back. A step waits until its inputs exist. Tools: Apache Airflow, Kubeflow Pipelines, cloud-native equivalents.</a:t>
            </a:r>
            <a:endParaRPr lang="en-US" sz="1000" dirty="0"/>
          </a:p>
        </p:txBody>
      </p:sp>
      <p:sp>
        <p:nvSpPr>
          <p:cNvPr id="39" name="Shape 33"/>
          <p:cNvSpPr/>
          <p:nvPr/>
        </p:nvSpPr>
        <p:spPr>
          <a:xfrm>
            <a:off x="365760" y="4114800"/>
            <a:ext cx="8412480" cy="411480"/>
          </a:xfrm>
          <a:prstGeom prst="roundRect">
            <a:avLst>
              <a:gd name="adj" fmla="val 17778"/>
            </a:avLst>
          </a:prstGeom>
          <a:solidFill>
            <a:srgbClr val="E3F1F2"/>
          </a:solidFill>
          <a:ln w="12700">
            <a:solidFill>
              <a:srgbClr val="E3F1F2"/>
            </a:solidFill>
            <a:prstDash val="solid"/>
          </a:ln>
        </p:spPr>
        <p:txBody>
          <a:bodyPr/>
          <a:lstStyle/>
          <a:p>
            <a:endParaRPr/>
          </a:p>
        </p:txBody>
      </p:sp>
      <p:pic>
        <p:nvPicPr>
          <p:cNvPr id="40" name="Image 3" descr="preencoded.png"/>
          <p:cNvPicPr>
            <a:picLocks noChangeAspect="1"/>
          </p:cNvPicPr>
          <p:nvPr/>
        </p:nvPicPr>
        <p:blipFill>
          <a:blip r:embed="rId6"/>
          <a:stretch>
            <a:fillRect/>
          </a:stretch>
        </p:blipFill>
        <p:spPr>
          <a:xfrm>
            <a:off x="502920" y="4183380"/>
            <a:ext cx="274320" cy="274320"/>
          </a:xfrm>
          <a:prstGeom prst="rect">
            <a:avLst/>
          </a:prstGeom>
        </p:spPr>
      </p:pic>
      <p:sp>
        <p:nvSpPr>
          <p:cNvPr id="41" name="Text 34"/>
          <p:cNvSpPr txBox="1"/>
          <p:nvPr/>
        </p:nvSpPr>
        <p:spPr>
          <a:xfrm>
            <a:off x="896112" y="4114800"/>
            <a:ext cx="7772400" cy="411480"/>
          </a:xfrm>
          <a:prstGeom prst="rect">
            <a:avLst/>
          </a:prstGeom>
          <a:noFill/>
          <a:ln/>
        </p:spPr>
        <p:txBody>
          <a:bodyPr wrap="square" lIns="0" tIns="0" rIns="0" bIns="0" rtlCol="0" anchor="ctr"/>
          <a:lstStyle/>
          <a:p>
            <a:pPr marL="0" indent="0">
              <a:buNone/>
            </a:pPr>
            <a:r>
              <a:rPr lang="en-US" sz="1050" i="1" dirty="0">
                <a:solidFill>
                  <a:srgbClr val="1B2A4A"/>
                </a:solidFill>
                <a:latin typeface="Calibri" pitchFamily="34" charset="0"/>
                <a:ea typeface="Calibri" pitchFamily="34" charset="-122"/>
                <a:cs typeface="Calibri" pitchFamily="34" charset="-120"/>
              </a:rPr>
              <a:t>Source: Hapke &amp; Nelson, Building Machine Learning Pipelines (O'Reilly, 2020)</a:t>
            </a:r>
            <a:endParaRPr lang="en-US" sz="1050" dirty="0"/>
          </a:p>
        </p:txBody>
      </p:sp>
      <p:pic>
        <p:nvPicPr>
          <p:cNvPr id="42" name="IE University logo" descr="IE University, School of Science &amp; Technology"/>
          <p:cNvPicPr>
            <a:picLocks noChangeAspect="1"/>
          </p:cNvPicPr>
          <p:nvPr/>
        </p:nvPicPr>
        <p:blipFill>
          <a:blip r:embed="rId7"/>
          <a:stretch>
            <a:fillRect/>
          </a:stretch>
        </p:blipFill>
        <p:spPr>
          <a:xfrm>
            <a:off x="8013607" y="92634"/>
            <a:ext cx="764633" cy="26278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B2A4A"/>
        </a:solidFill>
        <a:effectLst/>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marL="0" indent="0">
              <a:buNone/>
            </a:pPr>
            <a:r>
              <a:rPr lang="en-US" sz="900" dirty="0">
                <a:solidFill>
                  <a:srgbClr val="B8C4D6"/>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marL="0" indent="0">
              <a:buNone/>
            </a:pPr>
            <a:r>
              <a:rPr lang="en-US" sz="800" dirty="0">
                <a:solidFill>
                  <a:srgbClr val="B8C4D6"/>
                </a:solidFill>
                <a:latin typeface="Calibri" pitchFamily="34" charset="0"/>
                <a:ea typeface="Calibri" pitchFamily="34" charset="-122"/>
                <a:cs typeface="Calibri" pitchFamily="34" charset="-120"/>
              </a:rPr>
              <a:t>MLOps · MBDS-PT2026F · Session 3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marL="0" indent="0" algn="r">
              <a:buNone/>
            </a:pPr>
            <a:r>
              <a:rPr lang="en-US" sz="800" dirty="0">
                <a:solidFill>
                  <a:srgbClr val="B8C4D6"/>
                </a:solidFill>
                <a:latin typeface="Calibri" pitchFamily="34" charset="0"/>
                <a:ea typeface="Calibri" pitchFamily="34" charset="-122"/>
                <a:cs typeface="Calibri" pitchFamily="34" charset="-120"/>
              </a:rPr>
              <a:t>9</a:t>
            </a:r>
            <a:endParaRPr lang="en-US" sz="800" dirty="0"/>
          </a:p>
        </p:txBody>
      </p:sp>
      <p:sp>
        <p:nvSpPr>
          <p:cNvPr id="5" name="Text 3"/>
          <p:cNvSpPr txBox="1"/>
          <p:nvPr/>
        </p:nvSpPr>
        <p:spPr>
          <a:xfrm>
            <a:off x="548640" y="1188720"/>
            <a:ext cx="8046720" cy="91440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Data: where the time, and the failures, live</a:t>
            </a:r>
            <a:endParaRPr lang="en-US" sz="3000" dirty="0"/>
          </a:p>
        </p:txBody>
      </p:sp>
      <p:sp>
        <p:nvSpPr>
          <p:cNvPr id="6" name="Text 4"/>
          <p:cNvSpPr txBox="1"/>
          <p:nvPr/>
        </p:nvSpPr>
        <p:spPr>
          <a:xfrm>
            <a:off x="548640" y="2103120"/>
            <a:ext cx="8046720" cy="548640"/>
          </a:xfrm>
          <a:prstGeom prst="rect">
            <a:avLst/>
          </a:prstGeom>
          <a:noFill/>
          <a:ln/>
        </p:spPr>
        <p:txBody>
          <a:bodyPr wrap="square" lIns="0" tIns="0" rIns="0" bIns="0" rtlCol="0" anchor="ctr"/>
          <a:lstStyle/>
          <a:p>
            <a:pPr marL="0" indent="0">
              <a:buNone/>
            </a:pPr>
            <a:r>
              <a:rPr lang="en-US" sz="1600" dirty="0">
                <a:solidFill>
                  <a:srgbClr val="CADCFC"/>
                </a:solidFill>
                <a:latin typeface="Calibri" pitchFamily="34" charset="0"/>
                <a:ea typeface="Calibri" pitchFamily="34" charset="-122"/>
                <a:cs typeface="Calibri" pitchFamily="34" charset="-120"/>
              </a:rPr>
              <a:t>Six questions, three checks, and a memory for every dataset</a:t>
            </a:r>
            <a:endParaRPr lang="en-US" sz="1600" dirty="0"/>
          </a:p>
        </p:txBody>
      </p:sp>
      <p:sp>
        <p:nvSpPr>
          <p:cNvPr id="7" name="Shape 5"/>
          <p:cNvSpPr/>
          <p:nvPr/>
        </p:nvSpPr>
        <p:spPr>
          <a:xfrm>
            <a:off x="548640" y="3246120"/>
            <a:ext cx="845312" cy="566928"/>
          </a:xfrm>
          <a:prstGeom prst="roundRect">
            <a:avLst>
              <a:gd name="adj" fmla="val 9677"/>
            </a:avLst>
          </a:prstGeom>
          <a:solidFill>
            <a:srgbClr val="0E7C86"/>
          </a:solidFill>
          <a:ln w="12700">
            <a:solidFill>
              <a:srgbClr val="0E7C86"/>
            </a:solidFill>
            <a:prstDash val="solid"/>
          </a:ln>
        </p:spPr>
        <p:txBody>
          <a:bodyPr/>
          <a:lstStyle/>
          <a:p>
            <a:endParaRPr/>
          </a:p>
        </p:txBody>
      </p:sp>
      <p:sp>
        <p:nvSpPr>
          <p:cNvPr id="8" name="Text 6"/>
          <p:cNvSpPr txBox="1"/>
          <p:nvPr/>
        </p:nvSpPr>
        <p:spPr>
          <a:xfrm>
            <a:off x="548640" y="3246120"/>
            <a:ext cx="845312" cy="566928"/>
          </a:xfrm>
          <a:prstGeom prst="rect">
            <a:avLst/>
          </a:prstGeom>
          <a:noFill/>
          <a:ln/>
        </p:spPr>
        <p:txBody>
          <a:bodyPr wrap="square" lIns="254" tIns="254" rIns="254" bIns="254"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Data ingestion &amp; versioning</a:t>
            </a:r>
            <a:endParaRPr lang="en-US" sz="800" dirty="0"/>
          </a:p>
        </p:txBody>
      </p:sp>
      <p:sp>
        <p:nvSpPr>
          <p:cNvPr id="9" name="Shape 7"/>
          <p:cNvSpPr/>
          <p:nvPr/>
        </p:nvSpPr>
        <p:spPr>
          <a:xfrm>
            <a:off x="1448816" y="3246120"/>
            <a:ext cx="845312" cy="566928"/>
          </a:xfrm>
          <a:prstGeom prst="roundRect">
            <a:avLst>
              <a:gd name="adj" fmla="val 9677"/>
            </a:avLst>
          </a:prstGeom>
          <a:solidFill>
            <a:srgbClr val="0E7C86"/>
          </a:solidFill>
          <a:ln w="12700">
            <a:solidFill>
              <a:srgbClr val="0E7C86"/>
            </a:solidFill>
            <a:prstDash val="solid"/>
          </a:ln>
        </p:spPr>
        <p:txBody>
          <a:bodyPr/>
          <a:lstStyle/>
          <a:p>
            <a:endParaRPr/>
          </a:p>
        </p:txBody>
      </p:sp>
      <p:sp>
        <p:nvSpPr>
          <p:cNvPr id="10" name="Text 8"/>
          <p:cNvSpPr txBox="1"/>
          <p:nvPr/>
        </p:nvSpPr>
        <p:spPr>
          <a:xfrm>
            <a:off x="1448816" y="3246120"/>
            <a:ext cx="845312" cy="566928"/>
          </a:xfrm>
          <a:prstGeom prst="rect">
            <a:avLst/>
          </a:prstGeom>
          <a:noFill/>
          <a:ln/>
        </p:spPr>
        <p:txBody>
          <a:bodyPr wrap="square" lIns="254" tIns="254" rIns="254" bIns="254"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Data validation</a:t>
            </a:r>
            <a:endParaRPr lang="en-US" sz="800" dirty="0"/>
          </a:p>
        </p:txBody>
      </p:sp>
      <p:sp>
        <p:nvSpPr>
          <p:cNvPr id="11" name="Shape 9"/>
          <p:cNvSpPr/>
          <p:nvPr/>
        </p:nvSpPr>
        <p:spPr>
          <a:xfrm>
            <a:off x="2348992" y="3246120"/>
            <a:ext cx="845312" cy="566928"/>
          </a:xfrm>
          <a:prstGeom prst="roundRect">
            <a:avLst>
              <a:gd name="adj" fmla="val 9677"/>
            </a:avLst>
          </a:prstGeom>
          <a:solidFill>
            <a:srgbClr val="0E7C86"/>
          </a:solidFill>
          <a:ln w="12700">
            <a:solidFill>
              <a:srgbClr val="0E7C86"/>
            </a:solidFill>
            <a:prstDash val="solid"/>
          </a:ln>
        </p:spPr>
        <p:txBody>
          <a:bodyPr/>
          <a:lstStyle/>
          <a:p>
            <a:endParaRPr/>
          </a:p>
        </p:txBody>
      </p:sp>
      <p:sp>
        <p:nvSpPr>
          <p:cNvPr id="12" name="Text 10"/>
          <p:cNvSpPr txBox="1"/>
          <p:nvPr/>
        </p:nvSpPr>
        <p:spPr>
          <a:xfrm>
            <a:off x="2348992" y="3246120"/>
            <a:ext cx="845312" cy="566928"/>
          </a:xfrm>
          <a:prstGeom prst="rect">
            <a:avLst/>
          </a:prstGeom>
          <a:noFill/>
          <a:ln/>
        </p:spPr>
        <p:txBody>
          <a:bodyPr wrap="square" lIns="254" tIns="254" rIns="254" bIns="254"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Data pre-processing</a:t>
            </a:r>
            <a:endParaRPr lang="en-US" sz="800" dirty="0"/>
          </a:p>
        </p:txBody>
      </p:sp>
      <p:sp>
        <p:nvSpPr>
          <p:cNvPr id="13" name="Shape 11"/>
          <p:cNvSpPr/>
          <p:nvPr/>
        </p:nvSpPr>
        <p:spPr>
          <a:xfrm>
            <a:off x="3249168" y="3246120"/>
            <a:ext cx="845312" cy="566928"/>
          </a:xfrm>
          <a:prstGeom prst="roundRect">
            <a:avLst>
              <a:gd name="adj" fmla="val 9677"/>
            </a:avLst>
          </a:prstGeom>
          <a:solidFill>
            <a:srgbClr val="2E3F63"/>
          </a:solidFill>
          <a:ln w="12700">
            <a:solidFill>
              <a:srgbClr val="2E3F63"/>
            </a:solidFill>
            <a:prstDash val="solid"/>
          </a:ln>
        </p:spPr>
        <p:txBody>
          <a:bodyPr/>
          <a:lstStyle/>
          <a:p>
            <a:endParaRPr/>
          </a:p>
        </p:txBody>
      </p:sp>
      <p:sp>
        <p:nvSpPr>
          <p:cNvPr id="14" name="Text 12"/>
          <p:cNvSpPr txBox="1"/>
          <p:nvPr/>
        </p:nvSpPr>
        <p:spPr>
          <a:xfrm>
            <a:off x="3249168" y="3246120"/>
            <a:ext cx="845312" cy="566928"/>
          </a:xfrm>
          <a:prstGeom prst="rect">
            <a:avLst/>
          </a:prstGeom>
          <a:noFill/>
          <a:ln/>
        </p:spPr>
        <p:txBody>
          <a:bodyPr wrap="square" lIns="254" tIns="254" rIns="254" bIns="254" rtlCol="0" anchor="ctr"/>
          <a:lstStyle/>
          <a:p>
            <a:pPr marL="0" indent="0" algn="ctr">
              <a:buNone/>
            </a:pPr>
            <a:r>
              <a:rPr lang="en-US" sz="800" dirty="0">
                <a:solidFill>
                  <a:srgbClr val="B8C4D6"/>
                </a:solidFill>
                <a:latin typeface="Calibri" pitchFamily="34" charset="0"/>
                <a:ea typeface="Calibri" pitchFamily="34" charset="-122"/>
                <a:cs typeface="Calibri" pitchFamily="34" charset="-120"/>
              </a:rPr>
              <a:t>Model training</a:t>
            </a:r>
            <a:endParaRPr lang="en-US" sz="800" dirty="0"/>
          </a:p>
        </p:txBody>
      </p:sp>
      <p:sp>
        <p:nvSpPr>
          <p:cNvPr id="15" name="Shape 13"/>
          <p:cNvSpPr/>
          <p:nvPr/>
        </p:nvSpPr>
        <p:spPr>
          <a:xfrm>
            <a:off x="4149344" y="3246120"/>
            <a:ext cx="845312" cy="566928"/>
          </a:xfrm>
          <a:prstGeom prst="roundRect">
            <a:avLst>
              <a:gd name="adj" fmla="val 9677"/>
            </a:avLst>
          </a:prstGeom>
          <a:solidFill>
            <a:srgbClr val="2E3F63"/>
          </a:solidFill>
          <a:ln w="12700">
            <a:solidFill>
              <a:srgbClr val="2E3F63"/>
            </a:solidFill>
            <a:prstDash val="solid"/>
          </a:ln>
        </p:spPr>
        <p:txBody>
          <a:bodyPr/>
          <a:lstStyle/>
          <a:p>
            <a:endParaRPr/>
          </a:p>
        </p:txBody>
      </p:sp>
      <p:sp>
        <p:nvSpPr>
          <p:cNvPr id="16" name="Text 14"/>
          <p:cNvSpPr txBox="1"/>
          <p:nvPr/>
        </p:nvSpPr>
        <p:spPr>
          <a:xfrm>
            <a:off x="4149344" y="3246120"/>
            <a:ext cx="845312" cy="566928"/>
          </a:xfrm>
          <a:prstGeom prst="rect">
            <a:avLst/>
          </a:prstGeom>
          <a:noFill/>
          <a:ln/>
        </p:spPr>
        <p:txBody>
          <a:bodyPr wrap="square" lIns="254" tIns="254" rIns="254" bIns="254" rtlCol="0" anchor="ctr"/>
          <a:lstStyle/>
          <a:p>
            <a:pPr marL="0" indent="0" algn="ctr">
              <a:buNone/>
            </a:pPr>
            <a:r>
              <a:rPr lang="en-US" sz="800" dirty="0">
                <a:solidFill>
                  <a:srgbClr val="B8C4D6"/>
                </a:solidFill>
                <a:latin typeface="Calibri" pitchFamily="34" charset="0"/>
                <a:ea typeface="Calibri" pitchFamily="34" charset="-122"/>
                <a:cs typeface="Calibri" pitchFamily="34" charset="-120"/>
              </a:rPr>
              <a:t>Model tuning</a:t>
            </a:r>
            <a:endParaRPr lang="en-US" sz="800" dirty="0"/>
          </a:p>
        </p:txBody>
      </p:sp>
      <p:sp>
        <p:nvSpPr>
          <p:cNvPr id="17" name="Shape 15"/>
          <p:cNvSpPr/>
          <p:nvPr/>
        </p:nvSpPr>
        <p:spPr>
          <a:xfrm>
            <a:off x="5049520" y="3246120"/>
            <a:ext cx="845312" cy="566928"/>
          </a:xfrm>
          <a:prstGeom prst="roundRect">
            <a:avLst>
              <a:gd name="adj" fmla="val 9677"/>
            </a:avLst>
          </a:prstGeom>
          <a:solidFill>
            <a:srgbClr val="2E3F63"/>
          </a:solidFill>
          <a:ln w="12700">
            <a:solidFill>
              <a:srgbClr val="2E3F63"/>
            </a:solidFill>
            <a:prstDash val="solid"/>
          </a:ln>
        </p:spPr>
        <p:txBody>
          <a:bodyPr/>
          <a:lstStyle/>
          <a:p>
            <a:endParaRPr/>
          </a:p>
        </p:txBody>
      </p:sp>
      <p:sp>
        <p:nvSpPr>
          <p:cNvPr id="18" name="Text 16"/>
          <p:cNvSpPr txBox="1"/>
          <p:nvPr/>
        </p:nvSpPr>
        <p:spPr>
          <a:xfrm>
            <a:off x="5049520" y="3246120"/>
            <a:ext cx="845312" cy="566928"/>
          </a:xfrm>
          <a:prstGeom prst="rect">
            <a:avLst/>
          </a:prstGeom>
          <a:noFill/>
          <a:ln/>
        </p:spPr>
        <p:txBody>
          <a:bodyPr wrap="square" lIns="254" tIns="254" rIns="254" bIns="254" rtlCol="0" anchor="ctr"/>
          <a:lstStyle/>
          <a:p>
            <a:pPr marL="0" indent="0" algn="ctr">
              <a:buNone/>
            </a:pPr>
            <a:r>
              <a:rPr lang="en-US" sz="800" dirty="0">
                <a:solidFill>
                  <a:srgbClr val="B8C4D6"/>
                </a:solidFill>
                <a:latin typeface="Calibri" pitchFamily="34" charset="0"/>
                <a:ea typeface="Calibri" pitchFamily="34" charset="-122"/>
                <a:cs typeface="Calibri" pitchFamily="34" charset="-120"/>
              </a:rPr>
              <a:t>Model analysis</a:t>
            </a:r>
            <a:endParaRPr lang="en-US" sz="800" dirty="0"/>
          </a:p>
        </p:txBody>
      </p:sp>
      <p:sp>
        <p:nvSpPr>
          <p:cNvPr id="19" name="Shape 17"/>
          <p:cNvSpPr/>
          <p:nvPr/>
        </p:nvSpPr>
        <p:spPr>
          <a:xfrm>
            <a:off x="5949696" y="3246120"/>
            <a:ext cx="845312" cy="566928"/>
          </a:xfrm>
          <a:prstGeom prst="roundRect">
            <a:avLst>
              <a:gd name="adj" fmla="val 9677"/>
            </a:avLst>
          </a:prstGeom>
          <a:solidFill>
            <a:srgbClr val="2E3F63"/>
          </a:solidFill>
          <a:ln w="12700">
            <a:solidFill>
              <a:srgbClr val="2E3F63"/>
            </a:solidFill>
            <a:prstDash val="solid"/>
          </a:ln>
        </p:spPr>
        <p:txBody>
          <a:bodyPr/>
          <a:lstStyle/>
          <a:p>
            <a:endParaRPr/>
          </a:p>
        </p:txBody>
      </p:sp>
      <p:sp>
        <p:nvSpPr>
          <p:cNvPr id="20" name="Text 18"/>
          <p:cNvSpPr txBox="1"/>
          <p:nvPr/>
        </p:nvSpPr>
        <p:spPr>
          <a:xfrm>
            <a:off x="5949696" y="3246120"/>
            <a:ext cx="845312" cy="566928"/>
          </a:xfrm>
          <a:prstGeom prst="rect">
            <a:avLst/>
          </a:prstGeom>
          <a:noFill/>
          <a:ln/>
        </p:spPr>
        <p:txBody>
          <a:bodyPr wrap="square" lIns="254" tIns="254" rIns="254" bIns="254" rtlCol="0" anchor="ctr"/>
          <a:lstStyle/>
          <a:p>
            <a:pPr marL="0" indent="0" algn="ctr">
              <a:buNone/>
            </a:pPr>
            <a:r>
              <a:rPr lang="en-US" sz="800" dirty="0">
                <a:solidFill>
                  <a:srgbClr val="B8C4D6"/>
                </a:solidFill>
                <a:latin typeface="Calibri" pitchFamily="34" charset="0"/>
                <a:ea typeface="Calibri" pitchFamily="34" charset="-122"/>
                <a:cs typeface="Calibri" pitchFamily="34" charset="-120"/>
              </a:rPr>
              <a:t>Model validation</a:t>
            </a:r>
            <a:endParaRPr lang="en-US" sz="800" dirty="0"/>
          </a:p>
        </p:txBody>
      </p:sp>
      <p:sp>
        <p:nvSpPr>
          <p:cNvPr id="21" name="Shape 19"/>
          <p:cNvSpPr/>
          <p:nvPr/>
        </p:nvSpPr>
        <p:spPr>
          <a:xfrm>
            <a:off x="6849872" y="3246120"/>
            <a:ext cx="845312" cy="566928"/>
          </a:xfrm>
          <a:prstGeom prst="roundRect">
            <a:avLst>
              <a:gd name="adj" fmla="val 9677"/>
            </a:avLst>
          </a:prstGeom>
          <a:solidFill>
            <a:srgbClr val="2E3F63"/>
          </a:solidFill>
          <a:ln w="12700">
            <a:solidFill>
              <a:srgbClr val="2E3F63"/>
            </a:solidFill>
            <a:prstDash val="solid"/>
          </a:ln>
        </p:spPr>
        <p:txBody>
          <a:bodyPr/>
          <a:lstStyle/>
          <a:p>
            <a:endParaRPr/>
          </a:p>
        </p:txBody>
      </p:sp>
      <p:sp>
        <p:nvSpPr>
          <p:cNvPr id="22" name="Text 20"/>
          <p:cNvSpPr txBox="1"/>
          <p:nvPr/>
        </p:nvSpPr>
        <p:spPr>
          <a:xfrm>
            <a:off x="6849872" y="3246120"/>
            <a:ext cx="845312" cy="566928"/>
          </a:xfrm>
          <a:prstGeom prst="rect">
            <a:avLst/>
          </a:prstGeom>
          <a:noFill/>
          <a:ln/>
        </p:spPr>
        <p:txBody>
          <a:bodyPr wrap="square" lIns="254" tIns="254" rIns="254" bIns="254" rtlCol="0" anchor="ctr"/>
          <a:lstStyle/>
          <a:p>
            <a:pPr marL="0" indent="0" algn="ctr">
              <a:buNone/>
            </a:pPr>
            <a:r>
              <a:rPr lang="en-US" sz="800" dirty="0">
                <a:solidFill>
                  <a:srgbClr val="B8C4D6"/>
                </a:solidFill>
                <a:latin typeface="Calibri" pitchFamily="34" charset="0"/>
                <a:ea typeface="Calibri" pitchFamily="34" charset="-122"/>
                <a:cs typeface="Calibri" pitchFamily="34" charset="-120"/>
              </a:rPr>
              <a:t>Model deployment</a:t>
            </a:r>
            <a:endParaRPr lang="en-US" sz="800" dirty="0"/>
          </a:p>
        </p:txBody>
      </p:sp>
      <p:sp>
        <p:nvSpPr>
          <p:cNvPr id="23" name="Shape 21"/>
          <p:cNvSpPr/>
          <p:nvPr/>
        </p:nvSpPr>
        <p:spPr>
          <a:xfrm>
            <a:off x="7750048" y="3246120"/>
            <a:ext cx="845312" cy="566928"/>
          </a:xfrm>
          <a:prstGeom prst="roundRect">
            <a:avLst>
              <a:gd name="adj" fmla="val 9677"/>
            </a:avLst>
          </a:prstGeom>
          <a:solidFill>
            <a:srgbClr val="2E3F63"/>
          </a:solidFill>
          <a:ln w="12700">
            <a:solidFill>
              <a:srgbClr val="2E3F63"/>
            </a:solidFill>
            <a:prstDash val="solid"/>
          </a:ln>
        </p:spPr>
        <p:txBody>
          <a:bodyPr/>
          <a:lstStyle/>
          <a:p>
            <a:endParaRPr/>
          </a:p>
        </p:txBody>
      </p:sp>
      <p:sp>
        <p:nvSpPr>
          <p:cNvPr id="24" name="Text 22"/>
          <p:cNvSpPr txBox="1"/>
          <p:nvPr/>
        </p:nvSpPr>
        <p:spPr>
          <a:xfrm>
            <a:off x="7750048" y="3246120"/>
            <a:ext cx="845312" cy="566928"/>
          </a:xfrm>
          <a:prstGeom prst="rect">
            <a:avLst/>
          </a:prstGeom>
          <a:noFill/>
          <a:ln/>
        </p:spPr>
        <p:txBody>
          <a:bodyPr wrap="square" lIns="254" tIns="254" rIns="254" bIns="254" rtlCol="0" anchor="ctr"/>
          <a:lstStyle/>
          <a:p>
            <a:pPr marL="0" indent="0" algn="ctr">
              <a:buNone/>
            </a:pPr>
            <a:r>
              <a:rPr lang="en-US" sz="800" dirty="0">
                <a:solidFill>
                  <a:srgbClr val="B8C4D6"/>
                </a:solidFill>
                <a:latin typeface="Calibri" pitchFamily="34" charset="0"/>
                <a:ea typeface="Calibri" pitchFamily="34" charset="-122"/>
                <a:cs typeface="Calibri" pitchFamily="34" charset="-120"/>
              </a:rPr>
              <a:t>Model feedback</a:t>
            </a:r>
            <a:endParaRPr lang="en-US" sz="800" dirty="0"/>
          </a:p>
        </p:txBody>
      </p:sp>
      <p:sp>
        <p:nvSpPr>
          <p:cNvPr id="25" name="Text 23"/>
          <p:cNvSpPr txBox="1"/>
          <p:nvPr/>
        </p:nvSpPr>
        <p:spPr>
          <a:xfrm>
            <a:off x="548640" y="4160520"/>
            <a:ext cx="8046720" cy="274320"/>
          </a:xfrm>
          <a:prstGeom prst="rect">
            <a:avLst/>
          </a:prstGeom>
          <a:noFill/>
          <a:ln/>
        </p:spPr>
        <p:txBody>
          <a:bodyPr wrap="square" lIns="0" tIns="0" rIns="0" bIns="0" rtlCol="0" anchor="ctr"/>
          <a:lstStyle/>
          <a:p>
            <a:pPr marL="0" indent="0">
              <a:buNone/>
            </a:pPr>
            <a:r>
              <a:rPr lang="en-US" sz="1000" i="1" dirty="0">
                <a:solidFill>
                  <a:srgbClr val="B8C4D6"/>
                </a:solidFill>
                <a:latin typeface="Calibri" pitchFamily="34" charset="0"/>
                <a:ea typeface="Calibri" pitchFamily="34" charset="-122"/>
                <a:cs typeface="Calibri" pitchFamily="34" charset="-120"/>
              </a:rPr>
              <a:t>The lifecycle we follow through the course · highlighted: where this section sits</a:t>
            </a:r>
            <a:endParaRPr lang="en-US" sz="1000" dirty="0"/>
          </a:p>
        </p:txBody>
      </p:sp>
      <p:pic>
        <p:nvPicPr>
          <p:cNvPr id="26" name="IE University logo" descr="IE University, School of Science &amp; Technology"/>
          <p:cNvPicPr>
            <a:picLocks noChangeAspect="1"/>
          </p:cNvPicPr>
          <p:nvPr/>
        </p:nvPicPr>
        <p:blipFill>
          <a:blip r:embed="rId3"/>
          <a:stretch>
            <a:fillRect/>
          </a:stretch>
        </p:blipFill>
        <p:spPr>
          <a:xfrm>
            <a:off x="8252653" y="109728"/>
            <a:ext cx="525587" cy="70439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marL="0" indent="0">
              <a:buNone/>
            </a:pPr>
            <a:r>
              <a:rPr lang="en-US" sz="800" dirty="0">
                <a:solidFill>
                  <a:srgbClr val="6B7280"/>
                </a:solidFill>
                <a:latin typeface="Calibri" pitchFamily="34" charset="0"/>
                <a:ea typeface="Calibri" pitchFamily="34" charset="-122"/>
                <a:cs typeface="Calibri" pitchFamily="34" charset="-120"/>
              </a:rPr>
              <a:t>MLOps · MBDS-PT2026F · Session 3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marL="0" indent="0" algn="r">
              <a:buNone/>
            </a:pPr>
            <a:r>
              <a:rPr lang="en-US" sz="800" dirty="0">
                <a:solidFill>
                  <a:srgbClr val="6B7280"/>
                </a:solidFill>
                <a:latin typeface="Calibri" pitchFamily="34" charset="0"/>
                <a:ea typeface="Calibri" pitchFamily="34" charset="-122"/>
                <a:cs typeface="Calibri" pitchFamily="34" charset="-120"/>
              </a:rPr>
              <a:t>10</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marL="0" indent="0">
              <a:buNone/>
            </a:pPr>
            <a:r>
              <a:rPr lang="en-US" sz="2400" b="1" dirty="0">
                <a:solidFill>
                  <a:srgbClr val="1B2A4A"/>
                </a:solidFill>
                <a:latin typeface="Calibri" pitchFamily="34" charset="0"/>
                <a:ea typeface="Calibri" pitchFamily="34" charset="-122"/>
                <a:cs typeface="Calibri" pitchFamily="34" charset="-120"/>
              </a:rPr>
              <a:t>Six questions to answer before the first model is trained</a:t>
            </a:r>
            <a:endParaRPr lang="en-US" sz="2400" dirty="0"/>
          </a:p>
        </p:txBody>
      </p:sp>
      <p:sp>
        <p:nvSpPr>
          <p:cNvPr id="7" name="Shape 4"/>
          <p:cNvSpPr/>
          <p:nvPr/>
        </p:nvSpPr>
        <p:spPr>
          <a:xfrm>
            <a:off x="365760" y="1280160"/>
            <a:ext cx="420624" cy="420624"/>
          </a:xfrm>
          <a:prstGeom prst="ellipse">
            <a:avLst/>
          </a:prstGeom>
          <a:solidFill>
            <a:srgbClr val="0E7C86"/>
          </a:solidFill>
          <a:ln w="12700">
            <a:solidFill>
              <a:srgbClr val="0E7C86"/>
            </a:solidFill>
            <a:prstDash val="solid"/>
          </a:ln>
        </p:spPr>
        <p:txBody>
          <a:bodyPr/>
          <a:lstStyle/>
          <a:p>
            <a:endParaRPr/>
          </a:p>
        </p:txBody>
      </p:sp>
      <p:pic>
        <p:nvPicPr>
          <p:cNvPr id="8" name="Image 0" descr="preencoded.png"/>
          <p:cNvPicPr>
            <a:picLocks noChangeAspect="1"/>
          </p:cNvPicPr>
          <p:nvPr/>
        </p:nvPicPr>
        <p:blipFill>
          <a:blip r:embed="rId3"/>
          <a:stretch>
            <a:fillRect/>
          </a:stretch>
        </p:blipFill>
        <p:spPr>
          <a:xfrm>
            <a:off x="457200" y="1371600"/>
            <a:ext cx="237744" cy="237744"/>
          </a:xfrm>
          <a:prstGeom prst="rect">
            <a:avLst/>
          </a:prstGeom>
        </p:spPr>
      </p:pic>
      <p:sp>
        <p:nvSpPr>
          <p:cNvPr id="9" name="Text 5"/>
          <p:cNvSpPr txBox="1"/>
          <p:nvPr/>
        </p:nvSpPr>
        <p:spPr>
          <a:xfrm>
            <a:off x="914400" y="1261872"/>
            <a:ext cx="3474720" cy="256032"/>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Which datasets exist, and are they reliable?</a:t>
            </a:r>
            <a:endParaRPr lang="en-US" sz="1300" dirty="0"/>
          </a:p>
        </p:txBody>
      </p:sp>
      <p:sp>
        <p:nvSpPr>
          <p:cNvPr id="10" name="Text 6"/>
          <p:cNvSpPr txBox="1"/>
          <p:nvPr/>
        </p:nvSpPr>
        <p:spPr>
          <a:xfrm>
            <a:off x="914400" y="1517904"/>
            <a:ext cx="3474720" cy="502920"/>
          </a:xfrm>
          <a:prstGeom prst="rect">
            <a:avLst/>
          </a:prstGeom>
          <a:noFill/>
          <a:ln/>
        </p:spPr>
        <p:txBody>
          <a:bodyPr wrap="square" lIns="0" tIns="0" rIns="0" bIns="0" rtlCol="0" anchor="t"/>
          <a:lstStyle/>
          <a:p>
            <a:pPr marL="0" indent="0">
              <a:buNone/>
            </a:pPr>
            <a:r>
              <a:rPr lang="en-US" sz="1100" dirty="0">
                <a:solidFill>
                  <a:srgbClr val="222222"/>
                </a:solidFill>
                <a:latin typeface="Calibri" pitchFamily="34" charset="0"/>
                <a:ea typeface="Calibri" pitchFamily="34" charset="-122"/>
                <a:cs typeface="Calibri" pitchFamily="34" charset="-120"/>
              </a:rPr>
              <a:t>Where they live, who owns them, how often they are wrong.</a:t>
            </a:r>
            <a:endParaRPr lang="en-US" sz="1100" dirty="0"/>
          </a:p>
        </p:txBody>
      </p:sp>
      <p:sp>
        <p:nvSpPr>
          <p:cNvPr id="11" name="Shape 7"/>
          <p:cNvSpPr/>
          <p:nvPr/>
        </p:nvSpPr>
        <p:spPr>
          <a:xfrm>
            <a:off x="4709160" y="1280160"/>
            <a:ext cx="420624" cy="420624"/>
          </a:xfrm>
          <a:prstGeom prst="ellipse">
            <a:avLst/>
          </a:prstGeom>
          <a:solidFill>
            <a:srgbClr val="0E7C86"/>
          </a:solidFill>
          <a:ln w="12700">
            <a:solidFill>
              <a:srgbClr val="0E7C86"/>
            </a:solidFill>
            <a:prstDash val="solid"/>
          </a:ln>
        </p:spPr>
        <p:txBody>
          <a:bodyPr/>
          <a:lstStyle/>
          <a:p>
            <a:endParaRPr/>
          </a:p>
        </p:txBody>
      </p:sp>
      <p:pic>
        <p:nvPicPr>
          <p:cNvPr id="12" name="Image 1" descr="preencoded.png"/>
          <p:cNvPicPr>
            <a:picLocks noChangeAspect="1"/>
          </p:cNvPicPr>
          <p:nvPr/>
        </p:nvPicPr>
        <p:blipFill>
          <a:blip r:embed="rId4"/>
          <a:stretch>
            <a:fillRect/>
          </a:stretch>
        </p:blipFill>
        <p:spPr>
          <a:xfrm>
            <a:off x="4800600" y="1371600"/>
            <a:ext cx="237744" cy="237744"/>
          </a:xfrm>
          <a:prstGeom prst="rect">
            <a:avLst/>
          </a:prstGeom>
        </p:spPr>
      </p:pic>
      <p:sp>
        <p:nvSpPr>
          <p:cNvPr id="13" name="Text 8"/>
          <p:cNvSpPr txBox="1"/>
          <p:nvPr/>
        </p:nvSpPr>
        <p:spPr>
          <a:xfrm>
            <a:off x="5257800" y="1261872"/>
            <a:ext cx="3474720" cy="256032"/>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Who can access them, and how?</a:t>
            </a:r>
            <a:endParaRPr lang="en-US" sz="1300" dirty="0"/>
          </a:p>
        </p:txBody>
      </p:sp>
      <p:sp>
        <p:nvSpPr>
          <p:cNvPr id="14" name="Text 9"/>
          <p:cNvSpPr txBox="1"/>
          <p:nvPr/>
        </p:nvSpPr>
        <p:spPr>
          <a:xfrm>
            <a:off x="5257800" y="1517904"/>
            <a:ext cx="3474720" cy="502920"/>
          </a:xfrm>
          <a:prstGeom prst="rect">
            <a:avLst/>
          </a:prstGeom>
          <a:noFill/>
          <a:ln/>
        </p:spPr>
        <p:txBody>
          <a:bodyPr wrap="square" lIns="0" tIns="0" rIns="0" bIns="0" rtlCol="0" anchor="t"/>
          <a:lstStyle/>
          <a:p>
            <a:pPr marL="0" indent="0">
              <a:buNone/>
            </a:pPr>
            <a:r>
              <a:rPr lang="en-US" sz="1100" dirty="0">
                <a:solidFill>
                  <a:srgbClr val="222222"/>
                </a:solidFill>
                <a:latin typeface="Calibri" pitchFamily="34" charset="0"/>
                <a:ea typeface="Calibri" pitchFamily="34" charset="-122"/>
                <a:cs typeface="Calibri" pitchFamily="34" charset="-120"/>
              </a:rPr>
              <a:t>Silos are the norm: the data exists, the permission does not.</a:t>
            </a:r>
            <a:endParaRPr lang="en-US" sz="1100" dirty="0"/>
          </a:p>
        </p:txBody>
      </p:sp>
      <p:sp>
        <p:nvSpPr>
          <p:cNvPr id="15" name="Shape 10"/>
          <p:cNvSpPr/>
          <p:nvPr/>
        </p:nvSpPr>
        <p:spPr>
          <a:xfrm>
            <a:off x="365760" y="2240280"/>
            <a:ext cx="420624" cy="420624"/>
          </a:xfrm>
          <a:prstGeom prst="ellipse">
            <a:avLst/>
          </a:prstGeom>
          <a:solidFill>
            <a:srgbClr val="E07A2F"/>
          </a:solidFill>
          <a:ln w="12700">
            <a:solidFill>
              <a:srgbClr val="E07A2F"/>
            </a:solidFill>
            <a:prstDash val="solid"/>
          </a:ln>
        </p:spPr>
        <p:txBody>
          <a:bodyPr/>
          <a:lstStyle/>
          <a:p>
            <a:endParaRPr/>
          </a:p>
        </p:txBody>
      </p:sp>
      <p:pic>
        <p:nvPicPr>
          <p:cNvPr id="16" name="Image 2" descr="preencoded.png"/>
          <p:cNvPicPr>
            <a:picLocks noChangeAspect="1"/>
          </p:cNvPicPr>
          <p:nvPr/>
        </p:nvPicPr>
        <p:blipFill>
          <a:blip r:embed="rId5"/>
          <a:stretch>
            <a:fillRect/>
          </a:stretch>
        </p:blipFill>
        <p:spPr>
          <a:xfrm>
            <a:off x="457200" y="2331720"/>
            <a:ext cx="237744" cy="237744"/>
          </a:xfrm>
          <a:prstGeom prst="rect">
            <a:avLst/>
          </a:prstGeom>
        </p:spPr>
      </p:pic>
      <p:sp>
        <p:nvSpPr>
          <p:cNvPr id="17" name="Text 11"/>
          <p:cNvSpPr txBox="1"/>
          <p:nvPr/>
        </p:nvSpPr>
        <p:spPr>
          <a:xfrm>
            <a:off x="914400" y="2221992"/>
            <a:ext cx="3474720" cy="256032"/>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Will the same data exist at prediction time?</a:t>
            </a:r>
            <a:endParaRPr lang="en-US" sz="1300" dirty="0"/>
          </a:p>
        </p:txBody>
      </p:sp>
      <p:sp>
        <p:nvSpPr>
          <p:cNvPr id="18" name="Text 12"/>
          <p:cNvSpPr txBox="1"/>
          <p:nvPr/>
        </p:nvSpPr>
        <p:spPr>
          <a:xfrm>
            <a:off x="914400" y="2478024"/>
            <a:ext cx="3474720" cy="502920"/>
          </a:xfrm>
          <a:prstGeom prst="rect">
            <a:avLst/>
          </a:prstGeom>
          <a:noFill/>
          <a:ln/>
        </p:spPr>
        <p:txBody>
          <a:bodyPr wrap="square" lIns="0" tIns="0" rIns="0" bIns="0" rtlCol="0" anchor="t"/>
          <a:lstStyle/>
          <a:p>
            <a:pPr marL="0" indent="0">
              <a:buNone/>
            </a:pPr>
            <a:r>
              <a:rPr lang="en-US" sz="1100" dirty="0">
                <a:solidFill>
                  <a:srgbClr val="222222"/>
                </a:solidFill>
                <a:latin typeface="Calibri" pitchFamily="34" charset="0"/>
                <a:ea typeface="Calibri" pitchFamily="34" charset="-122"/>
                <a:cs typeface="Calibri" pitchFamily="34" charset="-120"/>
              </a:rPr>
              <a:t>A feature computed from last month's warehouse is useless for a decision made now.</a:t>
            </a:r>
            <a:endParaRPr lang="en-US" sz="1100" dirty="0"/>
          </a:p>
        </p:txBody>
      </p:sp>
      <p:sp>
        <p:nvSpPr>
          <p:cNvPr id="19" name="Shape 13"/>
          <p:cNvSpPr/>
          <p:nvPr/>
        </p:nvSpPr>
        <p:spPr>
          <a:xfrm>
            <a:off x="4709160" y="2240280"/>
            <a:ext cx="420624" cy="420624"/>
          </a:xfrm>
          <a:prstGeom prst="ellipse">
            <a:avLst/>
          </a:prstGeom>
          <a:solidFill>
            <a:srgbClr val="0E7C86"/>
          </a:solidFill>
          <a:ln w="12700">
            <a:solidFill>
              <a:srgbClr val="0E7C86"/>
            </a:solidFill>
            <a:prstDash val="solid"/>
          </a:ln>
        </p:spPr>
        <p:txBody>
          <a:bodyPr/>
          <a:lstStyle/>
          <a:p>
            <a:endParaRPr/>
          </a:p>
        </p:txBody>
      </p:sp>
      <p:pic>
        <p:nvPicPr>
          <p:cNvPr id="20" name="Image 3" descr="preencoded.png"/>
          <p:cNvPicPr>
            <a:picLocks noChangeAspect="1"/>
          </p:cNvPicPr>
          <p:nvPr/>
        </p:nvPicPr>
        <p:blipFill>
          <a:blip r:embed="rId6"/>
          <a:stretch>
            <a:fillRect/>
          </a:stretch>
        </p:blipFill>
        <p:spPr>
          <a:xfrm>
            <a:off x="4800600" y="2331720"/>
            <a:ext cx="237744" cy="237744"/>
          </a:xfrm>
          <a:prstGeom prst="rect">
            <a:avLst/>
          </a:prstGeom>
        </p:spPr>
      </p:pic>
      <p:sp>
        <p:nvSpPr>
          <p:cNvPr id="21" name="Text 14"/>
          <p:cNvSpPr txBox="1"/>
          <p:nvPr/>
        </p:nvSpPr>
        <p:spPr>
          <a:xfrm>
            <a:off x="5257800" y="2221992"/>
            <a:ext cx="3474720" cy="256032"/>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Do we have the answer we want to predict?</a:t>
            </a:r>
            <a:endParaRPr lang="en-US" sz="1300" dirty="0"/>
          </a:p>
        </p:txBody>
      </p:sp>
      <p:sp>
        <p:nvSpPr>
          <p:cNvPr id="22" name="Text 15"/>
          <p:cNvSpPr txBox="1"/>
          <p:nvPr/>
        </p:nvSpPr>
        <p:spPr>
          <a:xfrm>
            <a:off x="5257800" y="2478024"/>
            <a:ext cx="3474720" cy="502920"/>
          </a:xfrm>
          <a:prstGeom prst="rect">
            <a:avLst/>
          </a:prstGeom>
          <a:noFill/>
          <a:ln/>
        </p:spPr>
        <p:txBody>
          <a:bodyPr wrap="square" lIns="0" tIns="0" rIns="0" bIns="0" rtlCol="0" anchor="t"/>
          <a:lstStyle/>
          <a:p>
            <a:pPr marL="0" indent="0">
              <a:buNone/>
            </a:pPr>
            <a:r>
              <a:rPr lang="en-US" sz="1100" dirty="0">
                <a:solidFill>
                  <a:srgbClr val="222222"/>
                </a:solidFill>
                <a:latin typeface="Calibri" pitchFamily="34" charset="0"/>
                <a:ea typeface="Calibri" pitchFamily="34" charset="-122"/>
                <a:cs typeface="Calibri" pitchFamily="34" charset="-120"/>
              </a:rPr>
              <a:t>Labels: how many, how late, and what it costs to get more.</a:t>
            </a:r>
            <a:endParaRPr lang="en-US" sz="1100" dirty="0"/>
          </a:p>
        </p:txBody>
      </p:sp>
      <p:sp>
        <p:nvSpPr>
          <p:cNvPr id="23" name="Shape 16"/>
          <p:cNvSpPr/>
          <p:nvPr/>
        </p:nvSpPr>
        <p:spPr>
          <a:xfrm>
            <a:off x="365760" y="3200400"/>
            <a:ext cx="420624" cy="420624"/>
          </a:xfrm>
          <a:prstGeom prst="ellipse">
            <a:avLst/>
          </a:prstGeom>
          <a:solidFill>
            <a:srgbClr val="0E7C86"/>
          </a:solidFill>
          <a:ln w="12700">
            <a:solidFill>
              <a:srgbClr val="0E7C86"/>
            </a:solidFill>
            <a:prstDash val="solid"/>
          </a:ln>
        </p:spPr>
        <p:txBody>
          <a:bodyPr/>
          <a:lstStyle/>
          <a:p>
            <a:endParaRPr/>
          </a:p>
        </p:txBody>
      </p:sp>
      <p:pic>
        <p:nvPicPr>
          <p:cNvPr id="24" name="Image 4" descr="preencoded.png"/>
          <p:cNvPicPr>
            <a:picLocks noChangeAspect="1"/>
          </p:cNvPicPr>
          <p:nvPr/>
        </p:nvPicPr>
        <p:blipFill>
          <a:blip r:embed="rId7"/>
          <a:stretch>
            <a:fillRect/>
          </a:stretch>
        </p:blipFill>
        <p:spPr>
          <a:xfrm>
            <a:off x="457200" y="3291840"/>
            <a:ext cx="237744" cy="237744"/>
          </a:xfrm>
          <a:prstGeom prst="rect">
            <a:avLst/>
          </a:prstGeom>
        </p:spPr>
      </p:pic>
      <p:sp>
        <p:nvSpPr>
          <p:cNvPr id="25" name="Text 17"/>
          <p:cNvSpPr txBox="1"/>
          <p:nvPr/>
        </p:nvSpPr>
        <p:spPr>
          <a:xfrm>
            <a:off x="914400" y="3182112"/>
            <a:ext cx="3474720" cy="256032"/>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How will data be updated once the model is live?</a:t>
            </a:r>
            <a:endParaRPr lang="en-US" sz="1300" dirty="0"/>
          </a:p>
        </p:txBody>
      </p:sp>
      <p:sp>
        <p:nvSpPr>
          <p:cNvPr id="26" name="Text 18"/>
          <p:cNvSpPr txBox="1"/>
          <p:nvPr/>
        </p:nvSpPr>
        <p:spPr>
          <a:xfrm>
            <a:off x="914400" y="3438144"/>
            <a:ext cx="3474720" cy="502920"/>
          </a:xfrm>
          <a:prstGeom prst="rect">
            <a:avLst/>
          </a:prstGeom>
          <a:noFill/>
          <a:ln/>
        </p:spPr>
        <p:txBody>
          <a:bodyPr wrap="square" lIns="0" tIns="0" rIns="0" bIns="0" rtlCol="0" anchor="t"/>
          <a:lstStyle/>
          <a:p>
            <a:pPr marL="0" indent="0">
              <a:buNone/>
            </a:pPr>
            <a:r>
              <a:rPr lang="en-US" sz="1100" dirty="0">
                <a:solidFill>
                  <a:srgbClr val="222222"/>
                </a:solidFill>
                <a:latin typeface="Calibri" pitchFamily="34" charset="0"/>
                <a:ea typeface="Calibri" pitchFamily="34" charset="-122"/>
                <a:cs typeface="Calibri" pitchFamily="34" charset="-120"/>
              </a:rPr>
              <a:t>Who tells the data team when a source changes?</a:t>
            </a:r>
            <a:endParaRPr lang="en-US" sz="1100" dirty="0"/>
          </a:p>
        </p:txBody>
      </p:sp>
      <p:sp>
        <p:nvSpPr>
          <p:cNvPr id="27" name="Shape 19"/>
          <p:cNvSpPr/>
          <p:nvPr/>
        </p:nvSpPr>
        <p:spPr>
          <a:xfrm>
            <a:off x="4709160" y="3200400"/>
            <a:ext cx="420624" cy="420624"/>
          </a:xfrm>
          <a:prstGeom prst="ellipse">
            <a:avLst/>
          </a:prstGeom>
          <a:solidFill>
            <a:srgbClr val="E07A2F"/>
          </a:solidFill>
          <a:ln w="12700">
            <a:solidFill>
              <a:srgbClr val="E07A2F"/>
            </a:solidFill>
            <a:prstDash val="solid"/>
          </a:ln>
        </p:spPr>
        <p:txBody>
          <a:bodyPr/>
          <a:lstStyle/>
          <a:p>
            <a:endParaRPr/>
          </a:p>
        </p:txBody>
      </p:sp>
      <p:pic>
        <p:nvPicPr>
          <p:cNvPr id="28" name="Image 5" descr="preencoded.png"/>
          <p:cNvPicPr>
            <a:picLocks noChangeAspect="1"/>
          </p:cNvPicPr>
          <p:nvPr/>
        </p:nvPicPr>
        <p:blipFill>
          <a:blip r:embed="rId8"/>
          <a:stretch>
            <a:fillRect/>
          </a:stretch>
        </p:blipFill>
        <p:spPr>
          <a:xfrm>
            <a:off x="4800600" y="3291840"/>
            <a:ext cx="237744" cy="237744"/>
          </a:xfrm>
          <a:prstGeom prst="rect">
            <a:avLst/>
          </a:prstGeom>
        </p:spPr>
      </p:pic>
      <p:sp>
        <p:nvSpPr>
          <p:cNvPr id="29" name="Text 20"/>
          <p:cNvSpPr txBox="1"/>
          <p:nvPr/>
        </p:nvSpPr>
        <p:spPr>
          <a:xfrm>
            <a:off x="5257800" y="3182112"/>
            <a:ext cx="3474720" cy="256032"/>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Are we allowed to use it?</a:t>
            </a:r>
            <a:endParaRPr lang="en-US" sz="1300" dirty="0"/>
          </a:p>
        </p:txBody>
      </p:sp>
      <p:sp>
        <p:nvSpPr>
          <p:cNvPr id="30" name="Text 21"/>
          <p:cNvSpPr txBox="1"/>
          <p:nvPr/>
        </p:nvSpPr>
        <p:spPr>
          <a:xfrm>
            <a:off x="5257800" y="3438144"/>
            <a:ext cx="3474720" cy="502920"/>
          </a:xfrm>
          <a:prstGeom prst="rect">
            <a:avLst/>
          </a:prstGeom>
          <a:noFill/>
          <a:ln/>
        </p:spPr>
        <p:txBody>
          <a:bodyPr wrap="square" lIns="0" tIns="0" rIns="0" bIns="0" rtlCol="0" anchor="t"/>
          <a:lstStyle/>
          <a:p>
            <a:pPr marL="0" indent="0">
              <a:buNone/>
            </a:pPr>
            <a:r>
              <a:rPr lang="en-US" sz="1100" dirty="0">
                <a:solidFill>
                  <a:srgbClr val="222222"/>
                </a:solidFill>
                <a:latin typeface="Calibri" pitchFamily="34" charset="0"/>
                <a:ea typeface="Calibri" pitchFamily="34" charset="-122"/>
                <a:cs typeface="Calibri" pitchFamily="34" charset="-120"/>
              </a:rPr>
              <a:t>PII, GDPR, protected attributes such as gender or nationality; representation of minorities.</a:t>
            </a:r>
            <a:endParaRPr lang="en-US" sz="1100" dirty="0"/>
          </a:p>
        </p:txBody>
      </p:sp>
      <p:sp>
        <p:nvSpPr>
          <p:cNvPr id="31" name="Shape 22"/>
          <p:cNvSpPr/>
          <p:nvPr/>
        </p:nvSpPr>
        <p:spPr>
          <a:xfrm>
            <a:off x="365760" y="4114800"/>
            <a:ext cx="8412480" cy="411480"/>
          </a:xfrm>
          <a:prstGeom prst="roundRect">
            <a:avLst>
              <a:gd name="adj" fmla="val 17778"/>
            </a:avLst>
          </a:prstGeom>
          <a:solidFill>
            <a:srgbClr val="E3F1F2"/>
          </a:solidFill>
          <a:ln w="12700">
            <a:solidFill>
              <a:srgbClr val="E3F1F2"/>
            </a:solidFill>
            <a:prstDash val="solid"/>
          </a:ln>
        </p:spPr>
        <p:txBody>
          <a:bodyPr/>
          <a:lstStyle/>
          <a:p>
            <a:endParaRPr/>
          </a:p>
        </p:txBody>
      </p:sp>
      <p:pic>
        <p:nvPicPr>
          <p:cNvPr id="32" name="Image 6" descr="preencoded.png"/>
          <p:cNvPicPr>
            <a:picLocks noChangeAspect="1"/>
          </p:cNvPicPr>
          <p:nvPr/>
        </p:nvPicPr>
        <p:blipFill>
          <a:blip r:embed="rId9"/>
          <a:stretch>
            <a:fillRect/>
          </a:stretch>
        </p:blipFill>
        <p:spPr>
          <a:xfrm>
            <a:off x="502920" y="4183380"/>
            <a:ext cx="274320" cy="274320"/>
          </a:xfrm>
          <a:prstGeom prst="rect">
            <a:avLst/>
          </a:prstGeom>
        </p:spPr>
      </p:pic>
      <p:sp>
        <p:nvSpPr>
          <p:cNvPr id="33" name="Text 23"/>
          <p:cNvSpPr txBox="1"/>
          <p:nvPr/>
        </p:nvSpPr>
        <p:spPr>
          <a:xfrm>
            <a:off x="896112" y="4114800"/>
            <a:ext cx="7772400" cy="411480"/>
          </a:xfrm>
          <a:prstGeom prst="rect">
            <a:avLst/>
          </a:prstGeom>
          <a:noFill/>
          <a:ln/>
        </p:spPr>
        <p:txBody>
          <a:bodyPr wrap="square" lIns="0" tIns="0" rIns="0" bIns="0" rtlCol="0" anchor="ctr"/>
          <a:lstStyle/>
          <a:p>
            <a:pPr marL="0" indent="0">
              <a:buNone/>
            </a:pPr>
            <a:r>
              <a:rPr lang="en-US" sz="1150" b="1" dirty="0">
                <a:solidFill>
                  <a:srgbClr val="1B2A4A"/>
                </a:solidFill>
                <a:latin typeface="Calibri" pitchFamily="34" charset="0"/>
                <a:ea typeface="Calibri" pitchFamily="34" charset="-122"/>
                <a:cs typeface="Calibri" pitchFamily="34" charset="-120"/>
              </a:rPr>
              <a:t>Which of these did NorthRetail get wrong? (type the number in chat)</a:t>
            </a:r>
            <a:endParaRPr lang="en-US" sz="1150" dirty="0"/>
          </a:p>
        </p:txBody>
      </p:sp>
      <p:pic>
        <p:nvPicPr>
          <p:cNvPr id="34" name="IE University logo" descr="IE University, School of Science &amp; Technology"/>
          <p:cNvPicPr>
            <a:picLocks noChangeAspect="1"/>
          </p:cNvPicPr>
          <p:nvPr/>
        </p:nvPicPr>
        <p:blipFill>
          <a:blip r:embed="rId10"/>
          <a:stretch>
            <a:fillRect/>
          </a:stretch>
        </p:blipFill>
        <p:spPr>
          <a:xfrm>
            <a:off x="8013607" y="92634"/>
            <a:ext cx="764633" cy="26278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marL="0" indent="0">
              <a:buNone/>
            </a:pPr>
            <a:r>
              <a:rPr lang="en-US" sz="800" dirty="0">
                <a:solidFill>
                  <a:srgbClr val="6B7280"/>
                </a:solidFill>
                <a:latin typeface="Calibri" pitchFamily="34" charset="0"/>
                <a:ea typeface="Calibri" pitchFamily="34" charset="-122"/>
                <a:cs typeface="Calibri" pitchFamily="34" charset="-120"/>
              </a:rPr>
              <a:t>MLOps · MBDS-PT2026F · Session 3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marL="0" indent="0" algn="r">
              <a:buNone/>
            </a:pPr>
            <a:r>
              <a:rPr lang="en-US" sz="800" dirty="0">
                <a:solidFill>
                  <a:srgbClr val="6B7280"/>
                </a:solidFill>
                <a:latin typeface="Calibri" pitchFamily="34" charset="0"/>
                <a:ea typeface="Calibri" pitchFamily="34" charset="-122"/>
                <a:cs typeface="Calibri" pitchFamily="34" charset="-120"/>
              </a:rPr>
              <a:t>11</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marL="0" indent="0">
              <a:buNone/>
            </a:pPr>
            <a:r>
              <a:rPr lang="en-US" sz="2400" b="1" dirty="0">
                <a:solidFill>
                  <a:srgbClr val="1B2A4A"/>
                </a:solidFill>
                <a:latin typeface="Calibri" pitchFamily="34" charset="0"/>
                <a:ea typeface="Calibri" pitchFamily="34" charset="-122"/>
                <a:cs typeface="Calibri" pitchFamily="34" charset="-120"/>
              </a:rPr>
              <a:t>The data you train on must be obtainable, in the same shape, when the model runs</a:t>
            </a:r>
            <a:endParaRPr lang="en-US" sz="2400" dirty="0"/>
          </a:p>
        </p:txBody>
      </p:sp>
      <p:sp>
        <p:nvSpPr>
          <p:cNvPr id="7" name="Shape 4"/>
          <p:cNvSpPr/>
          <p:nvPr/>
        </p:nvSpPr>
        <p:spPr>
          <a:xfrm>
            <a:off x="365760" y="1234440"/>
            <a:ext cx="4114800" cy="2194560"/>
          </a:xfrm>
          <a:prstGeom prst="roundRect">
            <a:avLst>
              <a:gd name="adj" fmla="val 3333"/>
            </a:avLst>
          </a:prstGeom>
          <a:solidFill>
            <a:srgbClr val="F3F5F8"/>
          </a:solidFill>
          <a:ln w="12700">
            <a:solidFill>
              <a:srgbClr val="F3F5F8"/>
            </a:solidFill>
            <a:prstDash val="solid"/>
          </a:ln>
        </p:spPr>
        <p:txBody>
          <a:bodyPr/>
          <a:lstStyle/>
          <a:p>
            <a:endParaRPr/>
          </a:p>
        </p:txBody>
      </p:sp>
      <p:sp>
        <p:nvSpPr>
          <p:cNvPr id="8" name="Shape 5"/>
          <p:cNvSpPr/>
          <p:nvPr/>
        </p:nvSpPr>
        <p:spPr>
          <a:xfrm>
            <a:off x="502920" y="1353312"/>
            <a:ext cx="347472" cy="347472"/>
          </a:xfrm>
          <a:prstGeom prst="ellipse">
            <a:avLst/>
          </a:prstGeom>
          <a:solidFill>
            <a:srgbClr val="0E7C86"/>
          </a:solidFill>
          <a:ln w="12700">
            <a:solidFill>
              <a:srgbClr val="0E7C86"/>
            </a:solidFill>
            <a:prstDash val="solid"/>
          </a:ln>
        </p:spPr>
        <p:txBody>
          <a:bodyPr/>
          <a:lstStyle/>
          <a:p>
            <a:endParaRPr/>
          </a:p>
        </p:txBody>
      </p:sp>
      <p:pic>
        <p:nvPicPr>
          <p:cNvPr id="9" name="Image 0" descr="preencoded.png"/>
          <p:cNvPicPr>
            <a:picLocks noChangeAspect="1"/>
          </p:cNvPicPr>
          <p:nvPr/>
        </p:nvPicPr>
        <p:blipFill>
          <a:blip r:embed="rId3"/>
          <a:stretch>
            <a:fillRect/>
          </a:stretch>
        </p:blipFill>
        <p:spPr>
          <a:xfrm>
            <a:off x="576072" y="1426464"/>
            <a:ext cx="201168" cy="201168"/>
          </a:xfrm>
          <a:prstGeom prst="rect">
            <a:avLst/>
          </a:prstGeom>
        </p:spPr>
      </p:pic>
      <p:sp>
        <p:nvSpPr>
          <p:cNvPr id="10" name="Text 6"/>
          <p:cNvSpPr txBox="1"/>
          <p:nvPr/>
        </p:nvSpPr>
        <p:spPr>
          <a:xfrm>
            <a:off x="932688" y="1325880"/>
            <a:ext cx="3429000" cy="402336"/>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Model development</a:t>
            </a:r>
            <a:endParaRPr lang="en-US" sz="1300" dirty="0"/>
          </a:p>
        </p:txBody>
      </p:sp>
      <p:sp>
        <p:nvSpPr>
          <p:cNvPr id="11" name="Text 7"/>
          <p:cNvSpPr txBox="1"/>
          <p:nvPr/>
        </p:nvSpPr>
        <p:spPr>
          <a:xfrm>
            <a:off x="502920" y="1783080"/>
            <a:ext cx="3840480" cy="1554480"/>
          </a:xfrm>
          <a:prstGeom prst="rect">
            <a:avLst/>
          </a:prstGeom>
          <a:noFill/>
          <a:ln/>
        </p:spPr>
        <p:txBody>
          <a:bodyPr wrap="square" lIns="0" tIns="0" rIns="0" bIns="0" rtlCol="0" anchor="t"/>
          <a:lstStyle/>
          <a:p>
            <a:pPr marL="177800" indent="-177800">
              <a:spcAft>
                <a:spcPts val="300"/>
              </a:spcAft>
              <a:buSzPct val="100000"/>
              <a:buChar char="•"/>
            </a:pPr>
            <a:r>
              <a:rPr lang="en-US" sz="1200" dirty="0">
                <a:solidFill>
                  <a:srgbClr val="222222"/>
                </a:solidFill>
                <a:latin typeface="Calibri" pitchFamily="34" charset="0"/>
                <a:ea typeface="Calibri" pitchFamily="34" charset="-122"/>
                <a:cs typeface="Calibri" pitchFamily="34" charset="-120"/>
              </a:rPr>
              <a:t>Data extracted from live systems and warehoused offline</a:t>
            </a:r>
            <a:endParaRPr lang="en-US" sz="1200" dirty="0"/>
          </a:p>
          <a:p>
            <a:pPr marL="177800" indent="-177800">
              <a:spcAft>
                <a:spcPts val="300"/>
              </a:spcAft>
              <a:buSzPct val="100000"/>
              <a:buChar char="•"/>
            </a:pPr>
            <a:r>
              <a:rPr lang="en-US" sz="1200" dirty="0">
                <a:solidFill>
                  <a:srgbClr val="222222"/>
                </a:solidFill>
                <a:latin typeface="Calibri" pitchFamily="34" charset="0"/>
                <a:ea typeface="Calibri" pitchFamily="34" charset="-122"/>
                <a:cs typeface="Calibri" pitchFamily="34" charset="-120"/>
              </a:rPr>
              <a:t>Cleaned by hand, at leisure, in a notebook</a:t>
            </a:r>
            <a:endParaRPr lang="en-US" sz="1200" dirty="0"/>
          </a:p>
          <a:p>
            <a:pPr marL="177800" indent="-177800">
              <a:spcAft>
                <a:spcPts val="300"/>
              </a:spcAft>
              <a:buSzPct val="100000"/>
              <a:buChar char="•"/>
            </a:pPr>
            <a:r>
              <a:rPr lang="en-US" sz="1200" dirty="0">
                <a:solidFill>
                  <a:srgbClr val="222222"/>
                </a:solidFill>
                <a:latin typeface="Calibri" pitchFamily="34" charset="0"/>
                <a:ea typeface="Calibri" pitchFamily="34" charset="-122"/>
                <a:cs typeface="Calibri" pitchFamily="34" charset="-120"/>
              </a:rPr>
              <a:t>Months of history, sometimes unstructured (news, documents)</a:t>
            </a:r>
            <a:endParaRPr lang="en-US" sz="1200" dirty="0"/>
          </a:p>
        </p:txBody>
      </p:sp>
      <p:sp>
        <p:nvSpPr>
          <p:cNvPr id="12" name="Shape 8"/>
          <p:cNvSpPr/>
          <p:nvPr/>
        </p:nvSpPr>
        <p:spPr>
          <a:xfrm>
            <a:off x="4663440" y="1234440"/>
            <a:ext cx="4114800" cy="2194560"/>
          </a:xfrm>
          <a:prstGeom prst="roundRect">
            <a:avLst>
              <a:gd name="adj" fmla="val 3333"/>
            </a:avLst>
          </a:prstGeom>
          <a:solidFill>
            <a:srgbClr val="F3F5F8"/>
          </a:solidFill>
          <a:ln w="12700">
            <a:solidFill>
              <a:srgbClr val="F3F5F8"/>
            </a:solidFill>
            <a:prstDash val="solid"/>
          </a:ln>
        </p:spPr>
        <p:txBody>
          <a:bodyPr/>
          <a:lstStyle/>
          <a:p>
            <a:endParaRPr/>
          </a:p>
        </p:txBody>
      </p:sp>
      <p:sp>
        <p:nvSpPr>
          <p:cNvPr id="13" name="Shape 9"/>
          <p:cNvSpPr/>
          <p:nvPr/>
        </p:nvSpPr>
        <p:spPr>
          <a:xfrm>
            <a:off x="4800600" y="1353312"/>
            <a:ext cx="347472" cy="347472"/>
          </a:xfrm>
          <a:prstGeom prst="ellipse">
            <a:avLst/>
          </a:prstGeom>
          <a:solidFill>
            <a:srgbClr val="E07A2F"/>
          </a:solidFill>
          <a:ln w="12700">
            <a:solidFill>
              <a:srgbClr val="E07A2F"/>
            </a:solidFill>
            <a:prstDash val="solid"/>
          </a:ln>
        </p:spPr>
        <p:txBody>
          <a:bodyPr/>
          <a:lstStyle/>
          <a:p>
            <a:endParaRPr/>
          </a:p>
        </p:txBody>
      </p:sp>
      <p:pic>
        <p:nvPicPr>
          <p:cNvPr id="14" name="Image 1" descr="preencoded.png"/>
          <p:cNvPicPr>
            <a:picLocks noChangeAspect="1"/>
          </p:cNvPicPr>
          <p:nvPr/>
        </p:nvPicPr>
        <p:blipFill>
          <a:blip r:embed="rId4"/>
          <a:stretch>
            <a:fillRect/>
          </a:stretch>
        </p:blipFill>
        <p:spPr>
          <a:xfrm>
            <a:off x="4873752" y="1426464"/>
            <a:ext cx="201168" cy="201168"/>
          </a:xfrm>
          <a:prstGeom prst="rect">
            <a:avLst/>
          </a:prstGeom>
        </p:spPr>
      </p:pic>
      <p:sp>
        <p:nvSpPr>
          <p:cNvPr id="15" name="Text 10"/>
          <p:cNvSpPr txBox="1"/>
          <p:nvPr/>
        </p:nvSpPr>
        <p:spPr>
          <a:xfrm>
            <a:off x="5230368" y="1325880"/>
            <a:ext cx="3429000" cy="402336"/>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Model in production</a:t>
            </a:r>
            <a:endParaRPr lang="en-US" sz="1300" dirty="0"/>
          </a:p>
        </p:txBody>
      </p:sp>
      <p:sp>
        <p:nvSpPr>
          <p:cNvPr id="16" name="Text 11"/>
          <p:cNvSpPr txBox="1"/>
          <p:nvPr/>
        </p:nvSpPr>
        <p:spPr>
          <a:xfrm>
            <a:off x="4800600" y="1783080"/>
            <a:ext cx="3840480" cy="1554480"/>
          </a:xfrm>
          <a:prstGeom prst="rect">
            <a:avLst/>
          </a:prstGeom>
          <a:noFill/>
          <a:ln/>
        </p:spPr>
        <p:txBody>
          <a:bodyPr wrap="square" lIns="0" tIns="0" rIns="0" bIns="0" rtlCol="0" anchor="t"/>
          <a:lstStyle/>
          <a:p>
            <a:pPr marL="177800" indent="-177800">
              <a:spcAft>
                <a:spcPts val="300"/>
              </a:spcAft>
              <a:buSzPct val="100000"/>
              <a:buChar char="•"/>
            </a:pPr>
            <a:r>
              <a:rPr lang="en-US" sz="1200" dirty="0">
                <a:solidFill>
                  <a:srgbClr val="222222"/>
                </a:solidFill>
                <a:latin typeface="Calibri" pitchFamily="34" charset="0"/>
                <a:ea typeface="Calibri" pitchFamily="34" charset="-122"/>
                <a:cs typeface="Calibri" pitchFamily="34" charset="-120"/>
              </a:rPr>
              <a:t>Real-time or nightly data, whatever arrives</a:t>
            </a:r>
            <a:endParaRPr lang="en-US" sz="1200" dirty="0"/>
          </a:p>
          <a:p>
            <a:pPr marL="177800" indent="-177800">
              <a:spcAft>
                <a:spcPts val="300"/>
              </a:spcAft>
              <a:buSzPct val="100000"/>
              <a:buChar char="•"/>
            </a:pPr>
            <a:r>
              <a:rPr lang="en-US" sz="1200" dirty="0">
                <a:solidFill>
                  <a:srgbClr val="222222"/>
                </a:solidFill>
                <a:latin typeface="Calibri" pitchFamily="34" charset="0"/>
                <a:ea typeface="Calibri" pitchFamily="34" charset="-122"/>
                <a:cs typeface="Calibri" pitchFamily="34" charset="-120"/>
              </a:rPr>
              <a:t>No human in the loop to fix it</a:t>
            </a:r>
            <a:endParaRPr lang="en-US" sz="1200" dirty="0"/>
          </a:p>
          <a:p>
            <a:pPr marL="177800" indent="-177800">
              <a:spcAft>
                <a:spcPts val="300"/>
              </a:spcAft>
              <a:buSzPct val="100000"/>
              <a:buChar char="•"/>
            </a:pPr>
            <a:r>
              <a:rPr lang="en-US" sz="1200" dirty="0">
                <a:solidFill>
                  <a:srgbClr val="222222"/>
                </a:solidFill>
                <a:latin typeface="Calibri" pitchFamily="34" charset="0"/>
                <a:ea typeface="Calibri" pitchFamily="34" charset="-122"/>
                <a:cs typeface="Calibri" pitchFamily="34" charset="-120"/>
              </a:rPr>
              <a:t>No time to analyse unstructured history fast enough</a:t>
            </a:r>
            <a:endParaRPr lang="en-US" sz="1200" dirty="0"/>
          </a:p>
        </p:txBody>
      </p:sp>
      <p:sp>
        <p:nvSpPr>
          <p:cNvPr id="17" name="Shape 12"/>
          <p:cNvSpPr/>
          <p:nvPr/>
        </p:nvSpPr>
        <p:spPr>
          <a:xfrm>
            <a:off x="365760" y="3611880"/>
            <a:ext cx="8412480" cy="640080"/>
          </a:xfrm>
          <a:prstGeom prst="roundRect">
            <a:avLst>
              <a:gd name="adj" fmla="val 11429"/>
            </a:avLst>
          </a:prstGeom>
          <a:solidFill>
            <a:srgbClr val="E3F1F2"/>
          </a:solidFill>
          <a:ln w="12700">
            <a:solidFill>
              <a:srgbClr val="E3F1F2"/>
            </a:solidFill>
            <a:prstDash val="solid"/>
          </a:ln>
        </p:spPr>
        <p:txBody>
          <a:bodyPr/>
          <a:lstStyle/>
          <a:p>
            <a:endParaRPr/>
          </a:p>
        </p:txBody>
      </p:sp>
      <p:pic>
        <p:nvPicPr>
          <p:cNvPr id="18" name="Image 2" descr="preencoded.png"/>
          <p:cNvPicPr>
            <a:picLocks noChangeAspect="1"/>
          </p:cNvPicPr>
          <p:nvPr/>
        </p:nvPicPr>
        <p:blipFill>
          <a:blip r:embed="rId5"/>
          <a:stretch>
            <a:fillRect/>
          </a:stretch>
        </p:blipFill>
        <p:spPr>
          <a:xfrm>
            <a:off x="502920" y="3794760"/>
            <a:ext cx="274320" cy="274320"/>
          </a:xfrm>
          <a:prstGeom prst="rect">
            <a:avLst/>
          </a:prstGeom>
        </p:spPr>
      </p:pic>
      <p:sp>
        <p:nvSpPr>
          <p:cNvPr id="19" name="Text 13"/>
          <p:cNvSpPr txBox="1"/>
          <p:nvPr/>
        </p:nvSpPr>
        <p:spPr>
          <a:xfrm>
            <a:off x="896112" y="3611880"/>
            <a:ext cx="7772400" cy="640080"/>
          </a:xfrm>
          <a:prstGeom prst="rect">
            <a:avLst/>
          </a:prstGeom>
          <a:noFill/>
          <a:ln/>
        </p:spPr>
        <p:txBody>
          <a:bodyPr wrap="square" lIns="0" tIns="0" rIns="0" bIns="0" rtlCol="0" anchor="ctr"/>
          <a:lstStyle/>
          <a:p>
            <a:pPr marL="0" indent="0">
              <a:buNone/>
            </a:pPr>
            <a:r>
              <a:rPr lang="en-US" sz="1200" b="1" dirty="0">
                <a:solidFill>
                  <a:srgbClr val="1B2A4A"/>
                </a:solidFill>
                <a:latin typeface="Calibri" pitchFamily="34" charset="0"/>
                <a:ea typeface="Calibri" pitchFamily="34" charset="-122"/>
                <a:cs typeface="Calibri" pitchFamily="34" charset="-120"/>
              </a:rPr>
              <a:t>Rule 1: the data structures must be the same in both places. Rule 2: everything the model needs must be obtainable at the moment of the decision, not tonight.</a:t>
            </a:r>
            <a:endParaRPr lang="en-US" sz="1200" dirty="0"/>
          </a:p>
        </p:txBody>
      </p:sp>
      <p:pic>
        <p:nvPicPr>
          <p:cNvPr id="20" name="IE University logo" descr="IE University, School of Science &amp; Technology"/>
          <p:cNvPicPr>
            <a:picLocks noChangeAspect="1"/>
          </p:cNvPicPr>
          <p:nvPr/>
        </p:nvPicPr>
        <p:blipFill>
          <a:blip r:embed="rId6"/>
          <a:stretch>
            <a:fillRect/>
          </a:stretch>
        </p:blipFill>
        <p:spPr>
          <a:xfrm>
            <a:off x="8013607" y="92634"/>
            <a:ext cx="764633" cy="26278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marL="0" indent="0">
              <a:buNone/>
            </a:pPr>
            <a:r>
              <a:rPr lang="en-US" sz="800" dirty="0">
                <a:solidFill>
                  <a:srgbClr val="6B7280"/>
                </a:solidFill>
                <a:latin typeface="Calibri" pitchFamily="34" charset="0"/>
                <a:ea typeface="Calibri" pitchFamily="34" charset="-122"/>
                <a:cs typeface="Calibri" pitchFamily="34" charset="-120"/>
              </a:rPr>
              <a:t>MLOps · MBDS-PT2026F · Session 3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marL="0" indent="0" algn="r">
              <a:buNone/>
            </a:pPr>
            <a:r>
              <a:rPr lang="en-US" sz="800" dirty="0">
                <a:solidFill>
                  <a:srgbClr val="6B7280"/>
                </a:solidFill>
                <a:latin typeface="Calibri" pitchFamily="34" charset="0"/>
                <a:ea typeface="Calibri" pitchFamily="34" charset="-122"/>
                <a:cs typeface="Calibri" pitchFamily="34" charset="-120"/>
              </a:rPr>
              <a:t>12</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marL="0" indent="0">
              <a:buNone/>
            </a:pPr>
            <a:r>
              <a:rPr lang="en-US" sz="2400" b="1" dirty="0">
                <a:solidFill>
                  <a:srgbClr val="1B2A4A"/>
                </a:solidFill>
                <a:latin typeface="Calibri" pitchFamily="34" charset="0"/>
                <a:ea typeface="Calibri" pitchFamily="34" charset="-122"/>
                <a:cs typeface="Calibri" pitchFamily="34" charset="-120"/>
              </a:rPr>
              <a:t>Version the data like the code: splits, snapshots and a fingerprint</a:t>
            </a:r>
            <a:endParaRPr lang="en-US" sz="2400" dirty="0"/>
          </a:p>
        </p:txBody>
      </p:sp>
      <p:sp>
        <p:nvSpPr>
          <p:cNvPr id="7" name="Shape 4"/>
          <p:cNvSpPr/>
          <p:nvPr/>
        </p:nvSpPr>
        <p:spPr>
          <a:xfrm>
            <a:off x="365760" y="1234440"/>
            <a:ext cx="2697480" cy="2377440"/>
          </a:xfrm>
          <a:prstGeom prst="roundRect">
            <a:avLst>
              <a:gd name="adj" fmla="val 3077"/>
            </a:avLst>
          </a:prstGeom>
          <a:solidFill>
            <a:srgbClr val="F3F5F8"/>
          </a:solidFill>
          <a:ln w="12700">
            <a:solidFill>
              <a:srgbClr val="F3F5F8"/>
            </a:solidFill>
            <a:prstDash val="solid"/>
          </a:ln>
        </p:spPr>
        <p:txBody>
          <a:bodyPr/>
          <a:lstStyle/>
          <a:p>
            <a:endParaRPr/>
          </a:p>
        </p:txBody>
      </p:sp>
      <p:sp>
        <p:nvSpPr>
          <p:cNvPr id="8" name="Shape 5"/>
          <p:cNvSpPr/>
          <p:nvPr/>
        </p:nvSpPr>
        <p:spPr>
          <a:xfrm>
            <a:off x="502920" y="1353312"/>
            <a:ext cx="347472" cy="347472"/>
          </a:xfrm>
          <a:prstGeom prst="ellipse">
            <a:avLst/>
          </a:prstGeom>
          <a:solidFill>
            <a:srgbClr val="0E7C86"/>
          </a:solidFill>
          <a:ln w="12700">
            <a:solidFill>
              <a:srgbClr val="0E7C86"/>
            </a:solidFill>
            <a:prstDash val="solid"/>
          </a:ln>
        </p:spPr>
        <p:txBody>
          <a:bodyPr/>
          <a:lstStyle/>
          <a:p>
            <a:endParaRPr/>
          </a:p>
        </p:txBody>
      </p:sp>
      <p:pic>
        <p:nvPicPr>
          <p:cNvPr id="9" name="Image 0" descr="preencoded.png"/>
          <p:cNvPicPr>
            <a:picLocks noChangeAspect="1"/>
          </p:cNvPicPr>
          <p:nvPr/>
        </p:nvPicPr>
        <p:blipFill>
          <a:blip r:embed="rId3"/>
          <a:stretch>
            <a:fillRect/>
          </a:stretch>
        </p:blipFill>
        <p:spPr>
          <a:xfrm>
            <a:off x="576072" y="1426464"/>
            <a:ext cx="201168" cy="201168"/>
          </a:xfrm>
          <a:prstGeom prst="rect">
            <a:avLst/>
          </a:prstGeom>
        </p:spPr>
      </p:pic>
      <p:sp>
        <p:nvSpPr>
          <p:cNvPr id="10" name="Text 6"/>
          <p:cNvSpPr txBox="1"/>
          <p:nvPr/>
        </p:nvSpPr>
        <p:spPr>
          <a:xfrm>
            <a:off x="932688" y="1325880"/>
            <a:ext cx="2011680" cy="402336"/>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Split once, keep the split</a:t>
            </a:r>
            <a:endParaRPr lang="en-US" sz="1300" dirty="0"/>
          </a:p>
        </p:txBody>
      </p:sp>
      <p:sp>
        <p:nvSpPr>
          <p:cNvPr id="11" name="Text 7"/>
          <p:cNvSpPr txBox="1"/>
          <p:nvPr/>
        </p:nvSpPr>
        <p:spPr>
          <a:xfrm>
            <a:off x="502920" y="1783080"/>
            <a:ext cx="2423160" cy="1737360"/>
          </a:xfrm>
          <a:prstGeom prst="rect">
            <a:avLst/>
          </a:prstGeom>
          <a:noFill/>
          <a:ln/>
        </p:spPr>
        <p:txBody>
          <a:bodyPr wrap="square" lIns="0" tIns="0" rIns="0" bIns="0" rtlCol="0" anchor="t"/>
          <a:lstStyle/>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Training, evaluation, test: decided once, saved</a:t>
            </a:r>
            <a:endParaRPr lang="en-US" sz="1150" dirty="0"/>
          </a:p>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Random re-splitting is why the notebook gave 0.84 yesterday and 0.87 today</a:t>
            </a:r>
            <a:endParaRPr lang="en-US" sz="1150" dirty="0"/>
          </a:p>
        </p:txBody>
      </p:sp>
      <p:sp>
        <p:nvSpPr>
          <p:cNvPr id="12" name="Shape 8"/>
          <p:cNvSpPr/>
          <p:nvPr/>
        </p:nvSpPr>
        <p:spPr>
          <a:xfrm>
            <a:off x="3218688" y="1234440"/>
            <a:ext cx="2697480" cy="2377440"/>
          </a:xfrm>
          <a:prstGeom prst="roundRect">
            <a:avLst>
              <a:gd name="adj" fmla="val 3077"/>
            </a:avLst>
          </a:prstGeom>
          <a:solidFill>
            <a:srgbClr val="F3F5F8"/>
          </a:solidFill>
          <a:ln w="12700">
            <a:solidFill>
              <a:srgbClr val="F3F5F8"/>
            </a:solidFill>
            <a:prstDash val="solid"/>
          </a:ln>
        </p:spPr>
        <p:txBody>
          <a:bodyPr/>
          <a:lstStyle/>
          <a:p>
            <a:endParaRPr/>
          </a:p>
        </p:txBody>
      </p:sp>
      <p:sp>
        <p:nvSpPr>
          <p:cNvPr id="13" name="Shape 9"/>
          <p:cNvSpPr/>
          <p:nvPr/>
        </p:nvSpPr>
        <p:spPr>
          <a:xfrm>
            <a:off x="3355848" y="1353312"/>
            <a:ext cx="347472" cy="347472"/>
          </a:xfrm>
          <a:prstGeom prst="ellipse">
            <a:avLst/>
          </a:prstGeom>
          <a:solidFill>
            <a:srgbClr val="0E7C86"/>
          </a:solidFill>
          <a:ln w="12700">
            <a:solidFill>
              <a:srgbClr val="0E7C86"/>
            </a:solidFill>
            <a:prstDash val="solid"/>
          </a:ln>
        </p:spPr>
        <p:txBody>
          <a:bodyPr/>
          <a:lstStyle/>
          <a:p>
            <a:endParaRPr/>
          </a:p>
        </p:txBody>
      </p:sp>
      <p:pic>
        <p:nvPicPr>
          <p:cNvPr id="14" name="Image 1" descr="preencoded.png"/>
          <p:cNvPicPr>
            <a:picLocks noChangeAspect="1"/>
          </p:cNvPicPr>
          <p:nvPr/>
        </p:nvPicPr>
        <p:blipFill>
          <a:blip r:embed="rId4"/>
          <a:stretch>
            <a:fillRect/>
          </a:stretch>
        </p:blipFill>
        <p:spPr>
          <a:xfrm>
            <a:off x="3429000" y="1426464"/>
            <a:ext cx="201168" cy="201168"/>
          </a:xfrm>
          <a:prstGeom prst="rect">
            <a:avLst/>
          </a:prstGeom>
        </p:spPr>
      </p:pic>
      <p:sp>
        <p:nvSpPr>
          <p:cNvPr id="15" name="Text 10"/>
          <p:cNvSpPr txBox="1"/>
          <p:nvPr/>
        </p:nvSpPr>
        <p:spPr>
          <a:xfrm>
            <a:off x="3785616" y="1325880"/>
            <a:ext cx="2011680" cy="402336"/>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Snapshot the data, number it</a:t>
            </a:r>
            <a:endParaRPr lang="en-US" sz="1300" dirty="0"/>
          </a:p>
        </p:txBody>
      </p:sp>
      <p:sp>
        <p:nvSpPr>
          <p:cNvPr id="16" name="Text 11"/>
          <p:cNvSpPr txBox="1"/>
          <p:nvPr/>
        </p:nvSpPr>
        <p:spPr>
          <a:xfrm>
            <a:off x="3355848" y="1783080"/>
            <a:ext cx="2423160" cy="1737360"/>
          </a:xfrm>
          <a:prstGeom prst="rect">
            <a:avLst/>
          </a:prstGeom>
          <a:noFill/>
          <a:ln/>
        </p:spPr>
        <p:txBody>
          <a:bodyPr wrap="square" lIns="0" tIns="0" rIns="0" bIns="0" rtlCol="0" anchor="t"/>
          <a:lstStyle/>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Every hour, day or week, ingestion takes a snapshot ("span")</a:t>
            </a:r>
            <a:endParaRPr lang="en-US" sz="1150" dirty="0"/>
          </a:p>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"Trained on span 12" is a fact; "trained on the data" is not</a:t>
            </a:r>
            <a:endParaRPr lang="en-US" sz="1150" dirty="0"/>
          </a:p>
        </p:txBody>
      </p:sp>
      <p:sp>
        <p:nvSpPr>
          <p:cNvPr id="17" name="Shape 12"/>
          <p:cNvSpPr/>
          <p:nvPr/>
        </p:nvSpPr>
        <p:spPr>
          <a:xfrm>
            <a:off x="6080760" y="1234440"/>
            <a:ext cx="2697480" cy="2377440"/>
          </a:xfrm>
          <a:prstGeom prst="roundRect">
            <a:avLst>
              <a:gd name="adj" fmla="val 3077"/>
            </a:avLst>
          </a:prstGeom>
          <a:solidFill>
            <a:srgbClr val="F3F5F8"/>
          </a:solidFill>
          <a:ln w="12700">
            <a:solidFill>
              <a:srgbClr val="F3F5F8"/>
            </a:solidFill>
            <a:prstDash val="solid"/>
          </a:ln>
        </p:spPr>
        <p:txBody>
          <a:bodyPr/>
          <a:lstStyle/>
          <a:p>
            <a:endParaRPr/>
          </a:p>
        </p:txBody>
      </p:sp>
      <p:sp>
        <p:nvSpPr>
          <p:cNvPr id="18" name="Shape 13"/>
          <p:cNvSpPr/>
          <p:nvPr/>
        </p:nvSpPr>
        <p:spPr>
          <a:xfrm>
            <a:off x="6217920" y="1353312"/>
            <a:ext cx="347472" cy="347472"/>
          </a:xfrm>
          <a:prstGeom prst="ellipse">
            <a:avLst/>
          </a:prstGeom>
          <a:solidFill>
            <a:srgbClr val="0E7C86"/>
          </a:solidFill>
          <a:ln w="12700">
            <a:solidFill>
              <a:srgbClr val="0E7C86"/>
            </a:solidFill>
            <a:prstDash val="solid"/>
          </a:ln>
        </p:spPr>
        <p:txBody>
          <a:bodyPr/>
          <a:lstStyle/>
          <a:p>
            <a:endParaRPr/>
          </a:p>
        </p:txBody>
      </p:sp>
      <p:pic>
        <p:nvPicPr>
          <p:cNvPr id="19" name="Image 2" descr="preencoded.png"/>
          <p:cNvPicPr>
            <a:picLocks noChangeAspect="1"/>
          </p:cNvPicPr>
          <p:nvPr/>
        </p:nvPicPr>
        <p:blipFill>
          <a:blip r:embed="rId5"/>
          <a:stretch>
            <a:fillRect/>
          </a:stretch>
        </p:blipFill>
        <p:spPr>
          <a:xfrm>
            <a:off x="6291072" y="1426464"/>
            <a:ext cx="201168" cy="201168"/>
          </a:xfrm>
          <a:prstGeom prst="rect">
            <a:avLst/>
          </a:prstGeom>
        </p:spPr>
      </p:pic>
      <p:sp>
        <p:nvSpPr>
          <p:cNvPr id="20" name="Text 14"/>
          <p:cNvSpPr txBox="1"/>
          <p:nvPr/>
        </p:nvSpPr>
        <p:spPr>
          <a:xfrm>
            <a:off x="6647688" y="1325880"/>
            <a:ext cx="2011680" cy="402336"/>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Fingerprint it</a:t>
            </a:r>
            <a:endParaRPr lang="en-US" sz="1300" dirty="0"/>
          </a:p>
        </p:txBody>
      </p:sp>
      <p:sp>
        <p:nvSpPr>
          <p:cNvPr id="21" name="Text 15"/>
          <p:cNvSpPr txBox="1"/>
          <p:nvPr/>
        </p:nvSpPr>
        <p:spPr>
          <a:xfrm>
            <a:off x="6217920" y="1783080"/>
            <a:ext cx="2423160" cy="1737360"/>
          </a:xfrm>
          <a:prstGeom prst="rect">
            <a:avLst/>
          </a:prstGeom>
          <a:noFill/>
          <a:ln/>
        </p:spPr>
        <p:txBody>
          <a:bodyPr wrap="square" lIns="0" tIns="0" rIns="0" bIns="0" rtlCol="0" anchor="t"/>
          <a:lstStyle/>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Store a hash of the dataset with the model, not only the file name</a:t>
            </a:r>
            <a:endParaRPr lang="en-US" sz="1150" dirty="0"/>
          </a:p>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Later you can prove which data produced which model</a:t>
            </a:r>
            <a:endParaRPr lang="en-US" sz="1150" dirty="0"/>
          </a:p>
        </p:txBody>
      </p:sp>
      <p:sp>
        <p:nvSpPr>
          <p:cNvPr id="22" name="Shape 16"/>
          <p:cNvSpPr/>
          <p:nvPr/>
        </p:nvSpPr>
        <p:spPr>
          <a:xfrm>
            <a:off x="365760" y="3794760"/>
            <a:ext cx="8412480" cy="548640"/>
          </a:xfrm>
          <a:prstGeom prst="roundRect">
            <a:avLst>
              <a:gd name="adj" fmla="val 13333"/>
            </a:avLst>
          </a:prstGeom>
          <a:solidFill>
            <a:srgbClr val="E3F1F2"/>
          </a:solidFill>
          <a:ln w="12700">
            <a:solidFill>
              <a:srgbClr val="E3F1F2"/>
            </a:solidFill>
            <a:prstDash val="solid"/>
          </a:ln>
        </p:spPr>
        <p:txBody>
          <a:bodyPr/>
          <a:lstStyle/>
          <a:p>
            <a:endParaRPr/>
          </a:p>
        </p:txBody>
      </p:sp>
      <p:pic>
        <p:nvPicPr>
          <p:cNvPr id="23" name="Image 3" descr="preencoded.png"/>
          <p:cNvPicPr>
            <a:picLocks noChangeAspect="1"/>
          </p:cNvPicPr>
          <p:nvPr/>
        </p:nvPicPr>
        <p:blipFill>
          <a:blip r:embed="rId6"/>
          <a:stretch>
            <a:fillRect/>
          </a:stretch>
        </p:blipFill>
        <p:spPr>
          <a:xfrm>
            <a:off x="502920" y="3931920"/>
            <a:ext cx="274320" cy="274320"/>
          </a:xfrm>
          <a:prstGeom prst="rect">
            <a:avLst/>
          </a:prstGeom>
        </p:spPr>
      </p:pic>
      <p:sp>
        <p:nvSpPr>
          <p:cNvPr id="24" name="Text 17"/>
          <p:cNvSpPr txBox="1"/>
          <p:nvPr/>
        </p:nvSpPr>
        <p:spPr>
          <a:xfrm>
            <a:off x="896112" y="3794760"/>
            <a:ext cx="7772400" cy="548640"/>
          </a:xfrm>
          <a:prstGeom prst="rect">
            <a:avLst/>
          </a:prstGeom>
          <a:noFill/>
          <a:ln/>
        </p:spPr>
        <p:txBody>
          <a:bodyPr wrap="square" lIns="0" tIns="0" rIns="0" bIns="0" rtlCol="0" anchor="ctr"/>
          <a:lstStyle/>
          <a:p>
            <a:pPr marL="0" indent="0">
              <a:buNone/>
            </a:pPr>
            <a:r>
              <a:rPr lang="en-US" sz="1150" dirty="0">
                <a:solidFill>
                  <a:srgbClr val="1B2A4A"/>
                </a:solidFill>
                <a:latin typeface="Calibri" pitchFamily="34" charset="0"/>
                <a:ea typeface="Calibri" pitchFamily="34" charset="-122"/>
                <a:cs typeface="Calibri" pitchFamily="34" charset="-120"/>
              </a:rPr>
              <a:t>Session 1: a repository is a folder with a memory. This is the same memory, for data. The demo in a few minutes shows where the memory for models lives.</a:t>
            </a:r>
            <a:endParaRPr lang="en-US" sz="1150" dirty="0"/>
          </a:p>
        </p:txBody>
      </p:sp>
      <p:pic>
        <p:nvPicPr>
          <p:cNvPr id="25" name="IE University logo" descr="IE University, School of Science &amp; Technology"/>
          <p:cNvPicPr>
            <a:picLocks noChangeAspect="1"/>
          </p:cNvPicPr>
          <p:nvPr/>
        </p:nvPicPr>
        <p:blipFill>
          <a:blip r:embed="rId7"/>
          <a:stretch>
            <a:fillRect/>
          </a:stretch>
        </p:blipFill>
        <p:spPr>
          <a:xfrm>
            <a:off x="8013607" y="92634"/>
            <a:ext cx="764633" cy="26278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marL="0" indent="0">
              <a:buNone/>
            </a:pPr>
            <a:r>
              <a:rPr lang="en-US" sz="800" dirty="0">
                <a:solidFill>
                  <a:srgbClr val="6B7280"/>
                </a:solidFill>
                <a:latin typeface="Calibri" pitchFamily="34" charset="0"/>
                <a:ea typeface="Calibri" pitchFamily="34" charset="-122"/>
                <a:cs typeface="Calibri" pitchFamily="34" charset="-120"/>
              </a:rPr>
              <a:t>MLOps · MBDS-PT2026F · Session 3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marL="0" indent="0" algn="r">
              <a:buNone/>
            </a:pPr>
            <a:r>
              <a:rPr lang="en-US" sz="800" dirty="0">
                <a:solidFill>
                  <a:srgbClr val="6B7280"/>
                </a:solidFill>
                <a:latin typeface="Calibri" pitchFamily="34" charset="0"/>
                <a:ea typeface="Calibri" pitchFamily="34" charset="-122"/>
                <a:cs typeface="Calibri" pitchFamily="34" charset="-120"/>
              </a:rPr>
              <a:t>13</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marL="0" indent="0">
              <a:buNone/>
            </a:pPr>
            <a:r>
              <a:rPr lang="en-US" sz="2400" b="1" dirty="0">
                <a:solidFill>
                  <a:srgbClr val="1B2A4A"/>
                </a:solidFill>
                <a:latin typeface="Calibri" pitchFamily="34" charset="0"/>
                <a:ea typeface="Calibri" pitchFamily="34" charset="-122"/>
                <a:cs typeface="Calibri" pitchFamily="34" charset="-120"/>
              </a:rPr>
              <a:t>Data validation: three checks that stop the pipeline before it wastes a day</a:t>
            </a:r>
            <a:endParaRPr lang="en-US" sz="2400" dirty="0"/>
          </a:p>
        </p:txBody>
      </p:sp>
      <p:sp>
        <p:nvSpPr>
          <p:cNvPr id="7" name="Shape 4"/>
          <p:cNvSpPr/>
          <p:nvPr/>
        </p:nvSpPr>
        <p:spPr>
          <a:xfrm>
            <a:off x="365760" y="1325880"/>
            <a:ext cx="640080" cy="640080"/>
          </a:xfrm>
          <a:prstGeom prst="ellipse">
            <a:avLst/>
          </a:prstGeom>
          <a:solidFill>
            <a:srgbClr val="0E7C86"/>
          </a:solidFill>
          <a:ln w="12700">
            <a:solidFill>
              <a:srgbClr val="0E7C86"/>
            </a:solidFill>
            <a:prstDash val="solid"/>
          </a:ln>
        </p:spPr>
        <p:txBody>
          <a:bodyPr/>
          <a:lstStyle/>
          <a:p>
            <a:endParaRPr/>
          </a:p>
        </p:txBody>
      </p:sp>
      <p:sp>
        <p:nvSpPr>
          <p:cNvPr id="8" name="Text 5"/>
          <p:cNvSpPr txBox="1"/>
          <p:nvPr/>
        </p:nvSpPr>
        <p:spPr>
          <a:xfrm>
            <a:off x="365760" y="1325880"/>
            <a:ext cx="64008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1</a:t>
            </a:r>
            <a:endParaRPr lang="en-US" sz="2400" dirty="0"/>
          </a:p>
        </p:txBody>
      </p:sp>
      <p:sp>
        <p:nvSpPr>
          <p:cNvPr id="9" name="Text 6"/>
          <p:cNvSpPr txBox="1"/>
          <p:nvPr/>
        </p:nvSpPr>
        <p:spPr>
          <a:xfrm>
            <a:off x="1188720" y="1234440"/>
            <a:ext cx="7589520" cy="411480"/>
          </a:xfrm>
          <a:prstGeom prst="rect">
            <a:avLst/>
          </a:prstGeom>
          <a:noFill/>
          <a:ln/>
        </p:spPr>
        <p:txBody>
          <a:bodyPr wrap="square" lIns="0" tIns="0" rIns="0" bIns="0" rtlCol="0" anchor="ctr"/>
          <a:lstStyle/>
          <a:p>
            <a:pPr marL="0" indent="0">
              <a:buNone/>
            </a:pPr>
            <a:r>
              <a:rPr lang="en-US" sz="1600" b="1" dirty="0">
                <a:solidFill>
                  <a:srgbClr val="1B2A4A"/>
                </a:solidFill>
                <a:latin typeface="Calibri" pitchFamily="34" charset="0"/>
                <a:ea typeface="Calibri" pitchFamily="34" charset="-122"/>
                <a:cs typeface="Calibri" pitchFamily="34" charset="-120"/>
              </a:rPr>
              <a:t>Anomalies: are there impossible values?</a:t>
            </a:r>
            <a:endParaRPr lang="en-US" sz="1600" dirty="0"/>
          </a:p>
        </p:txBody>
      </p:sp>
      <p:sp>
        <p:nvSpPr>
          <p:cNvPr id="10" name="Text 7"/>
          <p:cNvSpPr txBox="1"/>
          <p:nvPr/>
        </p:nvSpPr>
        <p:spPr>
          <a:xfrm>
            <a:off x="1188720" y="1645920"/>
            <a:ext cx="7589520" cy="548640"/>
          </a:xfrm>
          <a:prstGeom prst="rect">
            <a:avLst/>
          </a:prstGeom>
          <a:noFill/>
          <a:ln/>
        </p:spPr>
        <p:txBody>
          <a:bodyPr wrap="square" lIns="0" tIns="0" rIns="0" bIns="0" rtlCol="0" anchor="t"/>
          <a:lstStyle/>
          <a:p>
            <a:pPr marL="0" indent="0">
              <a:buNone/>
            </a:pPr>
            <a:r>
              <a:rPr lang="en-US" sz="1200" dirty="0">
                <a:solidFill>
                  <a:srgbClr val="222222"/>
                </a:solidFill>
                <a:latin typeface="Calibri" pitchFamily="34" charset="0"/>
                <a:ea typeface="Calibri" pitchFamily="34" charset="-122"/>
                <a:cs typeface="Calibri" pitchFamily="34" charset="-120"/>
              </a:rPr>
              <a:t>Negative ticket counts, 999 charges, duplicated customers, 60% empty columns. The notebook printed them and wrote "looks fine".</a:t>
            </a:r>
            <a:endParaRPr lang="en-US" sz="1200" dirty="0"/>
          </a:p>
        </p:txBody>
      </p:sp>
      <p:sp>
        <p:nvSpPr>
          <p:cNvPr id="11" name="Shape 8"/>
          <p:cNvSpPr/>
          <p:nvPr/>
        </p:nvSpPr>
        <p:spPr>
          <a:xfrm>
            <a:off x="365760" y="2286000"/>
            <a:ext cx="640080" cy="640080"/>
          </a:xfrm>
          <a:prstGeom prst="ellipse">
            <a:avLst/>
          </a:prstGeom>
          <a:solidFill>
            <a:srgbClr val="0E7C86"/>
          </a:solidFill>
          <a:ln w="12700">
            <a:solidFill>
              <a:srgbClr val="0E7C86"/>
            </a:solidFill>
            <a:prstDash val="solid"/>
          </a:ln>
        </p:spPr>
        <p:txBody>
          <a:bodyPr/>
          <a:lstStyle/>
          <a:p>
            <a:endParaRPr/>
          </a:p>
        </p:txBody>
      </p:sp>
      <p:sp>
        <p:nvSpPr>
          <p:cNvPr id="12" name="Text 9"/>
          <p:cNvSpPr txBox="1"/>
          <p:nvPr/>
        </p:nvSpPr>
        <p:spPr>
          <a:xfrm>
            <a:off x="365760" y="2286000"/>
            <a:ext cx="64008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2</a:t>
            </a:r>
            <a:endParaRPr lang="en-US" sz="2400" dirty="0"/>
          </a:p>
        </p:txBody>
      </p:sp>
      <p:sp>
        <p:nvSpPr>
          <p:cNvPr id="13" name="Text 10"/>
          <p:cNvSpPr txBox="1"/>
          <p:nvPr/>
        </p:nvSpPr>
        <p:spPr>
          <a:xfrm>
            <a:off x="1188720" y="2194560"/>
            <a:ext cx="7589520" cy="411480"/>
          </a:xfrm>
          <a:prstGeom prst="rect">
            <a:avLst/>
          </a:prstGeom>
          <a:noFill/>
          <a:ln/>
        </p:spPr>
        <p:txBody>
          <a:bodyPr wrap="square" lIns="0" tIns="0" rIns="0" bIns="0" rtlCol="0" anchor="ctr"/>
          <a:lstStyle/>
          <a:p>
            <a:pPr marL="0" indent="0">
              <a:buNone/>
            </a:pPr>
            <a:r>
              <a:rPr lang="en-US" sz="1600" b="1" dirty="0">
                <a:solidFill>
                  <a:srgbClr val="1B2A4A"/>
                </a:solidFill>
                <a:latin typeface="Calibri" pitchFamily="34" charset="0"/>
                <a:ea typeface="Calibri" pitchFamily="34" charset="-122"/>
                <a:cs typeface="Calibri" pitchFamily="34" charset="-120"/>
              </a:rPr>
              <a:t>Schema: are the columns what we expect?</a:t>
            </a:r>
            <a:endParaRPr lang="en-US" sz="1600" dirty="0"/>
          </a:p>
        </p:txBody>
      </p:sp>
      <p:sp>
        <p:nvSpPr>
          <p:cNvPr id="14" name="Text 11"/>
          <p:cNvSpPr txBox="1"/>
          <p:nvPr/>
        </p:nvSpPr>
        <p:spPr>
          <a:xfrm>
            <a:off x="1188720" y="2606040"/>
            <a:ext cx="7589520" cy="548640"/>
          </a:xfrm>
          <a:prstGeom prst="rect">
            <a:avLst/>
          </a:prstGeom>
          <a:noFill/>
          <a:ln/>
        </p:spPr>
        <p:txBody>
          <a:bodyPr wrap="square" lIns="0" tIns="0" rIns="0" bIns="0" rtlCol="0" anchor="t"/>
          <a:lstStyle/>
          <a:p>
            <a:pPr marL="0" indent="0">
              <a:buNone/>
            </a:pPr>
            <a:r>
              <a:rPr lang="en-US" sz="1200" dirty="0">
                <a:solidFill>
                  <a:srgbClr val="222222"/>
                </a:solidFill>
                <a:latin typeface="Calibri" pitchFamily="34" charset="0"/>
                <a:ea typeface="Calibri" pitchFamily="34" charset="-122"/>
                <a:cs typeface="Calibri" pitchFamily="34" charset="-120"/>
              </a:rPr>
              <a:t>Names, types, allowed values, ranges. A supplier changing product codes fails here, loudly, before anything is trained.</a:t>
            </a:r>
            <a:endParaRPr lang="en-US" sz="1200" dirty="0"/>
          </a:p>
        </p:txBody>
      </p:sp>
      <p:sp>
        <p:nvSpPr>
          <p:cNvPr id="15" name="Shape 12"/>
          <p:cNvSpPr/>
          <p:nvPr/>
        </p:nvSpPr>
        <p:spPr>
          <a:xfrm>
            <a:off x="365760" y="3246120"/>
            <a:ext cx="640080" cy="640080"/>
          </a:xfrm>
          <a:prstGeom prst="ellipse">
            <a:avLst/>
          </a:prstGeom>
          <a:solidFill>
            <a:srgbClr val="0E7C86"/>
          </a:solidFill>
          <a:ln w="12700">
            <a:solidFill>
              <a:srgbClr val="0E7C86"/>
            </a:solidFill>
            <a:prstDash val="solid"/>
          </a:ln>
        </p:spPr>
        <p:txBody>
          <a:bodyPr/>
          <a:lstStyle/>
          <a:p>
            <a:endParaRPr/>
          </a:p>
        </p:txBody>
      </p:sp>
      <p:sp>
        <p:nvSpPr>
          <p:cNvPr id="16" name="Text 13"/>
          <p:cNvSpPr txBox="1"/>
          <p:nvPr/>
        </p:nvSpPr>
        <p:spPr>
          <a:xfrm>
            <a:off x="365760" y="3246120"/>
            <a:ext cx="64008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3</a:t>
            </a:r>
            <a:endParaRPr lang="en-US" sz="2400" dirty="0"/>
          </a:p>
        </p:txBody>
      </p:sp>
      <p:sp>
        <p:nvSpPr>
          <p:cNvPr id="17" name="Text 14"/>
          <p:cNvSpPr txBox="1"/>
          <p:nvPr/>
        </p:nvSpPr>
        <p:spPr>
          <a:xfrm>
            <a:off x="1188720" y="3154680"/>
            <a:ext cx="7589520" cy="411480"/>
          </a:xfrm>
          <a:prstGeom prst="rect">
            <a:avLst/>
          </a:prstGeom>
          <a:noFill/>
          <a:ln/>
        </p:spPr>
        <p:txBody>
          <a:bodyPr wrap="square" lIns="0" tIns="0" rIns="0" bIns="0" rtlCol="0" anchor="ctr"/>
          <a:lstStyle/>
          <a:p>
            <a:pPr marL="0" indent="0">
              <a:buNone/>
            </a:pPr>
            <a:r>
              <a:rPr lang="en-US" sz="1600" b="1" dirty="0">
                <a:solidFill>
                  <a:srgbClr val="1B2A4A"/>
                </a:solidFill>
                <a:latin typeface="Calibri" pitchFamily="34" charset="0"/>
                <a:ea typeface="Calibri" pitchFamily="34" charset="-122"/>
                <a:cs typeface="Calibri" pitchFamily="34" charset="-120"/>
              </a:rPr>
              <a:t>Statistics: does new data still look like training data?</a:t>
            </a:r>
            <a:endParaRPr lang="en-US" sz="1600" dirty="0"/>
          </a:p>
        </p:txBody>
      </p:sp>
      <p:sp>
        <p:nvSpPr>
          <p:cNvPr id="18" name="Text 15"/>
          <p:cNvSpPr txBox="1"/>
          <p:nvPr/>
        </p:nvSpPr>
        <p:spPr>
          <a:xfrm>
            <a:off x="1188720" y="3566160"/>
            <a:ext cx="7589520" cy="548640"/>
          </a:xfrm>
          <a:prstGeom prst="rect">
            <a:avLst/>
          </a:prstGeom>
          <a:noFill/>
          <a:ln/>
        </p:spPr>
        <p:txBody>
          <a:bodyPr wrap="square" lIns="0" tIns="0" rIns="0" bIns="0" rtlCol="0" anchor="t"/>
          <a:lstStyle/>
          <a:p>
            <a:pPr marL="0" indent="0">
              <a:buNone/>
            </a:pPr>
            <a:r>
              <a:rPr lang="en-US" sz="1200" dirty="0">
                <a:solidFill>
                  <a:srgbClr val="222222"/>
                </a:solidFill>
                <a:latin typeface="Calibri" pitchFamily="34" charset="0"/>
                <a:ea typeface="Calibri" pitchFamily="34" charset="-122"/>
                <a:cs typeface="Calibri" pitchFamily="34" charset="-120"/>
              </a:rPr>
              <a:t>Distributions compared with the previous span. If they moved a lot, either the world changed or the extract is broken; both need a human.</a:t>
            </a:r>
            <a:endParaRPr lang="en-US" sz="1200" dirty="0"/>
          </a:p>
        </p:txBody>
      </p:sp>
      <p:sp>
        <p:nvSpPr>
          <p:cNvPr id="19" name="Shape 16"/>
          <p:cNvSpPr/>
          <p:nvPr/>
        </p:nvSpPr>
        <p:spPr>
          <a:xfrm>
            <a:off x="365760" y="4160520"/>
            <a:ext cx="8412480" cy="457200"/>
          </a:xfrm>
          <a:prstGeom prst="roundRect">
            <a:avLst>
              <a:gd name="adj" fmla="val 16000"/>
            </a:avLst>
          </a:prstGeom>
          <a:solidFill>
            <a:srgbClr val="E3F1F2"/>
          </a:solidFill>
          <a:ln w="12700">
            <a:solidFill>
              <a:srgbClr val="E3F1F2"/>
            </a:solidFill>
            <a:prstDash val="solid"/>
          </a:ln>
        </p:spPr>
        <p:txBody>
          <a:bodyPr/>
          <a:lstStyle/>
          <a:p>
            <a:endParaRPr/>
          </a:p>
        </p:txBody>
      </p:sp>
      <p:pic>
        <p:nvPicPr>
          <p:cNvPr id="20" name="Image 0" descr="preencoded.png"/>
          <p:cNvPicPr>
            <a:picLocks noChangeAspect="1"/>
          </p:cNvPicPr>
          <p:nvPr/>
        </p:nvPicPr>
        <p:blipFill>
          <a:blip r:embed="rId3"/>
          <a:stretch>
            <a:fillRect/>
          </a:stretch>
        </p:blipFill>
        <p:spPr>
          <a:xfrm>
            <a:off x="502920" y="4251960"/>
            <a:ext cx="274320" cy="274320"/>
          </a:xfrm>
          <a:prstGeom prst="rect">
            <a:avLst/>
          </a:prstGeom>
        </p:spPr>
      </p:pic>
      <p:sp>
        <p:nvSpPr>
          <p:cNvPr id="21" name="Text 17"/>
          <p:cNvSpPr txBox="1"/>
          <p:nvPr/>
        </p:nvSpPr>
        <p:spPr>
          <a:xfrm>
            <a:off x="896112" y="4160520"/>
            <a:ext cx="7772400" cy="457200"/>
          </a:xfrm>
          <a:prstGeom prst="rect">
            <a:avLst/>
          </a:prstGeom>
          <a:noFill/>
          <a:ln/>
        </p:spPr>
        <p:txBody>
          <a:bodyPr wrap="square" lIns="0" tIns="0" rIns="0" bIns="0" rtlCol="0" anchor="ctr"/>
          <a:lstStyle/>
          <a:p>
            <a:pPr marL="0" indent="0">
              <a:buNone/>
            </a:pPr>
            <a:r>
              <a:rPr lang="en-US" sz="1100" dirty="0">
                <a:solidFill>
                  <a:srgbClr val="1B2A4A"/>
                </a:solidFill>
                <a:latin typeface="Calibri" pitchFamily="34" charset="0"/>
                <a:ea typeface="Calibri" pitchFamily="34" charset="-122"/>
                <a:cs typeface="Calibri" pitchFamily="34" charset="-120"/>
              </a:rPr>
              <a:t>If the pipeline is going to retrain models on its own, validation is what makes that safe. Tools: TensorFlow Data Validation, Great Expectations, Evidently.</a:t>
            </a:r>
            <a:endParaRPr lang="en-US" sz="1100" dirty="0"/>
          </a:p>
        </p:txBody>
      </p:sp>
      <p:pic>
        <p:nvPicPr>
          <p:cNvPr id="22" name="IE University logo" descr="IE University, School of Science &amp; Technology"/>
          <p:cNvPicPr>
            <a:picLocks noChangeAspect="1"/>
          </p:cNvPicPr>
          <p:nvPr/>
        </p:nvPicPr>
        <p:blipFill>
          <a:blip r:embed="rId4"/>
          <a:stretch>
            <a:fillRect/>
          </a:stretch>
        </p:blipFill>
        <p:spPr>
          <a:xfrm>
            <a:off x="8013607" y="92634"/>
            <a:ext cx="764633" cy="26278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marL="0" indent="0">
              <a:buNone/>
            </a:pPr>
            <a:r>
              <a:rPr lang="en-US" sz="800" dirty="0">
                <a:solidFill>
                  <a:srgbClr val="6B7280"/>
                </a:solidFill>
                <a:latin typeface="Calibri" pitchFamily="34" charset="0"/>
                <a:ea typeface="Calibri" pitchFamily="34" charset="-122"/>
                <a:cs typeface="Calibri" pitchFamily="34" charset="-120"/>
              </a:rPr>
              <a:t>MLOps · MBDS-PT2026F · Session 3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marL="0" indent="0" algn="r">
              <a:buNone/>
            </a:pPr>
            <a:r>
              <a:rPr lang="en-US" sz="800" dirty="0">
                <a:solidFill>
                  <a:srgbClr val="6B7280"/>
                </a:solidFill>
                <a:latin typeface="Calibri" pitchFamily="34" charset="0"/>
                <a:ea typeface="Calibri" pitchFamily="34" charset="-122"/>
                <a:cs typeface="Calibri" pitchFamily="34" charset="-120"/>
              </a:rPr>
              <a:t>14</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marL="0" indent="0">
              <a:buNone/>
            </a:pPr>
            <a:r>
              <a:rPr lang="en-US" sz="2400" b="1" dirty="0">
                <a:solidFill>
                  <a:srgbClr val="1B2A4A"/>
                </a:solidFill>
                <a:latin typeface="Calibri" pitchFamily="34" charset="0"/>
                <a:ea typeface="Calibri" pitchFamily="34" charset="-122"/>
                <a:cs typeface="Calibri" pitchFamily="34" charset="-120"/>
              </a:rPr>
              <a:t>Pre-processing and features: the same code in training and in production</a:t>
            </a:r>
            <a:endParaRPr lang="en-US" sz="2400" dirty="0"/>
          </a:p>
        </p:txBody>
      </p:sp>
      <p:sp>
        <p:nvSpPr>
          <p:cNvPr id="7" name="Shape 4"/>
          <p:cNvSpPr/>
          <p:nvPr/>
        </p:nvSpPr>
        <p:spPr>
          <a:xfrm>
            <a:off x="365760" y="1234440"/>
            <a:ext cx="4114800" cy="1600200"/>
          </a:xfrm>
          <a:prstGeom prst="roundRect">
            <a:avLst>
              <a:gd name="adj" fmla="val 4571"/>
            </a:avLst>
          </a:prstGeom>
          <a:solidFill>
            <a:srgbClr val="F3F5F8"/>
          </a:solidFill>
          <a:ln w="12700">
            <a:solidFill>
              <a:srgbClr val="F3F5F8"/>
            </a:solidFill>
            <a:prstDash val="solid"/>
          </a:ln>
        </p:spPr>
        <p:txBody>
          <a:bodyPr/>
          <a:lstStyle/>
          <a:p>
            <a:endParaRPr/>
          </a:p>
        </p:txBody>
      </p:sp>
      <p:sp>
        <p:nvSpPr>
          <p:cNvPr id="8" name="Shape 5"/>
          <p:cNvSpPr/>
          <p:nvPr/>
        </p:nvSpPr>
        <p:spPr>
          <a:xfrm>
            <a:off x="502920" y="1353312"/>
            <a:ext cx="347472" cy="347472"/>
          </a:xfrm>
          <a:prstGeom prst="ellipse">
            <a:avLst/>
          </a:prstGeom>
          <a:solidFill>
            <a:srgbClr val="E07A2F"/>
          </a:solidFill>
          <a:ln w="12700">
            <a:solidFill>
              <a:srgbClr val="E07A2F"/>
            </a:solidFill>
            <a:prstDash val="solid"/>
          </a:ln>
        </p:spPr>
        <p:txBody>
          <a:bodyPr/>
          <a:lstStyle/>
          <a:p>
            <a:endParaRPr/>
          </a:p>
        </p:txBody>
      </p:sp>
      <p:pic>
        <p:nvPicPr>
          <p:cNvPr id="9" name="Image 0" descr="preencoded.png"/>
          <p:cNvPicPr>
            <a:picLocks noChangeAspect="1"/>
          </p:cNvPicPr>
          <p:nvPr/>
        </p:nvPicPr>
        <p:blipFill>
          <a:blip r:embed="rId3"/>
          <a:stretch>
            <a:fillRect/>
          </a:stretch>
        </p:blipFill>
        <p:spPr>
          <a:xfrm>
            <a:off x="576072" y="1426464"/>
            <a:ext cx="201168" cy="201168"/>
          </a:xfrm>
          <a:prstGeom prst="rect">
            <a:avLst/>
          </a:prstGeom>
        </p:spPr>
      </p:pic>
      <p:sp>
        <p:nvSpPr>
          <p:cNvPr id="10" name="Text 6"/>
          <p:cNvSpPr txBox="1"/>
          <p:nvPr/>
        </p:nvSpPr>
        <p:spPr>
          <a:xfrm>
            <a:off x="932688" y="1325880"/>
            <a:ext cx="3429000" cy="402336"/>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Training-serving skew</a:t>
            </a:r>
            <a:endParaRPr lang="en-US" sz="1300" dirty="0"/>
          </a:p>
        </p:txBody>
      </p:sp>
      <p:sp>
        <p:nvSpPr>
          <p:cNvPr id="11" name="Text 7"/>
          <p:cNvSpPr txBox="1"/>
          <p:nvPr/>
        </p:nvSpPr>
        <p:spPr>
          <a:xfrm>
            <a:off x="502920" y="1783080"/>
            <a:ext cx="3840480" cy="960120"/>
          </a:xfrm>
          <a:prstGeom prst="rect">
            <a:avLst/>
          </a:prstGeom>
          <a:noFill/>
          <a:ln/>
        </p:spPr>
        <p:txBody>
          <a:bodyPr wrap="square" lIns="0" tIns="0" rIns="0" bIns="0" rtlCol="0" anchor="t"/>
          <a:lstStyle/>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Pre-processing in the notebook ≠ pre-processing in the API</a:t>
            </a:r>
            <a:endParaRPr lang="en-US" sz="1150" dirty="0"/>
          </a:p>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Fix: one pre-processing step, one code, used by both training and scoring</a:t>
            </a:r>
            <a:endParaRPr lang="en-US" sz="1150" dirty="0"/>
          </a:p>
        </p:txBody>
      </p:sp>
      <p:sp>
        <p:nvSpPr>
          <p:cNvPr id="12" name="Shape 8"/>
          <p:cNvSpPr/>
          <p:nvPr/>
        </p:nvSpPr>
        <p:spPr>
          <a:xfrm>
            <a:off x="4663440" y="1234440"/>
            <a:ext cx="4114800" cy="1600200"/>
          </a:xfrm>
          <a:prstGeom prst="roundRect">
            <a:avLst>
              <a:gd name="adj" fmla="val 4571"/>
            </a:avLst>
          </a:prstGeom>
          <a:solidFill>
            <a:srgbClr val="F3F5F8"/>
          </a:solidFill>
          <a:ln w="12700">
            <a:solidFill>
              <a:srgbClr val="F3F5F8"/>
            </a:solidFill>
            <a:prstDash val="solid"/>
          </a:ln>
        </p:spPr>
        <p:txBody>
          <a:bodyPr/>
          <a:lstStyle/>
          <a:p>
            <a:endParaRPr/>
          </a:p>
        </p:txBody>
      </p:sp>
      <p:sp>
        <p:nvSpPr>
          <p:cNvPr id="13" name="Shape 9"/>
          <p:cNvSpPr/>
          <p:nvPr/>
        </p:nvSpPr>
        <p:spPr>
          <a:xfrm>
            <a:off x="4800600" y="1353312"/>
            <a:ext cx="347472" cy="347472"/>
          </a:xfrm>
          <a:prstGeom prst="ellipse">
            <a:avLst/>
          </a:prstGeom>
          <a:solidFill>
            <a:srgbClr val="0E7C86"/>
          </a:solidFill>
          <a:ln w="12700">
            <a:solidFill>
              <a:srgbClr val="0E7C86"/>
            </a:solidFill>
            <a:prstDash val="solid"/>
          </a:ln>
        </p:spPr>
        <p:txBody>
          <a:bodyPr/>
          <a:lstStyle/>
          <a:p>
            <a:endParaRPr/>
          </a:p>
        </p:txBody>
      </p:sp>
      <p:pic>
        <p:nvPicPr>
          <p:cNvPr id="14" name="Image 1" descr="preencoded.png"/>
          <p:cNvPicPr>
            <a:picLocks noChangeAspect="1"/>
          </p:cNvPicPr>
          <p:nvPr/>
        </p:nvPicPr>
        <p:blipFill>
          <a:blip r:embed="rId4"/>
          <a:stretch>
            <a:fillRect/>
          </a:stretch>
        </p:blipFill>
        <p:spPr>
          <a:xfrm>
            <a:off x="4873752" y="1426464"/>
            <a:ext cx="201168" cy="201168"/>
          </a:xfrm>
          <a:prstGeom prst="rect">
            <a:avLst/>
          </a:prstGeom>
        </p:spPr>
      </p:pic>
      <p:sp>
        <p:nvSpPr>
          <p:cNvPr id="15" name="Text 10"/>
          <p:cNvSpPr txBox="1"/>
          <p:nvPr/>
        </p:nvSpPr>
        <p:spPr>
          <a:xfrm>
            <a:off x="5230368" y="1325880"/>
            <a:ext cx="3429000" cy="402336"/>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Feature engineering, with a price</a:t>
            </a:r>
            <a:endParaRPr lang="en-US" sz="1300" dirty="0"/>
          </a:p>
        </p:txBody>
      </p:sp>
      <p:sp>
        <p:nvSpPr>
          <p:cNvPr id="16" name="Text 11"/>
          <p:cNvSpPr txBox="1"/>
          <p:nvPr/>
        </p:nvSpPr>
        <p:spPr>
          <a:xfrm>
            <a:off x="4800600" y="1783080"/>
            <a:ext cx="3840480" cy="960120"/>
          </a:xfrm>
          <a:prstGeom prst="rect">
            <a:avLst/>
          </a:prstGeom>
          <a:noFill/>
          <a:ln/>
        </p:spPr>
        <p:txBody>
          <a:bodyPr wrap="square" lIns="0" tIns="0" rIns="0" bIns="0" rtlCol="0" anchor="t"/>
          <a:lstStyle/>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New variables → probably more accuracy</a:t>
            </a:r>
            <a:endParaRPr lang="en-US" sz="1150" dirty="0"/>
          </a:p>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 more cost, harder to reproduce live, harder to explain</a:t>
            </a:r>
            <a:endParaRPr lang="en-US" sz="1150" dirty="0"/>
          </a:p>
        </p:txBody>
      </p:sp>
      <p:sp>
        <p:nvSpPr>
          <p:cNvPr id="17" name="Text 12"/>
          <p:cNvSpPr txBox="1"/>
          <p:nvPr/>
        </p:nvSpPr>
        <p:spPr>
          <a:xfrm>
            <a:off x="365760" y="2971800"/>
            <a:ext cx="8412480" cy="274320"/>
          </a:xfrm>
          <a:prstGeom prst="rect">
            <a:avLst/>
          </a:prstGeom>
          <a:noFill/>
          <a:ln/>
        </p:spPr>
        <p:txBody>
          <a:bodyPr wrap="square" lIns="0" tIns="0" rIns="0" bIns="0" rtlCol="0" anchor="t"/>
          <a:lstStyle/>
          <a:p>
            <a:pPr marL="0" indent="0" algn="l">
              <a:buNone/>
            </a:pPr>
            <a:r>
              <a:rPr lang="en-US" sz="1250" b="1" dirty="0">
                <a:solidFill>
                  <a:srgbClr val="0E7C86"/>
                </a:solidFill>
                <a:latin typeface="Calibri" pitchFamily="34" charset="0"/>
                <a:ea typeface="Calibri" pitchFamily="34" charset="-122"/>
                <a:cs typeface="Calibri" pitchFamily="34" charset="-120"/>
              </a:rPr>
              <a:t>Feature store: one shared, versioned library of features for training and scoring</a:t>
            </a:r>
            <a:endParaRPr lang="en-US" sz="1250" dirty="0"/>
          </a:p>
        </p:txBody>
      </p:sp>
      <p:sp>
        <p:nvSpPr>
          <p:cNvPr id="18" name="Shape 13"/>
          <p:cNvSpPr/>
          <p:nvPr/>
        </p:nvSpPr>
        <p:spPr>
          <a:xfrm>
            <a:off x="365760" y="3337560"/>
            <a:ext cx="1554480" cy="502920"/>
          </a:xfrm>
          <a:prstGeom prst="roundRect">
            <a:avLst>
              <a:gd name="adj" fmla="val 10909"/>
            </a:avLst>
          </a:prstGeom>
          <a:solidFill>
            <a:srgbClr val="F3F5F8"/>
          </a:solidFill>
          <a:ln w="9525">
            <a:solidFill>
              <a:srgbClr val="F3F5F8"/>
            </a:solidFill>
            <a:prstDash val="solid"/>
          </a:ln>
        </p:spPr>
        <p:txBody>
          <a:bodyPr/>
          <a:lstStyle/>
          <a:p>
            <a:endParaRPr/>
          </a:p>
        </p:txBody>
      </p:sp>
      <p:sp>
        <p:nvSpPr>
          <p:cNvPr id="19" name="Text 14"/>
          <p:cNvSpPr txBox="1"/>
          <p:nvPr/>
        </p:nvSpPr>
        <p:spPr>
          <a:xfrm>
            <a:off x="365760" y="3337560"/>
            <a:ext cx="1554480" cy="502920"/>
          </a:xfrm>
          <a:prstGeom prst="rect">
            <a:avLst/>
          </a:prstGeom>
          <a:noFill/>
          <a:ln/>
        </p:spPr>
        <p:txBody>
          <a:bodyPr wrap="square" lIns="635" tIns="635" rIns="635" bIns="635" rtlCol="0" anchor="ctr"/>
          <a:lstStyle/>
          <a:p>
            <a:pPr marL="0" indent="0" algn="ctr">
              <a:buNone/>
            </a:pPr>
            <a:r>
              <a:rPr lang="en-US" sz="1100" dirty="0">
                <a:solidFill>
                  <a:srgbClr val="1B2A4A"/>
                </a:solidFill>
                <a:latin typeface="Calibri" pitchFamily="34" charset="0"/>
                <a:ea typeface="Calibri" pitchFamily="34" charset="-122"/>
                <a:cs typeface="Calibri" pitchFamily="34" charset="-120"/>
              </a:rPr>
              <a:t>Warehouse &amp; streams</a:t>
            </a:r>
            <a:endParaRPr lang="en-US" sz="1100" dirty="0"/>
          </a:p>
        </p:txBody>
      </p:sp>
      <p:sp>
        <p:nvSpPr>
          <p:cNvPr id="20" name="Shape 15"/>
          <p:cNvSpPr/>
          <p:nvPr/>
        </p:nvSpPr>
        <p:spPr>
          <a:xfrm>
            <a:off x="1965960" y="3584448"/>
            <a:ext cx="411480" cy="0"/>
          </a:xfrm>
          <a:prstGeom prst="line">
            <a:avLst/>
          </a:prstGeom>
          <a:noFill/>
          <a:ln w="19050">
            <a:solidFill>
              <a:srgbClr val="0E7C86"/>
            </a:solidFill>
            <a:prstDash val="solid"/>
            <a:tailEnd type="triangle"/>
          </a:ln>
        </p:spPr>
        <p:txBody>
          <a:bodyPr/>
          <a:lstStyle/>
          <a:p>
            <a:endParaRPr/>
          </a:p>
        </p:txBody>
      </p:sp>
      <p:sp>
        <p:nvSpPr>
          <p:cNvPr id="21" name="Shape 16"/>
          <p:cNvSpPr/>
          <p:nvPr/>
        </p:nvSpPr>
        <p:spPr>
          <a:xfrm>
            <a:off x="2423160" y="3337560"/>
            <a:ext cx="1737360" cy="502920"/>
          </a:xfrm>
          <a:prstGeom prst="roundRect">
            <a:avLst>
              <a:gd name="adj" fmla="val 10909"/>
            </a:avLst>
          </a:prstGeom>
          <a:solidFill>
            <a:srgbClr val="F3F5F8"/>
          </a:solidFill>
          <a:ln w="9525">
            <a:solidFill>
              <a:srgbClr val="F3F5F8"/>
            </a:solidFill>
            <a:prstDash val="solid"/>
          </a:ln>
        </p:spPr>
        <p:txBody>
          <a:bodyPr/>
          <a:lstStyle/>
          <a:p>
            <a:endParaRPr/>
          </a:p>
        </p:txBody>
      </p:sp>
      <p:sp>
        <p:nvSpPr>
          <p:cNvPr id="22" name="Text 17"/>
          <p:cNvSpPr txBox="1"/>
          <p:nvPr/>
        </p:nvSpPr>
        <p:spPr>
          <a:xfrm>
            <a:off x="2423160" y="3337560"/>
            <a:ext cx="1737360" cy="502920"/>
          </a:xfrm>
          <a:prstGeom prst="rect">
            <a:avLst/>
          </a:prstGeom>
          <a:noFill/>
          <a:ln/>
        </p:spPr>
        <p:txBody>
          <a:bodyPr wrap="square" lIns="635" tIns="635" rIns="635" bIns="635" rtlCol="0" anchor="ctr"/>
          <a:lstStyle/>
          <a:p>
            <a:pPr marL="0" indent="0" algn="ctr">
              <a:buNone/>
            </a:pPr>
            <a:r>
              <a:rPr lang="en-US" sz="1100" dirty="0">
                <a:solidFill>
                  <a:srgbClr val="1B2A4A"/>
                </a:solidFill>
                <a:latin typeface="Calibri" pitchFamily="34" charset="0"/>
                <a:ea typeface="Calibri" pitchFamily="34" charset="-122"/>
                <a:cs typeface="Calibri" pitchFamily="34" charset="-120"/>
              </a:rPr>
              <a:t>Feature transformations</a:t>
            </a:r>
            <a:endParaRPr lang="en-US" sz="1100" dirty="0"/>
          </a:p>
        </p:txBody>
      </p:sp>
      <p:sp>
        <p:nvSpPr>
          <p:cNvPr id="23" name="Shape 18"/>
          <p:cNvSpPr/>
          <p:nvPr/>
        </p:nvSpPr>
        <p:spPr>
          <a:xfrm>
            <a:off x="4206240" y="3584448"/>
            <a:ext cx="411480" cy="0"/>
          </a:xfrm>
          <a:prstGeom prst="line">
            <a:avLst/>
          </a:prstGeom>
          <a:noFill/>
          <a:ln w="19050">
            <a:solidFill>
              <a:srgbClr val="0E7C86"/>
            </a:solidFill>
            <a:prstDash val="solid"/>
            <a:tailEnd type="triangle"/>
          </a:ln>
        </p:spPr>
        <p:txBody>
          <a:bodyPr/>
          <a:lstStyle/>
          <a:p>
            <a:endParaRPr/>
          </a:p>
        </p:txBody>
      </p:sp>
      <p:sp>
        <p:nvSpPr>
          <p:cNvPr id="24" name="Shape 19"/>
          <p:cNvSpPr/>
          <p:nvPr/>
        </p:nvSpPr>
        <p:spPr>
          <a:xfrm>
            <a:off x="4663440" y="3337560"/>
            <a:ext cx="1463040" cy="502920"/>
          </a:xfrm>
          <a:prstGeom prst="roundRect">
            <a:avLst>
              <a:gd name="adj" fmla="val 10909"/>
            </a:avLst>
          </a:prstGeom>
          <a:solidFill>
            <a:srgbClr val="0E7C86"/>
          </a:solidFill>
          <a:ln w="9525">
            <a:solidFill>
              <a:srgbClr val="0E7C86"/>
            </a:solidFill>
            <a:prstDash val="solid"/>
          </a:ln>
        </p:spPr>
        <p:txBody>
          <a:bodyPr/>
          <a:lstStyle/>
          <a:p>
            <a:endParaRPr/>
          </a:p>
        </p:txBody>
      </p:sp>
      <p:sp>
        <p:nvSpPr>
          <p:cNvPr id="25" name="Text 20"/>
          <p:cNvSpPr txBox="1"/>
          <p:nvPr/>
        </p:nvSpPr>
        <p:spPr>
          <a:xfrm>
            <a:off x="4663440" y="3337560"/>
            <a:ext cx="1463040" cy="502920"/>
          </a:xfrm>
          <a:prstGeom prst="rect">
            <a:avLst/>
          </a:prstGeom>
          <a:noFill/>
          <a:ln/>
        </p:spPr>
        <p:txBody>
          <a:bodyPr wrap="square" lIns="635" tIns="635" rIns="635" bIns="635"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Feature store</a:t>
            </a:r>
            <a:endParaRPr lang="en-US" sz="1100" dirty="0"/>
          </a:p>
        </p:txBody>
      </p:sp>
      <p:sp>
        <p:nvSpPr>
          <p:cNvPr id="26" name="Shape 21"/>
          <p:cNvSpPr/>
          <p:nvPr/>
        </p:nvSpPr>
        <p:spPr>
          <a:xfrm>
            <a:off x="6172200" y="3474720"/>
            <a:ext cx="502920" cy="0"/>
          </a:xfrm>
          <a:prstGeom prst="line">
            <a:avLst/>
          </a:prstGeom>
          <a:noFill/>
          <a:ln w="19050">
            <a:solidFill>
              <a:srgbClr val="0E7C86"/>
            </a:solidFill>
            <a:prstDash val="solid"/>
            <a:tailEnd type="triangle"/>
          </a:ln>
        </p:spPr>
        <p:txBody>
          <a:bodyPr/>
          <a:lstStyle/>
          <a:p>
            <a:endParaRPr/>
          </a:p>
        </p:txBody>
      </p:sp>
      <p:sp>
        <p:nvSpPr>
          <p:cNvPr id="27" name="Shape 22"/>
          <p:cNvSpPr/>
          <p:nvPr/>
        </p:nvSpPr>
        <p:spPr>
          <a:xfrm>
            <a:off x="6172200" y="3703320"/>
            <a:ext cx="502920" cy="274320"/>
          </a:xfrm>
          <a:prstGeom prst="line">
            <a:avLst/>
          </a:prstGeom>
          <a:noFill/>
          <a:ln w="19050">
            <a:solidFill>
              <a:srgbClr val="0E7C86"/>
            </a:solidFill>
            <a:prstDash val="solid"/>
            <a:tailEnd type="triangle"/>
          </a:ln>
        </p:spPr>
        <p:txBody>
          <a:bodyPr/>
          <a:lstStyle/>
          <a:p>
            <a:endParaRPr/>
          </a:p>
        </p:txBody>
      </p:sp>
      <p:sp>
        <p:nvSpPr>
          <p:cNvPr id="28" name="Shape 23"/>
          <p:cNvSpPr/>
          <p:nvPr/>
        </p:nvSpPr>
        <p:spPr>
          <a:xfrm>
            <a:off x="6720840" y="3017520"/>
            <a:ext cx="2057400" cy="457200"/>
          </a:xfrm>
          <a:prstGeom prst="roundRect">
            <a:avLst>
              <a:gd name="adj" fmla="val 12000"/>
            </a:avLst>
          </a:prstGeom>
          <a:solidFill>
            <a:srgbClr val="F3F5F8"/>
          </a:solidFill>
          <a:ln w="9525">
            <a:solidFill>
              <a:srgbClr val="F3F5F8"/>
            </a:solidFill>
            <a:prstDash val="solid"/>
          </a:ln>
        </p:spPr>
        <p:txBody>
          <a:bodyPr/>
          <a:lstStyle/>
          <a:p>
            <a:endParaRPr/>
          </a:p>
        </p:txBody>
      </p:sp>
      <p:sp>
        <p:nvSpPr>
          <p:cNvPr id="29" name="Text 24"/>
          <p:cNvSpPr txBox="1"/>
          <p:nvPr/>
        </p:nvSpPr>
        <p:spPr>
          <a:xfrm>
            <a:off x="6720840" y="3017520"/>
            <a:ext cx="2057400" cy="457200"/>
          </a:xfrm>
          <a:prstGeom prst="rect">
            <a:avLst/>
          </a:prstGeom>
          <a:noFill/>
          <a:ln/>
        </p:spPr>
        <p:txBody>
          <a:bodyPr wrap="square" lIns="635" tIns="635" rIns="635" bIns="635" rtlCol="0" anchor="ctr"/>
          <a:lstStyle/>
          <a:p>
            <a:pPr marL="0" indent="0" algn="ctr">
              <a:buNone/>
            </a:pPr>
            <a:r>
              <a:rPr lang="en-US" sz="1100" dirty="0">
                <a:solidFill>
                  <a:srgbClr val="1B2A4A"/>
                </a:solidFill>
                <a:latin typeface="Calibri" pitchFamily="34" charset="0"/>
                <a:ea typeface="Calibri" pitchFamily="34" charset="-122"/>
                <a:cs typeface="Calibri" pitchFamily="34" charset="-120"/>
              </a:rPr>
              <a:t>Model training</a:t>
            </a:r>
            <a:endParaRPr lang="en-US" sz="1100" dirty="0"/>
          </a:p>
        </p:txBody>
      </p:sp>
      <p:sp>
        <p:nvSpPr>
          <p:cNvPr id="30" name="Shape 25"/>
          <p:cNvSpPr/>
          <p:nvPr/>
        </p:nvSpPr>
        <p:spPr>
          <a:xfrm>
            <a:off x="6720840" y="3703320"/>
            <a:ext cx="2057400" cy="457200"/>
          </a:xfrm>
          <a:prstGeom prst="roundRect">
            <a:avLst>
              <a:gd name="adj" fmla="val 12000"/>
            </a:avLst>
          </a:prstGeom>
          <a:solidFill>
            <a:srgbClr val="F3F5F8"/>
          </a:solidFill>
          <a:ln w="9525">
            <a:solidFill>
              <a:srgbClr val="F3F5F8"/>
            </a:solidFill>
            <a:prstDash val="solid"/>
          </a:ln>
        </p:spPr>
        <p:txBody>
          <a:bodyPr/>
          <a:lstStyle/>
          <a:p>
            <a:endParaRPr/>
          </a:p>
        </p:txBody>
      </p:sp>
      <p:sp>
        <p:nvSpPr>
          <p:cNvPr id="31" name="Text 26"/>
          <p:cNvSpPr txBox="1"/>
          <p:nvPr/>
        </p:nvSpPr>
        <p:spPr>
          <a:xfrm>
            <a:off x="6720840" y="3703320"/>
            <a:ext cx="2057400" cy="457200"/>
          </a:xfrm>
          <a:prstGeom prst="rect">
            <a:avLst/>
          </a:prstGeom>
          <a:noFill/>
          <a:ln/>
        </p:spPr>
        <p:txBody>
          <a:bodyPr wrap="square" lIns="635" tIns="635" rIns="635" bIns="635" rtlCol="0" anchor="ctr"/>
          <a:lstStyle/>
          <a:p>
            <a:pPr marL="0" indent="0" algn="ctr">
              <a:buNone/>
            </a:pPr>
            <a:r>
              <a:rPr lang="en-US" sz="1100" dirty="0">
                <a:solidFill>
                  <a:srgbClr val="1B2A4A"/>
                </a:solidFill>
                <a:latin typeface="Calibri" pitchFamily="34" charset="0"/>
                <a:ea typeface="Calibri" pitchFamily="34" charset="-122"/>
                <a:cs typeface="Calibri" pitchFamily="34" charset="-120"/>
              </a:rPr>
              <a:t>Model inference (online / batch)</a:t>
            </a:r>
            <a:endParaRPr lang="en-US" sz="1100" dirty="0"/>
          </a:p>
        </p:txBody>
      </p:sp>
      <p:sp>
        <p:nvSpPr>
          <p:cNvPr id="32" name="Text 27"/>
          <p:cNvSpPr txBox="1"/>
          <p:nvPr/>
        </p:nvSpPr>
        <p:spPr>
          <a:xfrm>
            <a:off x="365760" y="4297680"/>
            <a:ext cx="8412480" cy="274320"/>
          </a:xfrm>
          <a:prstGeom prst="rect">
            <a:avLst/>
          </a:prstGeom>
          <a:noFill/>
          <a:ln/>
        </p:spPr>
        <p:txBody>
          <a:bodyPr wrap="square" lIns="0" tIns="0" rIns="0" bIns="0" rtlCol="0" anchor="t"/>
          <a:lstStyle/>
          <a:p>
            <a:pPr marL="0" indent="0" algn="l">
              <a:buNone/>
            </a:pPr>
            <a:r>
              <a:rPr lang="en-US" sz="1050" i="1" dirty="0">
                <a:solidFill>
                  <a:srgbClr val="6B7280"/>
                </a:solidFill>
                <a:latin typeface="Calibri" pitchFamily="34" charset="0"/>
                <a:ea typeface="Calibri" pitchFamily="34" charset="-122"/>
                <a:cs typeface="Calibri" pitchFamily="34" charset="-120"/>
              </a:rPr>
              <a:t>Concerns: too rigid? too complex for three models? Worth it at forty.</a:t>
            </a:r>
            <a:endParaRPr lang="en-US" sz="1050" dirty="0"/>
          </a:p>
        </p:txBody>
      </p:sp>
      <p:pic>
        <p:nvPicPr>
          <p:cNvPr id="33" name="IE University logo" descr="IE University, School of Science &amp; Technology"/>
          <p:cNvPicPr>
            <a:picLocks noChangeAspect="1"/>
          </p:cNvPicPr>
          <p:nvPr/>
        </p:nvPicPr>
        <p:blipFill>
          <a:blip r:embed="rId5"/>
          <a:stretch>
            <a:fillRect/>
          </a:stretch>
        </p:blipFill>
        <p:spPr>
          <a:xfrm>
            <a:off x="8013607" y="92634"/>
            <a:ext cx="764633" cy="262789"/>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marL="0" indent="0">
              <a:buNone/>
            </a:pPr>
            <a:r>
              <a:rPr lang="en-US" sz="800" dirty="0">
                <a:solidFill>
                  <a:srgbClr val="6B7280"/>
                </a:solidFill>
                <a:latin typeface="Calibri" pitchFamily="34" charset="0"/>
                <a:ea typeface="Calibri" pitchFamily="34" charset="-122"/>
                <a:cs typeface="Calibri" pitchFamily="34" charset="-120"/>
              </a:rPr>
              <a:t>MLOps · MBDS-PT2026F · Session 3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marL="0" indent="0" algn="r">
              <a:buNone/>
            </a:pPr>
            <a:r>
              <a:rPr lang="en-US" sz="800" dirty="0">
                <a:solidFill>
                  <a:srgbClr val="6B7280"/>
                </a:solidFill>
                <a:latin typeface="Calibri" pitchFamily="34" charset="0"/>
                <a:ea typeface="Calibri" pitchFamily="34" charset="-122"/>
                <a:cs typeface="Calibri" pitchFamily="34" charset="-120"/>
              </a:rPr>
              <a:t>15</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marL="0" indent="0">
              <a:buNone/>
            </a:pPr>
            <a:r>
              <a:rPr lang="en-US" sz="2400" b="1" dirty="0">
                <a:solidFill>
                  <a:srgbClr val="1B2A4A"/>
                </a:solidFill>
                <a:latin typeface="Calibri" pitchFamily="34" charset="0"/>
                <a:ea typeface="Calibri" pitchFamily="34" charset="-122"/>
                <a:cs typeface="Calibri" pitchFamily="34" charset="-120"/>
              </a:rPr>
              <a:t>The memory for models: an experiment log and a registry</a:t>
            </a:r>
            <a:endParaRPr lang="en-US" sz="2400" dirty="0"/>
          </a:p>
        </p:txBody>
      </p:sp>
      <p:sp>
        <p:nvSpPr>
          <p:cNvPr id="7" name="Shape 4"/>
          <p:cNvSpPr/>
          <p:nvPr/>
        </p:nvSpPr>
        <p:spPr>
          <a:xfrm>
            <a:off x="365760" y="1280160"/>
            <a:ext cx="420624" cy="420624"/>
          </a:xfrm>
          <a:prstGeom prst="ellipse">
            <a:avLst/>
          </a:prstGeom>
          <a:solidFill>
            <a:srgbClr val="0E7C86"/>
          </a:solidFill>
          <a:ln w="12700">
            <a:solidFill>
              <a:srgbClr val="0E7C86"/>
            </a:solidFill>
            <a:prstDash val="solid"/>
          </a:ln>
        </p:spPr>
        <p:txBody>
          <a:bodyPr/>
          <a:lstStyle/>
          <a:p>
            <a:endParaRPr/>
          </a:p>
        </p:txBody>
      </p:sp>
      <p:pic>
        <p:nvPicPr>
          <p:cNvPr id="8" name="Image 0" descr="preencoded.png"/>
          <p:cNvPicPr>
            <a:picLocks noChangeAspect="1"/>
          </p:cNvPicPr>
          <p:nvPr/>
        </p:nvPicPr>
        <p:blipFill>
          <a:blip r:embed="rId3"/>
          <a:stretch>
            <a:fillRect/>
          </a:stretch>
        </p:blipFill>
        <p:spPr>
          <a:xfrm>
            <a:off x="457200" y="1371600"/>
            <a:ext cx="237744" cy="237744"/>
          </a:xfrm>
          <a:prstGeom prst="rect">
            <a:avLst/>
          </a:prstGeom>
        </p:spPr>
      </p:pic>
      <p:sp>
        <p:nvSpPr>
          <p:cNvPr id="9" name="Text 5"/>
          <p:cNvSpPr txBox="1"/>
          <p:nvPr/>
        </p:nvSpPr>
        <p:spPr>
          <a:xfrm>
            <a:off x="914400" y="1261872"/>
            <a:ext cx="3474720" cy="256032"/>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The experiment log</a:t>
            </a:r>
            <a:endParaRPr lang="en-US" sz="1300" dirty="0"/>
          </a:p>
        </p:txBody>
      </p:sp>
      <p:sp>
        <p:nvSpPr>
          <p:cNvPr id="10" name="Text 6"/>
          <p:cNvSpPr txBox="1"/>
          <p:nvPr/>
        </p:nvSpPr>
        <p:spPr>
          <a:xfrm>
            <a:off x="914400" y="1517904"/>
            <a:ext cx="3474720" cy="548640"/>
          </a:xfrm>
          <a:prstGeom prst="rect">
            <a:avLst/>
          </a:prstGeom>
          <a:noFill/>
          <a:ln/>
        </p:spPr>
        <p:txBody>
          <a:bodyPr wrap="square" lIns="0" tIns="0" rIns="0" bIns="0" rtlCol="0" anchor="t"/>
          <a:lstStyle/>
          <a:p>
            <a:pPr marL="0" indent="0">
              <a:buNone/>
            </a:pPr>
            <a:r>
              <a:rPr lang="en-US" sz="1100" dirty="0">
                <a:solidFill>
                  <a:srgbClr val="222222"/>
                </a:solidFill>
                <a:latin typeface="Calibri" pitchFamily="34" charset="0"/>
                <a:ea typeface="Calibri" pitchFamily="34" charset="-122"/>
                <a:cs typeface="Calibri" pitchFamily="34" charset="-120"/>
              </a:rPr>
              <a:t>Every run: code version, data version, settings, metrics, the model file. Nothing is "the one from Tuesday".</a:t>
            </a:r>
            <a:endParaRPr lang="en-US" sz="1100" dirty="0"/>
          </a:p>
        </p:txBody>
      </p:sp>
      <p:sp>
        <p:nvSpPr>
          <p:cNvPr id="11" name="Shape 7"/>
          <p:cNvSpPr/>
          <p:nvPr/>
        </p:nvSpPr>
        <p:spPr>
          <a:xfrm>
            <a:off x="365760" y="2240280"/>
            <a:ext cx="420624" cy="420624"/>
          </a:xfrm>
          <a:prstGeom prst="ellipse">
            <a:avLst/>
          </a:prstGeom>
          <a:solidFill>
            <a:srgbClr val="0E7C86"/>
          </a:solidFill>
          <a:ln w="12700">
            <a:solidFill>
              <a:srgbClr val="0E7C86"/>
            </a:solidFill>
            <a:prstDash val="solid"/>
          </a:ln>
        </p:spPr>
        <p:txBody>
          <a:bodyPr/>
          <a:lstStyle/>
          <a:p>
            <a:endParaRPr/>
          </a:p>
        </p:txBody>
      </p:sp>
      <p:pic>
        <p:nvPicPr>
          <p:cNvPr id="12" name="Image 1" descr="preencoded.png"/>
          <p:cNvPicPr>
            <a:picLocks noChangeAspect="1"/>
          </p:cNvPicPr>
          <p:nvPr/>
        </p:nvPicPr>
        <p:blipFill>
          <a:blip r:embed="rId4"/>
          <a:stretch>
            <a:fillRect/>
          </a:stretch>
        </p:blipFill>
        <p:spPr>
          <a:xfrm>
            <a:off x="457200" y="2331720"/>
            <a:ext cx="237744" cy="237744"/>
          </a:xfrm>
          <a:prstGeom prst="rect">
            <a:avLst/>
          </a:prstGeom>
        </p:spPr>
      </p:pic>
      <p:sp>
        <p:nvSpPr>
          <p:cNvPr id="13" name="Text 8"/>
          <p:cNvSpPr txBox="1"/>
          <p:nvPr/>
        </p:nvSpPr>
        <p:spPr>
          <a:xfrm>
            <a:off x="914400" y="2221992"/>
            <a:ext cx="3474720" cy="256032"/>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The registry</a:t>
            </a:r>
            <a:endParaRPr lang="en-US" sz="1300" dirty="0"/>
          </a:p>
        </p:txBody>
      </p:sp>
      <p:sp>
        <p:nvSpPr>
          <p:cNvPr id="14" name="Text 9"/>
          <p:cNvSpPr txBox="1"/>
          <p:nvPr/>
        </p:nvSpPr>
        <p:spPr>
          <a:xfrm>
            <a:off x="914400" y="2478024"/>
            <a:ext cx="3474720" cy="548640"/>
          </a:xfrm>
          <a:prstGeom prst="rect">
            <a:avLst/>
          </a:prstGeom>
          <a:noFill/>
          <a:ln/>
        </p:spPr>
        <p:txBody>
          <a:bodyPr wrap="square" lIns="0" tIns="0" rIns="0" bIns="0" rtlCol="0" anchor="t"/>
          <a:lstStyle/>
          <a:p>
            <a:pPr marL="0" indent="0">
              <a:buNone/>
            </a:pPr>
            <a:r>
              <a:rPr lang="en-US" sz="1100" dirty="0">
                <a:solidFill>
                  <a:srgbClr val="222222"/>
                </a:solidFill>
                <a:latin typeface="Calibri" pitchFamily="34" charset="0"/>
                <a:ea typeface="Calibri" pitchFamily="34" charset="-122"/>
                <a:cs typeface="Calibri" pitchFamily="34" charset="-120"/>
              </a:rPr>
              <a:t>The shortlist. Each model has a version, an owner, a status: production, candidate, retired.</a:t>
            </a:r>
            <a:endParaRPr lang="en-US" sz="1100" dirty="0"/>
          </a:p>
        </p:txBody>
      </p:sp>
      <p:sp>
        <p:nvSpPr>
          <p:cNvPr id="15" name="Shape 10"/>
          <p:cNvSpPr/>
          <p:nvPr/>
        </p:nvSpPr>
        <p:spPr>
          <a:xfrm>
            <a:off x="365760" y="3200400"/>
            <a:ext cx="420624" cy="420624"/>
          </a:xfrm>
          <a:prstGeom prst="ellipse">
            <a:avLst/>
          </a:prstGeom>
          <a:solidFill>
            <a:srgbClr val="0E7C86"/>
          </a:solidFill>
          <a:ln w="12700">
            <a:solidFill>
              <a:srgbClr val="0E7C86"/>
            </a:solidFill>
            <a:prstDash val="solid"/>
          </a:ln>
        </p:spPr>
        <p:txBody>
          <a:bodyPr/>
          <a:lstStyle/>
          <a:p>
            <a:endParaRPr/>
          </a:p>
        </p:txBody>
      </p:sp>
      <p:pic>
        <p:nvPicPr>
          <p:cNvPr id="16" name="Image 2" descr="preencoded.png"/>
          <p:cNvPicPr>
            <a:picLocks noChangeAspect="1"/>
          </p:cNvPicPr>
          <p:nvPr/>
        </p:nvPicPr>
        <p:blipFill>
          <a:blip r:embed="rId5"/>
          <a:stretch>
            <a:fillRect/>
          </a:stretch>
        </p:blipFill>
        <p:spPr>
          <a:xfrm>
            <a:off x="457200" y="3291840"/>
            <a:ext cx="237744" cy="237744"/>
          </a:xfrm>
          <a:prstGeom prst="rect">
            <a:avLst/>
          </a:prstGeom>
        </p:spPr>
      </p:pic>
      <p:sp>
        <p:nvSpPr>
          <p:cNvPr id="17" name="Text 11"/>
          <p:cNvSpPr txBox="1"/>
          <p:nvPr/>
        </p:nvSpPr>
        <p:spPr>
          <a:xfrm>
            <a:off x="914400" y="3182112"/>
            <a:ext cx="3474720" cy="256032"/>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Plus the repository and the data snapshots</a:t>
            </a:r>
            <a:endParaRPr lang="en-US" sz="1300" dirty="0"/>
          </a:p>
        </p:txBody>
      </p:sp>
      <p:sp>
        <p:nvSpPr>
          <p:cNvPr id="18" name="Text 12"/>
          <p:cNvSpPr txBox="1"/>
          <p:nvPr/>
        </p:nvSpPr>
        <p:spPr>
          <a:xfrm>
            <a:off x="914400" y="3438144"/>
            <a:ext cx="3474720" cy="548640"/>
          </a:xfrm>
          <a:prstGeom prst="rect">
            <a:avLst/>
          </a:prstGeom>
          <a:noFill/>
          <a:ln/>
        </p:spPr>
        <p:txBody>
          <a:bodyPr wrap="square" lIns="0" tIns="0" rIns="0" bIns="0" rtlCol="0" anchor="t"/>
          <a:lstStyle/>
          <a:p>
            <a:pPr marL="0" indent="0">
              <a:buNone/>
            </a:pPr>
            <a:r>
              <a:rPr lang="en-US" sz="1100" dirty="0">
                <a:solidFill>
                  <a:srgbClr val="222222"/>
                </a:solidFill>
                <a:latin typeface="Calibri" pitchFamily="34" charset="0"/>
                <a:ea typeface="Calibri" pitchFamily="34" charset="-122"/>
                <a:cs typeface="Calibri" pitchFamily="34" charset="-120"/>
              </a:rPr>
              <a:t>Code v2.1 + span 12 + run 4 = model v1.1. Reproducible, auditable.</a:t>
            </a:r>
            <a:endParaRPr lang="en-US" sz="1100" dirty="0"/>
          </a:p>
        </p:txBody>
      </p:sp>
      <p:sp>
        <p:nvSpPr>
          <p:cNvPr id="19" name="Shape 13"/>
          <p:cNvSpPr/>
          <p:nvPr/>
        </p:nvSpPr>
        <p:spPr>
          <a:xfrm>
            <a:off x="4754880" y="1234440"/>
            <a:ext cx="4023360" cy="3108960"/>
          </a:xfrm>
          <a:prstGeom prst="roundRect">
            <a:avLst>
              <a:gd name="adj" fmla="val 2353"/>
            </a:avLst>
          </a:prstGeom>
          <a:solidFill>
            <a:srgbClr val="1B2A4A"/>
          </a:solidFill>
          <a:ln w="12700">
            <a:solidFill>
              <a:srgbClr val="1B2A4A"/>
            </a:solidFill>
            <a:prstDash val="solid"/>
          </a:ln>
        </p:spPr>
        <p:txBody>
          <a:bodyPr/>
          <a:lstStyle/>
          <a:p>
            <a:endParaRPr/>
          </a:p>
        </p:txBody>
      </p:sp>
      <p:pic>
        <p:nvPicPr>
          <p:cNvPr id="20" name="Image 3" descr="preencoded.png"/>
          <p:cNvPicPr>
            <a:picLocks noChangeAspect="1"/>
          </p:cNvPicPr>
          <p:nvPr/>
        </p:nvPicPr>
        <p:blipFill>
          <a:blip r:embed="rId3"/>
          <a:stretch>
            <a:fillRect/>
          </a:stretch>
        </p:blipFill>
        <p:spPr>
          <a:xfrm>
            <a:off x="6309360" y="1463040"/>
            <a:ext cx="914400" cy="914400"/>
          </a:xfrm>
          <a:prstGeom prst="rect">
            <a:avLst/>
          </a:prstGeom>
        </p:spPr>
      </p:pic>
      <p:sp>
        <p:nvSpPr>
          <p:cNvPr id="21" name="Text 14"/>
          <p:cNvSpPr txBox="1"/>
          <p:nvPr/>
        </p:nvSpPr>
        <p:spPr>
          <a:xfrm>
            <a:off x="4937760" y="2468880"/>
            <a:ext cx="365760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Live demo · 7 minutes</a:t>
            </a:r>
            <a:endParaRPr lang="en-US" sz="1600" dirty="0"/>
          </a:p>
        </p:txBody>
      </p:sp>
      <p:sp>
        <p:nvSpPr>
          <p:cNvPr id="22" name="Text 15"/>
          <p:cNvSpPr txBox="1"/>
          <p:nvPr/>
        </p:nvSpPr>
        <p:spPr>
          <a:xfrm>
            <a:off x="5029200" y="2880360"/>
            <a:ext cx="3474720" cy="1371600"/>
          </a:xfrm>
          <a:prstGeom prst="rect">
            <a:avLst/>
          </a:prstGeom>
          <a:noFill/>
          <a:ln/>
        </p:spPr>
        <p:txBody>
          <a:bodyPr wrap="square" lIns="0" tIns="0" rIns="0" bIns="0" rtlCol="0" anchor="t"/>
          <a:lstStyle/>
          <a:p>
            <a:pPr marL="0" indent="0" algn="ctr">
              <a:buNone/>
            </a:pPr>
            <a:r>
              <a:rPr lang="en-US" sz="1200" dirty="0">
                <a:solidFill>
                  <a:srgbClr val="CADCFC"/>
                </a:solidFill>
                <a:latin typeface="Calibri" pitchFamily="34" charset="0"/>
                <a:ea typeface="Calibri" pitchFamily="34" charset="-122"/>
                <a:cs typeface="Calibri" pitchFamily="34" charset="-120"/>
              </a:rPr>
              <a:t>MLflow: five runs of the churn model side by side, one rejected by validation, and a registry with the version in production and the candidate. Tools: MLflow, Weights &amp; Biases, the cloud platforms.</a:t>
            </a:r>
            <a:endParaRPr lang="en-US" sz="1200" dirty="0"/>
          </a:p>
        </p:txBody>
      </p:sp>
      <p:pic>
        <p:nvPicPr>
          <p:cNvPr id="23" name="IE University logo" descr="IE University, School of Science &amp; Technology"/>
          <p:cNvPicPr>
            <a:picLocks noChangeAspect="1"/>
          </p:cNvPicPr>
          <p:nvPr/>
        </p:nvPicPr>
        <p:blipFill>
          <a:blip r:embed="rId6"/>
          <a:stretch>
            <a:fillRect/>
          </a:stretch>
        </p:blipFill>
        <p:spPr>
          <a:xfrm>
            <a:off x="8013607" y="92634"/>
            <a:ext cx="764633" cy="262789"/>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marL="0" indent="0">
              <a:buNone/>
            </a:pPr>
            <a:r>
              <a:rPr lang="en-US" sz="800" dirty="0">
                <a:solidFill>
                  <a:srgbClr val="6B7280"/>
                </a:solidFill>
                <a:latin typeface="Calibri" pitchFamily="34" charset="0"/>
                <a:ea typeface="Calibri" pitchFamily="34" charset="-122"/>
                <a:cs typeface="Calibri" pitchFamily="34" charset="-120"/>
              </a:rPr>
              <a:t>MLOps · MBDS-PT2026F · Session 3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marL="0" indent="0" algn="r">
              <a:buNone/>
            </a:pPr>
            <a:r>
              <a:rPr lang="en-US" sz="800" dirty="0">
                <a:solidFill>
                  <a:srgbClr val="6B7280"/>
                </a:solidFill>
                <a:latin typeface="Calibri" pitchFamily="34" charset="0"/>
                <a:ea typeface="Calibri" pitchFamily="34" charset="-122"/>
                <a:cs typeface="Calibri" pitchFamily="34" charset="-120"/>
              </a:rPr>
              <a:t>16</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marL="0" indent="0">
              <a:buNone/>
            </a:pPr>
            <a:r>
              <a:rPr lang="en-US" sz="2400" b="1" dirty="0">
                <a:solidFill>
                  <a:srgbClr val="1B2A4A"/>
                </a:solidFill>
                <a:latin typeface="Calibri" pitchFamily="34" charset="0"/>
                <a:ea typeface="Calibri" pitchFamily="34" charset="-122"/>
                <a:cs typeface="Calibri" pitchFamily="34" charset="-120"/>
              </a:rPr>
              <a:t>What you just saw</a:t>
            </a:r>
            <a:endParaRPr lang="en-US" sz="2400" dirty="0"/>
          </a:p>
        </p:txBody>
      </p:sp>
      <p:sp>
        <p:nvSpPr>
          <p:cNvPr id="7" name="Shape 4"/>
          <p:cNvSpPr/>
          <p:nvPr/>
        </p:nvSpPr>
        <p:spPr>
          <a:xfrm>
            <a:off x="365760" y="1280160"/>
            <a:ext cx="2697480" cy="2011680"/>
          </a:xfrm>
          <a:prstGeom prst="roundRect">
            <a:avLst>
              <a:gd name="adj" fmla="val 3636"/>
            </a:avLst>
          </a:prstGeom>
          <a:solidFill>
            <a:srgbClr val="F3F5F8"/>
          </a:solidFill>
          <a:ln w="12700">
            <a:solidFill>
              <a:srgbClr val="F3F5F8"/>
            </a:solidFill>
            <a:prstDash val="solid"/>
          </a:ln>
        </p:spPr>
        <p:txBody>
          <a:bodyPr/>
          <a:lstStyle/>
          <a:p>
            <a:endParaRPr/>
          </a:p>
        </p:txBody>
      </p:sp>
      <p:sp>
        <p:nvSpPr>
          <p:cNvPr id="8" name="Shape 5"/>
          <p:cNvSpPr/>
          <p:nvPr/>
        </p:nvSpPr>
        <p:spPr>
          <a:xfrm>
            <a:off x="502920" y="1399032"/>
            <a:ext cx="347472" cy="347472"/>
          </a:xfrm>
          <a:prstGeom prst="ellipse">
            <a:avLst/>
          </a:prstGeom>
          <a:solidFill>
            <a:srgbClr val="0E7C86"/>
          </a:solidFill>
          <a:ln w="12700">
            <a:solidFill>
              <a:srgbClr val="0E7C86"/>
            </a:solidFill>
            <a:prstDash val="solid"/>
          </a:ln>
        </p:spPr>
        <p:txBody>
          <a:bodyPr/>
          <a:lstStyle/>
          <a:p>
            <a:endParaRPr/>
          </a:p>
        </p:txBody>
      </p:sp>
      <p:pic>
        <p:nvPicPr>
          <p:cNvPr id="9" name="Image 0" descr="preencoded.png"/>
          <p:cNvPicPr>
            <a:picLocks noChangeAspect="1"/>
          </p:cNvPicPr>
          <p:nvPr/>
        </p:nvPicPr>
        <p:blipFill>
          <a:blip r:embed="rId3"/>
          <a:stretch>
            <a:fillRect/>
          </a:stretch>
        </p:blipFill>
        <p:spPr>
          <a:xfrm>
            <a:off x="576072" y="1472184"/>
            <a:ext cx="201168" cy="201168"/>
          </a:xfrm>
          <a:prstGeom prst="rect">
            <a:avLst/>
          </a:prstGeom>
        </p:spPr>
      </p:pic>
      <p:sp>
        <p:nvSpPr>
          <p:cNvPr id="10" name="Text 6"/>
          <p:cNvSpPr txBox="1"/>
          <p:nvPr/>
        </p:nvSpPr>
        <p:spPr>
          <a:xfrm>
            <a:off x="932688" y="1371600"/>
            <a:ext cx="2011680" cy="402336"/>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The runs table</a:t>
            </a:r>
            <a:endParaRPr lang="en-US" sz="1300" dirty="0"/>
          </a:p>
        </p:txBody>
      </p:sp>
      <p:sp>
        <p:nvSpPr>
          <p:cNvPr id="11" name="Text 7"/>
          <p:cNvSpPr txBox="1"/>
          <p:nvPr/>
        </p:nvSpPr>
        <p:spPr>
          <a:xfrm>
            <a:off x="502920" y="1828800"/>
            <a:ext cx="2423160" cy="1371600"/>
          </a:xfrm>
          <a:prstGeom prst="rect">
            <a:avLst/>
          </a:prstGeom>
          <a:noFill/>
          <a:ln/>
        </p:spPr>
        <p:txBody>
          <a:bodyPr wrap="square" lIns="0" tIns="0" rIns="0" bIns="0" rtlCol="0" anchor="t"/>
          <a:lstStyle/>
          <a:p>
            <a:pPr marL="0" indent="0" algn="l">
              <a:buNone/>
            </a:pPr>
            <a:r>
              <a:rPr lang="en-US" sz="1200" dirty="0">
                <a:solidFill>
                  <a:srgbClr val="222222"/>
                </a:solidFill>
                <a:latin typeface="Calibri" pitchFamily="34" charset="0"/>
                <a:ea typeface="Calibri" pitchFamily="34" charset="-122"/>
                <a:cs typeface="Calibri" pitchFamily="34" charset="-120"/>
              </a:rPr>
              <a:t>Every attempt in one view: settings, data version, metrics. The best number is not automatically the best model.</a:t>
            </a:r>
            <a:endParaRPr lang="en-US" sz="1200" dirty="0"/>
          </a:p>
        </p:txBody>
      </p:sp>
      <p:sp>
        <p:nvSpPr>
          <p:cNvPr id="12" name="Shape 8"/>
          <p:cNvSpPr/>
          <p:nvPr/>
        </p:nvSpPr>
        <p:spPr>
          <a:xfrm>
            <a:off x="3218688" y="1280160"/>
            <a:ext cx="2697480" cy="2011680"/>
          </a:xfrm>
          <a:prstGeom prst="roundRect">
            <a:avLst>
              <a:gd name="adj" fmla="val 3636"/>
            </a:avLst>
          </a:prstGeom>
          <a:solidFill>
            <a:srgbClr val="F3F5F8"/>
          </a:solidFill>
          <a:ln w="12700">
            <a:solidFill>
              <a:srgbClr val="F3F5F8"/>
            </a:solidFill>
            <a:prstDash val="solid"/>
          </a:ln>
        </p:spPr>
        <p:txBody>
          <a:bodyPr/>
          <a:lstStyle/>
          <a:p>
            <a:endParaRPr/>
          </a:p>
        </p:txBody>
      </p:sp>
      <p:sp>
        <p:nvSpPr>
          <p:cNvPr id="13" name="Shape 9"/>
          <p:cNvSpPr/>
          <p:nvPr/>
        </p:nvSpPr>
        <p:spPr>
          <a:xfrm>
            <a:off x="3355848" y="1399032"/>
            <a:ext cx="347472" cy="347472"/>
          </a:xfrm>
          <a:prstGeom prst="ellipse">
            <a:avLst/>
          </a:prstGeom>
          <a:solidFill>
            <a:srgbClr val="E07A2F"/>
          </a:solidFill>
          <a:ln w="12700">
            <a:solidFill>
              <a:srgbClr val="E07A2F"/>
            </a:solidFill>
            <a:prstDash val="solid"/>
          </a:ln>
        </p:spPr>
        <p:txBody>
          <a:bodyPr/>
          <a:lstStyle/>
          <a:p>
            <a:endParaRPr/>
          </a:p>
        </p:txBody>
      </p:sp>
      <p:pic>
        <p:nvPicPr>
          <p:cNvPr id="14" name="Image 1" descr="preencoded.png"/>
          <p:cNvPicPr>
            <a:picLocks noChangeAspect="1"/>
          </p:cNvPicPr>
          <p:nvPr/>
        </p:nvPicPr>
        <p:blipFill>
          <a:blip r:embed="rId4"/>
          <a:stretch>
            <a:fillRect/>
          </a:stretch>
        </p:blipFill>
        <p:spPr>
          <a:xfrm>
            <a:off x="3429000" y="1472184"/>
            <a:ext cx="201168" cy="201168"/>
          </a:xfrm>
          <a:prstGeom prst="rect">
            <a:avLst/>
          </a:prstGeom>
        </p:spPr>
      </p:pic>
      <p:sp>
        <p:nvSpPr>
          <p:cNvPr id="15" name="Text 10"/>
          <p:cNvSpPr txBox="1"/>
          <p:nvPr/>
        </p:nvSpPr>
        <p:spPr>
          <a:xfrm>
            <a:off x="3785616" y="1371600"/>
            <a:ext cx="2011680" cy="402336"/>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The rejected run</a:t>
            </a:r>
            <a:endParaRPr lang="en-US" sz="1300" dirty="0"/>
          </a:p>
        </p:txBody>
      </p:sp>
      <p:sp>
        <p:nvSpPr>
          <p:cNvPr id="16" name="Text 11"/>
          <p:cNvSpPr txBox="1"/>
          <p:nvPr/>
        </p:nvSpPr>
        <p:spPr>
          <a:xfrm>
            <a:off x="3355848" y="1828800"/>
            <a:ext cx="2423160" cy="1371600"/>
          </a:xfrm>
          <a:prstGeom prst="rect">
            <a:avLst/>
          </a:prstGeom>
          <a:noFill/>
          <a:ln/>
        </p:spPr>
        <p:txBody>
          <a:bodyPr wrap="square" lIns="0" tIns="0" rIns="0" bIns="0" rtlCol="0" anchor="t"/>
          <a:lstStyle/>
          <a:p>
            <a:pPr marL="0" indent="0" algn="l">
              <a:buNone/>
            </a:pPr>
            <a:r>
              <a:rPr lang="en-US" sz="1200" dirty="0">
                <a:solidFill>
                  <a:srgbClr val="222222"/>
                </a:solidFill>
                <a:latin typeface="Calibri" pitchFamily="34" charset="0"/>
                <a:ea typeface="Calibri" pitchFamily="34" charset="-122"/>
                <a:cs typeface="Calibri" pitchFamily="34" charset="-120"/>
              </a:rPr>
              <a:t>Accuracy 0.80 on an extract with 60% empty tenure. The metric barely moved; the validation check caught it.</a:t>
            </a:r>
            <a:endParaRPr lang="en-US" sz="1200" dirty="0"/>
          </a:p>
        </p:txBody>
      </p:sp>
      <p:sp>
        <p:nvSpPr>
          <p:cNvPr id="17" name="Shape 12"/>
          <p:cNvSpPr/>
          <p:nvPr/>
        </p:nvSpPr>
        <p:spPr>
          <a:xfrm>
            <a:off x="6080760" y="1280160"/>
            <a:ext cx="2697480" cy="2011680"/>
          </a:xfrm>
          <a:prstGeom prst="roundRect">
            <a:avLst>
              <a:gd name="adj" fmla="val 3636"/>
            </a:avLst>
          </a:prstGeom>
          <a:solidFill>
            <a:srgbClr val="F3F5F8"/>
          </a:solidFill>
          <a:ln w="12700">
            <a:solidFill>
              <a:srgbClr val="F3F5F8"/>
            </a:solidFill>
            <a:prstDash val="solid"/>
          </a:ln>
        </p:spPr>
        <p:txBody>
          <a:bodyPr/>
          <a:lstStyle/>
          <a:p>
            <a:endParaRPr/>
          </a:p>
        </p:txBody>
      </p:sp>
      <p:sp>
        <p:nvSpPr>
          <p:cNvPr id="18" name="Shape 13"/>
          <p:cNvSpPr/>
          <p:nvPr/>
        </p:nvSpPr>
        <p:spPr>
          <a:xfrm>
            <a:off x="6217920" y="1399032"/>
            <a:ext cx="347472" cy="347472"/>
          </a:xfrm>
          <a:prstGeom prst="ellipse">
            <a:avLst/>
          </a:prstGeom>
          <a:solidFill>
            <a:srgbClr val="0E7C86"/>
          </a:solidFill>
          <a:ln w="12700">
            <a:solidFill>
              <a:srgbClr val="0E7C86"/>
            </a:solidFill>
            <a:prstDash val="solid"/>
          </a:ln>
        </p:spPr>
        <p:txBody>
          <a:bodyPr/>
          <a:lstStyle/>
          <a:p>
            <a:endParaRPr/>
          </a:p>
        </p:txBody>
      </p:sp>
      <p:pic>
        <p:nvPicPr>
          <p:cNvPr id="19" name="Image 2" descr="preencoded.png"/>
          <p:cNvPicPr>
            <a:picLocks noChangeAspect="1"/>
          </p:cNvPicPr>
          <p:nvPr/>
        </p:nvPicPr>
        <p:blipFill>
          <a:blip r:embed="rId5"/>
          <a:stretch>
            <a:fillRect/>
          </a:stretch>
        </p:blipFill>
        <p:spPr>
          <a:xfrm>
            <a:off x="6291072" y="1472184"/>
            <a:ext cx="201168" cy="201168"/>
          </a:xfrm>
          <a:prstGeom prst="rect">
            <a:avLst/>
          </a:prstGeom>
        </p:spPr>
      </p:pic>
      <p:sp>
        <p:nvSpPr>
          <p:cNvPr id="20" name="Text 14"/>
          <p:cNvSpPr txBox="1"/>
          <p:nvPr/>
        </p:nvSpPr>
        <p:spPr>
          <a:xfrm>
            <a:off x="6647688" y="1371600"/>
            <a:ext cx="2011680" cy="402336"/>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The registry</a:t>
            </a:r>
            <a:endParaRPr lang="en-US" sz="1300" dirty="0"/>
          </a:p>
        </p:txBody>
      </p:sp>
      <p:sp>
        <p:nvSpPr>
          <p:cNvPr id="21" name="Text 15"/>
          <p:cNvSpPr txBox="1"/>
          <p:nvPr/>
        </p:nvSpPr>
        <p:spPr>
          <a:xfrm>
            <a:off x="6217920" y="1828800"/>
            <a:ext cx="2423160" cy="1371600"/>
          </a:xfrm>
          <a:prstGeom prst="rect">
            <a:avLst/>
          </a:prstGeom>
          <a:noFill/>
          <a:ln/>
        </p:spPr>
        <p:txBody>
          <a:bodyPr wrap="square" lIns="0" tIns="0" rIns="0" bIns="0" rtlCol="0" anchor="t"/>
          <a:lstStyle/>
          <a:p>
            <a:pPr marL="0" indent="0" algn="l">
              <a:buNone/>
            </a:pPr>
            <a:r>
              <a:rPr lang="en-US" sz="1200" dirty="0">
                <a:solidFill>
                  <a:srgbClr val="222222"/>
                </a:solidFill>
                <a:latin typeface="Calibri" pitchFamily="34" charset="0"/>
                <a:ea typeface="Calibri" pitchFamily="34" charset="-122"/>
                <a:cs typeface="Calibri" pitchFamily="34" charset="-120"/>
              </a:rPr>
              <a:t>v1 in production, with owner and approval date; v2 a candidate. Registering is cheap; promoting is the gate: a pointer only certain people may move.</a:t>
            </a:r>
            <a:endParaRPr lang="en-US" sz="1200" dirty="0"/>
          </a:p>
        </p:txBody>
      </p:sp>
      <p:sp>
        <p:nvSpPr>
          <p:cNvPr id="22" name="Shape 16"/>
          <p:cNvSpPr/>
          <p:nvPr/>
        </p:nvSpPr>
        <p:spPr>
          <a:xfrm>
            <a:off x="365760" y="3566160"/>
            <a:ext cx="8412480" cy="548640"/>
          </a:xfrm>
          <a:prstGeom prst="roundRect">
            <a:avLst>
              <a:gd name="adj" fmla="val 13333"/>
            </a:avLst>
          </a:prstGeom>
          <a:solidFill>
            <a:srgbClr val="E3F1F2"/>
          </a:solidFill>
          <a:ln w="12700">
            <a:solidFill>
              <a:srgbClr val="E3F1F2"/>
            </a:solidFill>
            <a:prstDash val="solid"/>
          </a:ln>
        </p:spPr>
        <p:txBody>
          <a:bodyPr/>
          <a:lstStyle/>
          <a:p>
            <a:endParaRPr/>
          </a:p>
        </p:txBody>
      </p:sp>
      <p:pic>
        <p:nvPicPr>
          <p:cNvPr id="23" name="Image 3" descr="preencoded.png"/>
          <p:cNvPicPr>
            <a:picLocks noChangeAspect="1"/>
          </p:cNvPicPr>
          <p:nvPr/>
        </p:nvPicPr>
        <p:blipFill>
          <a:blip r:embed="rId6"/>
          <a:stretch>
            <a:fillRect/>
          </a:stretch>
        </p:blipFill>
        <p:spPr>
          <a:xfrm>
            <a:off x="502920" y="3703320"/>
            <a:ext cx="274320" cy="274320"/>
          </a:xfrm>
          <a:prstGeom prst="rect">
            <a:avLst/>
          </a:prstGeom>
        </p:spPr>
      </p:pic>
      <p:sp>
        <p:nvSpPr>
          <p:cNvPr id="24" name="Text 17"/>
          <p:cNvSpPr txBox="1"/>
          <p:nvPr/>
        </p:nvSpPr>
        <p:spPr>
          <a:xfrm>
            <a:off x="896112" y="3566160"/>
            <a:ext cx="7772400" cy="548640"/>
          </a:xfrm>
          <a:prstGeom prst="rect">
            <a:avLst/>
          </a:prstGeom>
          <a:noFill/>
          <a:ln/>
        </p:spPr>
        <p:txBody>
          <a:bodyPr wrap="square" lIns="0" tIns="0" rIns="0" bIns="0" rtlCol="0" anchor="ctr"/>
          <a:lstStyle/>
          <a:p>
            <a:pPr marL="0" indent="0">
              <a:buNone/>
            </a:pPr>
            <a:r>
              <a:rPr lang="en-US" sz="1200" dirty="0">
                <a:solidFill>
                  <a:srgbClr val="1B2A4A"/>
                </a:solidFill>
                <a:latin typeface="Calibri" pitchFamily="34" charset="0"/>
                <a:ea typeface="Calibri" pitchFamily="34" charset="-122"/>
                <a:cs typeface="Calibri" pitchFamily="34" charset="-120"/>
              </a:rPr>
              <a:t>The registry says which model is approved. It does not say where it runs. Next: environments.</a:t>
            </a:r>
            <a:endParaRPr lang="en-US" sz="1200" dirty="0"/>
          </a:p>
        </p:txBody>
      </p:sp>
      <p:pic>
        <p:nvPicPr>
          <p:cNvPr id="25" name="IE University logo" descr="IE University, School of Science &amp; Technology"/>
          <p:cNvPicPr>
            <a:picLocks noChangeAspect="1"/>
          </p:cNvPicPr>
          <p:nvPr/>
        </p:nvPicPr>
        <p:blipFill>
          <a:blip r:embed="rId7"/>
          <a:stretch>
            <a:fillRect/>
          </a:stretch>
        </p:blipFill>
        <p:spPr>
          <a:xfrm>
            <a:off x="8013607" y="92634"/>
            <a:ext cx="764633" cy="262789"/>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B2A4A"/>
        </a:solidFill>
        <a:effectLst/>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marL="0" indent="0">
              <a:buNone/>
            </a:pPr>
            <a:r>
              <a:rPr lang="en-US" sz="900" dirty="0">
                <a:solidFill>
                  <a:srgbClr val="B8C4D6"/>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marL="0" indent="0">
              <a:buNone/>
            </a:pPr>
            <a:r>
              <a:rPr lang="en-US" sz="800" dirty="0">
                <a:solidFill>
                  <a:srgbClr val="B8C4D6"/>
                </a:solidFill>
                <a:latin typeface="Calibri" pitchFamily="34" charset="0"/>
                <a:ea typeface="Calibri" pitchFamily="34" charset="-122"/>
                <a:cs typeface="Calibri" pitchFamily="34" charset="-120"/>
              </a:rPr>
              <a:t>MLOps · MBDS-PT2026F · Session 3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marL="0" indent="0" algn="r">
              <a:buNone/>
            </a:pPr>
            <a:r>
              <a:rPr lang="en-US" sz="800" dirty="0">
                <a:solidFill>
                  <a:srgbClr val="B8C4D6"/>
                </a:solidFill>
                <a:latin typeface="Calibri" pitchFamily="34" charset="0"/>
                <a:ea typeface="Calibri" pitchFamily="34" charset="-122"/>
                <a:cs typeface="Calibri" pitchFamily="34" charset="-120"/>
              </a:rPr>
              <a:t>17</a:t>
            </a:r>
            <a:endParaRPr lang="en-US" sz="800" dirty="0"/>
          </a:p>
        </p:txBody>
      </p:sp>
      <p:sp>
        <p:nvSpPr>
          <p:cNvPr id="5" name="Text 3"/>
          <p:cNvSpPr txBox="1"/>
          <p:nvPr/>
        </p:nvSpPr>
        <p:spPr>
          <a:xfrm>
            <a:off x="548640" y="1188720"/>
            <a:ext cx="8046720" cy="91440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Environments: Dev, QA, Prod</a:t>
            </a:r>
            <a:endParaRPr lang="en-US" sz="3000" dirty="0"/>
          </a:p>
        </p:txBody>
      </p:sp>
      <p:sp>
        <p:nvSpPr>
          <p:cNvPr id="6" name="Text 4"/>
          <p:cNvSpPr txBox="1"/>
          <p:nvPr/>
        </p:nvSpPr>
        <p:spPr>
          <a:xfrm>
            <a:off x="548640" y="2103120"/>
            <a:ext cx="8046720" cy="548640"/>
          </a:xfrm>
          <a:prstGeom prst="rect">
            <a:avLst/>
          </a:prstGeom>
          <a:noFill/>
          <a:ln/>
        </p:spPr>
        <p:txBody>
          <a:bodyPr wrap="square" lIns="0" tIns="0" rIns="0" bIns="0" rtlCol="0" anchor="ctr"/>
          <a:lstStyle/>
          <a:p>
            <a:pPr marL="0" indent="0">
              <a:buNone/>
            </a:pPr>
            <a:r>
              <a:rPr lang="en-US" sz="1600" dirty="0">
                <a:solidFill>
                  <a:srgbClr val="CADCFC"/>
                </a:solidFill>
                <a:latin typeface="Calibri" pitchFamily="34" charset="0"/>
                <a:ea typeface="Calibri" pitchFamily="34" charset="-122"/>
                <a:cs typeface="Calibri" pitchFamily="34" charset="-120"/>
              </a:rPr>
              <a:t>Why companies keep three copies of everything, and what it costs to skip one</a:t>
            </a:r>
            <a:endParaRPr lang="en-US" sz="1600" dirty="0"/>
          </a:p>
        </p:txBody>
      </p:sp>
      <p:sp>
        <p:nvSpPr>
          <p:cNvPr id="7" name="Shape 5"/>
          <p:cNvSpPr/>
          <p:nvPr/>
        </p:nvSpPr>
        <p:spPr>
          <a:xfrm>
            <a:off x="548640" y="3246120"/>
            <a:ext cx="845312" cy="566928"/>
          </a:xfrm>
          <a:prstGeom prst="roundRect">
            <a:avLst>
              <a:gd name="adj" fmla="val 9677"/>
            </a:avLst>
          </a:prstGeom>
          <a:solidFill>
            <a:srgbClr val="2E3F63"/>
          </a:solidFill>
          <a:ln w="12700">
            <a:solidFill>
              <a:srgbClr val="2E3F63"/>
            </a:solidFill>
            <a:prstDash val="solid"/>
          </a:ln>
        </p:spPr>
        <p:txBody>
          <a:bodyPr/>
          <a:lstStyle/>
          <a:p>
            <a:endParaRPr/>
          </a:p>
        </p:txBody>
      </p:sp>
      <p:sp>
        <p:nvSpPr>
          <p:cNvPr id="8" name="Text 6"/>
          <p:cNvSpPr txBox="1"/>
          <p:nvPr/>
        </p:nvSpPr>
        <p:spPr>
          <a:xfrm>
            <a:off x="548640" y="3246120"/>
            <a:ext cx="845312" cy="566928"/>
          </a:xfrm>
          <a:prstGeom prst="rect">
            <a:avLst/>
          </a:prstGeom>
          <a:noFill/>
          <a:ln/>
        </p:spPr>
        <p:txBody>
          <a:bodyPr wrap="square" lIns="254" tIns="254" rIns="254" bIns="254" rtlCol="0" anchor="ctr"/>
          <a:lstStyle/>
          <a:p>
            <a:pPr marL="0" indent="0" algn="ctr">
              <a:buNone/>
            </a:pPr>
            <a:r>
              <a:rPr lang="en-US" sz="800" dirty="0">
                <a:solidFill>
                  <a:srgbClr val="B8C4D6"/>
                </a:solidFill>
                <a:latin typeface="Calibri" pitchFamily="34" charset="0"/>
                <a:ea typeface="Calibri" pitchFamily="34" charset="-122"/>
                <a:cs typeface="Calibri" pitchFamily="34" charset="-120"/>
              </a:rPr>
              <a:t>Data ingestion &amp; versioning</a:t>
            </a:r>
            <a:endParaRPr lang="en-US" sz="800" dirty="0"/>
          </a:p>
        </p:txBody>
      </p:sp>
      <p:sp>
        <p:nvSpPr>
          <p:cNvPr id="9" name="Shape 7"/>
          <p:cNvSpPr/>
          <p:nvPr/>
        </p:nvSpPr>
        <p:spPr>
          <a:xfrm>
            <a:off x="1448816" y="3246120"/>
            <a:ext cx="845312" cy="566928"/>
          </a:xfrm>
          <a:prstGeom prst="roundRect">
            <a:avLst>
              <a:gd name="adj" fmla="val 9677"/>
            </a:avLst>
          </a:prstGeom>
          <a:solidFill>
            <a:srgbClr val="2E3F63"/>
          </a:solidFill>
          <a:ln w="12700">
            <a:solidFill>
              <a:srgbClr val="2E3F63"/>
            </a:solidFill>
            <a:prstDash val="solid"/>
          </a:ln>
        </p:spPr>
        <p:txBody>
          <a:bodyPr/>
          <a:lstStyle/>
          <a:p>
            <a:endParaRPr/>
          </a:p>
        </p:txBody>
      </p:sp>
      <p:sp>
        <p:nvSpPr>
          <p:cNvPr id="10" name="Text 8"/>
          <p:cNvSpPr txBox="1"/>
          <p:nvPr/>
        </p:nvSpPr>
        <p:spPr>
          <a:xfrm>
            <a:off x="1448816" y="3246120"/>
            <a:ext cx="845312" cy="566928"/>
          </a:xfrm>
          <a:prstGeom prst="rect">
            <a:avLst/>
          </a:prstGeom>
          <a:noFill/>
          <a:ln/>
        </p:spPr>
        <p:txBody>
          <a:bodyPr wrap="square" lIns="254" tIns="254" rIns="254" bIns="254" rtlCol="0" anchor="ctr"/>
          <a:lstStyle/>
          <a:p>
            <a:pPr marL="0" indent="0" algn="ctr">
              <a:buNone/>
            </a:pPr>
            <a:r>
              <a:rPr lang="en-US" sz="800" dirty="0">
                <a:solidFill>
                  <a:srgbClr val="B8C4D6"/>
                </a:solidFill>
                <a:latin typeface="Calibri" pitchFamily="34" charset="0"/>
                <a:ea typeface="Calibri" pitchFamily="34" charset="-122"/>
                <a:cs typeface="Calibri" pitchFamily="34" charset="-120"/>
              </a:rPr>
              <a:t>Data validation</a:t>
            </a:r>
            <a:endParaRPr lang="en-US" sz="800" dirty="0"/>
          </a:p>
        </p:txBody>
      </p:sp>
      <p:sp>
        <p:nvSpPr>
          <p:cNvPr id="11" name="Shape 9"/>
          <p:cNvSpPr/>
          <p:nvPr/>
        </p:nvSpPr>
        <p:spPr>
          <a:xfrm>
            <a:off x="2348992" y="3246120"/>
            <a:ext cx="845312" cy="566928"/>
          </a:xfrm>
          <a:prstGeom prst="roundRect">
            <a:avLst>
              <a:gd name="adj" fmla="val 9677"/>
            </a:avLst>
          </a:prstGeom>
          <a:solidFill>
            <a:srgbClr val="2E3F63"/>
          </a:solidFill>
          <a:ln w="12700">
            <a:solidFill>
              <a:srgbClr val="2E3F63"/>
            </a:solidFill>
            <a:prstDash val="solid"/>
          </a:ln>
        </p:spPr>
        <p:txBody>
          <a:bodyPr/>
          <a:lstStyle/>
          <a:p>
            <a:endParaRPr/>
          </a:p>
        </p:txBody>
      </p:sp>
      <p:sp>
        <p:nvSpPr>
          <p:cNvPr id="12" name="Text 10"/>
          <p:cNvSpPr txBox="1"/>
          <p:nvPr/>
        </p:nvSpPr>
        <p:spPr>
          <a:xfrm>
            <a:off x="2348992" y="3246120"/>
            <a:ext cx="845312" cy="566928"/>
          </a:xfrm>
          <a:prstGeom prst="rect">
            <a:avLst/>
          </a:prstGeom>
          <a:noFill/>
          <a:ln/>
        </p:spPr>
        <p:txBody>
          <a:bodyPr wrap="square" lIns="254" tIns="254" rIns="254" bIns="254" rtlCol="0" anchor="ctr"/>
          <a:lstStyle/>
          <a:p>
            <a:pPr marL="0" indent="0" algn="ctr">
              <a:buNone/>
            </a:pPr>
            <a:r>
              <a:rPr lang="en-US" sz="800" dirty="0">
                <a:solidFill>
                  <a:srgbClr val="B8C4D6"/>
                </a:solidFill>
                <a:latin typeface="Calibri" pitchFamily="34" charset="0"/>
                <a:ea typeface="Calibri" pitchFamily="34" charset="-122"/>
                <a:cs typeface="Calibri" pitchFamily="34" charset="-120"/>
              </a:rPr>
              <a:t>Data pre-processing</a:t>
            </a:r>
            <a:endParaRPr lang="en-US" sz="800" dirty="0"/>
          </a:p>
        </p:txBody>
      </p:sp>
      <p:sp>
        <p:nvSpPr>
          <p:cNvPr id="13" name="Shape 11"/>
          <p:cNvSpPr/>
          <p:nvPr/>
        </p:nvSpPr>
        <p:spPr>
          <a:xfrm>
            <a:off x="3249168" y="3246120"/>
            <a:ext cx="845312" cy="566928"/>
          </a:xfrm>
          <a:prstGeom prst="roundRect">
            <a:avLst>
              <a:gd name="adj" fmla="val 9677"/>
            </a:avLst>
          </a:prstGeom>
          <a:solidFill>
            <a:srgbClr val="2E3F63"/>
          </a:solidFill>
          <a:ln w="12700">
            <a:solidFill>
              <a:srgbClr val="2E3F63"/>
            </a:solidFill>
            <a:prstDash val="solid"/>
          </a:ln>
        </p:spPr>
        <p:txBody>
          <a:bodyPr/>
          <a:lstStyle/>
          <a:p>
            <a:endParaRPr/>
          </a:p>
        </p:txBody>
      </p:sp>
      <p:sp>
        <p:nvSpPr>
          <p:cNvPr id="14" name="Text 12"/>
          <p:cNvSpPr txBox="1"/>
          <p:nvPr/>
        </p:nvSpPr>
        <p:spPr>
          <a:xfrm>
            <a:off x="3249168" y="3246120"/>
            <a:ext cx="845312" cy="566928"/>
          </a:xfrm>
          <a:prstGeom prst="rect">
            <a:avLst/>
          </a:prstGeom>
          <a:noFill/>
          <a:ln/>
        </p:spPr>
        <p:txBody>
          <a:bodyPr wrap="square" lIns="254" tIns="254" rIns="254" bIns="254" rtlCol="0" anchor="ctr"/>
          <a:lstStyle/>
          <a:p>
            <a:pPr marL="0" indent="0" algn="ctr">
              <a:buNone/>
            </a:pPr>
            <a:r>
              <a:rPr lang="en-US" sz="800" dirty="0">
                <a:solidFill>
                  <a:srgbClr val="B8C4D6"/>
                </a:solidFill>
                <a:latin typeface="Calibri" pitchFamily="34" charset="0"/>
                <a:ea typeface="Calibri" pitchFamily="34" charset="-122"/>
                <a:cs typeface="Calibri" pitchFamily="34" charset="-120"/>
              </a:rPr>
              <a:t>Model training</a:t>
            </a:r>
            <a:endParaRPr lang="en-US" sz="800" dirty="0"/>
          </a:p>
        </p:txBody>
      </p:sp>
      <p:sp>
        <p:nvSpPr>
          <p:cNvPr id="15" name="Shape 13"/>
          <p:cNvSpPr/>
          <p:nvPr/>
        </p:nvSpPr>
        <p:spPr>
          <a:xfrm>
            <a:off x="4149344" y="3246120"/>
            <a:ext cx="845312" cy="566928"/>
          </a:xfrm>
          <a:prstGeom prst="roundRect">
            <a:avLst>
              <a:gd name="adj" fmla="val 9677"/>
            </a:avLst>
          </a:prstGeom>
          <a:solidFill>
            <a:srgbClr val="2E3F63"/>
          </a:solidFill>
          <a:ln w="12700">
            <a:solidFill>
              <a:srgbClr val="2E3F63"/>
            </a:solidFill>
            <a:prstDash val="solid"/>
          </a:ln>
        </p:spPr>
        <p:txBody>
          <a:bodyPr/>
          <a:lstStyle/>
          <a:p>
            <a:endParaRPr/>
          </a:p>
        </p:txBody>
      </p:sp>
      <p:sp>
        <p:nvSpPr>
          <p:cNvPr id="16" name="Text 14"/>
          <p:cNvSpPr txBox="1"/>
          <p:nvPr/>
        </p:nvSpPr>
        <p:spPr>
          <a:xfrm>
            <a:off x="4149344" y="3246120"/>
            <a:ext cx="845312" cy="566928"/>
          </a:xfrm>
          <a:prstGeom prst="rect">
            <a:avLst/>
          </a:prstGeom>
          <a:noFill/>
          <a:ln/>
        </p:spPr>
        <p:txBody>
          <a:bodyPr wrap="square" lIns="254" tIns="254" rIns="254" bIns="254" rtlCol="0" anchor="ctr"/>
          <a:lstStyle/>
          <a:p>
            <a:pPr marL="0" indent="0" algn="ctr">
              <a:buNone/>
            </a:pPr>
            <a:r>
              <a:rPr lang="en-US" sz="800" dirty="0">
                <a:solidFill>
                  <a:srgbClr val="B8C4D6"/>
                </a:solidFill>
                <a:latin typeface="Calibri" pitchFamily="34" charset="0"/>
                <a:ea typeface="Calibri" pitchFamily="34" charset="-122"/>
                <a:cs typeface="Calibri" pitchFamily="34" charset="-120"/>
              </a:rPr>
              <a:t>Model tuning</a:t>
            </a:r>
            <a:endParaRPr lang="en-US" sz="800" dirty="0"/>
          </a:p>
        </p:txBody>
      </p:sp>
      <p:sp>
        <p:nvSpPr>
          <p:cNvPr id="17" name="Shape 15"/>
          <p:cNvSpPr/>
          <p:nvPr/>
        </p:nvSpPr>
        <p:spPr>
          <a:xfrm>
            <a:off x="5049520" y="3246120"/>
            <a:ext cx="845312" cy="566928"/>
          </a:xfrm>
          <a:prstGeom prst="roundRect">
            <a:avLst>
              <a:gd name="adj" fmla="val 9677"/>
            </a:avLst>
          </a:prstGeom>
          <a:solidFill>
            <a:srgbClr val="2E3F63"/>
          </a:solidFill>
          <a:ln w="12700">
            <a:solidFill>
              <a:srgbClr val="2E3F63"/>
            </a:solidFill>
            <a:prstDash val="solid"/>
          </a:ln>
        </p:spPr>
        <p:txBody>
          <a:bodyPr/>
          <a:lstStyle/>
          <a:p>
            <a:endParaRPr/>
          </a:p>
        </p:txBody>
      </p:sp>
      <p:sp>
        <p:nvSpPr>
          <p:cNvPr id="18" name="Text 16"/>
          <p:cNvSpPr txBox="1"/>
          <p:nvPr/>
        </p:nvSpPr>
        <p:spPr>
          <a:xfrm>
            <a:off x="5049520" y="3246120"/>
            <a:ext cx="845312" cy="566928"/>
          </a:xfrm>
          <a:prstGeom prst="rect">
            <a:avLst/>
          </a:prstGeom>
          <a:noFill/>
          <a:ln/>
        </p:spPr>
        <p:txBody>
          <a:bodyPr wrap="square" lIns="254" tIns="254" rIns="254" bIns="254" rtlCol="0" anchor="ctr"/>
          <a:lstStyle/>
          <a:p>
            <a:pPr marL="0" indent="0" algn="ctr">
              <a:buNone/>
            </a:pPr>
            <a:r>
              <a:rPr lang="en-US" sz="800" dirty="0">
                <a:solidFill>
                  <a:srgbClr val="B8C4D6"/>
                </a:solidFill>
                <a:latin typeface="Calibri" pitchFamily="34" charset="0"/>
                <a:ea typeface="Calibri" pitchFamily="34" charset="-122"/>
                <a:cs typeface="Calibri" pitchFamily="34" charset="-120"/>
              </a:rPr>
              <a:t>Model analysis</a:t>
            </a:r>
            <a:endParaRPr lang="en-US" sz="800" dirty="0"/>
          </a:p>
        </p:txBody>
      </p:sp>
      <p:sp>
        <p:nvSpPr>
          <p:cNvPr id="19" name="Shape 17"/>
          <p:cNvSpPr/>
          <p:nvPr/>
        </p:nvSpPr>
        <p:spPr>
          <a:xfrm>
            <a:off x="5949696" y="3246120"/>
            <a:ext cx="845312" cy="566928"/>
          </a:xfrm>
          <a:prstGeom prst="roundRect">
            <a:avLst>
              <a:gd name="adj" fmla="val 9677"/>
            </a:avLst>
          </a:prstGeom>
          <a:solidFill>
            <a:srgbClr val="0E7C86"/>
          </a:solidFill>
          <a:ln w="12700">
            <a:solidFill>
              <a:srgbClr val="0E7C86"/>
            </a:solidFill>
            <a:prstDash val="solid"/>
          </a:ln>
        </p:spPr>
        <p:txBody>
          <a:bodyPr/>
          <a:lstStyle/>
          <a:p>
            <a:endParaRPr/>
          </a:p>
        </p:txBody>
      </p:sp>
      <p:sp>
        <p:nvSpPr>
          <p:cNvPr id="20" name="Text 18"/>
          <p:cNvSpPr txBox="1"/>
          <p:nvPr/>
        </p:nvSpPr>
        <p:spPr>
          <a:xfrm>
            <a:off x="5949696" y="3246120"/>
            <a:ext cx="845312" cy="566928"/>
          </a:xfrm>
          <a:prstGeom prst="rect">
            <a:avLst/>
          </a:prstGeom>
          <a:noFill/>
          <a:ln/>
        </p:spPr>
        <p:txBody>
          <a:bodyPr wrap="square" lIns="254" tIns="254" rIns="254" bIns="254"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Model validation</a:t>
            </a:r>
            <a:endParaRPr lang="en-US" sz="800" dirty="0"/>
          </a:p>
        </p:txBody>
      </p:sp>
      <p:sp>
        <p:nvSpPr>
          <p:cNvPr id="21" name="Shape 19"/>
          <p:cNvSpPr/>
          <p:nvPr/>
        </p:nvSpPr>
        <p:spPr>
          <a:xfrm>
            <a:off x="6849872" y="3246120"/>
            <a:ext cx="845312" cy="566928"/>
          </a:xfrm>
          <a:prstGeom prst="roundRect">
            <a:avLst>
              <a:gd name="adj" fmla="val 9677"/>
            </a:avLst>
          </a:prstGeom>
          <a:solidFill>
            <a:srgbClr val="0E7C86"/>
          </a:solidFill>
          <a:ln w="12700">
            <a:solidFill>
              <a:srgbClr val="0E7C86"/>
            </a:solidFill>
            <a:prstDash val="solid"/>
          </a:ln>
        </p:spPr>
        <p:txBody>
          <a:bodyPr/>
          <a:lstStyle/>
          <a:p>
            <a:endParaRPr/>
          </a:p>
        </p:txBody>
      </p:sp>
      <p:sp>
        <p:nvSpPr>
          <p:cNvPr id="22" name="Text 20"/>
          <p:cNvSpPr txBox="1"/>
          <p:nvPr/>
        </p:nvSpPr>
        <p:spPr>
          <a:xfrm>
            <a:off x="6849872" y="3246120"/>
            <a:ext cx="845312" cy="566928"/>
          </a:xfrm>
          <a:prstGeom prst="rect">
            <a:avLst/>
          </a:prstGeom>
          <a:noFill/>
          <a:ln/>
        </p:spPr>
        <p:txBody>
          <a:bodyPr wrap="square" lIns="254" tIns="254" rIns="254" bIns="254"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Model deployment</a:t>
            </a:r>
            <a:endParaRPr lang="en-US" sz="800" dirty="0"/>
          </a:p>
        </p:txBody>
      </p:sp>
      <p:sp>
        <p:nvSpPr>
          <p:cNvPr id="23" name="Shape 21"/>
          <p:cNvSpPr/>
          <p:nvPr/>
        </p:nvSpPr>
        <p:spPr>
          <a:xfrm>
            <a:off x="7750048" y="3246120"/>
            <a:ext cx="845312" cy="566928"/>
          </a:xfrm>
          <a:prstGeom prst="roundRect">
            <a:avLst>
              <a:gd name="adj" fmla="val 9677"/>
            </a:avLst>
          </a:prstGeom>
          <a:solidFill>
            <a:srgbClr val="2E3F63"/>
          </a:solidFill>
          <a:ln w="12700">
            <a:solidFill>
              <a:srgbClr val="2E3F63"/>
            </a:solidFill>
            <a:prstDash val="solid"/>
          </a:ln>
        </p:spPr>
        <p:txBody>
          <a:bodyPr/>
          <a:lstStyle/>
          <a:p>
            <a:endParaRPr/>
          </a:p>
        </p:txBody>
      </p:sp>
      <p:sp>
        <p:nvSpPr>
          <p:cNvPr id="24" name="Text 22"/>
          <p:cNvSpPr txBox="1"/>
          <p:nvPr/>
        </p:nvSpPr>
        <p:spPr>
          <a:xfrm>
            <a:off x="7750048" y="3246120"/>
            <a:ext cx="845312" cy="566928"/>
          </a:xfrm>
          <a:prstGeom prst="rect">
            <a:avLst/>
          </a:prstGeom>
          <a:noFill/>
          <a:ln/>
        </p:spPr>
        <p:txBody>
          <a:bodyPr wrap="square" lIns="254" tIns="254" rIns="254" bIns="254" rtlCol="0" anchor="ctr"/>
          <a:lstStyle/>
          <a:p>
            <a:pPr marL="0" indent="0" algn="ctr">
              <a:buNone/>
            </a:pPr>
            <a:r>
              <a:rPr lang="en-US" sz="800" dirty="0">
                <a:solidFill>
                  <a:srgbClr val="B8C4D6"/>
                </a:solidFill>
                <a:latin typeface="Calibri" pitchFamily="34" charset="0"/>
                <a:ea typeface="Calibri" pitchFamily="34" charset="-122"/>
                <a:cs typeface="Calibri" pitchFamily="34" charset="-120"/>
              </a:rPr>
              <a:t>Model feedback</a:t>
            </a:r>
            <a:endParaRPr lang="en-US" sz="800" dirty="0"/>
          </a:p>
        </p:txBody>
      </p:sp>
      <p:sp>
        <p:nvSpPr>
          <p:cNvPr id="25" name="Text 23"/>
          <p:cNvSpPr txBox="1"/>
          <p:nvPr/>
        </p:nvSpPr>
        <p:spPr>
          <a:xfrm>
            <a:off x="548640" y="4160520"/>
            <a:ext cx="8046720" cy="274320"/>
          </a:xfrm>
          <a:prstGeom prst="rect">
            <a:avLst/>
          </a:prstGeom>
          <a:noFill/>
          <a:ln/>
        </p:spPr>
        <p:txBody>
          <a:bodyPr wrap="square" lIns="0" tIns="0" rIns="0" bIns="0" rtlCol="0" anchor="ctr"/>
          <a:lstStyle/>
          <a:p>
            <a:pPr marL="0" indent="0">
              <a:buNone/>
            </a:pPr>
            <a:r>
              <a:rPr lang="en-US" sz="1000" i="1" dirty="0">
                <a:solidFill>
                  <a:srgbClr val="B8C4D6"/>
                </a:solidFill>
                <a:latin typeface="Calibri" pitchFamily="34" charset="0"/>
                <a:ea typeface="Calibri" pitchFamily="34" charset="-122"/>
                <a:cs typeface="Calibri" pitchFamily="34" charset="-120"/>
              </a:rPr>
              <a:t>The lifecycle we follow through the course · highlighted: where this section sits</a:t>
            </a:r>
            <a:endParaRPr lang="en-US" sz="1000" dirty="0"/>
          </a:p>
        </p:txBody>
      </p:sp>
      <p:pic>
        <p:nvPicPr>
          <p:cNvPr id="26" name="IE University logo" descr="IE University, School of Science &amp; Technology"/>
          <p:cNvPicPr>
            <a:picLocks noChangeAspect="1"/>
          </p:cNvPicPr>
          <p:nvPr/>
        </p:nvPicPr>
        <p:blipFill>
          <a:blip r:embed="rId3"/>
          <a:stretch>
            <a:fillRect/>
          </a:stretch>
        </p:blipFill>
        <p:spPr>
          <a:xfrm>
            <a:off x="8252653" y="109728"/>
            <a:ext cx="525587" cy="70439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marL="0" indent="0">
              <a:buNone/>
            </a:pPr>
            <a:r>
              <a:rPr lang="en-US" sz="800" dirty="0">
                <a:solidFill>
                  <a:srgbClr val="6B7280"/>
                </a:solidFill>
                <a:latin typeface="Calibri" pitchFamily="34" charset="0"/>
                <a:ea typeface="Calibri" pitchFamily="34" charset="-122"/>
                <a:cs typeface="Calibri" pitchFamily="34" charset="-120"/>
              </a:rPr>
              <a:t>MLOps · MBDS-PT2026F · Session 3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marL="0" indent="0" algn="r">
              <a:buNone/>
            </a:pPr>
            <a:r>
              <a:rPr lang="en-US" sz="800" dirty="0">
                <a:solidFill>
                  <a:srgbClr val="6B7280"/>
                </a:solidFill>
                <a:latin typeface="Calibri" pitchFamily="34" charset="0"/>
                <a:ea typeface="Calibri" pitchFamily="34" charset="-122"/>
                <a:cs typeface="Calibri" pitchFamily="34" charset="-120"/>
              </a:rPr>
              <a:t>18</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marL="0" indent="0">
              <a:buNone/>
            </a:pPr>
            <a:r>
              <a:rPr lang="en-US" sz="2400" b="1" dirty="0">
                <a:solidFill>
                  <a:srgbClr val="1B2A4A"/>
                </a:solidFill>
                <a:latin typeface="Calibri" pitchFamily="34" charset="0"/>
                <a:ea typeface="Calibri" pitchFamily="34" charset="-122"/>
                <a:cs typeface="Calibri" pitchFamily="34" charset="-120"/>
              </a:rPr>
              <a:t>Before "where", "whether": can the model run there at all?</a:t>
            </a:r>
            <a:endParaRPr lang="en-US" sz="2400" dirty="0"/>
          </a:p>
        </p:txBody>
      </p:sp>
      <p:sp>
        <p:nvSpPr>
          <p:cNvPr id="7" name="Shape 4"/>
          <p:cNvSpPr/>
          <p:nvPr/>
        </p:nvSpPr>
        <p:spPr>
          <a:xfrm>
            <a:off x="365760" y="1280160"/>
            <a:ext cx="2377440" cy="640080"/>
          </a:xfrm>
          <a:prstGeom prst="roundRect">
            <a:avLst>
              <a:gd name="adj" fmla="val 8571"/>
            </a:avLst>
          </a:prstGeom>
          <a:solidFill>
            <a:srgbClr val="F3F5F8"/>
          </a:solidFill>
          <a:ln w="9525">
            <a:solidFill>
              <a:srgbClr val="F3F5F8"/>
            </a:solidFill>
            <a:prstDash val="solid"/>
          </a:ln>
        </p:spPr>
        <p:txBody>
          <a:bodyPr/>
          <a:lstStyle/>
          <a:p>
            <a:endParaRPr/>
          </a:p>
        </p:txBody>
      </p:sp>
      <p:sp>
        <p:nvSpPr>
          <p:cNvPr id="8" name="Text 5"/>
          <p:cNvSpPr txBox="1"/>
          <p:nvPr/>
        </p:nvSpPr>
        <p:spPr>
          <a:xfrm>
            <a:off x="365760" y="1280160"/>
            <a:ext cx="2377440" cy="640080"/>
          </a:xfrm>
          <a:prstGeom prst="rect">
            <a:avLst/>
          </a:prstGeom>
          <a:noFill/>
          <a:ln/>
        </p:spPr>
        <p:txBody>
          <a:bodyPr wrap="square" lIns="635" tIns="635" rIns="635" bIns="635" rtlCol="0" anchor="ctr"/>
          <a:lstStyle/>
          <a:p>
            <a:pPr marL="0" indent="0" algn="ctr">
              <a:buNone/>
            </a:pPr>
            <a:r>
              <a:rPr lang="en-US" sz="1100" dirty="0">
                <a:solidFill>
                  <a:srgbClr val="1B2A4A"/>
                </a:solidFill>
                <a:latin typeface="Calibri" pitchFamily="34" charset="0"/>
                <a:ea typeface="Calibri" pitchFamily="34" charset="-122"/>
                <a:cs typeface="Calibri" pitchFamily="34" charset="-120"/>
              </a:rPr>
              <a:t>Validated model</a:t>
            </a:r>
            <a:endParaRPr lang="en-US" sz="1100" dirty="0"/>
          </a:p>
          <a:p>
            <a:pPr marL="0" indent="0" algn="ctr">
              <a:buNone/>
            </a:pPr>
            <a:r>
              <a:rPr lang="en-US" sz="1100" dirty="0">
                <a:solidFill>
                  <a:srgbClr val="1B2A4A"/>
                </a:solidFill>
                <a:latin typeface="Calibri" pitchFamily="34" charset="0"/>
                <a:ea typeface="Calibri" pitchFamily="34" charset="-122"/>
                <a:cs typeface="Calibri" pitchFamily="34" charset="-120"/>
              </a:rPr>
              <a:t>(data-science platform)</a:t>
            </a:r>
            <a:endParaRPr lang="en-US" sz="1100" dirty="0"/>
          </a:p>
        </p:txBody>
      </p:sp>
      <p:sp>
        <p:nvSpPr>
          <p:cNvPr id="9" name="Shape 6"/>
          <p:cNvSpPr/>
          <p:nvPr/>
        </p:nvSpPr>
        <p:spPr>
          <a:xfrm>
            <a:off x="2788920" y="1600200"/>
            <a:ext cx="731520" cy="0"/>
          </a:xfrm>
          <a:prstGeom prst="line">
            <a:avLst/>
          </a:prstGeom>
          <a:noFill/>
          <a:ln w="19050">
            <a:solidFill>
              <a:srgbClr val="0E7C86"/>
            </a:solidFill>
            <a:prstDash val="solid"/>
            <a:tailEnd type="triangle"/>
          </a:ln>
        </p:spPr>
        <p:txBody>
          <a:bodyPr/>
          <a:lstStyle/>
          <a:p>
            <a:endParaRPr/>
          </a:p>
        </p:txBody>
      </p:sp>
      <p:sp>
        <p:nvSpPr>
          <p:cNvPr id="10" name="Shape 7"/>
          <p:cNvSpPr/>
          <p:nvPr/>
        </p:nvSpPr>
        <p:spPr>
          <a:xfrm>
            <a:off x="3566160" y="1280160"/>
            <a:ext cx="2011680" cy="640080"/>
          </a:xfrm>
          <a:prstGeom prst="roundRect">
            <a:avLst>
              <a:gd name="adj" fmla="val 8571"/>
            </a:avLst>
          </a:prstGeom>
          <a:solidFill>
            <a:srgbClr val="FBE9DC"/>
          </a:solidFill>
          <a:ln w="9525">
            <a:solidFill>
              <a:srgbClr val="F0C9A8"/>
            </a:solidFill>
            <a:prstDash val="solid"/>
          </a:ln>
        </p:spPr>
        <p:txBody>
          <a:bodyPr/>
          <a:lstStyle/>
          <a:p>
            <a:endParaRPr/>
          </a:p>
        </p:txBody>
      </p:sp>
      <p:sp>
        <p:nvSpPr>
          <p:cNvPr id="11" name="Text 8"/>
          <p:cNvSpPr txBox="1"/>
          <p:nvPr/>
        </p:nvSpPr>
        <p:spPr>
          <a:xfrm>
            <a:off x="3566160" y="1280160"/>
            <a:ext cx="2011680" cy="640080"/>
          </a:xfrm>
          <a:prstGeom prst="rect">
            <a:avLst/>
          </a:prstGeom>
          <a:noFill/>
          <a:ln/>
        </p:spPr>
        <p:txBody>
          <a:bodyPr wrap="square" lIns="635" tIns="635" rIns="635" bIns="635" rtlCol="0" anchor="ctr"/>
          <a:lstStyle/>
          <a:p>
            <a:pPr marL="0" indent="0" algn="ctr">
              <a:buNone/>
            </a:pPr>
            <a:r>
              <a:rPr lang="en-US" sz="1100" dirty="0">
                <a:solidFill>
                  <a:srgbClr val="1B2A4A"/>
                </a:solidFill>
                <a:latin typeface="Calibri" pitchFamily="34" charset="0"/>
                <a:ea typeface="Calibri" pitchFamily="34" charset="-122"/>
                <a:cs typeface="Calibri" pitchFamily="34" charset="-120"/>
              </a:rPr>
              <a:t>Adaptation</a:t>
            </a:r>
            <a:endParaRPr lang="en-US" sz="1100" dirty="0"/>
          </a:p>
          <a:p>
            <a:pPr marL="0" indent="0" algn="ctr">
              <a:buNone/>
            </a:pPr>
            <a:r>
              <a:rPr lang="en-US" sz="1100" dirty="0">
                <a:solidFill>
                  <a:srgbClr val="1B2A4A"/>
                </a:solidFill>
                <a:latin typeface="Calibri" pitchFamily="34" charset="0"/>
                <a:ea typeface="Calibri" pitchFamily="34" charset="-122"/>
                <a:cs typeface="Calibri" pitchFamily="34" charset="-120"/>
              </a:rPr>
              <a:t>hours · days · weeks</a:t>
            </a:r>
            <a:endParaRPr lang="en-US" sz="1100" dirty="0"/>
          </a:p>
        </p:txBody>
      </p:sp>
      <p:sp>
        <p:nvSpPr>
          <p:cNvPr id="12" name="Shape 9"/>
          <p:cNvSpPr/>
          <p:nvPr/>
        </p:nvSpPr>
        <p:spPr>
          <a:xfrm>
            <a:off x="5623560" y="1600200"/>
            <a:ext cx="731520" cy="0"/>
          </a:xfrm>
          <a:prstGeom prst="line">
            <a:avLst/>
          </a:prstGeom>
          <a:noFill/>
          <a:ln w="19050">
            <a:solidFill>
              <a:srgbClr val="0E7C86"/>
            </a:solidFill>
            <a:prstDash val="solid"/>
            <a:tailEnd type="triangle"/>
          </a:ln>
        </p:spPr>
        <p:txBody>
          <a:bodyPr/>
          <a:lstStyle/>
          <a:p>
            <a:endParaRPr/>
          </a:p>
        </p:txBody>
      </p:sp>
      <p:sp>
        <p:nvSpPr>
          <p:cNvPr id="13" name="Shape 10"/>
          <p:cNvSpPr/>
          <p:nvPr/>
        </p:nvSpPr>
        <p:spPr>
          <a:xfrm>
            <a:off x="6400800" y="1280160"/>
            <a:ext cx="2377440" cy="640080"/>
          </a:xfrm>
          <a:prstGeom prst="roundRect">
            <a:avLst>
              <a:gd name="adj" fmla="val 8571"/>
            </a:avLst>
          </a:prstGeom>
          <a:solidFill>
            <a:srgbClr val="F3F5F8"/>
          </a:solidFill>
          <a:ln w="9525">
            <a:solidFill>
              <a:srgbClr val="F3F5F8"/>
            </a:solidFill>
            <a:prstDash val="solid"/>
          </a:ln>
        </p:spPr>
        <p:txBody>
          <a:bodyPr/>
          <a:lstStyle/>
          <a:p>
            <a:endParaRPr/>
          </a:p>
        </p:txBody>
      </p:sp>
      <p:sp>
        <p:nvSpPr>
          <p:cNvPr id="14" name="Text 11"/>
          <p:cNvSpPr txBox="1"/>
          <p:nvPr/>
        </p:nvSpPr>
        <p:spPr>
          <a:xfrm>
            <a:off x="6400800" y="1280160"/>
            <a:ext cx="2377440" cy="640080"/>
          </a:xfrm>
          <a:prstGeom prst="rect">
            <a:avLst/>
          </a:prstGeom>
          <a:noFill/>
          <a:ln/>
        </p:spPr>
        <p:txBody>
          <a:bodyPr wrap="square" lIns="635" tIns="635" rIns="635" bIns="635" rtlCol="0" anchor="ctr"/>
          <a:lstStyle/>
          <a:p>
            <a:pPr marL="0" indent="0" algn="ctr">
              <a:buNone/>
            </a:pPr>
            <a:r>
              <a:rPr lang="en-US" sz="1100" dirty="0">
                <a:solidFill>
                  <a:srgbClr val="1B2A4A"/>
                </a:solidFill>
                <a:latin typeface="Calibri" pitchFamily="34" charset="0"/>
                <a:ea typeface="Calibri" pitchFamily="34" charset="-122"/>
                <a:cs typeface="Calibri" pitchFamily="34" charset="-120"/>
              </a:rPr>
              <a:t>Production runtime</a:t>
            </a:r>
            <a:endParaRPr lang="en-US" sz="1100" dirty="0"/>
          </a:p>
          <a:p>
            <a:pPr marL="0" indent="0" algn="ctr">
              <a:buNone/>
            </a:pPr>
            <a:r>
              <a:rPr lang="en-US" sz="1100" dirty="0">
                <a:solidFill>
                  <a:srgbClr val="1B2A4A"/>
                </a:solidFill>
                <a:latin typeface="Calibri" pitchFamily="34" charset="0"/>
                <a:ea typeface="Calibri" pitchFamily="34" charset="-122"/>
                <a:cs typeface="Calibri" pitchFamily="34" charset="-120"/>
              </a:rPr>
              <a:t>(service, cluster, device…)</a:t>
            </a:r>
            <a:endParaRPr lang="en-US" sz="1100" dirty="0"/>
          </a:p>
        </p:txBody>
      </p:sp>
      <p:sp>
        <p:nvSpPr>
          <p:cNvPr id="15" name="Shape 12"/>
          <p:cNvSpPr/>
          <p:nvPr/>
        </p:nvSpPr>
        <p:spPr>
          <a:xfrm>
            <a:off x="365760" y="2286000"/>
            <a:ext cx="420624" cy="420624"/>
          </a:xfrm>
          <a:prstGeom prst="ellipse">
            <a:avLst/>
          </a:prstGeom>
          <a:solidFill>
            <a:srgbClr val="0E7C86"/>
          </a:solidFill>
          <a:ln w="12700">
            <a:solidFill>
              <a:srgbClr val="0E7C86"/>
            </a:solidFill>
            <a:prstDash val="solid"/>
          </a:ln>
        </p:spPr>
        <p:txBody>
          <a:bodyPr/>
          <a:lstStyle/>
          <a:p>
            <a:endParaRPr/>
          </a:p>
        </p:txBody>
      </p:sp>
      <p:pic>
        <p:nvPicPr>
          <p:cNvPr id="16" name="Image 0" descr="preencoded.png"/>
          <p:cNvPicPr>
            <a:picLocks noChangeAspect="1"/>
          </p:cNvPicPr>
          <p:nvPr/>
        </p:nvPicPr>
        <p:blipFill>
          <a:blip r:embed="rId3"/>
          <a:stretch>
            <a:fillRect/>
          </a:stretch>
        </p:blipFill>
        <p:spPr>
          <a:xfrm>
            <a:off x="457200" y="2377440"/>
            <a:ext cx="237744" cy="237744"/>
          </a:xfrm>
          <a:prstGeom prst="rect">
            <a:avLst/>
          </a:prstGeom>
        </p:spPr>
      </p:pic>
      <p:sp>
        <p:nvSpPr>
          <p:cNvPr id="17" name="Text 13"/>
          <p:cNvSpPr txBox="1"/>
          <p:nvPr/>
        </p:nvSpPr>
        <p:spPr>
          <a:xfrm>
            <a:off x="914400" y="2267712"/>
            <a:ext cx="2148840" cy="256032"/>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Tooling</a:t>
            </a:r>
            <a:endParaRPr lang="en-US" sz="1300" dirty="0"/>
          </a:p>
        </p:txBody>
      </p:sp>
      <p:sp>
        <p:nvSpPr>
          <p:cNvPr id="18" name="Text 14"/>
          <p:cNvSpPr txBox="1"/>
          <p:nvPr/>
        </p:nvSpPr>
        <p:spPr>
          <a:xfrm>
            <a:off x="914400" y="2523744"/>
            <a:ext cx="2148840" cy="640080"/>
          </a:xfrm>
          <a:prstGeom prst="rect">
            <a:avLst/>
          </a:prstGeom>
          <a:noFill/>
          <a:ln/>
        </p:spPr>
        <p:txBody>
          <a:bodyPr wrap="square" lIns="0" tIns="0" rIns="0" bIns="0" rtlCol="0" anchor="t"/>
          <a:lstStyle/>
          <a:p>
            <a:pPr marL="0" indent="0">
              <a:buNone/>
            </a:pPr>
            <a:r>
              <a:rPr lang="en-US" sz="1100" dirty="0">
                <a:solidFill>
                  <a:srgbClr val="222222"/>
                </a:solidFill>
                <a:latin typeface="Calibri" pitchFamily="34" charset="0"/>
                <a:ea typeface="Calibri" pitchFamily="34" charset="-122"/>
                <a:cs typeface="Calibri" pitchFamily="34" charset="-120"/>
              </a:rPr>
              <a:t>Built in Python; production expects a Java-compatible format (PMML, ONNX).</a:t>
            </a:r>
            <a:endParaRPr lang="en-US" sz="1100" dirty="0"/>
          </a:p>
        </p:txBody>
      </p:sp>
      <p:sp>
        <p:nvSpPr>
          <p:cNvPr id="19" name="Shape 15"/>
          <p:cNvSpPr/>
          <p:nvPr/>
        </p:nvSpPr>
        <p:spPr>
          <a:xfrm>
            <a:off x="3218688" y="2286000"/>
            <a:ext cx="420624" cy="420624"/>
          </a:xfrm>
          <a:prstGeom prst="ellipse">
            <a:avLst/>
          </a:prstGeom>
          <a:solidFill>
            <a:srgbClr val="0E7C86"/>
          </a:solidFill>
          <a:ln w="12700">
            <a:solidFill>
              <a:srgbClr val="0E7C86"/>
            </a:solidFill>
            <a:prstDash val="solid"/>
          </a:ln>
        </p:spPr>
        <p:txBody>
          <a:bodyPr/>
          <a:lstStyle/>
          <a:p>
            <a:endParaRPr/>
          </a:p>
        </p:txBody>
      </p:sp>
      <p:pic>
        <p:nvPicPr>
          <p:cNvPr id="20" name="Image 1" descr="preencoded.png"/>
          <p:cNvPicPr>
            <a:picLocks noChangeAspect="1"/>
          </p:cNvPicPr>
          <p:nvPr/>
        </p:nvPicPr>
        <p:blipFill>
          <a:blip r:embed="rId4"/>
          <a:stretch>
            <a:fillRect/>
          </a:stretch>
        </p:blipFill>
        <p:spPr>
          <a:xfrm>
            <a:off x="3310128" y="2377440"/>
            <a:ext cx="237744" cy="237744"/>
          </a:xfrm>
          <a:prstGeom prst="rect">
            <a:avLst/>
          </a:prstGeom>
        </p:spPr>
      </p:pic>
      <p:sp>
        <p:nvSpPr>
          <p:cNvPr id="21" name="Text 16"/>
          <p:cNvSpPr txBox="1"/>
          <p:nvPr/>
        </p:nvSpPr>
        <p:spPr>
          <a:xfrm>
            <a:off x="3767328" y="2267712"/>
            <a:ext cx="2148840" cy="256032"/>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Performance</a:t>
            </a:r>
            <a:endParaRPr lang="en-US" sz="1300" dirty="0"/>
          </a:p>
        </p:txBody>
      </p:sp>
      <p:sp>
        <p:nvSpPr>
          <p:cNvPr id="22" name="Text 17"/>
          <p:cNvSpPr txBox="1"/>
          <p:nvPr/>
        </p:nvSpPr>
        <p:spPr>
          <a:xfrm>
            <a:off x="3767328" y="2523744"/>
            <a:ext cx="2148840" cy="640080"/>
          </a:xfrm>
          <a:prstGeom prst="rect">
            <a:avLst/>
          </a:prstGeom>
          <a:noFill/>
          <a:ln/>
        </p:spPr>
        <p:txBody>
          <a:bodyPr wrap="square" lIns="0" tIns="0" rIns="0" bIns="0" rtlCol="0" anchor="t"/>
          <a:lstStyle/>
          <a:p>
            <a:pPr marL="0" indent="0">
              <a:buNone/>
            </a:pPr>
            <a:r>
              <a:rPr lang="en-US" sz="1100" dirty="0">
                <a:solidFill>
                  <a:srgbClr val="222222"/>
                </a:solidFill>
                <a:latin typeface="Calibri" pitchFamily="34" charset="0"/>
                <a:ea typeface="Calibri" pitchFamily="34" charset="-122"/>
                <a:cs typeface="Calibri" pitchFamily="34" charset="-120"/>
              </a:rPr>
              <a:t>Python is slow per record; the model must run on a low-power device.</a:t>
            </a:r>
            <a:endParaRPr lang="en-US" sz="1100" dirty="0"/>
          </a:p>
        </p:txBody>
      </p:sp>
      <p:sp>
        <p:nvSpPr>
          <p:cNvPr id="23" name="Shape 18"/>
          <p:cNvSpPr/>
          <p:nvPr/>
        </p:nvSpPr>
        <p:spPr>
          <a:xfrm>
            <a:off x="6080760" y="2286000"/>
            <a:ext cx="420624" cy="420624"/>
          </a:xfrm>
          <a:prstGeom prst="ellipse">
            <a:avLst/>
          </a:prstGeom>
          <a:solidFill>
            <a:srgbClr val="0E7C86"/>
          </a:solidFill>
          <a:ln w="12700">
            <a:solidFill>
              <a:srgbClr val="0E7C86"/>
            </a:solidFill>
            <a:prstDash val="solid"/>
          </a:ln>
        </p:spPr>
        <p:txBody>
          <a:bodyPr/>
          <a:lstStyle/>
          <a:p>
            <a:endParaRPr/>
          </a:p>
        </p:txBody>
      </p:sp>
      <p:pic>
        <p:nvPicPr>
          <p:cNvPr id="24" name="Image 2" descr="preencoded.png"/>
          <p:cNvPicPr>
            <a:picLocks noChangeAspect="1"/>
          </p:cNvPicPr>
          <p:nvPr/>
        </p:nvPicPr>
        <p:blipFill>
          <a:blip r:embed="rId5"/>
          <a:stretch>
            <a:fillRect/>
          </a:stretch>
        </p:blipFill>
        <p:spPr>
          <a:xfrm>
            <a:off x="6172200" y="2377440"/>
            <a:ext cx="237744" cy="237744"/>
          </a:xfrm>
          <a:prstGeom prst="rect">
            <a:avLst/>
          </a:prstGeom>
        </p:spPr>
      </p:pic>
      <p:sp>
        <p:nvSpPr>
          <p:cNvPr id="25" name="Text 19"/>
          <p:cNvSpPr txBox="1"/>
          <p:nvPr/>
        </p:nvSpPr>
        <p:spPr>
          <a:xfrm>
            <a:off x="6629400" y="2267712"/>
            <a:ext cx="2148840" cy="256032"/>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Data access</a:t>
            </a:r>
            <a:endParaRPr lang="en-US" sz="1300" dirty="0"/>
          </a:p>
        </p:txBody>
      </p:sp>
      <p:sp>
        <p:nvSpPr>
          <p:cNvPr id="26" name="Text 20"/>
          <p:cNvSpPr txBox="1"/>
          <p:nvPr/>
        </p:nvSpPr>
        <p:spPr>
          <a:xfrm>
            <a:off x="6629400" y="2523744"/>
            <a:ext cx="2148840" cy="640080"/>
          </a:xfrm>
          <a:prstGeom prst="rect">
            <a:avLst/>
          </a:prstGeom>
          <a:noFill/>
          <a:ln/>
        </p:spPr>
        <p:txBody>
          <a:bodyPr wrap="square" lIns="0" tIns="0" rIns="0" bIns="0" rtlCol="0" anchor="t"/>
          <a:lstStyle/>
          <a:p>
            <a:pPr marL="0" indent="0">
              <a:buNone/>
            </a:pPr>
            <a:r>
              <a:rPr lang="en-US" sz="1100" dirty="0">
                <a:solidFill>
                  <a:srgbClr val="222222"/>
                </a:solidFill>
                <a:latin typeface="Calibri" pitchFamily="34" charset="0"/>
                <a:ea typeface="Calibri" pitchFamily="34" charset="-122"/>
                <a:cs typeface="Calibri" pitchFamily="34" charset="-120"/>
              </a:rPr>
              <a:t>The features must be reachable from where the model runs, at decision time.</a:t>
            </a:r>
            <a:endParaRPr lang="en-US" sz="1100" dirty="0"/>
          </a:p>
        </p:txBody>
      </p:sp>
      <p:sp>
        <p:nvSpPr>
          <p:cNvPr id="27" name="Shape 21"/>
          <p:cNvSpPr/>
          <p:nvPr/>
        </p:nvSpPr>
        <p:spPr>
          <a:xfrm>
            <a:off x="365760" y="3429000"/>
            <a:ext cx="8412480" cy="548640"/>
          </a:xfrm>
          <a:prstGeom prst="roundRect">
            <a:avLst>
              <a:gd name="adj" fmla="val 13333"/>
            </a:avLst>
          </a:prstGeom>
          <a:solidFill>
            <a:srgbClr val="E3F1F2"/>
          </a:solidFill>
          <a:ln w="12700">
            <a:solidFill>
              <a:srgbClr val="E3F1F2"/>
            </a:solidFill>
            <a:prstDash val="solid"/>
          </a:ln>
        </p:spPr>
        <p:txBody>
          <a:bodyPr/>
          <a:lstStyle/>
          <a:p>
            <a:endParaRPr/>
          </a:p>
        </p:txBody>
      </p:sp>
      <p:pic>
        <p:nvPicPr>
          <p:cNvPr id="28" name="Image 3" descr="preencoded.png"/>
          <p:cNvPicPr>
            <a:picLocks noChangeAspect="1"/>
          </p:cNvPicPr>
          <p:nvPr/>
        </p:nvPicPr>
        <p:blipFill>
          <a:blip r:embed="rId6"/>
          <a:stretch>
            <a:fillRect/>
          </a:stretch>
        </p:blipFill>
        <p:spPr>
          <a:xfrm>
            <a:off x="502920" y="3566160"/>
            <a:ext cx="274320" cy="274320"/>
          </a:xfrm>
          <a:prstGeom prst="rect">
            <a:avLst/>
          </a:prstGeom>
        </p:spPr>
      </p:pic>
      <p:sp>
        <p:nvSpPr>
          <p:cNvPr id="29" name="Text 22"/>
          <p:cNvSpPr txBox="1"/>
          <p:nvPr/>
        </p:nvSpPr>
        <p:spPr>
          <a:xfrm>
            <a:off x="896112" y="3429000"/>
            <a:ext cx="7772400" cy="548640"/>
          </a:xfrm>
          <a:prstGeom prst="rect">
            <a:avLst/>
          </a:prstGeom>
          <a:noFill/>
          <a:ln/>
        </p:spPr>
        <p:txBody>
          <a:bodyPr wrap="square" lIns="0" tIns="0" rIns="0" bIns="0" rtlCol="0" anchor="ctr"/>
          <a:lstStyle/>
          <a:p>
            <a:pPr marL="0" indent="0">
              <a:buNone/>
            </a:pPr>
            <a:r>
              <a:rPr lang="en-US" sz="1200" b="1" dirty="0">
                <a:solidFill>
                  <a:srgbClr val="1B2A4A"/>
                </a:solidFill>
                <a:latin typeface="Calibri" pitchFamily="34" charset="0"/>
                <a:ea typeface="Calibri" pitchFamily="34" charset="-122"/>
                <a:cs typeface="Calibri" pitchFamily="34" charset="-120"/>
              </a:rPr>
              <a:t>Ideal: the model validated in development goes to production as is. Lesson: decide the production format on day one, not at the end.</a:t>
            </a:r>
            <a:endParaRPr lang="en-US" sz="1200" dirty="0"/>
          </a:p>
        </p:txBody>
      </p:sp>
      <p:sp>
        <p:nvSpPr>
          <p:cNvPr id="30" name="Text 23"/>
          <p:cNvSpPr txBox="1"/>
          <p:nvPr/>
        </p:nvSpPr>
        <p:spPr>
          <a:xfrm>
            <a:off x="365760" y="4114800"/>
            <a:ext cx="8412480" cy="274320"/>
          </a:xfrm>
          <a:prstGeom prst="rect">
            <a:avLst/>
          </a:prstGeom>
          <a:noFill/>
          <a:ln/>
        </p:spPr>
        <p:txBody>
          <a:bodyPr wrap="square" lIns="0" tIns="0" rIns="0" bIns="0" rtlCol="0" anchor="t"/>
          <a:lstStyle/>
          <a:p>
            <a:pPr marL="0" indent="0" algn="l">
              <a:buNone/>
            </a:pPr>
            <a:r>
              <a:rPr lang="en-US" sz="900" i="1" dirty="0">
                <a:solidFill>
                  <a:srgbClr val="6B7280"/>
                </a:solidFill>
                <a:latin typeface="Calibri" pitchFamily="34" charset="0"/>
                <a:ea typeface="Calibri" pitchFamily="34" charset="-122"/>
                <a:cs typeface="Calibri" pitchFamily="34" charset="-120"/>
              </a:rPr>
              <a:t>Adapted from Treveil et al., Introducing MLOps (O'Reilly, 2020)</a:t>
            </a:r>
            <a:endParaRPr lang="en-US" sz="900" dirty="0"/>
          </a:p>
        </p:txBody>
      </p:sp>
      <p:pic>
        <p:nvPicPr>
          <p:cNvPr id="31" name="IE University logo" descr="IE University, School of Science &amp; Technology"/>
          <p:cNvPicPr>
            <a:picLocks noChangeAspect="1"/>
          </p:cNvPicPr>
          <p:nvPr/>
        </p:nvPicPr>
        <p:blipFill>
          <a:blip r:embed="rId7"/>
          <a:stretch>
            <a:fillRect/>
          </a:stretch>
        </p:blipFill>
        <p:spPr>
          <a:xfrm>
            <a:off x="8013607" y="92634"/>
            <a:ext cx="764633" cy="262789"/>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marL="0" indent="0">
              <a:buNone/>
            </a:pPr>
            <a:r>
              <a:rPr lang="en-US" sz="800" dirty="0">
                <a:solidFill>
                  <a:srgbClr val="6B7280"/>
                </a:solidFill>
                <a:latin typeface="Calibri" pitchFamily="34" charset="0"/>
                <a:ea typeface="Calibri" pitchFamily="34" charset="-122"/>
                <a:cs typeface="Calibri" pitchFamily="34" charset="-120"/>
              </a:rPr>
              <a:t>MLOps · MBDS-PT2026F · Session 3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marL="0" indent="0" algn="r">
              <a:buNone/>
            </a:pPr>
            <a:r>
              <a:rPr lang="en-US" sz="800" dirty="0">
                <a:solidFill>
                  <a:srgbClr val="6B7280"/>
                </a:solidFill>
                <a:latin typeface="Calibri" pitchFamily="34" charset="0"/>
                <a:ea typeface="Calibri" pitchFamily="34" charset="-122"/>
                <a:cs typeface="Calibri" pitchFamily="34" charset="-120"/>
              </a:rPr>
              <a:t>19</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marL="0" indent="0">
              <a:buNone/>
            </a:pPr>
            <a:r>
              <a:rPr lang="en-US" sz="2400" b="1" dirty="0">
                <a:solidFill>
                  <a:srgbClr val="1B2A4A"/>
                </a:solidFill>
                <a:latin typeface="Calibri" pitchFamily="34" charset="0"/>
                <a:ea typeface="Calibri" pitchFamily="34" charset="-122"/>
                <a:cs typeface="Calibri" pitchFamily="34" charset="-120"/>
              </a:rPr>
              <a:t>Three environments, two gates: Dev, QA, Prod</a:t>
            </a:r>
            <a:endParaRPr lang="en-US" sz="2400" dirty="0"/>
          </a:p>
        </p:txBody>
      </p:sp>
      <p:sp>
        <p:nvSpPr>
          <p:cNvPr id="7" name="Shape 4"/>
          <p:cNvSpPr/>
          <p:nvPr/>
        </p:nvSpPr>
        <p:spPr>
          <a:xfrm>
            <a:off x="365760" y="1234440"/>
            <a:ext cx="2286000" cy="2286000"/>
          </a:xfrm>
          <a:prstGeom prst="roundRect">
            <a:avLst>
              <a:gd name="adj" fmla="val 3200"/>
            </a:avLst>
          </a:prstGeom>
          <a:solidFill>
            <a:srgbClr val="F3F5F8"/>
          </a:solidFill>
          <a:ln w="12700">
            <a:solidFill>
              <a:srgbClr val="F3F5F8"/>
            </a:solidFill>
            <a:prstDash val="solid"/>
          </a:ln>
        </p:spPr>
        <p:txBody>
          <a:bodyPr/>
          <a:lstStyle/>
          <a:p>
            <a:endParaRPr/>
          </a:p>
        </p:txBody>
      </p:sp>
      <p:sp>
        <p:nvSpPr>
          <p:cNvPr id="8" name="Text 5"/>
          <p:cNvSpPr txBox="1"/>
          <p:nvPr/>
        </p:nvSpPr>
        <p:spPr>
          <a:xfrm>
            <a:off x="502920" y="1298448"/>
            <a:ext cx="2011680" cy="365760"/>
          </a:xfrm>
          <a:prstGeom prst="rect">
            <a:avLst/>
          </a:prstGeom>
          <a:noFill/>
          <a:ln/>
        </p:spPr>
        <p:txBody>
          <a:bodyPr wrap="square" lIns="0" tIns="0" rIns="0" bIns="0" rtlCol="0" anchor="ctr"/>
          <a:lstStyle/>
          <a:p>
            <a:pPr marL="0" indent="0">
              <a:buNone/>
            </a:pPr>
            <a:r>
              <a:rPr lang="en-US" sz="1600" b="1" dirty="0">
                <a:solidFill>
                  <a:srgbClr val="1B2A4A"/>
                </a:solidFill>
                <a:latin typeface="Calibri" pitchFamily="34" charset="0"/>
                <a:ea typeface="Calibri" pitchFamily="34" charset="-122"/>
                <a:cs typeface="Calibri" pitchFamily="34" charset="-120"/>
              </a:rPr>
              <a:t>Dev</a:t>
            </a:r>
            <a:endParaRPr lang="en-US" sz="1600" dirty="0"/>
          </a:p>
        </p:txBody>
      </p:sp>
      <p:sp>
        <p:nvSpPr>
          <p:cNvPr id="9" name="Text 6"/>
          <p:cNvSpPr txBox="1"/>
          <p:nvPr/>
        </p:nvSpPr>
        <p:spPr>
          <a:xfrm>
            <a:off x="502920" y="1645920"/>
            <a:ext cx="2011680" cy="274320"/>
          </a:xfrm>
          <a:prstGeom prst="rect">
            <a:avLst/>
          </a:prstGeom>
          <a:noFill/>
          <a:ln/>
        </p:spPr>
        <p:txBody>
          <a:bodyPr wrap="square" lIns="0" tIns="0" rIns="0" bIns="0" rtlCol="0" anchor="ctr"/>
          <a:lstStyle/>
          <a:p>
            <a:pPr marL="0" indent="0">
              <a:buNone/>
            </a:pPr>
            <a:r>
              <a:rPr lang="en-US" sz="1100" i="1" dirty="0">
                <a:solidFill>
                  <a:srgbClr val="0E7C86"/>
                </a:solidFill>
                <a:latin typeface="Calibri" pitchFamily="34" charset="0"/>
                <a:ea typeface="Calibri" pitchFamily="34" charset="-122"/>
                <a:cs typeface="Calibri" pitchFamily="34" charset="-120"/>
              </a:rPr>
              <a:t>Build and experiment</a:t>
            </a:r>
            <a:endParaRPr lang="en-US" sz="1100" dirty="0"/>
          </a:p>
        </p:txBody>
      </p:sp>
      <p:sp>
        <p:nvSpPr>
          <p:cNvPr id="10" name="Text 7"/>
          <p:cNvSpPr txBox="1"/>
          <p:nvPr/>
        </p:nvSpPr>
        <p:spPr>
          <a:xfrm>
            <a:off x="502920" y="1965960"/>
            <a:ext cx="2011680" cy="1463040"/>
          </a:xfrm>
          <a:prstGeom prst="rect">
            <a:avLst/>
          </a:prstGeom>
          <a:noFill/>
          <a:ln/>
        </p:spPr>
        <p:txBody>
          <a:bodyPr wrap="square" lIns="0" tIns="0" rIns="0" bIns="0" rtlCol="0" anchor="t"/>
          <a:lstStyle/>
          <a:p>
            <a:pPr marL="177800" indent="-177800">
              <a:spcAft>
                <a:spcPts val="300"/>
              </a:spcAft>
              <a:buSzPct val="100000"/>
              <a:buChar char="•"/>
            </a:pPr>
            <a:r>
              <a:rPr lang="en-US" sz="1050" dirty="0">
                <a:solidFill>
                  <a:srgbClr val="222222"/>
                </a:solidFill>
                <a:latin typeface="Calibri" pitchFamily="34" charset="0"/>
                <a:ea typeface="Calibri" pitchFamily="34" charset="-122"/>
                <a:cs typeface="Calibri" pitchFamily="34" charset="-120"/>
              </a:rPr>
              <a:t>Data scientists and engineers</a:t>
            </a:r>
            <a:endParaRPr lang="en-US" sz="1050" dirty="0"/>
          </a:p>
          <a:p>
            <a:pPr marL="177800" indent="-177800">
              <a:spcAft>
                <a:spcPts val="300"/>
              </a:spcAft>
              <a:buSzPct val="100000"/>
              <a:buChar char="•"/>
            </a:pPr>
            <a:r>
              <a:rPr lang="en-US" sz="1050" dirty="0">
                <a:solidFill>
                  <a:srgbClr val="222222"/>
                </a:solidFill>
                <a:latin typeface="Calibri" pitchFamily="34" charset="0"/>
                <a:ea typeface="Calibri" pitchFamily="34" charset="-122"/>
                <a:cs typeface="Calibri" pitchFamily="34" charset="-120"/>
              </a:rPr>
              <a:t>Sample or synthetic data</a:t>
            </a:r>
            <a:endParaRPr lang="en-US" sz="1050" dirty="0"/>
          </a:p>
          <a:p>
            <a:pPr marL="177800" indent="-177800">
              <a:spcAft>
                <a:spcPts val="300"/>
              </a:spcAft>
              <a:buSzPct val="100000"/>
              <a:buChar char="•"/>
            </a:pPr>
            <a:r>
              <a:rPr lang="en-US" sz="1050" dirty="0">
                <a:solidFill>
                  <a:srgbClr val="222222"/>
                </a:solidFill>
                <a:latin typeface="Calibri" pitchFamily="34" charset="0"/>
                <a:ea typeface="Calibri" pitchFamily="34" charset="-122"/>
                <a:cs typeface="Calibri" pitchFamily="34" charset="-120"/>
              </a:rPr>
              <a:t>May be broken; that is the point</a:t>
            </a:r>
            <a:endParaRPr lang="en-US" sz="1050" dirty="0"/>
          </a:p>
        </p:txBody>
      </p:sp>
      <p:sp>
        <p:nvSpPr>
          <p:cNvPr id="11" name="Shape 8"/>
          <p:cNvSpPr/>
          <p:nvPr/>
        </p:nvSpPr>
        <p:spPr>
          <a:xfrm>
            <a:off x="2697480" y="2377440"/>
            <a:ext cx="685800" cy="0"/>
          </a:xfrm>
          <a:prstGeom prst="line">
            <a:avLst/>
          </a:prstGeom>
          <a:noFill/>
          <a:ln w="25400">
            <a:solidFill>
              <a:srgbClr val="0E7C86"/>
            </a:solidFill>
            <a:prstDash val="solid"/>
            <a:tailEnd type="triangle"/>
          </a:ln>
        </p:spPr>
        <p:txBody>
          <a:bodyPr/>
          <a:lstStyle/>
          <a:p>
            <a:endParaRPr/>
          </a:p>
        </p:txBody>
      </p:sp>
      <p:sp>
        <p:nvSpPr>
          <p:cNvPr id="12" name="Shape 9"/>
          <p:cNvSpPr/>
          <p:nvPr/>
        </p:nvSpPr>
        <p:spPr>
          <a:xfrm>
            <a:off x="2816352" y="1965960"/>
            <a:ext cx="457200" cy="457200"/>
          </a:xfrm>
          <a:prstGeom prst="ellipse">
            <a:avLst/>
          </a:prstGeom>
          <a:solidFill>
            <a:srgbClr val="E07A2F"/>
          </a:solidFill>
          <a:ln w="12700">
            <a:solidFill>
              <a:srgbClr val="E07A2F"/>
            </a:solidFill>
            <a:prstDash val="solid"/>
          </a:ln>
        </p:spPr>
        <p:txBody>
          <a:bodyPr/>
          <a:lstStyle/>
          <a:p>
            <a:endParaRPr/>
          </a:p>
        </p:txBody>
      </p:sp>
      <p:sp>
        <p:nvSpPr>
          <p:cNvPr id="13" name="Text 10"/>
          <p:cNvSpPr txBox="1"/>
          <p:nvPr/>
        </p:nvSpPr>
        <p:spPr>
          <a:xfrm>
            <a:off x="2816352" y="1965960"/>
            <a:ext cx="45720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G1</a:t>
            </a:r>
            <a:endParaRPr lang="en-US" sz="1100" dirty="0"/>
          </a:p>
        </p:txBody>
      </p:sp>
      <p:sp>
        <p:nvSpPr>
          <p:cNvPr id="14" name="Shape 11"/>
          <p:cNvSpPr/>
          <p:nvPr/>
        </p:nvSpPr>
        <p:spPr>
          <a:xfrm>
            <a:off x="3429000" y="1234440"/>
            <a:ext cx="2286000" cy="2286000"/>
          </a:xfrm>
          <a:prstGeom prst="roundRect">
            <a:avLst>
              <a:gd name="adj" fmla="val 3200"/>
            </a:avLst>
          </a:prstGeom>
          <a:solidFill>
            <a:srgbClr val="E3F1F2"/>
          </a:solidFill>
          <a:ln w="12700">
            <a:solidFill>
              <a:srgbClr val="E3F1F2"/>
            </a:solidFill>
            <a:prstDash val="solid"/>
          </a:ln>
        </p:spPr>
        <p:txBody>
          <a:bodyPr/>
          <a:lstStyle/>
          <a:p>
            <a:endParaRPr/>
          </a:p>
        </p:txBody>
      </p:sp>
      <p:sp>
        <p:nvSpPr>
          <p:cNvPr id="15" name="Text 12"/>
          <p:cNvSpPr txBox="1"/>
          <p:nvPr/>
        </p:nvSpPr>
        <p:spPr>
          <a:xfrm>
            <a:off x="3566160" y="1298448"/>
            <a:ext cx="2011680" cy="365760"/>
          </a:xfrm>
          <a:prstGeom prst="rect">
            <a:avLst/>
          </a:prstGeom>
          <a:noFill/>
          <a:ln/>
        </p:spPr>
        <p:txBody>
          <a:bodyPr wrap="square" lIns="0" tIns="0" rIns="0" bIns="0" rtlCol="0" anchor="ctr"/>
          <a:lstStyle/>
          <a:p>
            <a:pPr marL="0" indent="0">
              <a:buNone/>
            </a:pPr>
            <a:r>
              <a:rPr lang="en-US" sz="1600" b="1" dirty="0">
                <a:solidFill>
                  <a:srgbClr val="1B2A4A"/>
                </a:solidFill>
                <a:latin typeface="Calibri" pitchFamily="34" charset="0"/>
                <a:ea typeface="Calibri" pitchFamily="34" charset="-122"/>
                <a:cs typeface="Calibri" pitchFamily="34" charset="-120"/>
              </a:rPr>
              <a:t>QA / staging</a:t>
            </a:r>
            <a:endParaRPr lang="en-US" sz="1600" dirty="0"/>
          </a:p>
        </p:txBody>
      </p:sp>
      <p:sp>
        <p:nvSpPr>
          <p:cNvPr id="16" name="Text 13"/>
          <p:cNvSpPr txBox="1"/>
          <p:nvPr/>
        </p:nvSpPr>
        <p:spPr>
          <a:xfrm>
            <a:off x="3566160" y="1645920"/>
            <a:ext cx="2011680" cy="274320"/>
          </a:xfrm>
          <a:prstGeom prst="rect">
            <a:avLst/>
          </a:prstGeom>
          <a:noFill/>
          <a:ln/>
        </p:spPr>
        <p:txBody>
          <a:bodyPr wrap="square" lIns="0" tIns="0" rIns="0" bIns="0" rtlCol="0" anchor="ctr"/>
          <a:lstStyle/>
          <a:p>
            <a:pPr marL="0" indent="0">
              <a:buNone/>
            </a:pPr>
            <a:r>
              <a:rPr lang="en-US" sz="1100" i="1" dirty="0">
                <a:solidFill>
                  <a:srgbClr val="0E7C86"/>
                </a:solidFill>
                <a:latin typeface="Calibri" pitchFamily="34" charset="0"/>
                <a:ea typeface="Calibri" pitchFamily="34" charset="-122"/>
                <a:cs typeface="Calibri" pitchFamily="34" charset="-120"/>
              </a:rPr>
              <a:t>Test as if live</a:t>
            </a:r>
            <a:endParaRPr lang="en-US" sz="1100" dirty="0"/>
          </a:p>
        </p:txBody>
      </p:sp>
      <p:sp>
        <p:nvSpPr>
          <p:cNvPr id="17" name="Text 14"/>
          <p:cNvSpPr txBox="1"/>
          <p:nvPr/>
        </p:nvSpPr>
        <p:spPr>
          <a:xfrm>
            <a:off x="3566160" y="1965960"/>
            <a:ext cx="2011680" cy="1463040"/>
          </a:xfrm>
          <a:prstGeom prst="rect">
            <a:avLst/>
          </a:prstGeom>
          <a:noFill/>
          <a:ln/>
        </p:spPr>
        <p:txBody>
          <a:bodyPr wrap="square" lIns="0" tIns="0" rIns="0" bIns="0" rtlCol="0" anchor="t"/>
          <a:lstStyle/>
          <a:p>
            <a:pPr marL="177800" indent="-177800">
              <a:spcAft>
                <a:spcPts val="300"/>
              </a:spcAft>
              <a:buSzPct val="100000"/>
              <a:buChar char="•"/>
            </a:pPr>
            <a:r>
              <a:rPr lang="en-US" sz="1050" dirty="0">
                <a:solidFill>
                  <a:srgbClr val="222222"/>
                </a:solidFill>
                <a:latin typeface="Calibri" pitchFamily="34" charset="0"/>
                <a:ea typeface="Calibri" pitchFamily="34" charset="-122"/>
                <a:cs typeface="Calibri" pitchFamily="34" charset="-120"/>
              </a:rPr>
              <a:t>A copy of production: same infrastructure, same data shapes</a:t>
            </a:r>
            <a:endParaRPr lang="en-US" sz="1050" dirty="0"/>
          </a:p>
          <a:p>
            <a:pPr marL="177800" indent="-177800">
              <a:spcAft>
                <a:spcPts val="300"/>
              </a:spcAft>
              <a:buSzPct val="100000"/>
              <a:buChar char="•"/>
            </a:pPr>
            <a:r>
              <a:rPr lang="en-US" sz="1050" dirty="0">
                <a:solidFill>
                  <a:srgbClr val="222222"/>
                </a:solidFill>
                <a:latin typeface="Calibri" pitchFamily="34" charset="0"/>
                <a:ea typeface="Calibri" pitchFamily="34" charset="-122"/>
                <a:cs typeface="Calibri" pitchFamily="34" charset="-120"/>
              </a:rPr>
              <a:t>No real customers, no real money</a:t>
            </a:r>
            <a:endParaRPr lang="en-US" sz="1050" dirty="0"/>
          </a:p>
          <a:p>
            <a:pPr marL="177800" indent="-177800">
              <a:spcAft>
                <a:spcPts val="300"/>
              </a:spcAft>
              <a:buSzPct val="100000"/>
              <a:buChar char="•"/>
            </a:pPr>
            <a:r>
              <a:rPr lang="en-US" sz="1050" dirty="0">
                <a:solidFill>
                  <a:srgbClr val="222222"/>
                </a:solidFill>
                <a:latin typeface="Calibri" pitchFamily="34" charset="0"/>
                <a:ea typeface="Calibri" pitchFamily="34" charset="-122"/>
                <a:cs typeface="Calibri" pitchFamily="34" charset="-120"/>
              </a:rPr>
              <a:t>Automated tests and human review</a:t>
            </a:r>
            <a:endParaRPr lang="en-US" sz="1050" dirty="0"/>
          </a:p>
        </p:txBody>
      </p:sp>
      <p:sp>
        <p:nvSpPr>
          <p:cNvPr id="18" name="Shape 15"/>
          <p:cNvSpPr/>
          <p:nvPr/>
        </p:nvSpPr>
        <p:spPr>
          <a:xfrm>
            <a:off x="5760720" y="2377440"/>
            <a:ext cx="685800" cy="0"/>
          </a:xfrm>
          <a:prstGeom prst="line">
            <a:avLst/>
          </a:prstGeom>
          <a:noFill/>
          <a:ln w="25400">
            <a:solidFill>
              <a:srgbClr val="0E7C86"/>
            </a:solidFill>
            <a:prstDash val="solid"/>
            <a:tailEnd type="triangle"/>
          </a:ln>
        </p:spPr>
        <p:txBody>
          <a:bodyPr/>
          <a:lstStyle/>
          <a:p>
            <a:endParaRPr/>
          </a:p>
        </p:txBody>
      </p:sp>
      <p:sp>
        <p:nvSpPr>
          <p:cNvPr id="19" name="Shape 16"/>
          <p:cNvSpPr/>
          <p:nvPr/>
        </p:nvSpPr>
        <p:spPr>
          <a:xfrm>
            <a:off x="5879592" y="1965960"/>
            <a:ext cx="457200" cy="457200"/>
          </a:xfrm>
          <a:prstGeom prst="ellipse">
            <a:avLst/>
          </a:prstGeom>
          <a:solidFill>
            <a:srgbClr val="E07A2F"/>
          </a:solidFill>
          <a:ln w="12700">
            <a:solidFill>
              <a:srgbClr val="E07A2F"/>
            </a:solidFill>
            <a:prstDash val="solid"/>
          </a:ln>
        </p:spPr>
        <p:txBody>
          <a:bodyPr/>
          <a:lstStyle/>
          <a:p>
            <a:endParaRPr/>
          </a:p>
        </p:txBody>
      </p:sp>
      <p:sp>
        <p:nvSpPr>
          <p:cNvPr id="20" name="Text 17"/>
          <p:cNvSpPr txBox="1"/>
          <p:nvPr/>
        </p:nvSpPr>
        <p:spPr>
          <a:xfrm>
            <a:off x="5879592" y="1965960"/>
            <a:ext cx="45720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G2</a:t>
            </a:r>
            <a:endParaRPr lang="en-US" sz="1100" dirty="0"/>
          </a:p>
        </p:txBody>
      </p:sp>
      <p:sp>
        <p:nvSpPr>
          <p:cNvPr id="21" name="Shape 18"/>
          <p:cNvSpPr/>
          <p:nvPr/>
        </p:nvSpPr>
        <p:spPr>
          <a:xfrm>
            <a:off x="6492240" y="1234440"/>
            <a:ext cx="2286000" cy="2286000"/>
          </a:xfrm>
          <a:prstGeom prst="roundRect">
            <a:avLst>
              <a:gd name="adj" fmla="val 3200"/>
            </a:avLst>
          </a:prstGeom>
          <a:solidFill>
            <a:srgbClr val="F3F5F8"/>
          </a:solidFill>
          <a:ln w="12700">
            <a:solidFill>
              <a:srgbClr val="F3F5F8"/>
            </a:solidFill>
            <a:prstDash val="solid"/>
          </a:ln>
        </p:spPr>
        <p:txBody>
          <a:bodyPr/>
          <a:lstStyle/>
          <a:p>
            <a:endParaRPr/>
          </a:p>
        </p:txBody>
      </p:sp>
      <p:sp>
        <p:nvSpPr>
          <p:cNvPr id="22" name="Text 19"/>
          <p:cNvSpPr txBox="1"/>
          <p:nvPr/>
        </p:nvSpPr>
        <p:spPr>
          <a:xfrm>
            <a:off x="6629400" y="1298448"/>
            <a:ext cx="2011680" cy="365760"/>
          </a:xfrm>
          <a:prstGeom prst="rect">
            <a:avLst/>
          </a:prstGeom>
          <a:noFill/>
          <a:ln/>
        </p:spPr>
        <p:txBody>
          <a:bodyPr wrap="square" lIns="0" tIns="0" rIns="0" bIns="0" rtlCol="0" anchor="ctr"/>
          <a:lstStyle/>
          <a:p>
            <a:pPr marL="0" indent="0">
              <a:buNone/>
            </a:pPr>
            <a:r>
              <a:rPr lang="en-US" sz="1600" b="1" dirty="0">
                <a:solidFill>
                  <a:srgbClr val="1B2A4A"/>
                </a:solidFill>
                <a:latin typeface="Calibri" pitchFamily="34" charset="0"/>
                <a:ea typeface="Calibri" pitchFamily="34" charset="-122"/>
                <a:cs typeface="Calibri" pitchFamily="34" charset="-120"/>
              </a:rPr>
              <a:t>Prod</a:t>
            </a:r>
            <a:endParaRPr lang="en-US" sz="1600" dirty="0"/>
          </a:p>
        </p:txBody>
      </p:sp>
      <p:sp>
        <p:nvSpPr>
          <p:cNvPr id="23" name="Text 20"/>
          <p:cNvSpPr txBox="1"/>
          <p:nvPr/>
        </p:nvSpPr>
        <p:spPr>
          <a:xfrm>
            <a:off x="6629400" y="1645920"/>
            <a:ext cx="2011680" cy="274320"/>
          </a:xfrm>
          <a:prstGeom prst="rect">
            <a:avLst/>
          </a:prstGeom>
          <a:noFill/>
          <a:ln/>
        </p:spPr>
        <p:txBody>
          <a:bodyPr wrap="square" lIns="0" tIns="0" rIns="0" bIns="0" rtlCol="0" anchor="ctr"/>
          <a:lstStyle/>
          <a:p>
            <a:pPr marL="0" indent="0">
              <a:buNone/>
            </a:pPr>
            <a:r>
              <a:rPr lang="en-US" sz="1100" i="1" dirty="0">
                <a:solidFill>
                  <a:srgbClr val="0E7C86"/>
                </a:solidFill>
                <a:latin typeface="Calibri" pitchFamily="34" charset="0"/>
                <a:ea typeface="Calibri" pitchFamily="34" charset="-122"/>
                <a:cs typeface="Calibri" pitchFamily="34" charset="-120"/>
              </a:rPr>
              <a:t>Serve real customers</a:t>
            </a:r>
            <a:endParaRPr lang="en-US" sz="1100" dirty="0"/>
          </a:p>
        </p:txBody>
      </p:sp>
      <p:sp>
        <p:nvSpPr>
          <p:cNvPr id="24" name="Text 21"/>
          <p:cNvSpPr txBox="1"/>
          <p:nvPr/>
        </p:nvSpPr>
        <p:spPr>
          <a:xfrm>
            <a:off x="6629400" y="1965960"/>
            <a:ext cx="2011680" cy="1463040"/>
          </a:xfrm>
          <a:prstGeom prst="rect">
            <a:avLst/>
          </a:prstGeom>
          <a:noFill/>
          <a:ln/>
        </p:spPr>
        <p:txBody>
          <a:bodyPr wrap="square" lIns="0" tIns="0" rIns="0" bIns="0" rtlCol="0" anchor="t"/>
          <a:lstStyle/>
          <a:p>
            <a:pPr marL="177800" indent="-177800">
              <a:spcAft>
                <a:spcPts val="300"/>
              </a:spcAft>
              <a:buSzPct val="100000"/>
              <a:buChar char="•"/>
            </a:pPr>
            <a:r>
              <a:rPr lang="en-US" sz="1050" dirty="0">
                <a:solidFill>
                  <a:srgbClr val="222222"/>
                </a:solidFill>
                <a:latin typeface="Calibri" pitchFamily="34" charset="0"/>
                <a:ea typeface="Calibri" pitchFamily="34" charset="-122"/>
                <a:cs typeface="Calibri" pitchFamily="34" charset="-120"/>
              </a:rPr>
              <a:t>Real data, real money, real regulator</a:t>
            </a:r>
            <a:endParaRPr lang="en-US" sz="1050" dirty="0"/>
          </a:p>
          <a:p>
            <a:pPr marL="177800" indent="-177800">
              <a:spcAft>
                <a:spcPts val="300"/>
              </a:spcAft>
              <a:buSzPct val="100000"/>
              <a:buChar char="•"/>
            </a:pPr>
            <a:r>
              <a:rPr lang="en-US" sz="1050" dirty="0">
                <a:solidFill>
                  <a:srgbClr val="222222"/>
                </a:solidFill>
                <a:latin typeface="Calibri" pitchFamily="34" charset="0"/>
                <a:ea typeface="Calibri" pitchFamily="34" charset="-122"/>
                <a:cs typeface="Calibri" pitchFamily="34" charset="-120"/>
              </a:rPr>
              <a:t>Only what passed QA gets in</a:t>
            </a:r>
            <a:endParaRPr lang="en-US" sz="1050" dirty="0"/>
          </a:p>
          <a:p>
            <a:pPr marL="177800" indent="-177800">
              <a:spcAft>
                <a:spcPts val="300"/>
              </a:spcAft>
              <a:buSzPct val="100000"/>
              <a:buChar char="•"/>
            </a:pPr>
            <a:r>
              <a:rPr lang="en-US" sz="1050" dirty="0">
                <a:solidFill>
                  <a:srgbClr val="222222"/>
                </a:solidFill>
                <a:latin typeface="Calibri" pitchFamily="34" charset="0"/>
                <a:ea typeface="Calibri" pitchFamily="34" charset="-122"/>
                <a:cs typeface="Calibri" pitchFamily="34" charset="-120"/>
              </a:rPr>
              <a:t>Monitored (Session 7)</a:t>
            </a:r>
            <a:endParaRPr lang="en-US" sz="1050" dirty="0"/>
          </a:p>
        </p:txBody>
      </p:sp>
      <p:sp>
        <p:nvSpPr>
          <p:cNvPr id="25" name="Shape 22"/>
          <p:cNvSpPr/>
          <p:nvPr/>
        </p:nvSpPr>
        <p:spPr>
          <a:xfrm>
            <a:off x="365760" y="3657600"/>
            <a:ext cx="4114800" cy="960120"/>
          </a:xfrm>
          <a:prstGeom prst="roundRect">
            <a:avLst>
              <a:gd name="adj" fmla="val 7619"/>
            </a:avLst>
          </a:prstGeom>
          <a:solidFill>
            <a:srgbClr val="FBE9DC"/>
          </a:solidFill>
          <a:ln w="12700">
            <a:solidFill>
              <a:srgbClr val="FBE9DC"/>
            </a:solidFill>
            <a:prstDash val="solid"/>
          </a:ln>
        </p:spPr>
        <p:txBody>
          <a:bodyPr/>
          <a:lstStyle/>
          <a:p>
            <a:endParaRPr/>
          </a:p>
        </p:txBody>
      </p:sp>
      <p:sp>
        <p:nvSpPr>
          <p:cNvPr id="26" name="Text 23"/>
          <p:cNvSpPr txBox="1"/>
          <p:nvPr/>
        </p:nvSpPr>
        <p:spPr>
          <a:xfrm>
            <a:off x="502920" y="3749040"/>
            <a:ext cx="3840480" cy="329184"/>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Gate 1 · Dev → QA</a:t>
            </a:r>
            <a:endParaRPr lang="en-US" sz="1300" dirty="0"/>
          </a:p>
        </p:txBody>
      </p:sp>
      <p:sp>
        <p:nvSpPr>
          <p:cNvPr id="27" name="Text 24"/>
          <p:cNvSpPr txBox="1"/>
          <p:nvPr/>
        </p:nvSpPr>
        <p:spPr>
          <a:xfrm>
            <a:off x="502920" y="4114800"/>
            <a:ext cx="3840480" cy="411480"/>
          </a:xfrm>
          <a:prstGeom prst="rect">
            <a:avLst/>
          </a:prstGeom>
          <a:noFill/>
          <a:ln/>
        </p:spPr>
        <p:txBody>
          <a:bodyPr wrap="square" lIns="0" tIns="0" rIns="0" bIns="0" rtlCol="0" anchor="t"/>
          <a:lstStyle/>
          <a:p>
            <a:pPr marL="0" indent="0" algn="l">
              <a:buNone/>
            </a:pPr>
            <a:r>
              <a:rPr lang="en-US" sz="1100" dirty="0">
                <a:solidFill>
                  <a:srgbClr val="222222"/>
                </a:solidFill>
                <a:latin typeface="Calibri" pitchFamily="34" charset="0"/>
                <a:ea typeface="Calibri" pitchFamily="34" charset="-122"/>
                <a:cs typeface="Calibri" pitchFamily="34" charset="-120"/>
              </a:rPr>
              <a:t>Tests pass · data validated · model registered with a version and an owner.</a:t>
            </a:r>
            <a:endParaRPr lang="en-US" sz="1100" dirty="0"/>
          </a:p>
        </p:txBody>
      </p:sp>
      <p:sp>
        <p:nvSpPr>
          <p:cNvPr id="28" name="Shape 25"/>
          <p:cNvSpPr/>
          <p:nvPr/>
        </p:nvSpPr>
        <p:spPr>
          <a:xfrm>
            <a:off x="4663440" y="3657600"/>
            <a:ext cx="4114800" cy="960120"/>
          </a:xfrm>
          <a:prstGeom prst="roundRect">
            <a:avLst>
              <a:gd name="adj" fmla="val 7619"/>
            </a:avLst>
          </a:prstGeom>
          <a:solidFill>
            <a:srgbClr val="FBE9DC"/>
          </a:solidFill>
          <a:ln w="12700">
            <a:solidFill>
              <a:srgbClr val="FBE9DC"/>
            </a:solidFill>
            <a:prstDash val="solid"/>
          </a:ln>
        </p:spPr>
        <p:txBody>
          <a:bodyPr/>
          <a:lstStyle/>
          <a:p>
            <a:endParaRPr/>
          </a:p>
        </p:txBody>
      </p:sp>
      <p:sp>
        <p:nvSpPr>
          <p:cNvPr id="29" name="Text 26"/>
          <p:cNvSpPr txBox="1"/>
          <p:nvPr/>
        </p:nvSpPr>
        <p:spPr>
          <a:xfrm>
            <a:off x="4800600" y="3749040"/>
            <a:ext cx="3840480" cy="329184"/>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Gate 2 · QA → Prod</a:t>
            </a:r>
            <a:endParaRPr lang="en-US" sz="1300" dirty="0"/>
          </a:p>
        </p:txBody>
      </p:sp>
      <p:sp>
        <p:nvSpPr>
          <p:cNvPr id="30" name="Text 27"/>
          <p:cNvSpPr txBox="1"/>
          <p:nvPr/>
        </p:nvSpPr>
        <p:spPr>
          <a:xfrm>
            <a:off x="4800600" y="4114800"/>
            <a:ext cx="3840480" cy="411480"/>
          </a:xfrm>
          <a:prstGeom prst="rect">
            <a:avLst/>
          </a:prstGeom>
          <a:noFill/>
          <a:ln/>
        </p:spPr>
        <p:txBody>
          <a:bodyPr wrap="square" lIns="0" tIns="0" rIns="0" bIns="0" rtlCol="0" anchor="t"/>
          <a:lstStyle/>
          <a:p>
            <a:pPr marL="0" indent="0" algn="l">
              <a:buNone/>
            </a:pPr>
            <a:r>
              <a:rPr lang="en-US" sz="1100" dirty="0">
                <a:solidFill>
                  <a:srgbClr val="222222"/>
                </a:solidFill>
                <a:latin typeface="Calibri" pitchFamily="34" charset="0"/>
                <a:ea typeface="Calibri" pitchFamily="34" charset="-122"/>
                <a:cs typeface="Calibri" pitchFamily="34" charset="-120"/>
              </a:rPr>
              <a:t>Behaves like production (latency, load) · sign-off by the accountable owner · rollback plan · not promoted by the person who built it.</a:t>
            </a:r>
            <a:endParaRPr lang="en-US" sz="1100" dirty="0"/>
          </a:p>
        </p:txBody>
      </p:sp>
      <p:pic>
        <p:nvPicPr>
          <p:cNvPr id="31" name="IE University logo" descr="IE University, School of Science &amp; Technology"/>
          <p:cNvPicPr>
            <a:picLocks noChangeAspect="1"/>
          </p:cNvPicPr>
          <p:nvPr/>
        </p:nvPicPr>
        <p:blipFill>
          <a:blip r:embed="rId3"/>
          <a:stretch>
            <a:fillRect/>
          </a:stretch>
        </p:blipFill>
        <p:spPr>
          <a:xfrm>
            <a:off x="8013607" y="92634"/>
            <a:ext cx="764633" cy="262789"/>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marL="0" indent="0">
              <a:buNone/>
            </a:pPr>
            <a:r>
              <a:rPr lang="en-US" sz="800" dirty="0">
                <a:solidFill>
                  <a:srgbClr val="6B7280"/>
                </a:solidFill>
                <a:latin typeface="Calibri" pitchFamily="34" charset="0"/>
                <a:ea typeface="Calibri" pitchFamily="34" charset="-122"/>
                <a:cs typeface="Calibri" pitchFamily="34" charset="-120"/>
              </a:rPr>
              <a:t>MLOps · MBDS-PT2026F · Session 3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marL="0" indent="0" algn="r">
              <a:buNone/>
            </a:pPr>
            <a:r>
              <a:rPr lang="en-US" sz="800" dirty="0">
                <a:solidFill>
                  <a:srgbClr val="6B7280"/>
                </a:solidFill>
                <a:latin typeface="Calibri" pitchFamily="34" charset="0"/>
                <a:ea typeface="Calibri" pitchFamily="34" charset="-122"/>
                <a:cs typeface="Calibri" pitchFamily="34" charset="-120"/>
              </a:rPr>
              <a:t>20</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marL="0" indent="0">
              <a:buNone/>
            </a:pPr>
            <a:r>
              <a:rPr lang="en-US" sz="2400" b="1" dirty="0">
                <a:solidFill>
                  <a:srgbClr val="1B2A4A"/>
                </a:solidFill>
                <a:latin typeface="Calibri" pitchFamily="34" charset="0"/>
                <a:ea typeface="Calibri" pitchFamily="34" charset="-122"/>
                <a:cs typeface="Calibri" pitchFamily="34" charset="-120"/>
              </a:rPr>
              <a:t>What goes wrong when a model goes from a laptop straight to production</a:t>
            </a:r>
            <a:endParaRPr lang="en-US" sz="2400" dirty="0"/>
          </a:p>
        </p:txBody>
      </p:sp>
      <p:sp>
        <p:nvSpPr>
          <p:cNvPr id="7" name="Shape 4"/>
          <p:cNvSpPr/>
          <p:nvPr/>
        </p:nvSpPr>
        <p:spPr>
          <a:xfrm>
            <a:off x="365760" y="1280160"/>
            <a:ext cx="420624" cy="420624"/>
          </a:xfrm>
          <a:prstGeom prst="ellipse">
            <a:avLst/>
          </a:prstGeom>
          <a:solidFill>
            <a:srgbClr val="E07A2F"/>
          </a:solidFill>
          <a:ln w="12700">
            <a:solidFill>
              <a:srgbClr val="E07A2F"/>
            </a:solidFill>
            <a:prstDash val="solid"/>
          </a:ln>
        </p:spPr>
        <p:txBody>
          <a:bodyPr/>
          <a:lstStyle/>
          <a:p>
            <a:endParaRPr/>
          </a:p>
        </p:txBody>
      </p:sp>
      <p:pic>
        <p:nvPicPr>
          <p:cNvPr id="8" name="Image 0" descr="preencoded.png"/>
          <p:cNvPicPr>
            <a:picLocks noChangeAspect="1"/>
          </p:cNvPicPr>
          <p:nvPr/>
        </p:nvPicPr>
        <p:blipFill>
          <a:blip r:embed="rId3"/>
          <a:stretch>
            <a:fillRect/>
          </a:stretch>
        </p:blipFill>
        <p:spPr>
          <a:xfrm>
            <a:off x="457200" y="1371600"/>
            <a:ext cx="237744" cy="237744"/>
          </a:xfrm>
          <a:prstGeom prst="rect">
            <a:avLst/>
          </a:prstGeom>
        </p:spPr>
      </p:pic>
      <p:sp>
        <p:nvSpPr>
          <p:cNvPr id="9" name="Text 5"/>
          <p:cNvSpPr txBox="1"/>
          <p:nvPr/>
        </p:nvSpPr>
        <p:spPr>
          <a:xfrm>
            <a:off x="914400" y="1261872"/>
            <a:ext cx="2148840" cy="256032"/>
          </a:xfrm>
          <a:prstGeom prst="rect">
            <a:avLst/>
          </a:prstGeom>
          <a:noFill/>
          <a:ln/>
        </p:spPr>
        <p:txBody>
          <a:bodyPr wrap="square" lIns="0" tIns="0" rIns="0" bIns="0" rtlCol="0" anchor="ctr"/>
          <a:lstStyle/>
          <a:p>
            <a:pPr marL="0" indent="0">
              <a:buNone/>
            </a:pPr>
            <a:r>
              <a:rPr lang="en-US" sz="1200" b="1" dirty="0">
                <a:solidFill>
                  <a:srgbClr val="1B2A4A"/>
                </a:solidFill>
                <a:latin typeface="Calibri" pitchFamily="34" charset="0"/>
                <a:ea typeface="Calibri" pitchFamily="34" charset="-122"/>
                <a:cs typeface="Calibri" pitchFamily="34" charset="-120"/>
              </a:rPr>
              <a:t>Different libraries</a:t>
            </a:r>
            <a:endParaRPr lang="en-US" sz="1200" dirty="0"/>
          </a:p>
        </p:txBody>
      </p:sp>
      <p:sp>
        <p:nvSpPr>
          <p:cNvPr id="10" name="Text 6"/>
          <p:cNvSpPr txBox="1"/>
          <p:nvPr/>
        </p:nvSpPr>
        <p:spPr>
          <a:xfrm>
            <a:off x="914400" y="1517904"/>
            <a:ext cx="2148840" cy="640080"/>
          </a:xfrm>
          <a:prstGeom prst="rect">
            <a:avLst/>
          </a:prstGeom>
          <a:noFill/>
          <a:ln/>
        </p:spPr>
        <p:txBody>
          <a:bodyPr wrap="square" lIns="0" tIns="0" rIns="0" bIns="0" rtlCol="0" anchor="t"/>
          <a:lstStyle/>
          <a:p>
            <a:pPr marL="0" indent="0">
              <a:buNone/>
            </a:pPr>
            <a:r>
              <a:rPr lang="en-US" sz="1050" dirty="0">
                <a:solidFill>
                  <a:srgbClr val="222222"/>
                </a:solidFill>
                <a:latin typeface="Calibri" pitchFamily="34" charset="0"/>
                <a:ea typeface="Calibri" pitchFamily="34" charset="-122"/>
                <a:cs typeface="Calibri" pitchFamily="34" charset="-120"/>
              </a:rPr>
              <a:t>The laptop had version 1.3; production has 1.1. The model loads, and predicts nonsense.</a:t>
            </a:r>
            <a:endParaRPr lang="en-US" sz="1050" dirty="0"/>
          </a:p>
        </p:txBody>
      </p:sp>
      <p:sp>
        <p:nvSpPr>
          <p:cNvPr id="11" name="Shape 7"/>
          <p:cNvSpPr/>
          <p:nvPr/>
        </p:nvSpPr>
        <p:spPr>
          <a:xfrm>
            <a:off x="3218688" y="1280160"/>
            <a:ext cx="420624" cy="420624"/>
          </a:xfrm>
          <a:prstGeom prst="ellipse">
            <a:avLst/>
          </a:prstGeom>
          <a:solidFill>
            <a:srgbClr val="E07A2F"/>
          </a:solidFill>
          <a:ln w="12700">
            <a:solidFill>
              <a:srgbClr val="E07A2F"/>
            </a:solidFill>
            <a:prstDash val="solid"/>
          </a:ln>
        </p:spPr>
        <p:txBody>
          <a:bodyPr/>
          <a:lstStyle/>
          <a:p>
            <a:endParaRPr/>
          </a:p>
        </p:txBody>
      </p:sp>
      <p:pic>
        <p:nvPicPr>
          <p:cNvPr id="12" name="Image 1" descr="preencoded.png"/>
          <p:cNvPicPr>
            <a:picLocks noChangeAspect="1"/>
          </p:cNvPicPr>
          <p:nvPr/>
        </p:nvPicPr>
        <p:blipFill>
          <a:blip r:embed="rId4"/>
          <a:stretch>
            <a:fillRect/>
          </a:stretch>
        </p:blipFill>
        <p:spPr>
          <a:xfrm>
            <a:off x="3310128" y="1371600"/>
            <a:ext cx="237744" cy="237744"/>
          </a:xfrm>
          <a:prstGeom prst="rect">
            <a:avLst/>
          </a:prstGeom>
        </p:spPr>
      </p:pic>
      <p:sp>
        <p:nvSpPr>
          <p:cNvPr id="13" name="Text 8"/>
          <p:cNvSpPr txBox="1"/>
          <p:nvPr/>
        </p:nvSpPr>
        <p:spPr>
          <a:xfrm>
            <a:off x="3767328" y="1261872"/>
            <a:ext cx="2148840" cy="256032"/>
          </a:xfrm>
          <a:prstGeom prst="rect">
            <a:avLst/>
          </a:prstGeom>
          <a:noFill/>
          <a:ln/>
        </p:spPr>
        <p:txBody>
          <a:bodyPr wrap="square" lIns="0" tIns="0" rIns="0" bIns="0" rtlCol="0" anchor="ctr"/>
          <a:lstStyle/>
          <a:p>
            <a:pPr marL="0" indent="0">
              <a:buNone/>
            </a:pPr>
            <a:r>
              <a:rPr lang="en-US" sz="1200" b="1" dirty="0">
                <a:solidFill>
                  <a:srgbClr val="1B2A4A"/>
                </a:solidFill>
                <a:latin typeface="Calibri" pitchFamily="34" charset="0"/>
                <a:ea typeface="Calibri" pitchFamily="34" charset="-122"/>
                <a:cs typeface="Calibri" pitchFamily="34" charset="-120"/>
              </a:rPr>
              <a:t>Pre-processing left behind</a:t>
            </a:r>
            <a:endParaRPr lang="en-US" sz="1200" dirty="0"/>
          </a:p>
        </p:txBody>
      </p:sp>
      <p:sp>
        <p:nvSpPr>
          <p:cNvPr id="14" name="Text 9"/>
          <p:cNvSpPr txBox="1"/>
          <p:nvPr/>
        </p:nvSpPr>
        <p:spPr>
          <a:xfrm>
            <a:off x="3767328" y="1517904"/>
            <a:ext cx="2148840" cy="640080"/>
          </a:xfrm>
          <a:prstGeom prst="rect">
            <a:avLst/>
          </a:prstGeom>
          <a:noFill/>
          <a:ln/>
        </p:spPr>
        <p:txBody>
          <a:bodyPr wrap="square" lIns="0" tIns="0" rIns="0" bIns="0" rtlCol="0" anchor="t"/>
          <a:lstStyle/>
          <a:p>
            <a:pPr marL="0" indent="0">
              <a:buNone/>
            </a:pPr>
            <a:r>
              <a:rPr lang="en-US" sz="1050" dirty="0">
                <a:solidFill>
                  <a:srgbClr val="222222"/>
                </a:solidFill>
                <a:latin typeface="Calibri" pitchFamily="34" charset="0"/>
                <a:ea typeface="Calibri" pitchFamily="34" charset="-122"/>
                <a:cs typeface="Calibri" pitchFamily="34" charset="-120"/>
              </a:rPr>
              <a:t>The transformations lived in cells that were never shipped.</a:t>
            </a:r>
            <a:endParaRPr lang="en-US" sz="1050" dirty="0"/>
          </a:p>
        </p:txBody>
      </p:sp>
      <p:sp>
        <p:nvSpPr>
          <p:cNvPr id="15" name="Shape 10"/>
          <p:cNvSpPr/>
          <p:nvPr/>
        </p:nvSpPr>
        <p:spPr>
          <a:xfrm>
            <a:off x="6071616" y="1280160"/>
            <a:ext cx="420624" cy="420624"/>
          </a:xfrm>
          <a:prstGeom prst="ellipse">
            <a:avLst/>
          </a:prstGeom>
          <a:solidFill>
            <a:srgbClr val="E07A2F"/>
          </a:solidFill>
          <a:ln w="12700">
            <a:solidFill>
              <a:srgbClr val="E07A2F"/>
            </a:solidFill>
            <a:prstDash val="solid"/>
          </a:ln>
        </p:spPr>
        <p:txBody>
          <a:bodyPr/>
          <a:lstStyle/>
          <a:p>
            <a:endParaRPr/>
          </a:p>
        </p:txBody>
      </p:sp>
      <p:pic>
        <p:nvPicPr>
          <p:cNvPr id="16" name="Image 2" descr="preencoded.png"/>
          <p:cNvPicPr>
            <a:picLocks noChangeAspect="1"/>
          </p:cNvPicPr>
          <p:nvPr/>
        </p:nvPicPr>
        <p:blipFill>
          <a:blip r:embed="rId5"/>
          <a:stretch>
            <a:fillRect/>
          </a:stretch>
        </p:blipFill>
        <p:spPr>
          <a:xfrm>
            <a:off x="6163056" y="1371600"/>
            <a:ext cx="237744" cy="237744"/>
          </a:xfrm>
          <a:prstGeom prst="rect">
            <a:avLst/>
          </a:prstGeom>
        </p:spPr>
      </p:pic>
      <p:sp>
        <p:nvSpPr>
          <p:cNvPr id="17" name="Text 11"/>
          <p:cNvSpPr txBox="1"/>
          <p:nvPr/>
        </p:nvSpPr>
        <p:spPr>
          <a:xfrm>
            <a:off x="6620256" y="1261872"/>
            <a:ext cx="2148840" cy="256032"/>
          </a:xfrm>
          <a:prstGeom prst="rect">
            <a:avLst/>
          </a:prstGeom>
          <a:noFill/>
          <a:ln/>
        </p:spPr>
        <p:txBody>
          <a:bodyPr wrap="square" lIns="0" tIns="0" rIns="0" bIns="0" rtlCol="0" anchor="ctr"/>
          <a:lstStyle/>
          <a:p>
            <a:pPr marL="0" indent="0">
              <a:buNone/>
            </a:pPr>
            <a:r>
              <a:rPr lang="en-US" sz="1200" b="1" dirty="0">
                <a:solidFill>
                  <a:srgbClr val="1B2A4A"/>
                </a:solidFill>
                <a:latin typeface="Calibri" pitchFamily="34" charset="0"/>
                <a:ea typeface="Calibri" pitchFamily="34" charset="-122"/>
                <a:cs typeface="Calibri" pitchFamily="34" charset="-120"/>
              </a:rPr>
              <a:t>Never tested under load</a:t>
            </a:r>
            <a:endParaRPr lang="en-US" sz="1200" dirty="0"/>
          </a:p>
        </p:txBody>
      </p:sp>
      <p:sp>
        <p:nvSpPr>
          <p:cNvPr id="18" name="Text 12"/>
          <p:cNvSpPr txBox="1"/>
          <p:nvPr/>
        </p:nvSpPr>
        <p:spPr>
          <a:xfrm>
            <a:off x="6620256" y="1517904"/>
            <a:ext cx="2148840" cy="640080"/>
          </a:xfrm>
          <a:prstGeom prst="rect">
            <a:avLst/>
          </a:prstGeom>
          <a:noFill/>
          <a:ln/>
        </p:spPr>
        <p:txBody>
          <a:bodyPr wrap="square" lIns="0" tIns="0" rIns="0" bIns="0" rtlCol="0" anchor="t"/>
          <a:lstStyle/>
          <a:p>
            <a:pPr marL="0" indent="0">
              <a:buNone/>
            </a:pPr>
            <a:r>
              <a:rPr lang="en-US" sz="1050" dirty="0">
                <a:solidFill>
                  <a:srgbClr val="222222"/>
                </a:solidFill>
                <a:latin typeface="Calibri" pitchFamily="34" charset="0"/>
                <a:ea typeface="Calibri" pitchFamily="34" charset="-122"/>
                <a:cs typeface="Calibri" pitchFamily="34" charset="-120"/>
              </a:rPr>
              <a:t>Works for one row; falls over at a thousand per second.</a:t>
            </a:r>
            <a:endParaRPr lang="en-US" sz="1050" dirty="0"/>
          </a:p>
        </p:txBody>
      </p:sp>
      <p:sp>
        <p:nvSpPr>
          <p:cNvPr id="19" name="Shape 13"/>
          <p:cNvSpPr/>
          <p:nvPr/>
        </p:nvSpPr>
        <p:spPr>
          <a:xfrm>
            <a:off x="365760" y="2331720"/>
            <a:ext cx="420624" cy="420624"/>
          </a:xfrm>
          <a:prstGeom prst="ellipse">
            <a:avLst/>
          </a:prstGeom>
          <a:solidFill>
            <a:srgbClr val="E07A2F"/>
          </a:solidFill>
          <a:ln w="12700">
            <a:solidFill>
              <a:srgbClr val="E07A2F"/>
            </a:solidFill>
            <a:prstDash val="solid"/>
          </a:ln>
        </p:spPr>
        <p:txBody>
          <a:bodyPr/>
          <a:lstStyle/>
          <a:p>
            <a:endParaRPr/>
          </a:p>
        </p:txBody>
      </p:sp>
      <p:pic>
        <p:nvPicPr>
          <p:cNvPr id="20" name="Image 3" descr="preencoded.png"/>
          <p:cNvPicPr>
            <a:picLocks noChangeAspect="1"/>
          </p:cNvPicPr>
          <p:nvPr/>
        </p:nvPicPr>
        <p:blipFill>
          <a:blip r:embed="rId6"/>
          <a:stretch>
            <a:fillRect/>
          </a:stretch>
        </p:blipFill>
        <p:spPr>
          <a:xfrm>
            <a:off x="457200" y="2423160"/>
            <a:ext cx="237744" cy="237744"/>
          </a:xfrm>
          <a:prstGeom prst="rect">
            <a:avLst/>
          </a:prstGeom>
        </p:spPr>
      </p:pic>
      <p:sp>
        <p:nvSpPr>
          <p:cNvPr id="21" name="Text 14"/>
          <p:cNvSpPr txBox="1"/>
          <p:nvPr/>
        </p:nvSpPr>
        <p:spPr>
          <a:xfrm>
            <a:off x="914400" y="2313432"/>
            <a:ext cx="2148840" cy="256032"/>
          </a:xfrm>
          <a:prstGeom prst="rect">
            <a:avLst/>
          </a:prstGeom>
          <a:noFill/>
          <a:ln/>
        </p:spPr>
        <p:txBody>
          <a:bodyPr wrap="square" lIns="0" tIns="0" rIns="0" bIns="0" rtlCol="0" anchor="ctr"/>
          <a:lstStyle/>
          <a:p>
            <a:pPr marL="0" indent="0">
              <a:buNone/>
            </a:pPr>
            <a:r>
              <a:rPr lang="en-US" sz="1200" b="1" dirty="0">
                <a:solidFill>
                  <a:srgbClr val="1B2A4A"/>
                </a:solidFill>
                <a:latin typeface="Calibri" pitchFamily="34" charset="0"/>
                <a:ea typeface="Calibri" pitchFamily="34" charset="-122"/>
                <a:cs typeface="Calibri" pitchFamily="34" charset="-120"/>
              </a:rPr>
              <a:t>Tested on a file, not the feed</a:t>
            </a:r>
            <a:endParaRPr lang="en-US" sz="1200" dirty="0"/>
          </a:p>
        </p:txBody>
      </p:sp>
      <p:sp>
        <p:nvSpPr>
          <p:cNvPr id="22" name="Text 15"/>
          <p:cNvSpPr txBox="1"/>
          <p:nvPr/>
        </p:nvSpPr>
        <p:spPr>
          <a:xfrm>
            <a:off x="914400" y="2569464"/>
            <a:ext cx="2148840" cy="640080"/>
          </a:xfrm>
          <a:prstGeom prst="rect">
            <a:avLst/>
          </a:prstGeom>
          <a:noFill/>
          <a:ln/>
        </p:spPr>
        <p:txBody>
          <a:bodyPr wrap="square" lIns="0" tIns="0" rIns="0" bIns="0" rtlCol="0" anchor="t"/>
          <a:lstStyle/>
          <a:p>
            <a:pPr marL="0" indent="0">
              <a:buNone/>
            </a:pPr>
            <a:r>
              <a:rPr lang="en-US" sz="1050" dirty="0">
                <a:solidFill>
                  <a:srgbClr val="222222"/>
                </a:solidFill>
                <a:latin typeface="Calibri" pitchFamily="34" charset="0"/>
                <a:ea typeface="Calibri" pitchFamily="34" charset="-122"/>
                <a:cs typeface="Calibri" pitchFamily="34" charset="-120"/>
              </a:rPr>
              <a:t>The live data has different column names and arrives late.</a:t>
            </a:r>
            <a:endParaRPr lang="en-US" sz="1050" dirty="0"/>
          </a:p>
        </p:txBody>
      </p:sp>
      <p:sp>
        <p:nvSpPr>
          <p:cNvPr id="23" name="Shape 16"/>
          <p:cNvSpPr/>
          <p:nvPr/>
        </p:nvSpPr>
        <p:spPr>
          <a:xfrm>
            <a:off x="3218688" y="2331720"/>
            <a:ext cx="420624" cy="420624"/>
          </a:xfrm>
          <a:prstGeom prst="ellipse">
            <a:avLst/>
          </a:prstGeom>
          <a:solidFill>
            <a:srgbClr val="E07A2F"/>
          </a:solidFill>
          <a:ln w="12700">
            <a:solidFill>
              <a:srgbClr val="E07A2F"/>
            </a:solidFill>
            <a:prstDash val="solid"/>
          </a:ln>
        </p:spPr>
        <p:txBody>
          <a:bodyPr/>
          <a:lstStyle/>
          <a:p>
            <a:endParaRPr/>
          </a:p>
        </p:txBody>
      </p:sp>
      <p:pic>
        <p:nvPicPr>
          <p:cNvPr id="24" name="Image 4" descr="preencoded.png"/>
          <p:cNvPicPr>
            <a:picLocks noChangeAspect="1"/>
          </p:cNvPicPr>
          <p:nvPr/>
        </p:nvPicPr>
        <p:blipFill>
          <a:blip r:embed="rId7"/>
          <a:stretch>
            <a:fillRect/>
          </a:stretch>
        </p:blipFill>
        <p:spPr>
          <a:xfrm>
            <a:off x="3310128" y="2423160"/>
            <a:ext cx="237744" cy="237744"/>
          </a:xfrm>
          <a:prstGeom prst="rect">
            <a:avLst/>
          </a:prstGeom>
        </p:spPr>
      </p:pic>
      <p:sp>
        <p:nvSpPr>
          <p:cNvPr id="25" name="Text 17"/>
          <p:cNvSpPr txBox="1"/>
          <p:nvPr/>
        </p:nvSpPr>
        <p:spPr>
          <a:xfrm>
            <a:off x="3767328" y="2313432"/>
            <a:ext cx="2148840" cy="256032"/>
          </a:xfrm>
          <a:prstGeom prst="rect">
            <a:avLst/>
          </a:prstGeom>
          <a:noFill/>
          <a:ln/>
        </p:spPr>
        <p:txBody>
          <a:bodyPr wrap="square" lIns="0" tIns="0" rIns="0" bIns="0" rtlCol="0" anchor="ctr"/>
          <a:lstStyle/>
          <a:p>
            <a:pPr marL="0" indent="0">
              <a:buNone/>
            </a:pPr>
            <a:r>
              <a:rPr lang="en-US" sz="1200" b="1" dirty="0">
                <a:solidFill>
                  <a:srgbClr val="1B2A4A"/>
                </a:solidFill>
                <a:latin typeface="Calibri" pitchFamily="34" charset="0"/>
                <a:ea typeface="Calibri" pitchFamily="34" charset="-122"/>
                <a:cs typeface="Calibri" pitchFamily="34" charset="-120"/>
              </a:rPr>
              <a:t>Nothing to roll back to</a:t>
            </a:r>
            <a:endParaRPr lang="en-US" sz="1200" dirty="0"/>
          </a:p>
        </p:txBody>
      </p:sp>
      <p:sp>
        <p:nvSpPr>
          <p:cNvPr id="26" name="Text 18"/>
          <p:cNvSpPr txBox="1"/>
          <p:nvPr/>
        </p:nvSpPr>
        <p:spPr>
          <a:xfrm>
            <a:off x="3767328" y="2569464"/>
            <a:ext cx="2148840" cy="640080"/>
          </a:xfrm>
          <a:prstGeom prst="rect">
            <a:avLst/>
          </a:prstGeom>
          <a:noFill/>
          <a:ln/>
        </p:spPr>
        <p:txBody>
          <a:bodyPr wrap="square" lIns="0" tIns="0" rIns="0" bIns="0" rtlCol="0" anchor="t"/>
          <a:lstStyle/>
          <a:p>
            <a:pPr marL="0" indent="0">
              <a:buNone/>
            </a:pPr>
            <a:r>
              <a:rPr lang="en-US" sz="1050" dirty="0">
                <a:solidFill>
                  <a:srgbClr val="222222"/>
                </a:solidFill>
                <a:latin typeface="Calibri" pitchFamily="34" charset="0"/>
                <a:ea typeface="Calibri" pitchFamily="34" charset="-122"/>
                <a:cs typeface="Calibri" pitchFamily="34" charset="-120"/>
              </a:rPr>
              <a:t>No version, no tag, no previous model kept.</a:t>
            </a:r>
            <a:endParaRPr lang="en-US" sz="1050" dirty="0"/>
          </a:p>
        </p:txBody>
      </p:sp>
      <p:sp>
        <p:nvSpPr>
          <p:cNvPr id="27" name="Shape 19"/>
          <p:cNvSpPr/>
          <p:nvPr/>
        </p:nvSpPr>
        <p:spPr>
          <a:xfrm>
            <a:off x="6071616" y="2331720"/>
            <a:ext cx="420624" cy="420624"/>
          </a:xfrm>
          <a:prstGeom prst="ellipse">
            <a:avLst/>
          </a:prstGeom>
          <a:solidFill>
            <a:srgbClr val="E07A2F"/>
          </a:solidFill>
          <a:ln w="12700">
            <a:solidFill>
              <a:srgbClr val="E07A2F"/>
            </a:solidFill>
            <a:prstDash val="solid"/>
          </a:ln>
        </p:spPr>
        <p:txBody>
          <a:bodyPr/>
          <a:lstStyle/>
          <a:p>
            <a:endParaRPr/>
          </a:p>
        </p:txBody>
      </p:sp>
      <p:pic>
        <p:nvPicPr>
          <p:cNvPr id="28" name="Image 5" descr="preencoded.png"/>
          <p:cNvPicPr>
            <a:picLocks noChangeAspect="1"/>
          </p:cNvPicPr>
          <p:nvPr/>
        </p:nvPicPr>
        <p:blipFill>
          <a:blip r:embed="rId8"/>
          <a:stretch>
            <a:fillRect/>
          </a:stretch>
        </p:blipFill>
        <p:spPr>
          <a:xfrm>
            <a:off x="6163056" y="2423160"/>
            <a:ext cx="237744" cy="237744"/>
          </a:xfrm>
          <a:prstGeom prst="rect">
            <a:avLst/>
          </a:prstGeom>
        </p:spPr>
      </p:pic>
      <p:sp>
        <p:nvSpPr>
          <p:cNvPr id="29" name="Text 20"/>
          <p:cNvSpPr txBox="1"/>
          <p:nvPr/>
        </p:nvSpPr>
        <p:spPr>
          <a:xfrm>
            <a:off x="6620256" y="2313432"/>
            <a:ext cx="2148840" cy="256032"/>
          </a:xfrm>
          <a:prstGeom prst="rect">
            <a:avLst/>
          </a:prstGeom>
          <a:noFill/>
          <a:ln/>
        </p:spPr>
        <p:txBody>
          <a:bodyPr wrap="square" lIns="0" tIns="0" rIns="0" bIns="0" rtlCol="0" anchor="ctr"/>
          <a:lstStyle/>
          <a:p>
            <a:pPr marL="0" indent="0">
              <a:buNone/>
            </a:pPr>
            <a:r>
              <a:rPr lang="en-US" sz="1200" b="1" dirty="0">
                <a:solidFill>
                  <a:srgbClr val="1B2A4A"/>
                </a:solidFill>
                <a:latin typeface="Calibri" pitchFamily="34" charset="0"/>
                <a:ea typeface="Calibri" pitchFamily="34" charset="-122"/>
                <a:cs typeface="Calibri" pitchFamily="34" charset="-120"/>
              </a:rPr>
              <a:t>Nobody signed off</a:t>
            </a:r>
            <a:endParaRPr lang="en-US" sz="1200" dirty="0"/>
          </a:p>
        </p:txBody>
      </p:sp>
      <p:sp>
        <p:nvSpPr>
          <p:cNvPr id="30" name="Text 21"/>
          <p:cNvSpPr txBox="1"/>
          <p:nvPr/>
        </p:nvSpPr>
        <p:spPr>
          <a:xfrm>
            <a:off x="6620256" y="2569464"/>
            <a:ext cx="2148840" cy="640080"/>
          </a:xfrm>
          <a:prstGeom prst="rect">
            <a:avLst/>
          </a:prstGeom>
          <a:noFill/>
          <a:ln/>
        </p:spPr>
        <p:txBody>
          <a:bodyPr wrap="square" lIns="0" tIns="0" rIns="0" bIns="0" rtlCol="0" anchor="t"/>
          <a:lstStyle/>
          <a:p>
            <a:pPr marL="0" indent="0">
              <a:buNone/>
            </a:pPr>
            <a:r>
              <a:rPr lang="en-US" sz="1050" dirty="0">
                <a:solidFill>
                  <a:srgbClr val="222222"/>
                </a:solidFill>
                <a:latin typeface="Calibri" pitchFamily="34" charset="0"/>
                <a:ea typeface="Calibri" pitchFamily="34" charset="-122"/>
                <a:cs typeface="Calibri" pitchFamily="34" charset="-120"/>
              </a:rPr>
              <a:t>So nobody is accountable when it fails on Saturday.</a:t>
            </a:r>
            <a:endParaRPr lang="en-US" sz="1050" dirty="0"/>
          </a:p>
        </p:txBody>
      </p:sp>
      <p:sp>
        <p:nvSpPr>
          <p:cNvPr id="31" name="Shape 22"/>
          <p:cNvSpPr/>
          <p:nvPr/>
        </p:nvSpPr>
        <p:spPr>
          <a:xfrm>
            <a:off x="365760" y="3520440"/>
            <a:ext cx="8412480" cy="685800"/>
          </a:xfrm>
          <a:prstGeom prst="roundRect">
            <a:avLst>
              <a:gd name="adj" fmla="val 10667"/>
            </a:avLst>
          </a:prstGeom>
          <a:solidFill>
            <a:srgbClr val="FBE9DC"/>
          </a:solidFill>
          <a:ln w="12700">
            <a:solidFill>
              <a:srgbClr val="FBE9DC"/>
            </a:solidFill>
            <a:prstDash val="solid"/>
          </a:ln>
        </p:spPr>
        <p:txBody>
          <a:bodyPr/>
          <a:lstStyle/>
          <a:p>
            <a:endParaRPr/>
          </a:p>
        </p:txBody>
      </p:sp>
      <p:pic>
        <p:nvPicPr>
          <p:cNvPr id="32" name="Image 6" descr="preencoded.png"/>
          <p:cNvPicPr>
            <a:picLocks noChangeAspect="1"/>
          </p:cNvPicPr>
          <p:nvPr/>
        </p:nvPicPr>
        <p:blipFill>
          <a:blip r:embed="rId9"/>
          <a:stretch>
            <a:fillRect/>
          </a:stretch>
        </p:blipFill>
        <p:spPr>
          <a:xfrm>
            <a:off x="502920" y="3726180"/>
            <a:ext cx="274320" cy="274320"/>
          </a:xfrm>
          <a:prstGeom prst="rect">
            <a:avLst/>
          </a:prstGeom>
        </p:spPr>
      </p:pic>
      <p:sp>
        <p:nvSpPr>
          <p:cNvPr id="33" name="Text 23"/>
          <p:cNvSpPr txBox="1"/>
          <p:nvPr/>
        </p:nvSpPr>
        <p:spPr>
          <a:xfrm>
            <a:off x="896112" y="3520440"/>
            <a:ext cx="7772400" cy="685800"/>
          </a:xfrm>
          <a:prstGeom prst="rect">
            <a:avLst/>
          </a:prstGeom>
          <a:noFill/>
          <a:ln/>
        </p:spPr>
        <p:txBody>
          <a:bodyPr wrap="square" lIns="0" tIns="0" rIns="0" bIns="0" rtlCol="0" anchor="ctr"/>
          <a:lstStyle/>
          <a:p>
            <a:pPr marL="0" indent="0">
              <a:buNone/>
            </a:pPr>
            <a:r>
              <a:rPr lang="en-US" sz="1150" b="1" dirty="0">
                <a:solidFill>
                  <a:srgbClr val="1B2A4A"/>
                </a:solidFill>
                <a:latin typeface="Calibri" pitchFamily="34" charset="0"/>
                <a:ea typeface="Calibri" pitchFamily="34" charset="-122"/>
                <a:cs typeface="Calibri" pitchFamily="34" charset="-120"/>
              </a:rPr>
              <a:t>Chat poll (2 min): "A model that works on the data scientist's laptop can go to production the same day if the business is in a hurry." AGREE or DISAGREE, one line why.</a:t>
            </a:r>
            <a:endParaRPr lang="en-US" sz="1150" dirty="0"/>
          </a:p>
        </p:txBody>
      </p:sp>
      <p:pic>
        <p:nvPicPr>
          <p:cNvPr id="34" name="IE University logo" descr="IE University, School of Science &amp; Technology"/>
          <p:cNvPicPr>
            <a:picLocks noChangeAspect="1"/>
          </p:cNvPicPr>
          <p:nvPr/>
        </p:nvPicPr>
        <p:blipFill>
          <a:blip r:embed="rId10"/>
          <a:stretch>
            <a:fillRect/>
          </a:stretch>
        </p:blipFill>
        <p:spPr>
          <a:xfrm>
            <a:off x="8013607" y="92634"/>
            <a:ext cx="764633" cy="262789"/>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marL="0" indent="0">
              <a:buNone/>
            </a:pPr>
            <a:r>
              <a:rPr lang="en-US" sz="800" dirty="0">
                <a:solidFill>
                  <a:srgbClr val="6B7280"/>
                </a:solidFill>
                <a:latin typeface="Calibri" pitchFamily="34" charset="0"/>
                <a:ea typeface="Calibri" pitchFamily="34" charset="-122"/>
                <a:cs typeface="Calibri" pitchFamily="34" charset="-120"/>
              </a:rPr>
              <a:t>MLOps · MBDS-PT2026F · Session 3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marL="0" indent="0" algn="r">
              <a:buNone/>
            </a:pPr>
            <a:r>
              <a:rPr lang="en-US" sz="800" dirty="0">
                <a:solidFill>
                  <a:srgbClr val="6B7280"/>
                </a:solidFill>
                <a:latin typeface="Calibri" pitchFamily="34" charset="0"/>
                <a:ea typeface="Calibri" pitchFamily="34" charset="-122"/>
                <a:cs typeface="Calibri" pitchFamily="34" charset="-120"/>
              </a:rPr>
              <a:t>21</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marL="0" indent="0">
              <a:buNone/>
            </a:pPr>
            <a:r>
              <a:rPr lang="en-US" sz="2400" b="1" dirty="0">
                <a:solidFill>
                  <a:srgbClr val="1B2A4A"/>
                </a:solidFill>
                <a:latin typeface="Calibri" pitchFamily="34" charset="0"/>
                <a:ea typeface="Calibri" pitchFamily="34" charset="-122"/>
                <a:cs typeface="Calibri" pitchFamily="34" charset="-120"/>
              </a:rPr>
              <a:t>Reproducibility, auditability, lineage: one trace from a prediction back to its data</a:t>
            </a:r>
            <a:endParaRPr lang="en-US" sz="2400" dirty="0"/>
          </a:p>
        </p:txBody>
      </p:sp>
      <p:sp>
        <p:nvSpPr>
          <p:cNvPr id="7" name="Shape 4"/>
          <p:cNvSpPr/>
          <p:nvPr/>
        </p:nvSpPr>
        <p:spPr>
          <a:xfrm>
            <a:off x="365760" y="1325880"/>
            <a:ext cx="1554480" cy="731520"/>
          </a:xfrm>
          <a:prstGeom prst="roundRect">
            <a:avLst>
              <a:gd name="adj" fmla="val 7500"/>
            </a:avLst>
          </a:prstGeom>
          <a:solidFill>
            <a:srgbClr val="0E7C86"/>
          </a:solidFill>
          <a:ln w="9525">
            <a:solidFill>
              <a:srgbClr val="0E7C86"/>
            </a:solidFill>
            <a:prstDash val="solid"/>
          </a:ln>
        </p:spPr>
        <p:txBody>
          <a:bodyPr/>
          <a:lstStyle/>
          <a:p>
            <a:endParaRPr/>
          </a:p>
        </p:txBody>
      </p:sp>
      <p:sp>
        <p:nvSpPr>
          <p:cNvPr id="8" name="Text 5"/>
          <p:cNvSpPr txBox="1"/>
          <p:nvPr/>
        </p:nvSpPr>
        <p:spPr>
          <a:xfrm>
            <a:off x="365760" y="1325880"/>
            <a:ext cx="1554480" cy="731520"/>
          </a:xfrm>
          <a:prstGeom prst="rect">
            <a:avLst/>
          </a:prstGeom>
          <a:noFill/>
          <a:ln/>
        </p:spPr>
        <p:txBody>
          <a:bodyPr wrap="square" lIns="635" tIns="635" rIns="635" bIns="635"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Prediction</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14 Apr, customer 1042</a:t>
            </a:r>
            <a:endParaRPr lang="en-US" sz="1000" dirty="0"/>
          </a:p>
        </p:txBody>
      </p:sp>
      <p:sp>
        <p:nvSpPr>
          <p:cNvPr id="9" name="Shape 6"/>
          <p:cNvSpPr/>
          <p:nvPr/>
        </p:nvSpPr>
        <p:spPr>
          <a:xfrm flipH="1">
            <a:off x="1920240" y="1691640"/>
            <a:ext cx="146304" cy="0"/>
          </a:xfrm>
          <a:prstGeom prst="line">
            <a:avLst/>
          </a:prstGeom>
          <a:noFill/>
          <a:ln w="19050">
            <a:solidFill>
              <a:srgbClr val="0E7C86"/>
            </a:solidFill>
            <a:prstDash val="solid"/>
            <a:tailEnd type="triangle"/>
          </a:ln>
        </p:spPr>
        <p:txBody>
          <a:bodyPr/>
          <a:lstStyle/>
          <a:p>
            <a:endParaRPr/>
          </a:p>
        </p:txBody>
      </p:sp>
      <p:sp>
        <p:nvSpPr>
          <p:cNvPr id="10" name="Shape 7"/>
          <p:cNvSpPr/>
          <p:nvPr/>
        </p:nvSpPr>
        <p:spPr>
          <a:xfrm>
            <a:off x="2066544" y="1325880"/>
            <a:ext cx="1554480" cy="731520"/>
          </a:xfrm>
          <a:prstGeom prst="roundRect">
            <a:avLst>
              <a:gd name="adj" fmla="val 7500"/>
            </a:avLst>
          </a:prstGeom>
          <a:solidFill>
            <a:srgbClr val="F3F5F8"/>
          </a:solidFill>
          <a:ln w="9525">
            <a:solidFill>
              <a:srgbClr val="F3F5F8"/>
            </a:solidFill>
            <a:prstDash val="solid"/>
          </a:ln>
        </p:spPr>
        <p:txBody>
          <a:bodyPr/>
          <a:lstStyle/>
          <a:p>
            <a:endParaRPr/>
          </a:p>
        </p:txBody>
      </p:sp>
      <p:sp>
        <p:nvSpPr>
          <p:cNvPr id="11" name="Text 8"/>
          <p:cNvSpPr txBox="1"/>
          <p:nvPr/>
        </p:nvSpPr>
        <p:spPr>
          <a:xfrm>
            <a:off x="2066544" y="1325880"/>
            <a:ext cx="1554480" cy="731520"/>
          </a:xfrm>
          <a:prstGeom prst="rect">
            <a:avLst/>
          </a:prstGeom>
          <a:noFill/>
          <a:ln/>
        </p:spPr>
        <p:txBody>
          <a:bodyPr wrap="square" lIns="635" tIns="635" rIns="635" bIns="635" rtlCol="0" anchor="ctr"/>
          <a:lstStyle/>
          <a:p>
            <a:pPr marL="0" indent="0" algn="ctr">
              <a:buNone/>
            </a:pPr>
            <a:r>
              <a:rPr lang="en-US" sz="1000" dirty="0">
                <a:solidFill>
                  <a:srgbClr val="1B2A4A"/>
                </a:solidFill>
                <a:latin typeface="Calibri" pitchFamily="34" charset="0"/>
                <a:ea typeface="Calibri" pitchFamily="34" charset="-122"/>
                <a:cs typeface="Calibri" pitchFamily="34" charset="-120"/>
              </a:rPr>
              <a:t>Model v1.1</a:t>
            </a:r>
            <a:endParaRPr lang="en-US" sz="1000" dirty="0"/>
          </a:p>
          <a:p>
            <a:pPr marL="0" indent="0" algn="ctr">
              <a:buNone/>
            </a:pPr>
            <a:r>
              <a:rPr lang="en-US" sz="1000" dirty="0">
                <a:solidFill>
                  <a:srgbClr val="1B2A4A"/>
                </a:solidFill>
                <a:latin typeface="Calibri" pitchFamily="34" charset="0"/>
                <a:ea typeface="Calibri" pitchFamily="34" charset="-122"/>
                <a:cs typeface="Calibri" pitchFamily="34" charset="-120"/>
              </a:rPr>
              <a:t>registry, owner, approval</a:t>
            </a:r>
            <a:endParaRPr lang="en-US" sz="1000" dirty="0"/>
          </a:p>
        </p:txBody>
      </p:sp>
      <p:sp>
        <p:nvSpPr>
          <p:cNvPr id="12" name="Shape 9"/>
          <p:cNvSpPr/>
          <p:nvPr/>
        </p:nvSpPr>
        <p:spPr>
          <a:xfrm flipH="1">
            <a:off x="3621024" y="1691640"/>
            <a:ext cx="146304" cy="0"/>
          </a:xfrm>
          <a:prstGeom prst="line">
            <a:avLst/>
          </a:prstGeom>
          <a:noFill/>
          <a:ln w="19050">
            <a:solidFill>
              <a:srgbClr val="0E7C86"/>
            </a:solidFill>
            <a:prstDash val="solid"/>
            <a:tailEnd type="triangle"/>
          </a:ln>
        </p:spPr>
        <p:txBody>
          <a:bodyPr/>
          <a:lstStyle/>
          <a:p>
            <a:endParaRPr/>
          </a:p>
        </p:txBody>
      </p:sp>
      <p:sp>
        <p:nvSpPr>
          <p:cNvPr id="13" name="Shape 10"/>
          <p:cNvSpPr/>
          <p:nvPr/>
        </p:nvSpPr>
        <p:spPr>
          <a:xfrm>
            <a:off x="3767328" y="1325880"/>
            <a:ext cx="1554480" cy="731520"/>
          </a:xfrm>
          <a:prstGeom prst="roundRect">
            <a:avLst>
              <a:gd name="adj" fmla="val 7500"/>
            </a:avLst>
          </a:prstGeom>
          <a:solidFill>
            <a:srgbClr val="F3F5F8"/>
          </a:solidFill>
          <a:ln w="9525">
            <a:solidFill>
              <a:srgbClr val="F3F5F8"/>
            </a:solidFill>
            <a:prstDash val="solid"/>
          </a:ln>
        </p:spPr>
        <p:txBody>
          <a:bodyPr/>
          <a:lstStyle/>
          <a:p>
            <a:endParaRPr/>
          </a:p>
        </p:txBody>
      </p:sp>
      <p:sp>
        <p:nvSpPr>
          <p:cNvPr id="14" name="Text 11"/>
          <p:cNvSpPr txBox="1"/>
          <p:nvPr/>
        </p:nvSpPr>
        <p:spPr>
          <a:xfrm>
            <a:off x="3767328" y="1325880"/>
            <a:ext cx="1554480" cy="731520"/>
          </a:xfrm>
          <a:prstGeom prst="rect">
            <a:avLst/>
          </a:prstGeom>
          <a:noFill/>
          <a:ln/>
        </p:spPr>
        <p:txBody>
          <a:bodyPr wrap="square" lIns="635" tIns="635" rIns="635" bIns="635" rtlCol="0" anchor="ctr"/>
          <a:lstStyle/>
          <a:p>
            <a:pPr marL="0" indent="0" algn="ctr">
              <a:buNone/>
            </a:pPr>
            <a:r>
              <a:rPr lang="en-US" sz="1000" dirty="0">
                <a:solidFill>
                  <a:srgbClr val="1B2A4A"/>
                </a:solidFill>
                <a:latin typeface="Calibri" pitchFamily="34" charset="0"/>
                <a:ea typeface="Calibri" pitchFamily="34" charset="-122"/>
                <a:cs typeface="Calibri" pitchFamily="34" charset="-120"/>
              </a:rPr>
              <a:t>Run 4</a:t>
            </a:r>
            <a:endParaRPr lang="en-US" sz="1000" dirty="0"/>
          </a:p>
          <a:p>
            <a:pPr marL="0" indent="0" algn="ctr">
              <a:buNone/>
            </a:pPr>
            <a:r>
              <a:rPr lang="en-US" sz="1000" dirty="0">
                <a:solidFill>
                  <a:srgbClr val="1B2A4A"/>
                </a:solidFill>
                <a:latin typeface="Calibri" pitchFamily="34" charset="0"/>
                <a:ea typeface="Calibri" pitchFamily="34" charset="-122"/>
                <a:cs typeface="Calibri" pitchFamily="34" charset="-120"/>
              </a:rPr>
              <a:t>settings, metrics</a:t>
            </a:r>
            <a:endParaRPr lang="en-US" sz="1000" dirty="0"/>
          </a:p>
        </p:txBody>
      </p:sp>
      <p:sp>
        <p:nvSpPr>
          <p:cNvPr id="15" name="Shape 12"/>
          <p:cNvSpPr/>
          <p:nvPr/>
        </p:nvSpPr>
        <p:spPr>
          <a:xfrm flipH="1">
            <a:off x="5321808" y="1691640"/>
            <a:ext cx="146304" cy="0"/>
          </a:xfrm>
          <a:prstGeom prst="line">
            <a:avLst/>
          </a:prstGeom>
          <a:noFill/>
          <a:ln w="19050">
            <a:solidFill>
              <a:srgbClr val="0E7C86"/>
            </a:solidFill>
            <a:prstDash val="solid"/>
            <a:tailEnd type="triangle"/>
          </a:ln>
        </p:spPr>
        <p:txBody>
          <a:bodyPr/>
          <a:lstStyle/>
          <a:p>
            <a:endParaRPr/>
          </a:p>
        </p:txBody>
      </p:sp>
      <p:sp>
        <p:nvSpPr>
          <p:cNvPr id="16" name="Shape 13"/>
          <p:cNvSpPr/>
          <p:nvPr/>
        </p:nvSpPr>
        <p:spPr>
          <a:xfrm>
            <a:off x="5468112" y="1325880"/>
            <a:ext cx="1554480" cy="731520"/>
          </a:xfrm>
          <a:prstGeom prst="roundRect">
            <a:avLst>
              <a:gd name="adj" fmla="val 7500"/>
            </a:avLst>
          </a:prstGeom>
          <a:solidFill>
            <a:srgbClr val="F3F5F8"/>
          </a:solidFill>
          <a:ln w="9525">
            <a:solidFill>
              <a:srgbClr val="F3F5F8"/>
            </a:solidFill>
            <a:prstDash val="solid"/>
          </a:ln>
        </p:spPr>
        <p:txBody>
          <a:bodyPr/>
          <a:lstStyle/>
          <a:p>
            <a:endParaRPr/>
          </a:p>
        </p:txBody>
      </p:sp>
      <p:sp>
        <p:nvSpPr>
          <p:cNvPr id="17" name="Text 14"/>
          <p:cNvSpPr txBox="1"/>
          <p:nvPr/>
        </p:nvSpPr>
        <p:spPr>
          <a:xfrm>
            <a:off x="5468112" y="1325880"/>
            <a:ext cx="1554480" cy="731520"/>
          </a:xfrm>
          <a:prstGeom prst="rect">
            <a:avLst/>
          </a:prstGeom>
          <a:noFill/>
          <a:ln/>
        </p:spPr>
        <p:txBody>
          <a:bodyPr wrap="square" lIns="635" tIns="635" rIns="635" bIns="635" rtlCol="0" anchor="ctr"/>
          <a:lstStyle/>
          <a:p>
            <a:pPr marL="0" indent="0" algn="ctr">
              <a:buNone/>
            </a:pPr>
            <a:r>
              <a:rPr lang="en-US" sz="1000" dirty="0">
                <a:solidFill>
                  <a:srgbClr val="1B2A4A"/>
                </a:solidFill>
                <a:latin typeface="Calibri" pitchFamily="34" charset="0"/>
                <a:ea typeface="Calibri" pitchFamily="34" charset="-122"/>
                <a:cs typeface="Calibri" pitchFamily="34" charset="-120"/>
              </a:rPr>
              <a:t>Code commit</a:t>
            </a:r>
            <a:endParaRPr lang="en-US" sz="1000" dirty="0"/>
          </a:p>
          <a:p>
            <a:pPr marL="0" indent="0" algn="ctr">
              <a:buNone/>
            </a:pPr>
            <a:r>
              <a:rPr lang="en-US" sz="1000" dirty="0">
                <a:solidFill>
                  <a:srgbClr val="1B2A4A"/>
                </a:solidFill>
                <a:latin typeface="Calibri" pitchFamily="34" charset="0"/>
                <a:ea typeface="Calibri" pitchFamily="34" charset="-122"/>
                <a:cs typeface="Calibri" pitchFamily="34" charset="-120"/>
              </a:rPr>
              <a:t>v2.1, author, date</a:t>
            </a:r>
            <a:endParaRPr lang="en-US" sz="1000" dirty="0"/>
          </a:p>
        </p:txBody>
      </p:sp>
      <p:sp>
        <p:nvSpPr>
          <p:cNvPr id="18" name="Shape 15"/>
          <p:cNvSpPr/>
          <p:nvPr/>
        </p:nvSpPr>
        <p:spPr>
          <a:xfrm flipH="1">
            <a:off x="7022592" y="1691640"/>
            <a:ext cx="146304" cy="0"/>
          </a:xfrm>
          <a:prstGeom prst="line">
            <a:avLst/>
          </a:prstGeom>
          <a:noFill/>
          <a:ln w="19050">
            <a:solidFill>
              <a:srgbClr val="0E7C86"/>
            </a:solidFill>
            <a:prstDash val="solid"/>
            <a:tailEnd type="triangle"/>
          </a:ln>
        </p:spPr>
        <p:txBody>
          <a:bodyPr/>
          <a:lstStyle/>
          <a:p>
            <a:endParaRPr/>
          </a:p>
        </p:txBody>
      </p:sp>
      <p:sp>
        <p:nvSpPr>
          <p:cNvPr id="19" name="Shape 16"/>
          <p:cNvSpPr/>
          <p:nvPr/>
        </p:nvSpPr>
        <p:spPr>
          <a:xfrm>
            <a:off x="7168896" y="1325880"/>
            <a:ext cx="1554480" cy="731520"/>
          </a:xfrm>
          <a:prstGeom prst="roundRect">
            <a:avLst>
              <a:gd name="adj" fmla="val 7500"/>
            </a:avLst>
          </a:prstGeom>
          <a:solidFill>
            <a:srgbClr val="F3F5F8"/>
          </a:solidFill>
          <a:ln w="9525">
            <a:solidFill>
              <a:srgbClr val="F3F5F8"/>
            </a:solidFill>
            <a:prstDash val="solid"/>
          </a:ln>
        </p:spPr>
        <p:txBody>
          <a:bodyPr/>
          <a:lstStyle/>
          <a:p>
            <a:endParaRPr/>
          </a:p>
        </p:txBody>
      </p:sp>
      <p:sp>
        <p:nvSpPr>
          <p:cNvPr id="20" name="Text 17"/>
          <p:cNvSpPr txBox="1"/>
          <p:nvPr/>
        </p:nvSpPr>
        <p:spPr>
          <a:xfrm>
            <a:off x="7168896" y="1325880"/>
            <a:ext cx="1554480" cy="731520"/>
          </a:xfrm>
          <a:prstGeom prst="rect">
            <a:avLst/>
          </a:prstGeom>
          <a:noFill/>
          <a:ln/>
        </p:spPr>
        <p:txBody>
          <a:bodyPr wrap="square" lIns="635" tIns="635" rIns="635" bIns="635" rtlCol="0" anchor="ctr"/>
          <a:lstStyle/>
          <a:p>
            <a:pPr marL="0" indent="0" algn="ctr">
              <a:buNone/>
            </a:pPr>
            <a:r>
              <a:rPr lang="en-US" sz="1000" dirty="0">
                <a:solidFill>
                  <a:srgbClr val="1B2A4A"/>
                </a:solidFill>
                <a:latin typeface="Calibri" pitchFamily="34" charset="0"/>
                <a:ea typeface="Calibri" pitchFamily="34" charset="-122"/>
                <a:cs typeface="Calibri" pitchFamily="34" charset="-120"/>
              </a:rPr>
              <a:t>Data span 12</a:t>
            </a:r>
            <a:endParaRPr lang="en-US" sz="1000" dirty="0"/>
          </a:p>
          <a:p>
            <a:pPr marL="0" indent="0" algn="ctr">
              <a:buNone/>
            </a:pPr>
            <a:r>
              <a:rPr lang="en-US" sz="1000" dirty="0">
                <a:solidFill>
                  <a:srgbClr val="1B2A4A"/>
                </a:solidFill>
                <a:latin typeface="Calibri" pitchFamily="34" charset="0"/>
                <a:ea typeface="Calibri" pitchFamily="34" charset="-122"/>
                <a:cs typeface="Calibri" pitchFamily="34" charset="-120"/>
              </a:rPr>
              <a:t>hash, validation report</a:t>
            </a:r>
            <a:endParaRPr lang="en-US" sz="1000" dirty="0"/>
          </a:p>
        </p:txBody>
      </p:sp>
      <p:sp>
        <p:nvSpPr>
          <p:cNvPr id="21" name="Text 18"/>
          <p:cNvSpPr txBox="1"/>
          <p:nvPr/>
        </p:nvSpPr>
        <p:spPr>
          <a:xfrm>
            <a:off x="365760" y="2103120"/>
            <a:ext cx="8412480" cy="274320"/>
          </a:xfrm>
          <a:prstGeom prst="rect">
            <a:avLst/>
          </a:prstGeom>
          <a:noFill/>
          <a:ln/>
        </p:spPr>
        <p:txBody>
          <a:bodyPr wrap="square" lIns="0" tIns="0" rIns="0" bIns="0" rtlCol="0" anchor="t"/>
          <a:lstStyle/>
          <a:p>
            <a:pPr marL="0" indent="0" algn="l">
              <a:buNone/>
            </a:pPr>
            <a:r>
              <a:rPr lang="en-US" sz="1000" i="1" dirty="0">
                <a:solidFill>
                  <a:srgbClr val="0E7C86"/>
                </a:solidFill>
                <a:latin typeface="Calibri" pitchFamily="34" charset="0"/>
                <a:ea typeface="Calibri" pitchFamily="34" charset="-122"/>
                <a:cs typeface="Calibri" pitchFamily="34" charset="-120"/>
              </a:rPr>
              <a:t>← walk backwards from any prediction</a:t>
            </a:r>
            <a:endParaRPr lang="en-US" sz="1000" dirty="0"/>
          </a:p>
        </p:txBody>
      </p:sp>
      <p:sp>
        <p:nvSpPr>
          <p:cNvPr id="22" name="Shape 19"/>
          <p:cNvSpPr/>
          <p:nvPr/>
        </p:nvSpPr>
        <p:spPr>
          <a:xfrm>
            <a:off x="365760" y="2514600"/>
            <a:ext cx="4114800" cy="1554480"/>
          </a:xfrm>
          <a:prstGeom prst="roundRect">
            <a:avLst>
              <a:gd name="adj" fmla="val 4706"/>
            </a:avLst>
          </a:prstGeom>
          <a:solidFill>
            <a:srgbClr val="F3F5F8"/>
          </a:solidFill>
          <a:ln w="12700">
            <a:solidFill>
              <a:srgbClr val="F3F5F8"/>
            </a:solidFill>
            <a:prstDash val="solid"/>
          </a:ln>
        </p:spPr>
        <p:txBody>
          <a:bodyPr/>
          <a:lstStyle/>
          <a:p>
            <a:endParaRPr/>
          </a:p>
        </p:txBody>
      </p:sp>
      <p:sp>
        <p:nvSpPr>
          <p:cNvPr id="23" name="Shape 20"/>
          <p:cNvSpPr/>
          <p:nvPr/>
        </p:nvSpPr>
        <p:spPr>
          <a:xfrm>
            <a:off x="502920" y="2633472"/>
            <a:ext cx="347472" cy="347472"/>
          </a:xfrm>
          <a:prstGeom prst="ellipse">
            <a:avLst/>
          </a:prstGeom>
          <a:solidFill>
            <a:srgbClr val="0E7C86"/>
          </a:solidFill>
          <a:ln w="12700">
            <a:solidFill>
              <a:srgbClr val="0E7C86"/>
            </a:solidFill>
            <a:prstDash val="solid"/>
          </a:ln>
        </p:spPr>
        <p:txBody>
          <a:bodyPr/>
          <a:lstStyle/>
          <a:p>
            <a:endParaRPr/>
          </a:p>
        </p:txBody>
      </p:sp>
      <p:pic>
        <p:nvPicPr>
          <p:cNvPr id="24" name="Image 0" descr="preencoded.png"/>
          <p:cNvPicPr>
            <a:picLocks noChangeAspect="1"/>
          </p:cNvPicPr>
          <p:nvPr/>
        </p:nvPicPr>
        <p:blipFill>
          <a:blip r:embed="rId3"/>
          <a:stretch>
            <a:fillRect/>
          </a:stretch>
        </p:blipFill>
        <p:spPr>
          <a:xfrm>
            <a:off x="576072" y="2706624"/>
            <a:ext cx="201168" cy="201168"/>
          </a:xfrm>
          <a:prstGeom prst="rect">
            <a:avLst/>
          </a:prstGeom>
        </p:spPr>
      </p:pic>
      <p:sp>
        <p:nvSpPr>
          <p:cNvPr id="25" name="Text 21"/>
          <p:cNvSpPr txBox="1"/>
          <p:nvPr/>
        </p:nvSpPr>
        <p:spPr>
          <a:xfrm>
            <a:off x="932688" y="2606040"/>
            <a:ext cx="3429000" cy="402336"/>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Reproducibility</a:t>
            </a:r>
            <a:endParaRPr lang="en-US" sz="1300" dirty="0"/>
          </a:p>
        </p:txBody>
      </p:sp>
      <p:sp>
        <p:nvSpPr>
          <p:cNvPr id="26" name="Text 22"/>
          <p:cNvSpPr txBox="1"/>
          <p:nvPr/>
        </p:nvSpPr>
        <p:spPr>
          <a:xfrm>
            <a:off x="502920" y="3063240"/>
            <a:ext cx="3840480" cy="914400"/>
          </a:xfrm>
          <a:prstGeom prst="rect">
            <a:avLst/>
          </a:prstGeom>
          <a:noFill/>
          <a:ln/>
        </p:spPr>
        <p:txBody>
          <a:bodyPr wrap="square" lIns="0" tIns="0" rIns="0" bIns="0" rtlCol="0" anchor="t"/>
          <a:lstStyle/>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Re-run the exact same experiment: same data, same code, same environment</a:t>
            </a:r>
            <a:endParaRPr lang="en-US" sz="1150" dirty="0"/>
          </a:p>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An artefact that bundles model + environment specification</a:t>
            </a:r>
            <a:endParaRPr lang="en-US" sz="1150" dirty="0"/>
          </a:p>
        </p:txBody>
      </p:sp>
      <p:sp>
        <p:nvSpPr>
          <p:cNvPr id="27" name="Shape 23"/>
          <p:cNvSpPr/>
          <p:nvPr/>
        </p:nvSpPr>
        <p:spPr>
          <a:xfrm>
            <a:off x="4663440" y="2514600"/>
            <a:ext cx="4114800" cy="1554480"/>
          </a:xfrm>
          <a:prstGeom prst="roundRect">
            <a:avLst>
              <a:gd name="adj" fmla="val 4706"/>
            </a:avLst>
          </a:prstGeom>
          <a:solidFill>
            <a:srgbClr val="F3F5F8"/>
          </a:solidFill>
          <a:ln w="12700">
            <a:solidFill>
              <a:srgbClr val="F3F5F8"/>
            </a:solidFill>
            <a:prstDash val="solid"/>
          </a:ln>
        </p:spPr>
        <p:txBody>
          <a:bodyPr/>
          <a:lstStyle/>
          <a:p>
            <a:endParaRPr/>
          </a:p>
        </p:txBody>
      </p:sp>
      <p:sp>
        <p:nvSpPr>
          <p:cNvPr id="28" name="Shape 24"/>
          <p:cNvSpPr/>
          <p:nvPr/>
        </p:nvSpPr>
        <p:spPr>
          <a:xfrm>
            <a:off x="4800600" y="2633472"/>
            <a:ext cx="347472" cy="347472"/>
          </a:xfrm>
          <a:prstGeom prst="ellipse">
            <a:avLst/>
          </a:prstGeom>
          <a:solidFill>
            <a:srgbClr val="0E7C86"/>
          </a:solidFill>
          <a:ln w="12700">
            <a:solidFill>
              <a:srgbClr val="0E7C86"/>
            </a:solidFill>
            <a:prstDash val="solid"/>
          </a:ln>
        </p:spPr>
        <p:txBody>
          <a:bodyPr/>
          <a:lstStyle/>
          <a:p>
            <a:endParaRPr/>
          </a:p>
        </p:txBody>
      </p:sp>
      <p:pic>
        <p:nvPicPr>
          <p:cNvPr id="29" name="Image 1" descr="preencoded.png"/>
          <p:cNvPicPr>
            <a:picLocks noChangeAspect="1"/>
          </p:cNvPicPr>
          <p:nvPr/>
        </p:nvPicPr>
        <p:blipFill>
          <a:blip r:embed="rId4"/>
          <a:stretch>
            <a:fillRect/>
          </a:stretch>
        </p:blipFill>
        <p:spPr>
          <a:xfrm>
            <a:off x="4873752" y="2706624"/>
            <a:ext cx="201168" cy="201168"/>
          </a:xfrm>
          <a:prstGeom prst="rect">
            <a:avLst/>
          </a:prstGeom>
        </p:spPr>
      </p:pic>
      <p:sp>
        <p:nvSpPr>
          <p:cNvPr id="30" name="Text 25"/>
          <p:cNvSpPr txBox="1"/>
          <p:nvPr/>
        </p:nvSpPr>
        <p:spPr>
          <a:xfrm>
            <a:off x="5230368" y="2606040"/>
            <a:ext cx="3429000" cy="402336"/>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Auditability</a:t>
            </a:r>
            <a:endParaRPr lang="en-US" sz="1300" dirty="0"/>
          </a:p>
        </p:txBody>
      </p:sp>
      <p:sp>
        <p:nvSpPr>
          <p:cNvPr id="31" name="Text 26"/>
          <p:cNvSpPr txBox="1"/>
          <p:nvPr/>
        </p:nvSpPr>
        <p:spPr>
          <a:xfrm>
            <a:off x="4800600" y="3063240"/>
            <a:ext cx="3840480" cy="914400"/>
          </a:xfrm>
          <a:prstGeom prst="rect">
            <a:avLst/>
          </a:prstGeom>
          <a:noFill/>
          <a:ln/>
        </p:spPr>
        <p:txBody>
          <a:bodyPr wrap="square" lIns="0" tIns="0" rIns="0" bIns="0" rtlCol="0" anchor="t"/>
          <a:lstStyle/>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Full history for every version, in one reliable place</a:t>
            </a:r>
            <a:endParaRPr lang="en-US" sz="1150" dirty="0"/>
          </a:p>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Documentation, tests, explanations, fairness reports, logs</a:t>
            </a:r>
            <a:endParaRPr lang="en-US" sz="1150" dirty="0"/>
          </a:p>
        </p:txBody>
      </p:sp>
      <p:sp>
        <p:nvSpPr>
          <p:cNvPr id="32" name="Shape 27"/>
          <p:cNvSpPr/>
          <p:nvPr/>
        </p:nvSpPr>
        <p:spPr>
          <a:xfrm>
            <a:off x="365760" y="4206240"/>
            <a:ext cx="8412480" cy="502920"/>
          </a:xfrm>
          <a:prstGeom prst="roundRect">
            <a:avLst>
              <a:gd name="adj" fmla="val 14545"/>
            </a:avLst>
          </a:prstGeom>
          <a:solidFill>
            <a:srgbClr val="E3F1F2"/>
          </a:solidFill>
          <a:ln w="12700">
            <a:solidFill>
              <a:srgbClr val="E3F1F2"/>
            </a:solidFill>
            <a:prstDash val="solid"/>
          </a:ln>
        </p:spPr>
        <p:txBody>
          <a:bodyPr/>
          <a:lstStyle/>
          <a:p>
            <a:endParaRPr/>
          </a:p>
        </p:txBody>
      </p:sp>
      <p:pic>
        <p:nvPicPr>
          <p:cNvPr id="33" name="Image 2" descr="preencoded.png"/>
          <p:cNvPicPr>
            <a:picLocks noChangeAspect="1"/>
          </p:cNvPicPr>
          <p:nvPr/>
        </p:nvPicPr>
        <p:blipFill>
          <a:blip r:embed="rId5"/>
          <a:stretch>
            <a:fillRect/>
          </a:stretch>
        </p:blipFill>
        <p:spPr>
          <a:xfrm>
            <a:off x="502920" y="4320540"/>
            <a:ext cx="274320" cy="274320"/>
          </a:xfrm>
          <a:prstGeom prst="rect">
            <a:avLst/>
          </a:prstGeom>
        </p:spPr>
      </p:pic>
      <p:sp>
        <p:nvSpPr>
          <p:cNvPr id="34" name="Text 28"/>
          <p:cNvSpPr txBox="1"/>
          <p:nvPr/>
        </p:nvSpPr>
        <p:spPr>
          <a:xfrm>
            <a:off x="896112" y="4206240"/>
            <a:ext cx="7772400" cy="502920"/>
          </a:xfrm>
          <a:prstGeom prst="rect">
            <a:avLst/>
          </a:prstGeom>
          <a:noFill/>
          <a:ln/>
        </p:spPr>
        <p:txBody>
          <a:bodyPr wrap="square" lIns="0" tIns="0" rIns="0" bIns="0" rtlCol="0" anchor="ctr"/>
          <a:lstStyle/>
          <a:p>
            <a:pPr marL="0" indent="0">
              <a:buNone/>
            </a:pPr>
            <a:r>
              <a:rPr lang="en-US" sz="1100" dirty="0">
                <a:solidFill>
                  <a:srgbClr val="1B2A4A"/>
                </a:solidFill>
                <a:latin typeface="Calibri" pitchFamily="34" charset="0"/>
                <a:ea typeface="Calibri" pitchFamily="34" charset="-122"/>
                <a:cs typeface="Calibri" pitchFamily="34" charset="-120"/>
              </a:rPr>
              <a:t>Lineage is also how you detect an attack or a broken feed after the fact: which snapshot and which change entered on the day predictions went wrong? (Forum 2, Q3)</a:t>
            </a:r>
            <a:endParaRPr lang="en-US" sz="1100" dirty="0"/>
          </a:p>
        </p:txBody>
      </p:sp>
      <p:pic>
        <p:nvPicPr>
          <p:cNvPr id="35" name="IE University logo" descr="IE University, School of Science &amp; Technology"/>
          <p:cNvPicPr>
            <a:picLocks noChangeAspect="1"/>
          </p:cNvPicPr>
          <p:nvPr/>
        </p:nvPicPr>
        <p:blipFill>
          <a:blip r:embed="rId6"/>
          <a:stretch>
            <a:fillRect/>
          </a:stretch>
        </p:blipFill>
        <p:spPr>
          <a:xfrm>
            <a:off x="8013607" y="92634"/>
            <a:ext cx="764633" cy="262789"/>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B2A4A"/>
        </a:solidFill>
        <a:effectLst/>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marL="0" indent="0">
              <a:buNone/>
            </a:pPr>
            <a:r>
              <a:rPr lang="en-US" sz="900" dirty="0">
                <a:solidFill>
                  <a:srgbClr val="B8C4D6"/>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marL="0" indent="0">
              <a:buNone/>
            </a:pPr>
            <a:r>
              <a:rPr lang="en-US" sz="800" dirty="0">
                <a:solidFill>
                  <a:srgbClr val="B8C4D6"/>
                </a:solidFill>
                <a:latin typeface="Calibri" pitchFamily="34" charset="0"/>
                <a:ea typeface="Calibri" pitchFamily="34" charset="-122"/>
                <a:cs typeface="Calibri" pitchFamily="34" charset="-120"/>
              </a:rPr>
              <a:t>MLOps · MBDS-PT2026F · Session 3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marL="0" indent="0" algn="r">
              <a:buNone/>
            </a:pPr>
            <a:r>
              <a:rPr lang="en-US" sz="800" dirty="0">
                <a:solidFill>
                  <a:srgbClr val="B8C4D6"/>
                </a:solidFill>
                <a:latin typeface="Calibri" pitchFamily="34" charset="0"/>
                <a:ea typeface="Calibri" pitchFamily="34" charset="-122"/>
                <a:cs typeface="Calibri" pitchFamily="34" charset="-120"/>
              </a:rPr>
              <a:t>22</a:t>
            </a:r>
            <a:endParaRPr lang="en-US" sz="800" dirty="0"/>
          </a:p>
        </p:txBody>
      </p:sp>
      <p:sp>
        <p:nvSpPr>
          <p:cNvPr id="5" name="Text 3"/>
          <p:cNvSpPr txBox="1"/>
          <p:nvPr/>
        </p:nvSpPr>
        <p:spPr>
          <a:xfrm>
            <a:off x="548640" y="1463040"/>
            <a:ext cx="8046720" cy="731520"/>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Break · 5 minutes</a:t>
            </a:r>
            <a:endParaRPr lang="en-US" sz="3600" dirty="0"/>
          </a:p>
        </p:txBody>
      </p:sp>
      <p:sp>
        <p:nvSpPr>
          <p:cNvPr id="6" name="Text 4"/>
          <p:cNvSpPr txBox="1"/>
          <p:nvPr/>
        </p:nvSpPr>
        <p:spPr>
          <a:xfrm>
            <a:off x="548640" y="2286000"/>
            <a:ext cx="8046720" cy="731520"/>
          </a:xfrm>
          <a:prstGeom prst="rect">
            <a:avLst/>
          </a:prstGeom>
          <a:noFill/>
          <a:ln/>
        </p:spPr>
        <p:txBody>
          <a:bodyPr wrap="square" lIns="0" tIns="0" rIns="0" bIns="0" rtlCol="0" anchor="ctr"/>
          <a:lstStyle/>
          <a:p>
            <a:pPr marL="0" indent="0">
              <a:buNone/>
            </a:pPr>
            <a:r>
              <a:rPr lang="en-US" sz="1600" dirty="0">
                <a:solidFill>
                  <a:srgbClr val="CADCFC"/>
                </a:solidFill>
                <a:latin typeface="Calibri" pitchFamily="34" charset="0"/>
                <a:ea typeface="Calibri" pitchFamily="34" charset="-122"/>
                <a:cs typeface="Calibri" pitchFamily="34" charset="-120"/>
              </a:rPr>
              <a:t>Back at minute 51. While you wait: what is the most valuable model in your company, and who could break it on purpose?</a:t>
            </a:r>
            <a:endParaRPr lang="en-US" sz="1600" dirty="0"/>
          </a:p>
        </p:txBody>
      </p:sp>
      <p:pic>
        <p:nvPicPr>
          <p:cNvPr id="7" name="IE University logo" descr="IE University, School of Science &amp; Technology"/>
          <p:cNvPicPr>
            <a:picLocks noChangeAspect="1"/>
          </p:cNvPicPr>
          <p:nvPr/>
        </p:nvPicPr>
        <p:blipFill>
          <a:blip r:embed="rId3"/>
          <a:stretch>
            <a:fillRect/>
          </a:stretch>
        </p:blipFill>
        <p:spPr>
          <a:xfrm>
            <a:off x="8252653" y="109728"/>
            <a:ext cx="525587" cy="704395"/>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B2A4A"/>
        </a:solidFill>
        <a:effectLst/>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marL="0" indent="0">
              <a:buNone/>
            </a:pPr>
            <a:r>
              <a:rPr lang="en-US" sz="900" dirty="0">
                <a:solidFill>
                  <a:srgbClr val="B8C4D6"/>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marL="0" indent="0">
              <a:buNone/>
            </a:pPr>
            <a:r>
              <a:rPr lang="en-US" sz="800" dirty="0">
                <a:solidFill>
                  <a:srgbClr val="B8C4D6"/>
                </a:solidFill>
                <a:latin typeface="Calibri" pitchFamily="34" charset="0"/>
                <a:ea typeface="Calibri" pitchFamily="34" charset="-122"/>
                <a:cs typeface="Calibri" pitchFamily="34" charset="-120"/>
              </a:rPr>
              <a:t>MLOps · MBDS-PT2026F · Session 3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marL="0" indent="0" algn="r">
              <a:buNone/>
            </a:pPr>
            <a:r>
              <a:rPr lang="en-US" sz="800" dirty="0">
                <a:solidFill>
                  <a:srgbClr val="B8C4D6"/>
                </a:solidFill>
                <a:latin typeface="Calibri" pitchFamily="34" charset="0"/>
                <a:ea typeface="Calibri" pitchFamily="34" charset="-122"/>
                <a:cs typeface="Calibri" pitchFamily="34" charset="-120"/>
              </a:rPr>
              <a:t>23</a:t>
            </a:r>
            <a:endParaRPr lang="en-US" sz="800" dirty="0"/>
          </a:p>
        </p:txBody>
      </p:sp>
      <p:sp>
        <p:nvSpPr>
          <p:cNvPr id="5" name="Text 3"/>
          <p:cNvSpPr txBox="1"/>
          <p:nvPr/>
        </p:nvSpPr>
        <p:spPr>
          <a:xfrm>
            <a:off x="548640" y="1188720"/>
            <a:ext cx="8046720" cy="91440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Security: how a model can be attacked, and how to protect it</a:t>
            </a:r>
            <a:endParaRPr lang="en-US" sz="3000" dirty="0"/>
          </a:p>
        </p:txBody>
      </p:sp>
      <p:sp>
        <p:nvSpPr>
          <p:cNvPr id="6" name="Text 4"/>
          <p:cNvSpPr txBox="1"/>
          <p:nvPr/>
        </p:nvSpPr>
        <p:spPr>
          <a:xfrm>
            <a:off x="548640" y="2103120"/>
            <a:ext cx="8046720" cy="548640"/>
          </a:xfrm>
          <a:prstGeom prst="rect">
            <a:avLst/>
          </a:prstGeom>
          <a:noFill/>
          <a:ln/>
        </p:spPr>
        <p:txBody>
          <a:bodyPr wrap="square" lIns="0" tIns="0" rIns="0" bIns="0" rtlCol="0" anchor="ctr"/>
          <a:lstStyle/>
          <a:p>
            <a:pPr marL="0" indent="0">
              <a:buNone/>
            </a:pPr>
            <a:r>
              <a:rPr lang="en-US" sz="1600" dirty="0">
                <a:solidFill>
                  <a:srgbClr val="CADCFC"/>
                </a:solidFill>
                <a:latin typeface="Calibri" pitchFamily="34" charset="0"/>
                <a:ea typeface="Calibri" pitchFamily="34" charset="-122"/>
                <a:cs typeface="Calibri" pitchFamily="34" charset="-120"/>
              </a:rPr>
              <a:t>Where model risk comes from, four kinds of attack, and the controls that answer them</a:t>
            </a:r>
            <a:endParaRPr lang="en-US" sz="1600" dirty="0"/>
          </a:p>
        </p:txBody>
      </p:sp>
      <p:sp>
        <p:nvSpPr>
          <p:cNvPr id="7" name="Shape 5"/>
          <p:cNvSpPr/>
          <p:nvPr/>
        </p:nvSpPr>
        <p:spPr>
          <a:xfrm>
            <a:off x="548640" y="3246120"/>
            <a:ext cx="845312" cy="566928"/>
          </a:xfrm>
          <a:prstGeom prst="roundRect">
            <a:avLst>
              <a:gd name="adj" fmla="val 9677"/>
            </a:avLst>
          </a:prstGeom>
          <a:solidFill>
            <a:srgbClr val="2E3F63"/>
          </a:solidFill>
          <a:ln w="12700">
            <a:solidFill>
              <a:srgbClr val="2E3F63"/>
            </a:solidFill>
            <a:prstDash val="solid"/>
          </a:ln>
        </p:spPr>
        <p:txBody>
          <a:bodyPr/>
          <a:lstStyle/>
          <a:p>
            <a:endParaRPr/>
          </a:p>
        </p:txBody>
      </p:sp>
      <p:sp>
        <p:nvSpPr>
          <p:cNvPr id="8" name="Text 6"/>
          <p:cNvSpPr txBox="1"/>
          <p:nvPr/>
        </p:nvSpPr>
        <p:spPr>
          <a:xfrm>
            <a:off x="548640" y="3246120"/>
            <a:ext cx="845312" cy="566928"/>
          </a:xfrm>
          <a:prstGeom prst="rect">
            <a:avLst/>
          </a:prstGeom>
          <a:noFill/>
          <a:ln/>
        </p:spPr>
        <p:txBody>
          <a:bodyPr wrap="square" lIns="254" tIns="254" rIns="254" bIns="254" rtlCol="0" anchor="ctr"/>
          <a:lstStyle/>
          <a:p>
            <a:pPr marL="0" indent="0" algn="ctr">
              <a:buNone/>
            </a:pPr>
            <a:r>
              <a:rPr lang="en-US" sz="800" dirty="0">
                <a:solidFill>
                  <a:srgbClr val="B8C4D6"/>
                </a:solidFill>
                <a:latin typeface="Calibri" pitchFamily="34" charset="0"/>
                <a:ea typeface="Calibri" pitchFamily="34" charset="-122"/>
                <a:cs typeface="Calibri" pitchFamily="34" charset="-120"/>
              </a:rPr>
              <a:t>Data ingestion &amp; versioning</a:t>
            </a:r>
            <a:endParaRPr lang="en-US" sz="800" dirty="0"/>
          </a:p>
        </p:txBody>
      </p:sp>
      <p:sp>
        <p:nvSpPr>
          <p:cNvPr id="9" name="Shape 7"/>
          <p:cNvSpPr/>
          <p:nvPr/>
        </p:nvSpPr>
        <p:spPr>
          <a:xfrm>
            <a:off x="1448816" y="3246120"/>
            <a:ext cx="845312" cy="566928"/>
          </a:xfrm>
          <a:prstGeom prst="roundRect">
            <a:avLst>
              <a:gd name="adj" fmla="val 9677"/>
            </a:avLst>
          </a:prstGeom>
          <a:solidFill>
            <a:srgbClr val="0E7C86"/>
          </a:solidFill>
          <a:ln w="12700">
            <a:solidFill>
              <a:srgbClr val="0E7C86"/>
            </a:solidFill>
            <a:prstDash val="solid"/>
          </a:ln>
        </p:spPr>
        <p:txBody>
          <a:bodyPr/>
          <a:lstStyle/>
          <a:p>
            <a:endParaRPr/>
          </a:p>
        </p:txBody>
      </p:sp>
      <p:sp>
        <p:nvSpPr>
          <p:cNvPr id="10" name="Text 8"/>
          <p:cNvSpPr txBox="1"/>
          <p:nvPr/>
        </p:nvSpPr>
        <p:spPr>
          <a:xfrm>
            <a:off x="1448816" y="3246120"/>
            <a:ext cx="845312" cy="566928"/>
          </a:xfrm>
          <a:prstGeom prst="rect">
            <a:avLst/>
          </a:prstGeom>
          <a:noFill/>
          <a:ln/>
        </p:spPr>
        <p:txBody>
          <a:bodyPr wrap="square" lIns="254" tIns="254" rIns="254" bIns="254"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Data validation</a:t>
            </a:r>
            <a:endParaRPr lang="en-US" sz="800" dirty="0"/>
          </a:p>
        </p:txBody>
      </p:sp>
      <p:sp>
        <p:nvSpPr>
          <p:cNvPr id="11" name="Shape 9"/>
          <p:cNvSpPr/>
          <p:nvPr/>
        </p:nvSpPr>
        <p:spPr>
          <a:xfrm>
            <a:off x="2348992" y="3246120"/>
            <a:ext cx="845312" cy="566928"/>
          </a:xfrm>
          <a:prstGeom prst="roundRect">
            <a:avLst>
              <a:gd name="adj" fmla="val 9677"/>
            </a:avLst>
          </a:prstGeom>
          <a:solidFill>
            <a:srgbClr val="0E7C86"/>
          </a:solidFill>
          <a:ln w="12700">
            <a:solidFill>
              <a:srgbClr val="0E7C86"/>
            </a:solidFill>
            <a:prstDash val="solid"/>
          </a:ln>
        </p:spPr>
        <p:txBody>
          <a:bodyPr/>
          <a:lstStyle/>
          <a:p>
            <a:endParaRPr/>
          </a:p>
        </p:txBody>
      </p:sp>
      <p:sp>
        <p:nvSpPr>
          <p:cNvPr id="12" name="Text 10"/>
          <p:cNvSpPr txBox="1"/>
          <p:nvPr/>
        </p:nvSpPr>
        <p:spPr>
          <a:xfrm>
            <a:off x="2348992" y="3246120"/>
            <a:ext cx="845312" cy="566928"/>
          </a:xfrm>
          <a:prstGeom prst="rect">
            <a:avLst/>
          </a:prstGeom>
          <a:noFill/>
          <a:ln/>
        </p:spPr>
        <p:txBody>
          <a:bodyPr wrap="square" lIns="254" tIns="254" rIns="254" bIns="254"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Data pre-processing</a:t>
            </a:r>
            <a:endParaRPr lang="en-US" sz="800" dirty="0"/>
          </a:p>
        </p:txBody>
      </p:sp>
      <p:sp>
        <p:nvSpPr>
          <p:cNvPr id="13" name="Shape 11"/>
          <p:cNvSpPr/>
          <p:nvPr/>
        </p:nvSpPr>
        <p:spPr>
          <a:xfrm>
            <a:off x="3249168" y="3246120"/>
            <a:ext cx="845312" cy="566928"/>
          </a:xfrm>
          <a:prstGeom prst="roundRect">
            <a:avLst>
              <a:gd name="adj" fmla="val 9677"/>
            </a:avLst>
          </a:prstGeom>
          <a:solidFill>
            <a:srgbClr val="2E3F63"/>
          </a:solidFill>
          <a:ln w="12700">
            <a:solidFill>
              <a:srgbClr val="2E3F63"/>
            </a:solidFill>
            <a:prstDash val="solid"/>
          </a:ln>
        </p:spPr>
        <p:txBody>
          <a:bodyPr/>
          <a:lstStyle/>
          <a:p>
            <a:endParaRPr/>
          </a:p>
        </p:txBody>
      </p:sp>
      <p:sp>
        <p:nvSpPr>
          <p:cNvPr id="14" name="Text 12"/>
          <p:cNvSpPr txBox="1"/>
          <p:nvPr/>
        </p:nvSpPr>
        <p:spPr>
          <a:xfrm>
            <a:off x="3249168" y="3246120"/>
            <a:ext cx="845312" cy="566928"/>
          </a:xfrm>
          <a:prstGeom prst="rect">
            <a:avLst/>
          </a:prstGeom>
          <a:noFill/>
          <a:ln/>
        </p:spPr>
        <p:txBody>
          <a:bodyPr wrap="square" lIns="254" tIns="254" rIns="254" bIns="254" rtlCol="0" anchor="ctr"/>
          <a:lstStyle/>
          <a:p>
            <a:pPr marL="0" indent="0" algn="ctr">
              <a:buNone/>
            </a:pPr>
            <a:r>
              <a:rPr lang="en-US" sz="800" dirty="0">
                <a:solidFill>
                  <a:srgbClr val="B8C4D6"/>
                </a:solidFill>
                <a:latin typeface="Calibri" pitchFamily="34" charset="0"/>
                <a:ea typeface="Calibri" pitchFamily="34" charset="-122"/>
                <a:cs typeface="Calibri" pitchFamily="34" charset="-120"/>
              </a:rPr>
              <a:t>Model training</a:t>
            </a:r>
            <a:endParaRPr lang="en-US" sz="800" dirty="0"/>
          </a:p>
        </p:txBody>
      </p:sp>
      <p:sp>
        <p:nvSpPr>
          <p:cNvPr id="15" name="Shape 13"/>
          <p:cNvSpPr/>
          <p:nvPr/>
        </p:nvSpPr>
        <p:spPr>
          <a:xfrm>
            <a:off x="4149344" y="3246120"/>
            <a:ext cx="845312" cy="566928"/>
          </a:xfrm>
          <a:prstGeom prst="roundRect">
            <a:avLst>
              <a:gd name="adj" fmla="val 9677"/>
            </a:avLst>
          </a:prstGeom>
          <a:solidFill>
            <a:srgbClr val="2E3F63"/>
          </a:solidFill>
          <a:ln w="12700">
            <a:solidFill>
              <a:srgbClr val="2E3F63"/>
            </a:solidFill>
            <a:prstDash val="solid"/>
          </a:ln>
        </p:spPr>
        <p:txBody>
          <a:bodyPr/>
          <a:lstStyle/>
          <a:p>
            <a:endParaRPr/>
          </a:p>
        </p:txBody>
      </p:sp>
      <p:sp>
        <p:nvSpPr>
          <p:cNvPr id="16" name="Text 14"/>
          <p:cNvSpPr txBox="1"/>
          <p:nvPr/>
        </p:nvSpPr>
        <p:spPr>
          <a:xfrm>
            <a:off x="4149344" y="3246120"/>
            <a:ext cx="845312" cy="566928"/>
          </a:xfrm>
          <a:prstGeom prst="rect">
            <a:avLst/>
          </a:prstGeom>
          <a:noFill/>
          <a:ln/>
        </p:spPr>
        <p:txBody>
          <a:bodyPr wrap="square" lIns="254" tIns="254" rIns="254" bIns="254" rtlCol="0" anchor="ctr"/>
          <a:lstStyle/>
          <a:p>
            <a:pPr marL="0" indent="0" algn="ctr">
              <a:buNone/>
            </a:pPr>
            <a:r>
              <a:rPr lang="en-US" sz="800" dirty="0">
                <a:solidFill>
                  <a:srgbClr val="B8C4D6"/>
                </a:solidFill>
                <a:latin typeface="Calibri" pitchFamily="34" charset="0"/>
                <a:ea typeface="Calibri" pitchFamily="34" charset="-122"/>
                <a:cs typeface="Calibri" pitchFamily="34" charset="-120"/>
              </a:rPr>
              <a:t>Model tuning</a:t>
            </a:r>
            <a:endParaRPr lang="en-US" sz="800" dirty="0"/>
          </a:p>
        </p:txBody>
      </p:sp>
      <p:sp>
        <p:nvSpPr>
          <p:cNvPr id="17" name="Shape 15"/>
          <p:cNvSpPr/>
          <p:nvPr/>
        </p:nvSpPr>
        <p:spPr>
          <a:xfrm>
            <a:off x="5049520" y="3246120"/>
            <a:ext cx="845312" cy="566928"/>
          </a:xfrm>
          <a:prstGeom prst="roundRect">
            <a:avLst>
              <a:gd name="adj" fmla="val 9677"/>
            </a:avLst>
          </a:prstGeom>
          <a:solidFill>
            <a:srgbClr val="2E3F63"/>
          </a:solidFill>
          <a:ln w="12700">
            <a:solidFill>
              <a:srgbClr val="2E3F63"/>
            </a:solidFill>
            <a:prstDash val="solid"/>
          </a:ln>
        </p:spPr>
        <p:txBody>
          <a:bodyPr/>
          <a:lstStyle/>
          <a:p>
            <a:endParaRPr/>
          </a:p>
        </p:txBody>
      </p:sp>
      <p:sp>
        <p:nvSpPr>
          <p:cNvPr id="18" name="Text 16"/>
          <p:cNvSpPr txBox="1"/>
          <p:nvPr/>
        </p:nvSpPr>
        <p:spPr>
          <a:xfrm>
            <a:off x="5049520" y="3246120"/>
            <a:ext cx="845312" cy="566928"/>
          </a:xfrm>
          <a:prstGeom prst="rect">
            <a:avLst/>
          </a:prstGeom>
          <a:noFill/>
          <a:ln/>
        </p:spPr>
        <p:txBody>
          <a:bodyPr wrap="square" lIns="254" tIns="254" rIns="254" bIns="254" rtlCol="0" anchor="ctr"/>
          <a:lstStyle/>
          <a:p>
            <a:pPr marL="0" indent="0" algn="ctr">
              <a:buNone/>
            </a:pPr>
            <a:r>
              <a:rPr lang="en-US" sz="800" dirty="0">
                <a:solidFill>
                  <a:srgbClr val="B8C4D6"/>
                </a:solidFill>
                <a:latin typeface="Calibri" pitchFamily="34" charset="0"/>
                <a:ea typeface="Calibri" pitchFamily="34" charset="-122"/>
                <a:cs typeface="Calibri" pitchFamily="34" charset="-120"/>
              </a:rPr>
              <a:t>Model analysis</a:t>
            </a:r>
            <a:endParaRPr lang="en-US" sz="800" dirty="0"/>
          </a:p>
        </p:txBody>
      </p:sp>
      <p:sp>
        <p:nvSpPr>
          <p:cNvPr id="19" name="Shape 17"/>
          <p:cNvSpPr/>
          <p:nvPr/>
        </p:nvSpPr>
        <p:spPr>
          <a:xfrm>
            <a:off x="5949696" y="3246120"/>
            <a:ext cx="845312" cy="566928"/>
          </a:xfrm>
          <a:prstGeom prst="roundRect">
            <a:avLst>
              <a:gd name="adj" fmla="val 9677"/>
            </a:avLst>
          </a:prstGeom>
          <a:solidFill>
            <a:srgbClr val="2E3F63"/>
          </a:solidFill>
          <a:ln w="12700">
            <a:solidFill>
              <a:srgbClr val="2E3F63"/>
            </a:solidFill>
            <a:prstDash val="solid"/>
          </a:ln>
        </p:spPr>
        <p:txBody>
          <a:bodyPr/>
          <a:lstStyle/>
          <a:p>
            <a:endParaRPr/>
          </a:p>
        </p:txBody>
      </p:sp>
      <p:sp>
        <p:nvSpPr>
          <p:cNvPr id="20" name="Text 18"/>
          <p:cNvSpPr txBox="1"/>
          <p:nvPr/>
        </p:nvSpPr>
        <p:spPr>
          <a:xfrm>
            <a:off x="5949696" y="3246120"/>
            <a:ext cx="845312" cy="566928"/>
          </a:xfrm>
          <a:prstGeom prst="rect">
            <a:avLst/>
          </a:prstGeom>
          <a:noFill/>
          <a:ln/>
        </p:spPr>
        <p:txBody>
          <a:bodyPr wrap="square" lIns="254" tIns="254" rIns="254" bIns="254" rtlCol="0" anchor="ctr"/>
          <a:lstStyle/>
          <a:p>
            <a:pPr marL="0" indent="0" algn="ctr">
              <a:buNone/>
            </a:pPr>
            <a:r>
              <a:rPr lang="en-US" sz="800" dirty="0">
                <a:solidFill>
                  <a:srgbClr val="B8C4D6"/>
                </a:solidFill>
                <a:latin typeface="Calibri" pitchFamily="34" charset="0"/>
                <a:ea typeface="Calibri" pitchFamily="34" charset="-122"/>
                <a:cs typeface="Calibri" pitchFamily="34" charset="-120"/>
              </a:rPr>
              <a:t>Model validation</a:t>
            </a:r>
            <a:endParaRPr lang="en-US" sz="800" dirty="0"/>
          </a:p>
        </p:txBody>
      </p:sp>
      <p:sp>
        <p:nvSpPr>
          <p:cNvPr id="21" name="Shape 19"/>
          <p:cNvSpPr/>
          <p:nvPr/>
        </p:nvSpPr>
        <p:spPr>
          <a:xfrm>
            <a:off x="6849872" y="3246120"/>
            <a:ext cx="845312" cy="566928"/>
          </a:xfrm>
          <a:prstGeom prst="roundRect">
            <a:avLst>
              <a:gd name="adj" fmla="val 9677"/>
            </a:avLst>
          </a:prstGeom>
          <a:solidFill>
            <a:srgbClr val="0E7C86"/>
          </a:solidFill>
          <a:ln w="12700">
            <a:solidFill>
              <a:srgbClr val="0E7C86"/>
            </a:solidFill>
            <a:prstDash val="solid"/>
          </a:ln>
        </p:spPr>
        <p:txBody>
          <a:bodyPr/>
          <a:lstStyle/>
          <a:p>
            <a:endParaRPr/>
          </a:p>
        </p:txBody>
      </p:sp>
      <p:sp>
        <p:nvSpPr>
          <p:cNvPr id="22" name="Text 20"/>
          <p:cNvSpPr txBox="1"/>
          <p:nvPr/>
        </p:nvSpPr>
        <p:spPr>
          <a:xfrm>
            <a:off x="6849872" y="3246120"/>
            <a:ext cx="845312" cy="566928"/>
          </a:xfrm>
          <a:prstGeom prst="rect">
            <a:avLst/>
          </a:prstGeom>
          <a:noFill/>
          <a:ln/>
        </p:spPr>
        <p:txBody>
          <a:bodyPr wrap="square" lIns="254" tIns="254" rIns="254" bIns="254"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Model deployment</a:t>
            </a:r>
            <a:endParaRPr lang="en-US" sz="800" dirty="0"/>
          </a:p>
        </p:txBody>
      </p:sp>
      <p:sp>
        <p:nvSpPr>
          <p:cNvPr id="23" name="Shape 21"/>
          <p:cNvSpPr/>
          <p:nvPr/>
        </p:nvSpPr>
        <p:spPr>
          <a:xfrm>
            <a:off x="7750048" y="3246120"/>
            <a:ext cx="845312" cy="566928"/>
          </a:xfrm>
          <a:prstGeom prst="roundRect">
            <a:avLst>
              <a:gd name="adj" fmla="val 9677"/>
            </a:avLst>
          </a:prstGeom>
          <a:solidFill>
            <a:srgbClr val="0E7C86"/>
          </a:solidFill>
          <a:ln w="12700">
            <a:solidFill>
              <a:srgbClr val="0E7C86"/>
            </a:solidFill>
            <a:prstDash val="solid"/>
          </a:ln>
        </p:spPr>
        <p:txBody>
          <a:bodyPr/>
          <a:lstStyle/>
          <a:p>
            <a:endParaRPr/>
          </a:p>
        </p:txBody>
      </p:sp>
      <p:sp>
        <p:nvSpPr>
          <p:cNvPr id="24" name="Text 22"/>
          <p:cNvSpPr txBox="1"/>
          <p:nvPr/>
        </p:nvSpPr>
        <p:spPr>
          <a:xfrm>
            <a:off x="7750048" y="3246120"/>
            <a:ext cx="845312" cy="566928"/>
          </a:xfrm>
          <a:prstGeom prst="rect">
            <a:avLst/>
          </a:prstGeom>
          <a:noFill/>
          <a:ln/>
        </p:spPr>
        <p:txBody>
          <a:bodyPr wrap="square" lIns="254" tIns="254" rIns="254" bIns="254"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Model feedback</a:t>
            </a:r>
            <a:endParaRPr lang="en-US" sz="800" dirty="0"/>
          </a:p>
        </p:txBody>
      </p:sp>
      <p:sp>
        <p:nvSpPr>
          <p:cNvPr id="25" name="Text 23"/>
          <p:cNvSpPr txBox="1"/>
          <p:nvPr/>
        </p:nvSpPr>
        <p:spPr>
          <a:xfrm>
            <a:off x="548640" y="4160520"/>
            <a:ext cx="8046720" cy="274320"/>
          </a:xfrm>
          <a:prstGeom prst="rect">
            <a:avLst/>
          </a:prstGeom>
          <a:noFill/>
          <a:ln/>
        </p:spPr>
        <p:txBody>
          <a:bodyPr wrap="square" lIns="0" tIns="0" rIns="0" bIns="0" rtlCol="0" anchor="ctr"/>
          <a:lstStyle/>
          <a:p>
            <a:pPr marL="0" indent="0">
              <a:buNone/>
            </a:pPr>
            <a:r>
              <a:rPr lang="en-US" sz="1000" i="1" dirty="0">
                <a:solidFill>
                  <a:srgbClr val="B8C4D6"/>
                </a:solidFill>
                <a:latin typeface="Calibri" pitchFamily="34" charset="0"/>
                <a:ea typeface="Calibri" pitchFamily="34" charset="-122"/>
                <a:cs typeface="Calibri" pitchFamily="34" charset="-120"/>
              </a:rPr>
              <a:t>The lifecycle we follow through the course · highlighted: where this section sits</a:t>
            </a:r>
            <a:endParaRPr lang="en-US" sz="1000" dirty="0"/>
          </a:p>
        </p:txBody>
      </p:sp>
      <p:pic>
        <p:nvPicPr>
          <p:cNvPr id="26" name="IE University logo" descr="IE University, School of Science &amp; Technology"/>
          <p:cNvPicPr>
            <a:picLocks noChangeAspect="1"/>
          </p:cNvPicPr>
          <p:nvPr/>
        </p:nvPicPr>
        <p:blipFill>
          <a:blip r:embed="rId3"/>
          <a:stretch>
            <a:fillRect/>
          </a:stretch>
        </p:blipFill>
        <p:spPr>
          <a:xfrm>
            <a:off x="8252653" y="109728"/>
            <a:ext cx="525587" cy="70439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marL="0" indent="0">
              <a:buNone/>
            </a:pPr>
            <a:r>
              <a:rPr lang="en-US" sz="800" dirty="0">
                <a:solidFill>
                  <a:srgbClr val="6B7280"/>
                </a:solidFill>
                <a:latin typeface="Calibri" pitchFamily="34" charset="0"/>
                <a:ea typeface="Calibri" pitchFamily="34" charset="-122"/>
                <a:cs typeface="Calibri" pitchFamily="34" charset="-120"/>
              </a:rPr>
              <a:t>MLOps · MBDS-PT2026F · Session 3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marL="0" indent="0" algn="r">
              <a:buNone/>
            </a:pPr>
            <a:r>
              <a:rPr lang="en-US" sz="800" dirty="0">
                <a:solidFill>
                  <a:srgbClr val="6B7280"/>
                </a:solidFill>
                <a:latin typeface="Calibri" pitchFamily="34" charset="0"/>
                <a:ea typeface="Calibri" pitchFamily="34" charset="-122"/>
                <a:cs typeface="Calibri" pitchFamily="34" charset="-120"/>
              </a:rPr>
              <a:t>24</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marL="0" indent="0">
              <a:buNone/>
            </a:pPr>
            <a:r>
              <a:rPr lang="en-US" sz="2400" b="1" dirty="0">
                <a:solidFill>
                  <a:srgbClr val="1B2A4A"/>
                </a:solidFill>
                <a:latin typeface="Calibri" pitchFamily="34" charset="0"/>
                <a:ea typeface="Calibri" pitchFamily="34" charset="-122"/>
                <a:cs typeface="Calibri" pitchFamily="34" charset="-120"/>
              </a:rPr>
              <a:t>Where model risk comes from</a:t>
            </a:r>
            <a:endParaRPr lang="en-US" sz="2400" dirty="0"/>
          </a:p>
        </p:txBody>
      </p:sp>
      <p:sp>
        <p:nvSpPr>
          <p:cNvPr id="7" name="Shape 4"/>
          <p:cNvSpPr/>
          <p:nvPr/>
        </p:nvSpPr>
        <p:spPr>
          <a:xfrm>
            <a:off x="365760" y="1234440"/>
            <a:ext cx="4114800" cy="3017520"/>
          </a:xfrm>
          <a:prstGeom prst="roundRect">
            <a:avLst>
              <a:gd name="adj" fmla="val 2424"/>
            </a:avLst>
          </a:prstGeom>
          <a:solidFill>
            <a:srgbClr val="F3F5F8"/>
          </a:solidFill>
          <a:ln w="12700">
            <a:solidFill>
              <a:srgbClr val="F3F5F8"/>
            </a:solidFill>
            <a:prstDash val="solid"/>
          </a:ln>
        </p:spPr>
        <p:txBody>
          <a:bodyPr/>
          <a:lstStyle/>
          <a:p>
            <a:endParaRPr/>
          </a:p>
        </p:txBody>
      </p:sp>
      <p:sp>
        <p:nvSpPr>
          <p:cNvPr id="8" name="Shape 5"/>
          <p:cNvSpPr/>
          <p:nvPr/>
        </p:nvSpPr>
        <p:spPr>
          <a:xfrm>
            <a:off x="502920" y="1353312"/>
            <a:ext cx="347472" cy="347472"/>
          </a:xfrm>
          <a:prstGeom prst="ellipse">
            <a:avLst/>
          </a:prstGeom>
          <a:solidFill>
            <a:srgbClr val="E07A2F"/>
          </a:solidFill>
          <a:ln w="12700">
            <a:solidFill>
              <a:srgbClr val="E07A2F"/>
            </a:solidFill>
            <a:prstDash val="solid"/>
          </a:ln>
        </p:spPr>
        <p:txBody>
          <a:bodyPr/>
          <a:lstStyle/>
          <a:p>
            <a:endParaRPr/>
          </a:p>
        </p:txBody>
      </p:sp>
      <p:pic>
        <p:nvPicPr>
          <p:cNvPr id="9" name="Image 0" descr="preencoded.png"/>
          <p:cNvPicPr>
            <a:picLocks noChangeAspect="1"/>
          </p:cNvPicPr>
          <p:nvPr/>
        </p:nvPicPr>
        <p:blipFill>
          <a:blip r:embed="rId3"/>
          <a:stretch>
            <a:fillRect/>
          </a:stretch>
        </p:blipFill>
        <p:spPr>
          <a:xfrm>
            <a:off x="576072" y="1426464"/>
            <a:ext cx="201168" cy="201168"/>
          </a:xfrm>
          <a:prstGeom prst="rect">
            <a:avLst/>
          </a:prstGeom>
        </p:spPr>
      </p:pic>
      <p:sp>
        <p:nvSpPr>
          <p:cNvPr id="10" name="Text 6"/>
          <p:cNvSpPr txBox="1"/>
          <p:nvPr/>
        </p:nvSpPr>
        <p:spPr>
          <a:xfrm>
            <a:off x="932688" y="1325880"/>
            <a:ext cx="3429000" cy="402336"/>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Sources of risk</a:t>
            </a:r>
            <a:endParaRPr lang="en-US" sz="1300" dirty="0"/>
          </a:p>
        </p:txBody>
      </p:sp>
      <p:sp>
        <p:nvSpPr>
          <p:cNvPr id="11" name="Text 7"/>
          <p:cNvSpPr txBox="1"/>
          <p:nvPr/>
        </p:nvSpPr>
        <p:spPr>
          <a:xfrm>
            <a:off x="502920" y="1783080"/>
            <a:ext cx="3840480" cy="2377440"/>
          </a:xfrm>
          <a:prstGeom prst="rect">
            <a:avLst/>
          </a:prstGeom>
          <a:noFill/>
          <a:ln/>
        </p:spPr>
        <p:txBody>
          <a:bodyPr wrap="square" lIns="0" tIns="0" rIns="0" bIns="0" rtlCol="0" anchor="t"/>
          <a:lstStyle/>
          <a:p>
            <a:pPr marL="177800" indent="-177800">
              <a:spcAft>
                <a:spcPts val="300"/>
              </a:spcAft>
              <a:buSzPct val="100000"/>
              <a:buChar char="•"/>
            </a:pPr>
            <a:r>
              <a:rPr lang="en-US" sz="1100" dirty="0">
                <a:solidFill>
                  <a:srgbClr val="222222"/>
                </a:solidFill>
                <a:latin typeface="Calibri" pitchFamily="34" charset="0"/>
                <a:ea typeface="Calibri" pitchFamily="34" charset="-122"/>
                <a:cs typeface="Calibri" pitchFamily="34" charset="-120"/>
              </a:rPr>
              <a:t>Bugs in design, training or data preparation</a:t>
            </a:r>
            <a:endParaRPr lang="en-US" sz="1100" dirty="0"/>
          </a:p>
          <a:p>
            <a:pPr marL="177800" indent="-177800">
              <a:spcAft>
                <a:spcPts val="300"/>
              </a:spcAft>
              <a:buSzPct val="100000"/>
              <a:buChar char="•"/>
            </a:pPr>
            <a:r>
              <a:rPr lang="en-US" sz="1100" dirty="0">
                <a:solidFill>
                  <a:srgbClr val="222222"/>
                </a:solidFill>
                <a:latin typeface="Calibri" pitchFamily="34" charset="0"/>
                <a:ea typeface="Calibri" pitchFamily="34" charset="-122"/>
                <a:cs typeface="Calibri" pitchFamily="34" charset="-120"/>
              </a:rPr>
              <a:t>Bugs in the runtime, or in the conversion between environments</a:t>
            </a:r>
            <a:endParaRPr lang="en-US" sz="1100" dirty="0"/>
          </a:p>
          <a:p>
            <a:pPr marL="177800" indent="-177800">
              <a:spcAft>
                <a:spcPts val="300"/>
              </a:spcAft>
              <a:buSzPct val="100000"/>
              <a:buChar char="•"/>
            </a:pPr>
            <a:r>
              <a:rPr lang="en-US" sz="1100" dirty="0">
                <a:solidFill>
                  <a:srgbClr val="222222"/>
                </a:solidFill>
                <a:latin typeface="Calibri" pitchFamily="34" charset="0"/>
                <a:ea typeface="Calibri" pitchFamily="34" charset="-122"/>
                <a:cs typeface="Calibri" pitchFamily="34" charset="-120"/>
              </a:rPr>
              <a:t>Low-quality training data; production data unlike training data</a:t>
            </a:r>
            <a:endParaRPr lang="en-US" sz="1100" dirty="0"/>
          </a:p>
          <a:p>
            <a:pPr marL="177800" indent="-177800">
              <a:spcAft>
                <a:spcPts val="300"/>
              </a:spcAft>
              <a:buSzPct val="100000"/>
              <a:buChar char="•"/>
            </a:pPr>
            <a:r>
              <a:rPr lang="en-US" sz="1100" dirty="0">
                <a:solidFill>
                  <a:srgbClr val="222222"/>
                </a:solidFill>
                <a:latin typeface="Calibri" pitchFamily="34" charset="0"/>
                <a:ea typeface="Calibri" pitchFamily="34" charset="-122"/>
                <a:cs typeface="Calibri" pitchFamily="34" charset="-120"/>
              </a:rPr>
              <a:t>Expected error rate, unexpected consequences</a:t>
            </a:r>
            <a:endParaRPr lang="en-US" sz="1100" dirty="0"/>
          </a:p>
          <a:p>
            <a:pPr marL="177800" indent="-177800">
              <a:spcAft>
                <a:spcPts val="300"/>
              </a:spcAft>
              <a:buSzPct val="100000"/>
              <a:buChar char="•"/>
            </a:pPr>
            <a:r>
              <a:rPr lang="en-US" sz="1100" dirty="0">
                <a:solidFill>
                  <a:srgbClr val="222222"/>
                </a:solidFill>
                <a:latin typeface="Calibri" pitchFamily="34" charset="0"/>
                <a:ea typeface="Calibri" pitchFamily="34" charset="-122"/>
                <a:cs typeface="Calibri" pitchFamily="34" charset="-120"/>
              </a:rPr>
              <a:t>Misuse or misinterpretation of outputs</a:t>
            </a:r>
            <a:endParaRPr lang="en-US" sz="1100" dirty="0"/>
          </a:p>
          <a:p>
            <a:pPr marL="177800" indent="-177800">
              <a:spcAft>
                <a:spcPts val="300"/>
              </a:spcAft>
              <a:buSzPct val="100000"/>
              <a:buChar char="•"/>
            </a:pPr>
            <a:r>
              <a:rPr lang="en-US" sz="1100" dirty="0">
                <a:solidFill>
                  <a:srgbClr val="222222"/>
                </a:solidFill>
                <a:latin typeface="Calibri" pitchFamily="34" charset="0"/>
                <a:ea typeface="Calibri" pitchFamily="34" charset="-122"/>
                <a:cs typeface="Calibri" pitchFamily="34" charset="-120"/>
              </a:rPr>
              <a:t>Adversarial attacks</a:t>
            </a:r>
            <a:endParaRPr lang="en-US" sz="1100" dirty="0"/>
          </a:p>
          <a:p>
            <a:pPr marL="177800" indent="-177800">
              <a:spcAft>
                <a:spcPts val="300"/>
              </a:spcAft>
              <a:buSzPct val="100000"/>
              <a:buChar char="•"/>
            </a:pPr>
            <a:r>
              <a:rPr lang="en-US" sz="1100" dirty="0">
                <a:solidFill>
                  <a:srgbClr val="222222"/>
                </a:solidFill>
                <a:latin typeface="Calibri" pitchFamily="34" charset="0"/>
                <a:ea typeface="Calibri" pitchFamily="34" charset="-122"/>
                <a:cs typeface="Calibri" pitchFamily="34" charset="-120"/>
              </a:rPr>
              <a:t>Legal liability; reputational damage from bias</a:t>
            </a:r>
            <a:endParaRPr lang="en-US" sz="1100" dirty="0"/>
          </a:p>
        </p:txBody>
      </p:sp>
      <p:sp>
        <p:nvSpPr>
          <p:cNvPr id="12" name="Shape 8"/>
          <p:cNvSpPr/>
          <p:nvPr/>
        </p:nvSpPr>
        <p:spPr>
          <a:xfrm>
            <a:off x="4663440" y="1234440"/>
            <a:ext cx="4114800" cy="1417320"/>
          </a:xfrm>
          <a:prstGeom prst="roundRect">
            <a:avLst>
              <a:gd name="adj" fmla="val 5161"/>
            </a:avLst>
          </a:prstGeom>
          <a:solidFill>
            <a:srgbClr val="F3F5F8"/>
          </a:solidFill>
          <a:ln w="12700">
            <a:solidFill>
              <a:srgbClr val="F3F5F8"/>
            </a:solidFill>
            <a:prstDash val="solid"/>
          </a:ln>
        </p:spPr>
        <p:txBody>
          <a:bodyPr/>
          <a:lstStyle/>
          <a:p>
            <a:endParaRPr/>
          </a:p>
        </p:txBody>
      </p:sp>
      <p:sp>
        <p:nvSpPr>
          <p:cNvPr id="13" name="Shape 9"/>
          <p:cNvSpPr/>
          <p:nvPr/>
        </p:nvSpPr>
        <p:spPr>
          <a:xfrm>
            <a:off x="4800600" y="1353312"/>
            <a:ext cx="347472" cy="347472"/>
          </a:xfrm>
          <a:prstGeom prst="ellipse">
            <a:avLst/>
          </a:prstGeom>
          <a:solidFill>
            <a:srgbClr val="0E7C86"/>
          </a:solidFill>
          <a:ln w="12700">
            <a:solidFill>
              <a:srgbClr val="0E7C86"/>
            </a:solidFill>
            <a:prstDash val="solid"/>
          </a:ln>
        </p:spPr>
        <p:txBody>
          <a:bodyPr/>
          <a:lstStyle/>
          <a:p>
            <a:endParaRPr/>
          </a:p>
        </p:txBody>
      </p:sp>
      <p:pic>
        <p:nvPicPr>
          <p:cNvPr id="14" name="Image 1" descr="preencoded.png"/>
          <p:cNvPicPr>
            <a:picLocks noChangeAspect="1"/>
          </p:cNvPicPr>
          <p:nvPr/>
        </p:nvPicPr>
        <p:blipFill>
          <a:blip r:embed="rId4"/>
          <a:stretch>
            <a:fillRect/>
          </a:stretch>
        </p:blipFill>
        <p:spPr>
          <a:xfrm>
            <a:off x="4873752" y="1426464"/>
            <a:ext cx="201168" cy="201168"/>
          </a:xfrm>
          <a:prstGeom prst="rect">
            <a:avLst/>
          </a:prstGeom>
        </p:spPr>
      </p:pic>
      <p:sp>
        <p:nvSpPr>
          <p:cNvPr id="15" name="Text 10"/>
          <p:cNvSpPr txBox="1"/>
          <p:nvPr/>
        </p:nvSpPr>
        <p:spPr>
          <a:xfrm>
            <a:off x="5230368" y="1325880"/>
            <a:ext cx="3429000" cy="402336"/>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Amplified by</a:t>
            </a:r>
            <a:endParaRPr lang="en-US" sz="1300" dirty="0"/>
          </a:p>
        </p:txBody>
      </p:sp>
      <p:sp>
        <p:nvSpPr>
          <p:cNvPr id="16" name="Text 11"/>
          <p:cNvSpPr txBox="1"/>
          <p:nvPr/>
        </p:nvSpPr>
        <p:spPr>
          <a:xfrm>
            <a:off x="4800600" y="1783080"/>
            <a:ext cx="3840480" cy="777240"/>
          </a:xfrm>
          <a:prstGeom prst="rect">
            <a:avLst/>
          </a:prstGeom>
          <a:noFill/>
          <a:ln/>
        </p:spPr>
        <p:txBody>
          <a:bodyPr wrap="square" lIns="0" tIns="0" rIns="0" bIns="0" rtlCol="0" anchor="t"/>
          <a:lstStyle/>
          <a:p>
            <a:pPr marL="177800" indent="-177800">
              <a:spcAft>
                <a:spcPts val="300"/>
              </a:spcAft>
              <a:buSzPct val="100000"/>
              <a:buChar char="•"/>
            </a:pPr>
            <a:r>
              <a:rPr lang="en-US" sz="1100" dirty="0">
                <a:solidFill>
                  <a:srgbClr val="222222"/>
                </a:solidFill>
                <a:latin typeface="Calibri" pitchFamily="34" charset="0"/>
                <a:ea typeface="Calibri" pitchFamily="34" charset="-122"/>
                <a:cs typeface="Calibri" pitchFamily="34" charset="-120"/>
              </a:rPr>
              <a:t>Broad use of the model</a:t>
            </a:r>
            <a:endParaRPr lang="en-US" sz="1100" dirty="0"/>
          </a:p>
          <a:p>
            <a:pPr marL="177800" indent="-177800">
              <a:spcAft>
                <a:spcPts val="300"/>
              </a:spcAft>
              <a:buSzPct val="100000"/>
              <a:buChar char="•"/>
            </a:pPr>
            <a:r>
              <a:rPr lang="en-US" sz="1100" dirty="0">
                <a:solidFill>
                  <a:srgbClr val="222222"/>
                </a:solidFill>
                <a:latin typeface="Calibri" pitchFamily="34" charset="0"/>
                <a:ea typeface="Calibri" pitchFamily="34" charset="-122"/>
                <a:cs typeface="Calibri" pitchFamily="34" charset="-120"/>
              </a:rPr>
              <a:t>A rapidly changing environment</a:t>
            </a:r>
            <a:endParaRPr lang="en-US" sz="1100" dirty="0"/>
          </a:p>
          <a:p>
            <a:pPr marL="177800" indent="-177800">
              <a:spcAft>
                <a:spcPts val="300"/>
              </a:spcAft>
              <a:buSzPct val="100000"/>
              <a:buChar char="•"/>
            </a:pPr>
            <a:r>
              <a:rPr lang="en-US" sz="1100" dirty="0">
                <a:solidFill>
                  <a:srgbClr val="222222"/>
                </a:solidFill>
                <a:latin typeface="Calibri" pitchFamily="34" charset="0"/>
                <a:ea typeface="Calibri" pitchFamily="34" charset="-122"/>
                <a:cs typeface="Calibri" pitchFamily="34" charset="-120"/>
              </a:rPr>
              <a:t>Complex interactions between models</a:t>
            </a:r>
            <a:endParaRPr lang="en-US" sz="1100" dirty="0"/>
          </a:p>
        </p:txBody>
      </p:sp>
      <p:sp>
        <p:nvSpPr>
          <p:cNvPr id="17" name="Shape 12"/>
          <p:cNvSpPr/>
          <p:nvPr/>
        </p:nvSpPr>
        <p:spPr>
          <a:xfrm>
            <a:off x="4663440" y="2788920"/>
            <a:ext cx="4114800" cy="1463040"/>
          </a:xfrm>
          <a:prstGeom prst="roundRect">
            <a:avLst>
              <a:gd name="adj" fmla="val 5000"/>
            </a:avLst>
          </a:prstGeom>
          <a:solidFill>
            <a:srgbClr val="F3F5F8"/>
          </a:solidFill>
          <a:ln w="12700">
            <a:solidFill>
              <a:srgbClr val="F3F5F8"/>
            </a:solidFill>
            <a:prstDash val="solid"/>
          </a:ln>
        </p:spPr>
        <p:txBody>
          <a:bodyPr/>
          <a:lstStyle/>
          <a:p>
            <a:endParaRPr/>
          </a:p>
        </p:txBody>
      </p:sp>
      <p:sp>
        <p:nvSpPr>
          <p:cNvPr id="18" name="Shape 13"/>
          <p:cNvSpPr/>
          <p:nvPr/>
        </p:nvSpPr>
        <p:spPr>
          <a:xfrm>
            <a:off x="4800600" y="2907792"/>
            <a:ext cx="347472" cy="347472"/>
          </a:xfrm>
          <a:prstGeom prst="ellipse">
            <a:avLst/>
          </a:prstGeom>
          <a:solidFill>
            <a:srgbClr val="0E7C86"/>
          </a:solidFill>
          <a:ln w="12700">
            <a:solidFill>
              <a:srgbClr val="0E7C86"/>
            </a:solidFill>
            <a:prstDash val="solid"/>
          </a:ln>
        </p:spPr>
        <p:txBody>
          <a:bodyPr/>
          <a:lstStyle/>
          <a:p>
            <a:endParaRPr/>
          </a:p>
        </p:txBody>
      </p:sp>
      <p:pic>
        <p:nvPicPr>
          <p:cNvPr id="19" name="Image 2" descr="preencoded.png"/>
          <p:cNvPicPr>
            <a:picLocks noChangeAspect="1"/>
          </p:cNvPicPr>
          <p:nvPr/>
        </p:nvPicPr>
        <p:blipFill>
          <a:blip r:embed="rId5"/>
          <a:stretch>
            <a:fillRect/>
          </a:stretch>
        </p:blipFill>
        <p:spPr>
          <a:xfrm>
            <a:off x="4873752" y="2980944"/>
            <a:ext cx="201168" cy="201168"/>
          </a:xfrm>
          <a:prstGeom prst="rect">
            <a:avLst/>
          </a:prstGeom>
        </p:spPr>
      </p:pic>
      <p:sp>
        <p:nvSpPr>
          <p:cNvPr id="20" name="Text 14"/>
          <p:cNvSpPr txBox="1"/>
          <p:nvPr/>
        </p:nvSpPr>
        <p:spPr>
          <a:xfrm>
            <a:off x="5230368" y="2880360"/>
            <a:ext cx="3429000" cy="402336"/>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A catalogue to start from</a:t>
            </a:r>
            <a:endParaRPr lang="en-US" sz="1300" dirty="0"/>
          </a:p>
        </p:txBody>
      </p:sp>
      <p:sp>
        <p:nvSpPr>
          <p:cNvPr id="21" name="Text 15"/>
          <p:cNvSpPr txBox="1"/>
          <p:nvPr/>
        </p:nvSpPr>
        <p:spPr>
          <a:xfrm>
            <a:off x="4800600" y="3337560"/>
            <a:ext cx="3840480" cy="822960"/>
          </a:xfrm>
          <a:prstGeom prst="rect">
            <a:avLst/>
          </a:prstGeom>
          <a:noFill/>
          <a:ln/>
        </p:spPr>
        <p:txBody>
          <a:bodyPr wrap="square" lIns="0" tIns="0" rIns="0" bIns="0" rtlCol="0" anchor="t"/>
          <a:lstStyle/>
          <a:p>
            <a:pPr marL="177800" indent="-177800">
              <a:spcAft>
                <a:spcPts val="300"/>
              </a:spcAft>
              <a:buSzPct val="100000"/>
              <a:buChar char="•"/>
            </a:pPr>
            <a:r>
              <a:rPr lang="en-US" sz="1100" dirty="0">
                <a:solidFill>
                  <a:srgbClr val="222222"/>
                </a:solidFill>
                <a:latin typeface="Calibri" pitchFamily="34" charset="0"/>
                <a:ea typeface="Calibri" pitchFamily="34" charset="-122"/>
                <a:cs typeface="Calibri" pitchFamily="34" charset="-120"/>
              </a:rPr>
              <a:t>IBM AI Risk Atlas: risks by input, training, inference, output, non-technical</a:t>
            </a:r>
            <a:endParaRPr lang="en-US" sz="1100" dirty="0"/>
          </a:p>
          <a:p>
            <a:pPr marL="177800" indent="-177800">
              <a:spcAft>
                <a:spcPts val="300"/>
              </a:spcAft>
              <a:buSzPct val="100000"/>
              <a:buChar char="•"/>
            </a:pPr>
            <a:r>
              <a:rPr lang="en-US" sz="1100" dirty="0">
                <a:solidFill>
                  <a:srgbClr val="222222"/>
                </a:solidFill>
                <a:latin typeface="Calibri" pitchFamily="34" charset="0"/>
                <a:ea typeface="Calibri" pitchFamily="34" charset="-122"/>
                <a:cs typeface="Calibri" pitchFamily="34" charset="-120"/>
              </a:rPr>
              <a:t>Use it in the group project as the checklist</a:t>
            </a:r>
            <a:endParaRPr lang="en-US" sz="1100" dirty="0"/>
          </a:p>
        </p:txBody>
      </p:sp>
      <p:sp>
        <p:nvSpPr>
          <p:cNvPr id="22" name="Text 16"/>
          <p:cNvSpPr txBox="1"/>
          <p:nvPr/>
        </p:nvSpPr>
        <p:spPr>
          <a:xfrm>
            <a:off x="365760" y="4389120"/>
            <a:ext cx="8412480" cy="274320"/>
          </a:xfrm>
          <a:prstGeom prst="rect">
            <a:avLst/>
          </a:prstGeom>
          <a:noFill/>
          <a:ln/>
        </p:spPr>
        <p:txBody>
          <a:bodyPr wrap="square" lIns="0" tIns="0" rIns="0" bIns="0" rtlCol="0" anchor="t"/>
          <a:lstStyle/>
          <a:p>
            <a:pPr marL="0" indent="0" algn="l">
              <a:buNone/>
            </a:pPr>
            <a:r>
              <a:rPr lang="en-US" sz="900" i="1" dirty="0">
                <a:solidFill>
                  <a:srgbClr val="6B7280"/>
                </a:solidFill>
                <a:latin typeface="Calibri" pitchFamily="34" charset="0"/>
                <a:ea typeface="Calibri" pitchFamily="34" charset="-122"/>
                <a:cs typeface="Calibri" pitchFamily="34" charset="-120"/>
              </a:rPr>
              <a:t>Adapted from Treveil et al., Introducing MLOps (O'Reilly, 2020) and IBM watsonx documentation</a:t>
            </a:r>
            <a:endParaRPr lang="en-US" sz="900" dirty="0"/>
          </a:p>
        </p:txBody>
      </p:sp>
      <p:pic>
        <p:nvPicPr>
          <p:cNvPr id="23" name="IE University logo" descr="IE University, School of Science &amp; Technology"/>
          <p:cNvPicPr>
            <a:picLocks noChangeAspect="1"/>
          </p:cNvPicPr>
          <p:nvPr/>
        </p:nvPicPr>
        <p:blipFill>
          <a:blip r:embed="rId6"/>
          <a:stretch>
            <a:fillRect/>
          </a:stretch>
        </p:blipFill>
        <p:spPr>
          <a:xfrm>
            <a:off x="8013607" y="92634"/>
            <a:ext cx="764633" cy="262789"/>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marL="0" indent="0">
              <a:buNone/>
            </a:pPr>
            <a:r>
              <a:rPr lang="en-US" sz="800" dirty="0">
                <a:solidFill>
                  <a:srgbClr val="6B7280"/>
                </a:solidFill>
                <a:latin typeface="Calibri" pitchFamily="34" charset="0"/>
                <a:ea typeface="Calibri" pitchFamily="34" charset="-122"/>
                <a:cs typeface="Calibri" pitchFamily="34" charset="-120"/>
              </a:rPr>
              <a:t>MLOps · MBDS-PT2026F · Session 3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marL="0" indent="0" algn="r">
              <a:buNone/>
            </a:pPr>
            <a:r>
              <a:rPr lang="en-US" sz="800" dirty="0">
                <a:solidFill>
                  <a:srgbClr val="6B7280"/>
                </a:solidFill>
                <a:latin typeface="Calibri" pitchFamily="34" charset="0"/>
                <a:ea typeface="Calibri" pitchFamily="34" charset="-122"/>
                <a:cs typeface="Calibri" pitchFamily="34" charset="-120"/>
              </a:rPr>
              <a:t>25</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marL="0" indent="0">
              <a:buNone/>
            </a:pPr>
            <a:r>
              <a:rPr lang="en-US" sz="2400" b="1" dirty="0">
                <a:solidFill>
                  <a:srgbClr val="1B2A4A"/>
                </a:solidFill>
                <a:latin typeface="Calibri" pitchFamily="34" charset="0"/>
                <a:ea typeface="Calibri" pitchFamily="34" charset="-122"/>
                <a:cs typeface="Calibri" pitchFamily="34" charset="-120"/>
              </a:rPr>
              <a:t>Four ways to attack a model, each with a picture and a control</a:t>
            </a:r>
            <a:endParaRPr lang="en-US" sz="2400" dirty="0"/>
          </a:p>
        </p:txBody>
      </p:sp>
      <p:sp>
        <p:nvSpPr>
          <p:cNvPr id="7" name="Shape 4"/>
          <p:cNvSpPr/>
          <p:nvPr/>
        </p:nvSpPr>
        <p:spPr>
          <a:xfrm>
            <a:off x="365760" y="1234440"/>
            <a:ext cx="4114800" cy="1325880"/>
          </a:xfrm>
          <a:prstGeom prst="roundRect">
            <a:avLst>
              <a:gd name="adj" fmla="val 5517"/>
            </a:avLst>
          </a:prstGeom>
          <a:solidFill>
            <a:srgbClr val="F3F5F8"/>
          </a:solidFill>
          <a:ln w="12700">
            <a:solidFill>
              <a:srgbClr val="F3F5F8"/>
            </a:solidFill>
            <a:prstDash val="solid"/>
          </a:ln>
        </p:spPr>
        <p:txBody>
          <a:bodyPr/>
          <a:lstStyle/>
          <a:p>
            <a:endParaRPr/>
          </a:p>
        </p:txBody>
      </p:sp>
      <p:sp>
        <p:nvSpPr>
          <p:cNvPr id="8" name="Shape 5"/>
          <p:cNvSpPr/>
          <p:nvPr/>
        </p:nvSpPr>
        <p:spPr>
          <a:xfrm>
            <a:off x="502920" y="1353312"/>
            <a:ext cx="347472" cy="347472"/>
          </a:xfrm>
          <a:prstGeom prst="ellipse">
            <a:avLst/>
          </a:prstGeom>
          <a:solidFill>
            <a:srgbClr val="B42318"/>
          </a:solidFill>
          <a:ln w="12700">
            <a:solidFill>
              <a:srgbClr val="B42318"/>
            </a:solidFill>
            <a:prstDash val="solid"/>
          </a:ln>
        </p:spPr>
        <p:txBody>
          <a:bodyPr/>
          <a:lstStyle/>
          <a:p>
            <a:endParaRPr/>
          </a:p>
        </p:txBody>
      </p:sp>
      <p:pic>
        <p:nvPicPr>
          <p:cNvPr id="9" name="Image 0" descr="preencoded.png"/>
          <p:cNvPicPr>
            <a:picLocks noChangeAspect="1"/>
          </p:cNvPicPr>
          <p:nvPr/>
        </p:nvPicPr>
        <p:blipFill>
          <a:blip r:embed="rId3"/>
          <a:stretch>
            <a:fillRect/>
          </a:stretch>
        </p:blipFill>
        <p:spPr>
          <a:xfrm>
            <a:off x="576072" y="1426464"/>
            <a:ext cx="201168" cy="201168"/>
          </a:xfrm>
          <a:prstGeom prst="rect">
            <a:avLst/>
          </a:prstGeom>
        </p:spPr>
      </p:pic>
      <p:sp>
        <p:nvSpPr>
          <p:cNvPr id="10" name="Text 6"/>
          <p:cNvSpPr txBox="1"/>
          <p:nvPr/>
        </p:nvSpPr>
        <p:spPr>
          <a:xfrm>
            <a:off x="932688" y="1325880"/>
            <a:ext cx="3383280" cy="402336"/>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Data poisoning</a:t>
            </a:r>
            <a:endParaRPr lang="en-US" sz="1300" dirty="0"/>
          </a:p>
        </p:txBody>
      </p:sp>
      <p:sp>
        <p:nvSpPr>
          <p:cNvPr id="11" name="Text 7"/>
          <p:cNvSpPr txBox="1"/>
          <p:nvPr/>
        </p:nvSpPr>
        <p:spPr>
          <a:xfrm>
            <a:off x="502920" y="1783080"/>
            <a:ext cx="3840480" cy="365760"/>
          </a:xfrm>
          <a:prstGeom prst="rect">
            <a:avLst/>
          </a:prstGeom>
          <a:noFill/>
          <a:ln/>
        </p:spPr>
        <p:txBody>
          <a:bodyPr wrap="square" lIns="0" tIns="0" rIns="0" bIns="0" rtlCol="0" anchor="ctr"/>
          <a:lstStyle/>
          <a:p>
            <a:pPr marL="0" indent="0">
              <a:buNone/>
            </a:pPr>
            <a:r>
              <a:rPr lang="en-US" sz="1050" dirty="0">
                <a:solidFill>
                  <a:srgbClr val="222222"/>
                </a:solidFill>
                <a:latin typeface="Calibri" pitchFamily="34" charset="0"/>
                <a:ea typeface="Calibri" pitchFamily="34" charset="-122"/>
                <a:cs typeface="Calibri" pitchFamily="34" charset="-120"/>
              </a:rPr>
              <a:t>Corrupt the training data so the model learns the wrong thing.</a:t>
            </a:r>
            <a:endParaRPr lang="en-US" sz="1050" dirty="0"/>
          </a:p>
        </p:txBody>
      </p:sp>
      <p:sp>
        <p:nvSpPr>
          <p:cNvPr id="12" name="Text 8"/>
          <p:cNvSpPr txBox="1"/>
          <p:nvPr/>
        </p:nvSpPr>
        <p:spPr>
          <a:xfrm>
            <a:off x="502920" y="2148840"/>
            <a:ext cx="3840480" cy="365760"/>
          </a:xfrm>
          <a:prstGeom prst="rect">
            <a:avLst/>
          </a:prstGeom>
          <a:noFill/>
          <a:ln/>
        </p:spPr>
        <p:txBody>
          <a:bodyPr wrap="square" lIns="0" tIns="0" rIns="0" bIns="0" rtlCol="0" anchor="ctr"/>
          <a:lstStyle/>
          <a:p>
            <a:pPr marL="0" indent="0">
              <a:buNone/>
            </a:pPr>
            <a:r>
              <a:rPr lang="en-US" sz="1050" b="1" dirty="0">
                <a:solidFill>
                  <a:srgbClr val="0E7C86"/>
                </a:solidFill>
                <a:latin typeface="Calibri" pitchFamily="34" charset="0"/>
                <a:ea typeface="Calibri" pitchFamily="34" charset="-122"/>
                <a:cs typeface="Calibri" pitchFamily="34" charset="-120"/>
              </a:rPr>
              <a:t>Control: </a:t>
            </a:r>
            <a:r>
              <a:rPr lang="en-US" sz="1050" dirty="0">
                <a:solidFill>
                  <a:srgbClr val="0E7C86"/>
                </a:solidFill>
                <a:latin typeface="Calibri" pitchFamily="34" charset="0"/>
                <a:ea typeface="Calibri" pitchFamily="34" charset="-122"/>
                <a:cs typeface="Calibri" pitchFamily="34" charset="-120"/>
              </a:rPr>
              <a:t>Validation, provenance of labels, lineage</a:t>
            </a:r>
            <a:endParaRPr lang="en-US" sz="1050" dirty="0"/>
          </a:p>
        </p:txBody>
      </p:sp>
      <p:sp>
        <p:nvSpPr>
          <p:cNvPr id="13" name="Shape 9"/>
          <p:cNvSpPr/>
          <p:nvPr/>
        </p:nvSpPr>
        <p:spPr>
          <a:xfrm>
            <a:off x="4663440" y="1234440"/>
            <a:ext cx="4114800" cy="1325880"/>
          </a:xfrm>
          <a:prstGeom prst="roundRect">
            <a:avLst>
              <a:gd name="adj" fmla="val 5517"/>
            </a:avLst>
          </a:prstGeom>
          <a:solidFill>
            <a:srgbClr val="F3F5F8"/>
          </a:solidFill>
          <a:ln w="12700">
            <a:solidFill>
              <a:srgbClr val="F3F5F8"/>
            </a:solidFill>
            <a:prstDash val="solid"/>
          </a:ln>
        </p:spPr>
        <p:txBody>
          <a:bodyPr/>
          <a:lstStyle/>
          <a:p>
            <a:endParaRPr/>
          </a:p>
        </p:txBody>
      </p:sp>
      <p:sp>
        <p:nvSpPr>
          <p:cNvPr id="14" name="Shape 10"/>
          <p:cNvSpPr/>
          <p:nvPr/>
        </p:nvSpPr>
        <p:spPr>
          <a:xfrm>
            <a:off x="4800600" y="1353312"/>
            <a:ext cx="347472" cy="347472"/>
          </a:xfrm>
          <a:prstGeom prst="ellipse">
            <a:avLst/>
          </a:prstGeom>
          <a:solidFill>
            <a:srgbClr val="B42318"/>
          </a:solidFill>
          <a:ln w="12700">
            <a:solidFill>
              <a:srgbClr val="B42318"/>
            </a:solidFill>
            <a:prstDash val="solid"/>
          </a:ln>
        </p:spPr>
        <p:txBody>
          <a:bodyPr/>
          <a:lstStyle/>
          <a:p>
            <a:endParaRPr/>
          </a:p>
        </p:txBody>
      </p:sp>
      <p:pic>
        <p:nvPicPr>
          <p:cNvPr id="15" name="Image 1" descr="preencoded.png"/>
          <p:cNvPicPr>
            <a:picLocks noChangeAspect="1"/>
          </p:cNvPicPr>
          <p:nvPr/>
        </p:nvPicPr>
        <p:blipFill>
          <a:blip r:embed="rId4"/>
          <a:stretch>
            <a:fillRect/>
          </a:stretch>
        </p:blipFill>
        <p:spPr>
          <a:xfrm>
            <a:off x="4873752" y="1426464"/>
            <a:ext cx="201168" cy="201168"/>
          </a:xfrm>
          <a:prstGeom prst="rect">
            <a:avLst/>
          </a:prstGeom>
        </p:spPr>
      </p:pic>
      <p:sp>
        <p:nvSpPr>
          <p:cNvPr id="16" name="Text 11"/>
          <p:cNvSpPr txBox="1"/>
          <p:nvPr/>
        </p:nvSpPr>
        <p:spPr>
          <a:xfrm>
            <a:off x="5230368" y="1325880"/>
            <a:ext cx="3383280" cy="402336"/>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Adversarial input (evasion)</a:t>
            </a:r>
            <a:endParaRPr lang="en-US" sz="1300" dirty="0"/>
          </a:p>
        </p:txBody>
      </p:sp>
      <p:sp>
        <p:nvSpPr>
          <p:cNvPr id="17" name="Text 12"/>
          <p:cNvSpPr txBox="1"/>
          <p:nvPr/>
        </p:nvSpPr>
        <p:spPr>
          <a:xfrm>
            <a:off x="4800600" y="1783080"/>
            <a:ext cx="3840480" cy="365760"/>
          </a:xfrm>
          <a:prstGeom prst="rect">
            <a:avLst/>
          </a:prstGeom>
          <a:noFill/>
          <a:ln/>
        </p:spPr>
        <p:txBody>
          <a:bodyPr wrap="square" lIns="0" tIns="0" rIns="0" bIns="0" rtlCol="0" anchor="ctr"/>
          <a:lstStyle/>
          <a:p>
            <a:pPr marL="0" indent="0">
              <a:buNone/>
            </a:pPr>
            <a:r>
              <a:rPr lang="en-US" sz="1050" dirty="0">
                <a:solidFill>
                  <a:srgbClr val="222222"/>
                </a:solidFill>
                <a:latin typeface="Calibri" pitchFamily="34" charset="0"/>
                <a:ea typeface="Calibri" pitchFamily="34" charset="-122"/>
                <a:cs typeface="Calibri" pitchFamily="34" charset="-120"/>
              </a:rPr>
              <a:t>Craft inputs the model misreads: transactions just below the threshold.</a:t>
            </a:r>
            <a:endParaRPr lang="en-US" sz="1050" dirty="0"/>
          </a:p>
        </p:txBody>
      </p:sp>
      <p:sp>
        <p:nvSpPr>
          <p:cNvPr id="18" name="Text 13"/>
          <p:cNvSpPr txBox="1"/>
          <p:nvPr/>
        </p:nvSpPr>
        <p:spPr>
          <a:xfrm>
            <a:off x="4800600" y="2148840"/>
            <a:ext cx="3840480" cy="365760"/>
          </a:xfrm>
          <a:prstGeom prst="rect">
            <a:avLst/>
          </a:prstGeom>
          <a:noFill/>
          <a:ln/>
        </p:spPr>
        <p:txBody>
          <a:bodyPr wrap="square" lIns="0" tIns="0" rIns="0" bIns="0" rtlCol="0" anchor="ctr"/>
          <a:lstStyle/>
          <a:p>
            <a:pPr marL="0" indent="0">
              <a:buNone/>
            </a:pPr>
            <a:r>
              <a:rPr lang="en-US" sz="1050" b="1" dirty="0">
                <a:solidFill>
                  <a:srgbClr val="0E7C86"/>
                </a:solidFill>
                <a:latin typeface="Calibri" pitchFamily="34" charset="0"/>
                <a:ea typeface="Calibri" pitchFamily="34" charset="-122"/>
                <a:cs typeface="Calibri" pitchFamily="34" charset="-120"/>
              </a:rPr>
              <a:t>Control: </a:t>
            </a:r>
            <a:r>
              <a:rPr lang="en-US" sz="1050" dirty="0">
                <a:solidFill>
                  <a:srgbClr val="0E7C86"/>
                </a:solidFill>
                <a:latin typeface="Calibri" pitchFamily="34" charset="0"/>
                <a:ea typeface="Calibri" pitchFamily="34" charset="-122"/>
                <a:cs typeface="Calibri" pitchFamily="34" charset="-120"/>
              </a:rPr>
              <a:t>Monitor probing patterns, rate limits, retrain, never expose raw scores</a:t>
            </a:r>
            <a:endParaRPr lang="en-US" sz="1050" dirty="0"/>
          </a:p>
        </p:txBody>
      </p:sp>
      <p:sp>
        <p:nvSpPr>
          <p:cNvPr id="19" name="Shape 14"/>
          <p:cNvSpPr/>
          <p:nvPr/>
        </p:nvSpPr>
        <p:spPr>
          <a:xfrm>
            <a:off x="365760" y="2697480"/>
            <a:ext cx="4114800" cy="1325880"/>
          </a:xfrm>
          <a:prstGeom prst="roundRect">
            <a:avLst>
              <a:gd name="adj" fmla="val 5517"/>
            </a:avLst>
          </a:prstGeom>
          <a:solidFill>
            <a:srgbClr val="F3F5F8"/>
          </a:solidFill>
          <a:ln w="12700">
            <a:solidFill>
              <a:srgbClr val="F3F5F8"/>
            </a:solidFill>
            <a:prstDash val="solid"/>
          </a:ln>
        </p:spPr>
        <p:txBody>
          <a:bodyPr/>
          <a:lstStyle/>
          <a:p>
            <a:endParaRPr/>
          </a:p>
        </p:txBody>
      </p:sp>
      <p:sp>
        <p:nvSpPr>
          <p:cNvPr id="20" name="Shape 15"/>
          <p:cNvSpPr/>
          <p:nvPr/>
        </p:nvSpPr>
        <p:spPr>
          <a:xfrm>
            <a:off x="502920" y="2816352"/>
            <a:ext cx="347472" cy="347472"/>
          </a:xfrm>
          <a:prstGeom prst="ellipse">
            <a:avLst/>
          </a:prstGeom>
          <a:solidFill>
            <a:srgbClr val="B42318"/>
          </a:solidFill>
          <a:ln w="12700">
            <a:solidFill>
              <a:srgbClr val="B42318"/>
            </a:solidFill>
            <a:prstDash val="solid"/>
          </a:ln>
        </p:spPr>
        <p:txBody>
          <a:bodyPr/>
          <a:lstStyle/>
          <a:p>
            <a:endParaRPr/>
          </a:p>
        </p:txBody>
      </p:sp>
      <p:pic>
        <p:nvPicPr>
          <p:cNvPr id="21" name="Image 2" descr="preencoded.png"/>
          <p:cNvPicPr>
            <a:picLocks noChangeAspect="1"/>
          </p:cNvPicPr>
          <p:nvPr/>
        </p:nvPicPr>
        <p:blipFill>
          <a:blip r:embed="rId5"/>
          <a:stretch>
            <a:fillRect/>
          </a:stretch>
        </p:blipFill>
        <p:spPr>
          <a:xfrm>
            <a:off x="576072" y="2889504"/>
            <a:ext cx="201168" cy="201168"/>
          </a:xfrm>
          <a:prstGeom prst="rect">
            <a:avLst/>
          </a:prstGeom>
        </p:spPr>
      </p:pic>
      <p:sp>
        <p:nvSpPr>
          <p:cNvPr id="22" name="Text 16"/>
          <p:cNvSpPr txBox="1"/>
          <p:nvPr/>
        </p:nvSpPr>
        <p:spPr>
          <a:xfrm>
            <a:off x="932688" y="2788920"/>
            <a:ext cx="3383280" cy="402336"/>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Model extraction &amp; inversion</a:t>
            </a:r>
            <a:endParaRPr lang="en-US" sz="1300" dirty="0"/>
          </a:p>
        </p:txBody>
      </p:sp>
      <p:sp>
        <p:nvSpPr>
          <p:cNvPr id="23" name="Text 17"/>
          <p:cNvSpPr txBox="1"/>
          <p:nvPr/>
        </p:nvSpPr>
        <p:spPr>
          <a:xfrm>
            <a:off x="502920" y="3246120"/>
            <a:ext cx="3840480" cy="365760"/>
          </a:xfrm>
          <a:prstGeom prst="rect">
            <a:avLst/>
          </a:prstGeom>
          <a:noFill/>
          <a:ln/>
        </p:spPr>
        <p:txBody>
          <a:bodyPr wrap="square" lIns="0" tIns="0" rIns="0" bIns="0" rtlCol="0" anchor="ctr"/>
          <a:lstStyle/>
          <a:p>
            <a:pPr marL="0" indent="0">
              <a:buNone/>
            </a:pPr>
            <a:r>
              <a:rPr lang="en-US" sz="1050" dirty="0">
                <a:solidFill>
                  <a:srgbClr val="222222"/>
                </a:solidFill>
                <a:latin typeface="Calibri" pitchFamily="34" charset="0"/>
                <a:ea typeface="Calibri" pitchFamily="34" charset="-122"/>
                <a:cs typeface="Calibri" pitchFamily="34" charset="-120"/>
              </a:rPr>
              <a:t>Query the API many times to rebuild the model or recover training data.</a:t>
            </a:r>
            <a:endParaRPr lang="en-US" sz="1050" dirty="0"/>
          </a:p>
        </p:txBody>
      </p:sp>
      <p:sp>
        <p:nvSpPr>
          <p:cNvPr id="24" name="Text 18"/>
          <p:cNvSpPr txBox="1"/>
          <p:nvPr/>
        </p:nvSpPr>
        <p:spPr>
          <a:xfrm>
            <a:off x="502920" y="3611880"/>
            <a:ext cx="3840480" cy="365760"/>
          </a:xfrm>
          <a:prstGeom prst="rect">
            <a:avLst/>
          </a:prstGeom>
          <a:noFill/>
          <a:ln/>
        </p:spPr>
        <p:txBody>
          <a:bodyPr wrap="square" lIns="0" tIns="0" rIns="0" bIns="0" rtlCol="0" anchor="ctr"/>
          <a:lstStyle/>
          <a:p>
            <a:pPr marL="0" indent="0">
              <a:buNone/>
            </a:pPr>
            <a:r>
              <a:rPr lang="en-US" sz="1050" b="1" dirty="0">
                <a:solidFill>
                  <a:srgbClr val="0E7C86"/>
                </a:solidFill>
                <a:latin typeface="Calibri" pitchFamily="34" charset="0"/>
                <a:ea typeface="Calibri" pitchFamily="34" charset="-122"/>
                <a:cs typeface="Calibri" pitchFamily="34" charset="-120"/>
              </a:rPr>
              <a:t>Control: </a:t>
            </a:r>
            <a:r>
              <a:rPr lang="en-US" sz="1050" dirty="0">
                <a:solidFill>
                  <a:srgbClr val="0E7C86"/>
                </a:solidFill>
                <a:latin typeface="Calibri" pitchFamily="34" charset="0"/>
                <a:ea typeface="Calibri" pitchFamily="34" charset="-122"/>
                <a:cs typeface="Calibri" pitchFamily="34" charset="-120"/>
              </a:rPr>
              <a:t>Authentication, rate limits, output rounding, query monitoring</a:t>
            </a:r>
            <a:endParaRPr lang="en-US" sz="1050" dirty="0"/>
          </a:p>
        </p:txBody>
      </p:sp>
      <p:sp>
        <p:nvSpPr>
          <p:cNvPr id="25" name="Shape 19"/>
          <p:cNvSpPr/>
          <p:nvPr/>
        </p:nvSpPr>
        <p:spPr>
          <a:xfrm>
            <a:off x="4663440" y="2697480"/>
            <a:ext cx="4114800" cy="1325880"/>
          </a:xfrm>
          <a:prstGeom prst="roundRect">
            <a:avLst>
              <a:gd name="adj" fmla="val 5517"/>
            </a:avLst>
          </a:prstGeom>
          <a:solidFill>
            <a:srgbClr val="F3F5F8"/>
          </a:solidFill>
          <a:ln w="12700">
            <a:solidFill>
              <a:srgbClr val="F3F5F8"/>
            </a:solidFill>
            <a:prstDash val="solid"/>
          </a:ln>
        </p:spPr>
        <p:txBody>
          <a:bodyPr/>
          <a:lstStyle/>
          <a:p>
            <a:endParaRPr/>
          </a:p>
        </p:txBody>
      </p:sp>
      <p:sp>
        <p:nvSpPr>
          <p:cNvPr id="26" name="Shape 20"/>
          <p:cNvSpPr/>
          <p:nvPr/>
        </p:nvSpPr>
        <p:spPr>
          <a:xfrm>
            <a:off x="4800600" y="2816352"/>
            <a:ext cx="347472" cy="347472"/>
          </a:xfrm>
          <a:prstGeom prst="ellipse">
            <a:avLst/>
          </a:prstGeom>
          <a:solidFill>
            <a:srgbClr val="B42318"/>
          </a:solidFill>
          <a:ln w="12700">
            <a:solidFill>
              <a:srgbClr val="B42318"/>
            </a:solidFill>
            <a:prstDash val="solid"/>
          </a:ln>
        </p:spPr>
        <p:txBody>
          <a:bodyPr/>
          <a:lstStyle/>
          <a:p>
            <a:endParaRPr/>
          </a:p>
        </p:txBody>
      </p:sp>
      <p:pic>
        <p:nvPicPr>
          <p:cNvPr id="27" name="Image 3" descr="preencoded.png"/>
          <p:cNvPicPr>
            <a:picLocks noChangeAspect="1"/>
          </p:cNvPicPr>
          <p:nvPr/>
        </p:nvPicPr>
        <p:blipFill>
          <a:blip r:embed="rId6"/>
          <a:stretch>
            <a:fillRect/>
          </a:stretch>
        </p:blipFill>
        <p:spPr>
          <a:xfrm>
            <a:off x="4873752" y="2889504"/>
            <a:ext cx="201168" cy="201168"/>
          </a:xfrm>
          <a:prstGeom prst="rect">
            <a:avLst/>
          </a:prstGeom>
        </p:spPr>
      </p:pic>
      <p:sp>
        <p:nvSpPr>
          <p:cNvPr id="28" name="Text 21"/>
          <p:cNvSpPr txBox="1"/>
          <p:nvPr/>
        </p:nvSpPr>
        <p:spPr>
          <a:xfrm>
            <a:off x="5230368" y="2788920"/>
            <a:ext cx="3383280" cy="402336"/>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Prompt injection (LLMs)</a:t>
            </a:r>
            <a:endParaRPr lang="en-US" sz="1300" dirty="0"/>
          </a:p>
        </p:txBody>
      </p:sp>
      <p:sp>
        <p:nvSpPr>
          <p:cNvPr id="29" name="Text 22"/>
          <p:cNvSpPr txBox="1"/>
          <p:nvPr/>
        </p:nvSpPr>
        <p:spPr>
          <a:xfrm>
            <a:off x="4800600" y="3246120"/>
            <a:ext cx="3840480" cy="365760"/>
          </a:xfrm>
          <a:prstGeom prst="rect">
            <a:avLst/>
          </a:prstGeom>
          <a:noFill/>
          <a:ln/>
        </p:spPr>
        <p:txBody>
          <a:bodyPr wrap="square" lIns="0" tIns="0" rIns="0" bIns="0" rtlCol="0" anchor="ctr"/>
          <a:lstStyle/>
          <a:p>
            <a:pPr marL="0" indent="0">
              <a:buNone/>
            </a:pPr>
            <a:r>
              <a:rPr lang="en-US" sz="1050" dirty="0">
                <a:solidFill>
                  <a:srgbClr val="222222"/>
                </a:solidFill>
                <a:latin typeface="Calibri" pitchFamily="34" charset="0"/>
                <a:ea typeface="Calibri" pitchFamily="34" charset="-122"/>
                <a:cs typeface="Calibri" pitchFamily="34" charset="-120"/>
              </a:rPr>
              <a:t>Instructions hidden in the input hijack the model. Session 10.</a:t>
            </a:r>
            <a:endParaRPr lang="en-US" sz="1050" dirty="0"/>
          </a:p>
        </p:txBody>
      </p:sp>
      <p:sp>
        <p:nvSpPr>
          <p:cNvPr id="30" name="Text 23"/>
          <p:cNvSpPr txBox="1"/>
          <p:nvPr/>
        </p:nvSpPr>
        <p:spPr>
          <a:xfrm>
            <a:off x="4800600" y="3611880"/>
            <a:ext cx="3840480" cy="365760"/>
          </a:xfrm>
          <a:prstGeom prst="rect">
            <a:avLst/>
          </a:prstGeom>
          <a:noFill/>
          <a:ln/>
        </p:spPr>
        <p:txBody>
          <a:bodyPr wrap="square" lIns="0" tIns="0" rIns="0" bIns="0" rtlCol="0" anchor="ctr"/>
          <a:lstStyle/>
          <a:p>
            <a:pPr marL="0" indent="0">
              <a:buNone/>
            </a:pPr>
            <a:r>
              <a:rPr lang="en-US" sz="1050" b="1" dirty="0">
                <a:solidFill>
                  <a:srgbClr val="0E7C86"/>
                </a:solidFill>
                <a:latin typeface="Calibri" pitchFamily="34" charset="0"/>
                <a:ea typeface="Calibri" pitchFamily="34" charset="-122"/>
                <a:cs typeface="Calibri" pitchFamily="34" charset="-120"/>
              </a:rPr>
              <a:t>Control: </a:t>
            </a:r>
            <a:r>
              <a:rPr lang="en-US" sz="1050" dirty="0">
                <a:solidFill>
                  <a:srgbClr val="0E7C86"/>
                </a:solidFill>
                <a:latin typeface="Calibri" pitchFamily="34" charset="0"/>
                <a:ea typeface="Calibri" pitchFamily="34" charset="-122"/>
                <a:cs typeface="Calibri" pitchFamily="34" charset="-120"/>
              </a:rPr>
              <a:t>Input filtering, output guardrails, least privilege</a:t>
            </a:r>
            <a:endParaRPr lang="en-US" sz="1050" dirty="0"/>
          </a:p>
        </p:txBody>
      </p:sp>
      <p:sp>
        <p:nvSpPr>
          <p:cNvPr id="31" name="Shape 24"/>
          <p:cNvSpPr/>
          <p:nvPr/>
        </p:nvSpPr>
        <p:spPr>
          <a:xfrm>
            <a:off x="365760" y="4206240"/>
            <a:ext cx="8412480" cy="411480"/>
          </a:xfrm>
          <a:prstGeom prst="roundRect">
            <a:avLst>
              <a:gd name="adj" fmla="val 17778"/>
            </a:avLst>
          </a:prstGeom>
          <a:solidFill>
            <a:srgbClr val="E3F1F2"/>
          </a:solidFill>
          <a:ln w="12700">
            <a:solidFill>
              <a:srgbClr val="E3F1F2"/>
            </a:solidFill>
            <a:prstDash val="solid"/>
          </a:ln>
        </p:spPr>
        <p:txBody>
          <a:bodyPr/>
          <a:lstStyle/>
          <a:p>
            <a:endParaRPr/>
          </a:p>
        </p:txBody>
      </p:sp>
      <p:pic>
        <p:nvPicPr>
          <p:cNvPr id="32" name="Image 4" descr="preencoded.png"/>
          <p:cNvPicPr>
            <a:picLocks noChangeAspect="1"/>
          </p:cNvPicPr>
          <p:nvPr/>
        </p:nvPicPr>
        <p:blipFill>
          <a:blip r:embed="rId7"/>
          <a:stretch>
            <a:fillRect/>
          </a:stretch>
        </p:blipFill>
        <p:spPr>
          <a:xfrm>
            <a:off x="502920" y="4274820"/>
            <a:ext cx="274320" cy="274320"/>
          </a:xfrm>
          <a:prstGeom prst="rect">
            <a:avLst/>
          </a:prstGeom>
        </p:spPr>
      </p:pic>
      <p:sp>
        <p:nvSpPr>
          <p:cNvPr id="33" name="Text 25"/>
          <p:cNvSpPr txBox="1"/>
          <p:nvPr/>
        </p:nvSpPr>
        <p:spPr>
          <a:xfrm>
            <a:off x="896112" y="4206240"/>
            <a:ext cx="7772400" cy="411480"/>
          </a:xfrm>
          <a:prstGeom prst="rect">
            <a:avLst/>
          </a:prstGeom>
          <a:noFill/>
          <a:ln/>
        </p:spPr>
        <p:txBody>
          <a:bodyPr wrap="square" lIns="0" tIns="0" rIns="0" bIns="0" rtlCol="0" anchor="ctr"/>
          <a:lstStyle/>
          <a:p>
            <a:pPr marL="0" indent="0">
              <a:buNone/>
            </a:pPr>
            <a:r>
              <a:rPr lang="en-US" sz="1100" dirty="0">
                <a:solidFill>
                  <a:srgbClr val="1B2A4A"/>
                </a:solidFill>
                <a:latin typeface="Calibri" pitchFamily="34" charset="0"/>
                <a:ea typeface="Calibri" pitchFamily="34" charset="-122"/>
                <a:cs typeface="Calibri" pitchFamily="34" charset="-120"/>
              </a:rPr>
              <a:t>Public catalogues: OWASP Machine Learning Top 10 · MITRE ATLAS (adversarial threat landscape for AI systems)</a:t>
            </a:r>
            <a:endParaRPr lang="en-US" sz="1100" dirty="0"/>
          </a:p>
        </p:txBody>
      </p:sp>
      <p:pic>
        <p:nvPicPr>
          <p:cNvPr id="34" name="IE University logo" descr="IE University, School of Science &amp; Technology"/>
          <p:cNvPicPr>
            <a:picLocks noChangeAspect="1"/>
          </p:cNvPicPr>
          <p:nvPr/>
        </p:nvPicPr>
        <p:blipFill>
          <a:blip r:embed="rId8"/>
          <a:stretch>
            <a:fillRect/>
          </a:stretch>
        </p:blipFill>
        <p:spPr>
          <a:xfrm>
            <a:off x="8013607" y="92634"/>
            <a:ext cx="764633" cy="262789"/>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marL="0" indent="0">
              <a:buNone/>
            </a:pPr>
            <a:r>
              <a:rPr lang="en-US" sz="800" dirty="0">
                <a:solidFill>
                  <a:srgbClr val="6B7280"/>
                </a:solidFill>
                <a:latin typeface="Calibri" pitchFamily="34" charset="0"/>
                <a:ea typeface="Calibri" pitchFamily="34" charset="-122"/>
                <a:cs typeface="Calibri" pitchFamily="34" charset="-120"/>
              </a:rPr>
              <a:t>MLOps · MBDS-PT2026F · Session 3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marL="0" indent="0" algn="r">
              <a:buNone/>
            </a:pPr>
            <a:r>
              <a:rPr lang="en-US" sz="800" dirty="0">
                <a:solidFill>
                  <a:srgbClr val="6B7280"/>
                </a:solidFill>
                <a:latin typeface="Calibri" pitchFamily="34" charset="0"/>
                <a:ea typeface="Calibri" pitchFamily="34" charset="-122"/>
                <a:cs typeface="Calibri" pitchFamily="34" charset="-120"/>
              </a:rPr>
              <a:t>26</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marL="0" indent="0">
              <a:buNone/>
            </a:pPr>
            <a:r>
              <a:rPr lang="en-US" sz="2400" b="1" dirty="0">
                <a:solidFill>
                  <a:srgbClr val="1B2A4A"/>
                </a:solidFill>
                <a:latin typeface="Calibri" pitchFamily="34" charset="0"/>
                <a:ea typeface="Calibri" pitchFamily="34" charset="-122"/>
                <a:cs typeface="Calibri" pitchFamily="34" charset="-120"/>
              </a:rPr>
              <a:t>Controls: the ones you already have, and the ones AI adds</a:t>
            </a:r>
            <a:endParaRPr lang="en-US" sz="2400" dirty="0"/>
          </a:p>
        </p:txBody>
      </p:sp>
      <p:sp>
        <p:nvSpPr>
          <p:cNvPr id="7" name="Shape 4"/>
          <p:cNvSpPr/>
          <p:nvPr/>
        </p:nvSpPr>
        <p:spPr>
          <a:xfrm>
            <a:off x="365760" y="1234440"/>
            <a:ext cx="2697480" cy="2743200"/>
          </a:xfrm>
          <a:prstGeom prst="roundRect">
            <a:avLst>
              <a:gd name="adj" fmla="val 2712"/>
            </a:avLst>
          </a:prstGeom>
          <a:solidFill>
            <a:srgbClr val="F3F5F8"/>
          </a:solidFill>
          <a:ln w="12700">
            <a:solidFill>
              <a:srgbClr val="F3F5F8"/>
            </a:solidFill>
            <a:prstDash val="solid"/>
          </a:ln>
        </p:spPr>
        <p:txBody>
          <a:bodyPr/>
          <a:lstStyle/>
          <a:p>
            <a:endParaRPr/>
          </a:p>
        </p:txBody>
      </p:sp>
      <p:sp>
        <p:nvSpPr>
          <p:cNvPr id="8" name="Shape 5"/>
          <p:cNvSpPr/>
          <p:nvPr/>
        </p:nvSpPr>
        <p:spPr>
          <a:xfrm>
            <a:off x="502920" y="1353312"/>
            <a:ext cx="347472" cy="347472"/>
          </a:xfrm>
          <a:prstGeom prst="ellipse">
            <a:avLst/>
          </a:prstGeom>
          <a:solidFill>
            <a:srgbClr val="0E7C86"/>
          </a:solidFill>
          <a:ln w="12700">
            <a:solidFill>
              <a:srgbClr val="0E7C86"/>
            </a:solidFill>
            <a:prstDash val="solid"/>
          </a:ln>
        </p:spPr>
        <p:txBody>
          <a:bodyPr/>
          <a:lstStyle/>
          <a:p>
            <a:endParaRPr/>
          </a:p>
        </p:txBody>
      </p:sp>
      <p:pic>
        <p:nvPicPr>
          <p:cNvPr id="9" name="Image 0" descr="preencoded.png"/>
          <p:cNvPicPr>
            <a:picLocks noChangeAspect="1"/>
          </p:cNvPicPr>
          <p:nvPr/>
        </p:nvPicPr>
        <p:blipFill>
          <a:blip r:embed="rId3"/>
          <a:stretch>
            <a:fillRect/>
          </a:stretch>
        </p:blipFill>
        <p:spPr>
          <a:xfrm>
            <a:off x="576072" y="1426464"/>
            <a:ext cx="201168" cy="201168"/>
          </a:xfrm>
          <a:prstGeom prst="rect">
            <a:avLst/>
          </a:prstGeom>
        </p:spPr>
      </p:pic>
      <p:sp>
        <p:nvSpPr>
          <p:cNvPr id="10" name="Text 6"/>
          <p:cNvSpPr txBox="1"/>
          <p:nvPr/>
        </p:nvSpPr>
        <p:spPr>
          <a:xfrm>
            <a:off x="932688" y="1325880"/>
            <a:ext cx="2011680" cy="402336"/>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Information security (existing)</a:t>
            </a:r>
            <a:endParaRPr lang="en-US" sz="1300" dirty="0"/>
          </a:p>
        </p:txBody>
      </p:sp>
      <p:sp>
        <p:nvSpPr>
          <p:cNvPr id="11" name="Text 7"/>
          <p:cNvSpPr txBox="1"/>
          <p:nvPr/>
        </p:nvSpPr>
        <p:spPr>
          <a:xfrm>
            <a:off x="502920" y="1783080"/>
            <a:ext cx="2423160" cy="2103120"/>
          </a:xfrm>
          <a:prstGeom prst="rect">
            <a:avLst/>
          </a:prstGeom>
          <a:noFill/>
          <a:ln/>
        </p:spPr>
        <p:txBody>
          <a:bodyPr wrap="square" lIns="0" tIns="0" rIns="0" bIns="0" rtlCol="0" anchor="t"/>
          <a:lstStyle/>
          <a:p>
            <a:pPr marL="177800" indent="-177800">
              <a:spcAft>
                <a:spcPts val="300"/>
              </a:spcAft>
              <a:buSzPct val="100000"/>
              <a:buChar char="•"/>
            </a:pPr>
            <a:r>
              <a:rPr lang="en-US" sz="1100" dirty="0">
                <a:solidFill>
                  <a:srgbClr val="222222"/>
                </a:solidFill>
                <a:latin typeface="Calibri" pitchFamily="34" charset="0"/>
                <a:ea typeface="Calibri" pitchFamily="34" charset="-122"/>
                <a:cs typeface="Calibri" pitchFamily="34" charset="-120"/>
              </a:rPr>
              <a:t>Access control and authentication</a:t>
            </a:r>
            <a:endParaRPr lang="en-US" sz="1100" dirty="0"/>
          </a:p>
          <a:p>
            <a:pPr marL="177800" indent="-177800">
              <a:spcAft>
                <a:spcPts val="300"/>
              </a:spcAft>
              <a:buSzPct val="100000"/>
              <a:buChar char="•"/>
            </a:pPr>
            <a:r>
              <a:rPr lang="en-US" sz="1100" dirty="0">
                <a:solidFill>
                  <a:srgbClr val="222222"/>
                </a:solidFill>
                <a:latin typeface="Calibri" pitchFamily="34" charset="0"/>
                <a:ea typeface="Calibri" pitchFamily="34" charset="-122"/>
                <a:cs typeface="Calibri" pitchFamily="34" charset="-120"/>
              </a:rPr>
              <a:t>Encryption of data at rest and in transit</a:t>
            </a:r>
            <a:endParaRPr lang="en-US" sz="1100" dirty="0"/>
          </a:p>
          <a:p>
            <a:pPr marL="177800" indent="-177800">
              <a:spcAft>
                <a:spcPts val="300"/>
              </a:spcAft>
              <a:buSzPct val="100000"/>
              <a:buChar char="•"/>
            </a:pPr>
            <a:r>
              <a:rPr lang="en-US" sz="1100" dirty="0">
                <a:solidFill>
                  <a:srgbClr val="222222"/>
                </a:solidFill>
                <a:latin typeface="Calibri" pitchFamily="34" charset="0"/>
                <a:ea typeface="Calibri" pitchFamily="34" charset="-122"/>
                <a:cs typeface="Calibri" pitchFamily="34" charset="-120"/>
              </a:rPr>
              <a:t>Backups, data destruction</a:t>
            </a:r>
            <a:endParaRPr lang="en-US" sz="1100" dirty="0"/>
          </a:p>
          <a:p>
            <a:pPr marL="177800" indent="-177800">
              <a:spcAft>
                <a:spcPts val="300"/>
              </a:spcAft>
              <a:buSzPct val="100000"/>
              <a:buChar char="•"/>
            </a:pPr>
            <a:r>
              <a:rPr lang="en-US" sz="1100" dirty="0">
                <a:solidFill>
                  <a:srgbClr val="222222"/>
                </a:solidFill>
                <a:latin typeface="Calibri" pitchFamily="34" charset="0"/>
                <a:ea typeface="Calibri" pitchFamily="34" charset="-122"/>
                <a:cs typeface="Calibri" pitchFamily="34" charset="-120"/>
              </a:rPr>
              <a:t>Incident registration and treatment</a:t>
            </a:r>
            <a:endParaRPr lang="en-US" sz="1100" dirty="0"/>
          </a:p>
          <a:p>
            <a:pPr marL="177800" indent="-177800">
              <a:spcAft>
                <a:spcPts val="300"/>
              </a:spcAft>
              <a:buSzPct val="100000"/>
              <a:buChar char="•"/>
            </a:pPr>
            <a:r>
              <a:rPr lang="en-US" sz="1100" dirty="0">
                <a:solidFill>
                  <a:srgbClr val="222222"/>
                </a:solidFill>
                <a:latin typeface="Calibri" pitchFamily="34" charset="0"/>
                <a:ea typeface="Calibri" pitchFamily="34" charset="-122"/>
                <a:cs typeface="Calibri" pitchFamily="34" charset="-120"/>
              </a:rPr>
              <a:t>Audit plans and reviews</a:t>
            </a:r>
            <a:endParaRPr lang="en-US" sz="1100" dirty="0"/>
          </a:p>
        </p:txBody>
      </p:sp>
      <p:sp>
        <p:nvSpPr>
          <p:cNvPr id="12" name="Shape 8"/>
          <p:cNvSpPr/>
          <p:nvPr/>
        </p:nvSpPr>
        <p:spPr>
          <a:xfrm>
            <a:off x="3218688" y="1234440"/>
            <a:ext cx="2697480" cy="2743200"/>
          </a:xfrm>
          <a:prstGeom prst="roundRect">
            <a:avLst>
              <a:gd name="adj" fmla="val 2712"/>
            </a:avLst>
          </a:prstGeom>
          <a:solidFill>
            <a:srgbClr val="F3F5F8"/>
          </a:solidFill>
          <a:ln w="12700">
            <a:solidFill>
              <a:srgbClr val="F3F5F8"/>
            </a:solidFill>
            <a:prstDash val="solid"/>
          </a:ln>
        </p:spPr>
        <p:txBody>
          <a:bodyPr/>
          <a:lstStyle/>
          <a:p>
            <a:endParaRPr/>
          </a:p>
        </p:txBody>
      </p:sp>
      <p:sp>
        <p:nvSpPr>
          <p:cNvPr id="13" name="Shape 9"/>
          <p:cNvSpPr/>
          <p:nvPr/>
        </p:nvSpPr>
        <p:spPr>
          <a:xfrm>
            <a:off x="3355848" y="1353312"/>
            <a:ext cx="347472" cy="347472"/>
          </a:xfrm>
          <a:prstGeom prst="ellipse">
            <a:avLst/>
          </a:prstGeom>
          <a:solidFill>
            <a:srgbClr val="E07A2F"/>
          </a:solidFill>
          <a:ln w="12700">
            <a:solidFill>
              <a:srgbClr val="E07A2F"/>
            </a:solidFill>
            <a:prstDash val="solid"/>
          </a:ln>
        </p:spPr>
        <p:txBody>
          <a:bodyPr/>
          <a:lstStyle/>
          <a:p>
            <a:endParaRPr/>
          </a:p>
        </p:txBody>
      </p:sp>
      <p:pic>
        <p:nvPicPr>
          <p:cNvPr id="14" name="Image 1" descr="preencoded.png"/>
          <p:cNvPicPr>
            <a:picLocks noChangeAspect="1"/>
          </p:cNvPicPr>
          <p:nvPr/>
        </p:nvPicPr>
        <p:blipFill>
          <a:blip r:embed="rId4"/>
          <a:stretch>
            <a:fillRect/>
          </a:stretch>
        </p:blipFill>
        <p:spPr>
          <a:xfrm>
            <a:off x="3429000" y="1426464"/>
            <a:ext cx="201168" cy="201168"/>
          </a:xfrm>
          <a:prstGeom prst="rect">
            <a:avLst/>
          </a:prstGeom>
        </p:spPr>
      </p:pic>
      <p:sp>
        <p:nvSpPr>
          <p:cNvPr id="15" name="Text 10"/>
          <p:cNvSpPr txBox="1"/>
          <p:nvPr/>
        </p:nvSpPr>
        <p:spPr>
          <a:xfrm>
            <a:off x="3785616" y="1325880"/>
            <a:ext cx="2011680" cy="402336"/>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AI-specific</a:t>
            </a:r>
            <a:endParaRPr lang="en-US" sz="1300" dirty="0"/>
          </a:p>
        </p:txBody>
      </p:sp>
      <p:sp>
        <p:nvSpPr>
          <p:cNvPr id="16" name="Text 11"/>
          <p:cNvSpPr txBox="1"/>
          <p:nvPr/>
        </p:nvSpPr>
        <p:spPr>
          <a:xfrm>
            <a:off x="3355848" y="1783080"/>
            <a:ext cx="2423160" cy="2103120"/>
          </a:xfrm>
          <a:prstGeom prst="rect">
            <a:avLst/>
          </a:prstGeom>
          <a:noFill/>
          <a:ln/>
        </p:spPr>
        <p:txBody>
          <a:bodyPr wrap="square" lIns="0" tIns="0" rIns="0" bIns="0" rtlCol="0" anchor="t"/>
          <a:lstStyle/>
          <a:p>
            <a:pPr marL="177800" indent="-177800">
              <a:spcAft>
                <a:spcPts val="300"/>
              </a:spcAft>
              <a:buSzPct val="100000"/>
              <a:buChar char="•"/>
            </a:pPr>
            <a:r>
              <a:rPr lang="en-US" sz="1100" dirty="0">
                <a:solidFill>
                  <a:srgbClr val="222222"/>
                </a:solidFill>
                <a:latin typeface="Calibri" pitchFamily="34" charset="0"/>
                <a:ea typeface="Calibri" pitchFamily="34" charset="-122"/>
                <a:cs typeface="Calibri" pitchFamily="34" charset="-120"/>
              </a:rPr>
              <a:t>Data validation and label provenance</a:t>
            </a:r>
            <a:endParaRPr lang="en-US" sz="1100" dirty="0"/>
          </a:p>
          <a:p>
            <a:pPr marL="177800" indent="-177800">
              <a:spcAft>
                <a:spcPts val="300"/>
              </a:spcAft>
              <a:buSzPct val="100000"/>
              <a:buChar char="•"/>
            </a:pPr>
            <a:r>
              <a:rPr lang="en-US" sz="1100" dirty="0">
                <a:solidFill>
                  <a:srgbClr val="222222"/>
                </a:solidFill>
                <a:latin typeface="Calibri" pitchFamily="34" charset="0"/>
                <a:ea typeface="Calibri" pitchFamily="34" charset="-122"/>
                <a:cs typeface="Calibri" pitchFamily="34" charset="-120"/>
              </a:rPr>
              <a:t>Drift detection and retraining</a:t>
            </a:r>
            <a:endParaRPr lang="en-US" sz="1100" dirty="0"/>
          </a:p>
          <a:p>
            <a:pPr marL="177800" indent="-177800">
              <a:spcAft>
                <a:spcPts val="300"/>
              </a:spcAft>
              <a:buSzPct val="100000"/>
              <a:buChar char="•"/>
            </a:pPr>
            <a:r>
              <a:rPr lang="en-US" sz="1100" dirty="0">
                <a:solidFill>
                  <a:srgbClr val="222222"/>
                </a:solidFill>
                <a:latin typeface="Calibri" pitchFamily="34" charset="0"/>
                <a:ea typeface="Calibri" pitchFamily="34" charset="-122"/>
                <a:cs typeface="Calibri" pitchFamily="34" charset="-120"/>
              </a:rPr>
              <a:t>Endpoint protection: rate limits, output rounding, injection filters</a:t>
            </a:r>
            <a:endParaRPr lang="en-US" sz="1100" dirty="0"/>
          </a:p>
          <a:p>
            <a:pPr marL="177800" indent="-177800">
              <a:spcAft>
                <a:spcPts val="300"/>
              </a:spcAft>
              <a:buSzPct val="100000"/>
              <a:buChar char="•"/>
            </a:pPr>
            <a:r>
              <a:rPr lang="en-US" sz="1100" dirty="0">
                <a:solidFill>
                  <a:srgbClr val="222222"/>
                </a:solidFill>
                <a:latin typeface="Calibri" pitchFamily="34" charset="0"/>
                <a:ea typeface="Calibri" pitchFamily="34" charset="-122"/>
                <a:cs typeface="Calibri" pitchFamily="34" charset="-120"/>
              </a:rPr>
              <a:t>Security of training datasets</a:t>
            </a:r>
            <a:endParaRPr lang="en-US" sz="1100" dirty="0"/>
          </a:p>
        </p:txBody>
      </p:sp>
      <p:sp>
        <p:nvSpPr>
          <p:cNvPr id="17" name="Shape 12"/>
          <p:cNvSpPr/>
          <p:nvPr/>
        </p:nvSpPr>
        <p:spPr>
          <a:xfrm>
            <a:off x="6080760" y="1234440"/>
            <a:ext cx="2697480" cy="2743200"/>
          </a:xfrm>
          <a:prstGeom prst="roundRect">
            <a:avLst>
              <a:gd name="adj" fmla="val 2712"/>
            </a:avLst>
          </a:prstGeom>
          <a:solidFill>
            <a:srgbClr val="F3F5F8"/>
          </a:solidFill>
          <a:ln w="12700">
            <a:solidFill>
              <a:srgbClr val="F3F5F8"/>
            </a:solidFill>
            <a:prstDash val="solid"/>
          </a:ln>
        </p:spPr>
        <p:txBody>
          <a:bodyPr/>
          <a:lstStyle/>
          <a:p>
            <a:endParaRPr/>
          </a:p>
        </p:txBody>
      </p:sp>
      <p:sp>
        <p:nvSpPr>
          <p:cNvPr id="18" name="Shape 13"/>
          <p:cNvSpPr/>
          <p:nvPr/>
        </p:nvSpPr>
        <p:spPr>
          <a:xfrm>
            <a:off x="6217920" y="1353312"/>
            <a:ext cx="347472" cy="347472"/>
          </a:xfrm>
          <a:prstGeom prst="ellipse">
            <a:avLst/>
          </a:prstGeom>
          <a:solidFill>
            <a:srgbClr val="0E7C86"/>
          </a:solidFill>
          <a:ln w="12700">
            <a:solidFill>
              <a:srgbClr val="0E7C86"/>
            </a:solidFill>
            <a:prstDash val="solid"/>
          </a:ln>
        </p:spPr>
        <p:txBody>
          <a:bodyPr/>
          <a:lstStyle/>
          <a:p>
            <a:endParaRPr/>
          </a:p>
        </p:txBody>
      </p:sp>
      <p:pic>
        <p:nvPicPr>
          <p:cNvPr id="19" name="Image 2" descr="preencoded.png"/>
          <p:cNvPicPr>
            <a:picLocks noChangeAspect="1"/>
          </p:cNvPicPr>
          <p:nvPr/>
        </p:nvPicPr>
        <p:blipFill>
          <a:blip r:embed="rId5"/>
          <a:stretch>
            <a:fillRect/>
          </a:stretch>
        </p:blipFill>
        <p:spPr>
          <a:xfrm>
            <a:off x="6291072" y="1426464"/>
            <a:ext cx="201168" cy="201168"/>
          </a:xfrm>
          <a:prstGeom prst="rect">
            <a:avLst/>
          </a:prstGeom>
        </p:spPr>
      </p:pic>
      <p:sp>
        <p:nvSpPr>
          <p:cNvPr id="20" name="Text 14"/>
          <p:cNvSpPr txBox="1"/>
          <p:nvPr/>
        </p:nvSpPr>
        <p:spPr>
          <a:xfrm>
            <a:off x="6647688" y="1325880"/>
            <a:ext cx="2011680" cy="402336"/>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AI-system level</a:t>
            </a:r>
            <a:endParaRPr lang="en-US" sz="1300" dirty="0"/>
          </a:p>
        </p:txBody>
      </p:sp>
      <p:sp>
        <p:nvSpPr>
          <p:cNvPr id="21" name="Text 15"/>
          <p:cNvSpPr txBox="1"/>
          <p:nvPr/>
        </p:nvSpPr>
        <p:spPr>
          <a:xfrm>
            <a:off x="6217920" y="1783080"/>
            <a:ext cx="2423160" cy="2103120"/>
          </a:xfrm>
          <a:prstGeom prst="rect">
            <a:avLst/>
          </a:prstGeom>
          <a:noFill/>
          <a:ln/>
        </p:spPr>
        <p:txBody>
          <a:bodyPr wrap="square" lIns="0" tIns="0" rIns="0" bIns="0" rtlCol="0" anchor="t"/>
          <a:lstStyle/>
          <a:p>
            <a:pPr marL="177800" indent="-177800">
              <a:spcAft>
                <a:spcPts val="300"/>
              </a:spcAft>
              <a:buSzPct val="100000"/>
              <a:buChar char="•"/>
            </a:pPr>
            <a:r>
              <a:rPr lang="en-US" sz="1100" dirty="0">
                <a:solidFill>
                  <a:srgbClr val="222222"/>
                </a:solidFill>
                <a:latin typeface="Calibri" pitchFamily="34" charset="0"/>
                <a:ea typeface="Calibri" pitchFamily="34" charset="-122"/>
                <a:cs typeface="Calibri" pitchFamily="34" charset="-120"/>
              </a:rPr>
              <a:t>Register of AI systems and owners</a:t>
            </a:r>
            <a:endParaRPr lang="en-US" sz="1100" dirty="0"/>
          </a:p>
          <a:p>
            <a:pPr marL="177800" indent="-177800">
              <a:spcAft>
                <a:spcPts val="300"/>
              </a:spcAft>
              <a:buSzPct val="100000"/>
              <a:buChar char="•"/>
            </a:pPr>
            <a:r>
              <a:rPr lang="en-US" sz="1100" dirty="0">
                <a:solidFill>
                  <a:srgbClr val="222222"/>
                </a:solidFill>
                <a:latin typeface="Calibri" pitchFamily="34" charset="0"/>
                <a:ea typeface="Calibri" pitchFamily="34" charset="-122"/>
                <a:cs typeface="Calibri" pitchFamily="34" charset="-120"/>
              </a:rPr>
              <a:t>Risk assessment per use case</a:t>
            </a:r>
            <a:endParaRPr lang="en-US" sz="1100" dirty="0"/>
          </a:p>
          <a:p>
            <a:pPr marL="177800" indent="-177800">
              <a:spcAft>
                <a:spcPts val="300"/>
              </a:spcAft>
              <a:buSzPct val="100000"/>
              <a:buChar char="•"/>
            </a:pPr>
            <a:r>
              <a:rPr lang="en-US" sz="1100" dirty="0">
                <a:solidFill>
                  <a:srgbClr val="222222"/>
                </a:solidFill>
                <a:latin typeface="Calibri" pitchFamily="34" charset="0"/>
                <a:ea typeface="Calibri" pitchFamily="34" charset="-122"/>
                <a:cs typeface="Calibri" pitchFamily="34" charset="-120"/>
              </a:rPr>
              <a:t>Data governance: lineage, catalogue</a:t>
            </a:r>
            <a:endParaRPr lang="en-US" sz="1100" dirty="0"/>
          </a:p>
          <a:p>
            <a:pPr marL="177800" indent="-177800">
              <a:spcAft>
                <a:spcPts val="300"/>
              </a:spcAft>
              <a:buSzPct val="100000"/>
              <a:buChar char="•"/>
            </a:pPr>
            <a:r>
              <a:rPr lang="en-US" sz="1100" dirty="0">
                <a:solidFill>
                  <a:srgbClr val="222222"/>
                </a:solidFill>
                <a:latin typeface="Calibri" pitchFamily="34" charset="0"/>
                <a:ea typeface="Calibri" pitchFamily="34" charset="-122"/>
                <a:cs typeface="Calibri" pitchFamily="34" charset="-120"/>
              </a:rPr>
              <a:t>Model monitoring, bias checks</a:t>
            </a:r>
            <a:endParaRPr lang="en-US" sz="1100" dirty="0"/>
          </a:p>
          <a:p>
            <a:pPr marL="177800" indent="-177800">
              <a:spcAft>
                <a:spcPts val="300"/>
              </a:spcAft>
              <a:buSzPct val="100000"/>
              <a:buChar char="•"/>
            </a:pPr>
            <a:r>
              <a:rPr lang="en-US" sz="1100" dirty="0">
                <a:solidFill>
                  <a:srgbClr val="222222"/>
                </a:solidFill>
                <a:latin typeface="Calibri" pitchFamily="34" charset="0"/>
                <a:ea typeface="Calibri" pitchFamily="34" charset="-122"/>
                <a:cs typeface="Calibri" pitchFamily="34" charset="-120"/>
              </a:rPr>
              <a:t>Accountability: who signs off</a:t>
            </a:r>
            <a:endParaRPr lang="en-US" sz="1100" dirty="0"/>
          </a:p>
        </p:txBody>
      </p:sp>
      <p:sp>
        <p:nvSpPr>
          <p:cNvPr id="22" name="Shape 16"/>
          <p:cNvSpPr/>
          <p:nvPr/>
        </p:nvSpPr>
        <p:spPr>
          <a:xfrm>
            <a:off x="365760" y="4114800"/>
            <a:ext cx="8412480" cy="502920"/>
          </a:xfrm>
          <a:prstGeom prst="roundRect">
            <a:avLst>
              <a:gd name="adj" fmla="val 14545"/>
            </a:avLst>
          </a:prstGeom>
          <a:solidFill>
            <a:srgbClr val="E3F1F2"/>
          </a:solidFill>
          <a:ln w="12700">
            <a:solidFill>
              <a:srgbClr val="E3F1F2"/>
            </a:solidFill>
            <a:prstDash val="solid"/>
          </a:ln>
        </p:spPr>
        <p:txBody>
          <a:bodyPr/>
          <a:lstStyle/>
          <a:p>
            <a:endParaRPr/>
          </a:p>
        </p:txBody>
      </p:sp>
      <p:pic>
        <p:nvPicPr>
          <p:cNvPr id="23" name="Image 3" descr="preencoded.png"/>
          <p:cNvPicPr>
            <a:picLocks noChangeAspect="1"/>
          </p:cNvPicPr>
          <p:nvPr/>
        </p:nvPicPr>
        <p:blipFill>
          <a:blip r:embed="rId6"/>
          <a:stretch>
            <a:fillRect/>
          </a:stretch>
        </p:blipFill>
        <p:spPr>
          <a:xfrm>
            <a:off x="502920" y="4229100"/>
            <a:ext cx="274320" cy="274320"/>
          </a:xfrm>
          <a:prstGeom prst="rect">
            <a:avLst/>
          </a:prstGeom>
        </p:spPr>
      </p:pic>
      <p:sp>
        <p:nvSpPr>
          <p:cNvPr id="24" name="Text 17"/>
          <p:cNvSpPr txBox="1"/>
          <p:nvPr/>
        </p:nvSpPr>
        <p:spPr>
          <a:xfrm>
            <a:off x="896112" y="4114800"/>
            <a:ext cx="7772400" cy="502920"/>
          </a:xfrm>
          <a:prstGeom prst="rect">
            <a:avLst/>
          </a:prstGeom>
          <a:noFill/>
          <a:ln/>
        </p:spPr>
        <p:txBody>
          <a:bodyPr wrap="square" lIns="0" tIns="0" rIns="0" bIns="0" rtlCol="0" anchor="ctr"/>
          <a:lstStyle/>
          <a:p>
            <a:pPr marL="0" indent="0">
              <a:buNone/>
            </a:pPr>
            <a:r>
              <a:rPr lang="en-US" sz="1150" b="1" dirty="0">
                <a:solidFill>
                  <a:srgbClr val="1B2A4A"/>
                </a:solidFill>
                <a:latin typeface="Calibri" pitchFamily="34" charset="0"/>
                <a:ea typeface="Calibri" pitchFamily="34" charset="-122"/>
                <a:cs typeface="Calibri" pitchFamily="34" charset="-120"/>
              </a:rPr>
              <a:t>In the activity you will pick one control per threat, name who owns it, and say how you would detect the threat. Your answers come from these three columns.</a:t>
            </a:r>
            <a:endParaRPr lang="en-US" sz="1150" dirty="0"/>
          </a:p>
        </p:txBody>
      </p:sp>
      <p:pic>
        <p:nvPicPr>
          <p:cNvPr id="25" name="IE University logo" descr="IE University, School of Science &amp; Technology"/>
          <p:cNvPicPr>
            <a:picLocks noChangeAspect="1"/>
          </p:cNvPicPr>
          <p:nvPr/>
        </p:nvPicPr>
        <p:blipFill>
          <a:blip r:embed="rId7"/>
          <a:stretch>
            <a:fillRect/>
          </a:stretch>
        </p:blipFill>
        <p:spPr>
          <a:xfrm>
            <a:off x="8013607" y="92634"/>
            <a:ext cx="764633" cy="262789"/>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marL="0" indent="0">
              <a:buNone/>
            </a:pPr>
            <a:r>
              <a:rPr lang="en-US" sz="800" dirty="0">
                <a:solidFill>
                  <a:srgbClr val="6B7280"/>
                </a:solidFill>
                <a:latin typeface="Calibri" pitchFamily="34" charset="0"/>
                <a:ea typeface="Calibri" pitchFamily="34" charset="-122"/>
                <a:cs typeface="Calibri" pitchFamily="34" charset="-120"/>
              </a:rPr>
              <a:t>MLOps · MBDS-PT2026F · Session 3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marL="0" indent="0" algn="r">
              <a:buNone/>
            </a:pPr>
            <a:r>
              <a:rPr lang="en-US" sz="800" dirty="0">
                <a:solidFill>
                  <a:srgbClr val="6B7280"/>
                </a:solidFill>
                <a:latin typeface="Calibri" pitchFamily="34" charset="0"/>
                <a:ea typeface="Calibri" pitchFamily="34" charset="-122"/>
                <a:cs typeface="Calibri" pitchFamily="34" charset="-120"/>
              </a:rPr>
              <a:t>27</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marL="0" indent="0">
              <a:buNone/>
            </a:pPr>
            <a:r>
              <a:rPr lang="en-US" sz="2400" b="1" dirty="0">
                <a:solidFill>
                  <a:srgbClr val="1B2A4A"/>
                </a:solidFill>
                <a:latin typeface="Calibri" pitchFamily="34" charset="0"/>
                <a:ea typeface="Calibri" pitchFamily="34" charset="-122"/>
                <a:cs typeface="Calibri" pitchFamily="34" charset="-120"/>
              </a:rPr>
              <a:t>Activity · 15 minutes in breakout rooms: a model-risk mitigation blueprint</a:t>
            </a:r>
            <a:endParaRPr lang="en-US" sz="2400" dirty="0"/>
          </a:p>
        </p:txBody>
      </p:sp>
      <p:sp>
        <p:nvSpPr>
          <p:cNvPr id="7" name="Shape 4"/>
          <p:cNvSpPr/>
          <p:nvPr/>
        </p:nvSpPr>
        <p:spPr>
          <a:xfrm>
            <a:off x="365760" y="1234440"/>
            <a:ext cx="4114800" cy="3017520"/>
          </a:xfrm>
          <a:prstGeom prst="roundRect">
            <a:avLst>
              <a:gd name="adj" fmla="val 2424"/>
            </a:avLst>
          </a:prstGeom>
          <a:solidFill>
            <a:srgbClr val="F3F5F8"/>
          </a:solidFill>
          <a:ln w="12700">
            <a:solidFill>
              <a:srgbClr val="F3F5F8"/>
            </a:solidFill>
            <a:prstDash val="solid"/>
          </a:ln>
        </p:spPr>
        <p:txBody>
          <a:bodyPr/>
          <a:lstStyle/>
          <a:p>
            <a:endParaRPr/>
          </a:p>
        </p:txBody>
      </p:sp>
      <p:sp>
        <p:nvSpPr>
          <p:cNvPr id="8" name="Shape 5"/>
          <p:cNvSpPr/>
          <p:nvPr/>
        </p:nvSpPr>
        <p:spPr>
          <a:xfrm>
            <a:off x="502920" y="1353312"/>
            <a:ext cx="347472" cy="347472"/>
          </a:xfrm>
          <a:prstGeom prst="ellipse">
            <a:avLst/>
          </a:prstGeom>
          <a:solidFill>
            <a:srgbClr val="E07A2F"/>
          </a:solidFill>
          <a:ln w="12700">
            <a:solidFill>
              <a:srgbClr val="E07A2F"/>
            </a:solidFill>
            <a:prstDash val="solid"/>
          </a:ln>
        </p:spPr>
        <p:txBody>
          <a:bodyPr/>
          <a:lstStyle/>
          <a:p>
            <a:endParaRPr/>
          </a:p>
        </p:txBody>
      </p:sp>
      <p:pic>
        <p:nvPicPr>
          <p:cNvPr id="9" name="Image 0" descr="preencoded.png"/>
          <p:cNvPicPr>
            <a:picLocks noChangeAspect="1"/>
          </p:cNvPicPr>
          <p:nvPr/>
        </p:nvPicPr>
        <p:blipFill>
          <a:blip r:embed="rId3"/>
          <a:stretch>
            <a:fillRect/>
          </a:stretch>
        </p:blipFill>
        <p:spPr>
          <a:xfrm>
            <a:off x="576072" y="1426464"/>
            <a:ext cx="201168" cy="201168"/>
          </a:xfrm>
          <a:prstGeom prst="rect">
            <a:avLst/>
          </a:prstGeom>
        </p:spPr>
      </p:pic>
      <p:sp>
        <p:nvSpPr>
          <p:cNvPr id="10" name="Text 6"/>
          <p:cNvSpPr txBox="1"/>
          <p:nvPr/>
        </p:nvSpPr>
        <p:spPr>
          <a:xfrm>
            <a:off x="932688" y="1325880"/>
            <a:ext cx="3429000" cy="402336"/>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Your task (15 min)</a:t>
            </a:r>
            <a:endParaRPr lang="en-US" sz="1300" dirty="0"/>
          </a:p>
        </p:txBody>
      </p:sp>
      <p:sp>
        <p:nvSpPr>
          <p:cNvPr id="11" name="Text 7"/>
          <p:cNvSpPr txBox="1"/>
          <p:nvPr/>
        </p:nvSpPr>
        <p:spPr>
          <a:xfrm>
            <a:off x="502920" y="1783080"/>
            <a:ext cx="3840480" cy="2377440"/>
          </a:xfrm>
          <a:prstGeom prst="rect">
            <a:avLst/>
          </a:prstGeom>
          <a:noFill/>
          <a:ln/>
        </p:spPr>
        <p:txBody>
          <a:bodyPr wrap="square" lIns="0" tIns="0" rIns="0" bIns="0" rtlCol="0" anchor="t"/>
          <a:lstStyle/>
          <a:p>
            <a:pPr marL="177800" indent="-177800">
              <a:spcAft>
                <a:spcPts val="300"/>
              </a:spcAft>
              <a:buSzPct val="100000"/>
              <a:buChar char="•"/>
            </a:pPr>
            <a:r>
              <a:rPr lang="en-US" sz="1200" dirty="0">
                <a:solidFill>
                  <a:srgbClr val="222222"/>
                </a:solidFill>
                <a:latin typeface="Calibri" pitchFamily="34" charset="0"/>
                <a:ea typeface="Calibri" pitchFamily="34" charset="-122"/>
                <a:cs typeface="Calibri" pitchFamily="34" charset="-120"/>
              </a:rPr>
              <a:t>Read the one-page case: IberBank card-fraud model, three incidents</a:t>
            </a:r>
            <a:endParaRPr lang="en-US" sz="1200" dirty="0"/>
          </a:p>
          <a:p>
            <a:pPr marL="177800" indent="-177800">
              <a:spcAft>
                <a:spcPts val="300"/>
              </a:spcAft>
              <a:buSzPct val="100000"/>
              <a:buChar char="•"/>
            </a:pPr>
            <a:r>
              <a:rPr lang="en-US" sz="1200" dirty="0">
                <a:solidFill>
                  <a:srgbClr val="222222"/>
                </a:solidFill>
                <a:latin typeface="Calibri" pitchFamily="34" charset="0"/>
                <a:ea typeface="Calibri" pitchFamily="34" charset="-122"/>
                <a:cs typeface="Calibri" pitchFamily="34" charset="-120"/>
              </a:rPr>
              <a:t>For each incident, fill a row of the blueprint: threat · lifecycle stage · one control · who owns it · how you would detect it</a:t>
            </a:r>
            <a:endParaRPr lang="en-US" sz="1200" dirty="0"/>
          </a:p>
          <a:p>
            <a:pPr marL="177800" indent="-177800">
              <a:spcAft>
                <a:spcPts val="300"/>
              </a:spcAft>
              <a:buSzPct val="100000"/>
              <a:buChar char="•"/>
            </a:pPr>
            <a:r>
              <a:rPr lang="en-US" sz="1200" dirty="0">
                <a:solidFill>
                  <a:srgbClr val="222222"/>
                </a:solidFill>
                <a:latin typeface="Calibri" pitchFamily="34" charset="0"/>
                <a:ea typeface="Calibri" pitchFamily="34" charset="-122"/>
                <a:cs typeface="Calibri" pitchFamily="34" charset="-120"/>
              </a:rPr>
              <a:t>Bonus: which incident would a regulator care about most, and why?</a:t>
            </a:r>
            <a:endParaRPr lang="en-US" sz="1200" dirty="0"/>
          </a:p>
        </p:txBody>
      </p:sp>
      <p:sp>
        <p:nvSpPr>
          <p:cNvPr id="12" name="Shape 8"/>
          <p:cNvSpPr/>
          <p:nvPr/>
        </p:nvSpPr>
        <p:spPr>
          <a:xfrm>
            <a:off x="4663440" y="1234440"/>
            <a:ext cx="4114800" cy="3017520"/>
          </a:xfrm>
          <a:prstGeom prst="roundRect">
            <a:avLst>
              <a:gd name="adj" fmla="val 2424"/>
            </a:avLst>
          </a:prstGeom>
          <a:solidFill>
            <a:srgbClr val="F3F5F8"/>
          </a:solidFill>
          <a:ln w="12700">
            <a:solidFill>
              <a:srgbClr val="F3F5F8"/>
            </a:solidFill>
            <a:prstDash val="solid"/>
          </a:ln>
        </p:spPr>
        <p:txBody>
          <a:bodyPr/>
          <a:lstStyle/>
          <a:p>
            <a:endParaRPr/>
          </a:p>
        </p:txBody>
      </p:sp>
      <p:sp>
        <p:nvSpPr>
          <p:cNvPr id="13" name="Shape 9"/>
          <p:cNvSpPr/>
          <p:nvPr/>
        </p:nvSpPr>
        <p:spPr>
          <a:xfrm>
            <a:off x="4800600" y="1353312"/>
            <a:ext cx="347472" cy="347472"/>
          </a:xfrm>
          <a:prstGeom prst="ellipse">
            <a:avLst/>
          </a:prstGeom>
          <a:solidFill>
            <a:srgbClr val="0E7C86"/>
          </a:solidFill>
          <a:ln w="12700">
            <a:solidFill>
              <a:srgbClr val="0E7C86"/>
            </a:solidFill>
            <a:prstDash val="solid"/>
          </a:ln>
        </p:spPr>
        <p:txBody>
          <a:bodyPr/>
          <a:lstStyle/>
          <a:p>
            <a:endParaRPr/>
          </a:p>
        </p:txBody>
      </p:sp>
      <p:pic>
        <p:nvPicPr>
          <p:cNvPr id="14" name="Image 1" descr="preencoded.png"/>
          <p:cNvPicPr>
            <a:picLocks noChangeAspect="1"/>
          </p:cNvPicPr>
          <p:nvPr/>
        </p:nvPicPr>
        <p:blipFill>
          <a:blip r:embed="rId4"/>
          <a:stretch>
            <a:fillRect/>
          </a:stretch>
        </p:blipFill>
        <p:spPr>
          <a:xfrm>
            <a:off x="4873752" y="1426464"/>
            <a:ext cx="201168" cy="201168"/>
          </a:xfrm>
          <a:prstGeom prst="rect">
            <a:avLst/>
          </a:prstGeom>
        </p:spPr>
      </p:pic>
      <p:sp>
        <p:nvSpPr>
          <p:cNvPr id="15" name="Text 10"/>
          <p:cNvSpPr txBox="1"/>
          <p:nvPr/>
        </p:nvSpPr>
        <p:spPr>
          <a:xfrm>
            <a:off x="5230368" y="1325880"/>
            <a:ext cx="3429000" cy="402336"/>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How to work</a:t>
            </a:r>
            <a:endParaRPr lang="en-US" sz="1300" dirty="0"/>
          </a:p>
        </p:txBody>
      </p:sp>
      <p:sp>
        <p:nvSpPr>
          <p:cNvPr id="16" name="Text 11"/>
          <p:cNvSpPr txBox="1"/>
          <p:nvPr/>
        </p:nvSpPr>
        <p:spPr>
          <a:xfrm>
            <a:off x="4800600" y="1783080"/>
            <a:ext cx="3840480" cy="2377440"/>
          </a:xfrm>
          <a:prstGeom prst="rect">
            <a:avLst/>
          </a:prstGeom>
          <a:noFill/>
          <a:ln/>
        </p:spPr>
        <p:txBody>
          <a:bodyPr wrap="square" lIns="0" tIns="0" rIns="0" bIns="0" rtlCol="0" anchor="t"/>
          <a:lstStyle/>
          <a:p>
            <a:pPr marL="177800" indent="-177800">
              <a:spcAft>
                <a:spcPts val="300"/>
              </a:spcAft>
              <a:buSzPct val="100000"/>
              <a:buChar char="•"/>
            </a:pPr>
            <a:r>
              <a:rPr lang="en-US" sz="1200" dirty="0">
                <a:solidFill>
                  <a:srgbClr val="222222"/>
                </a:solidFill>
                <a:latin typeface="Calibri" pitchFamily="34" charset="0"/>
                <a:ea typeface="Calibri" pitchFamily="34" charset="-122"/>
                <a:cs typeface="Calibri" pitchFamily="34" charset="-120"/>
              </a:rPr>
              <a:t>Rooms of 4–5: your project team</a:t>
            </a:r>
            <a:endParaRPr lang="en-US" sz="1200" dirty="0"/>
          </a:p>
          <a:p>
            <a:pPr marL="177800" indent="-177800">
              <a:spcAft>
                <a:spcPts val="300"/>
              </a:spcAft>
              <a:buSzPct val="100000"/>
              <a:buChar char="•"/>
            </a:pPr>
            <a:r>
              <a:rPr lang="en-US" sz="1200" dirty="0">
                <a:solidFill>
                  <a:srgbClr val="222222"/>
                </a:solidFill>
                <a:latin typeface="Calibri" pitchFamily="34" charset="0"/>
                <a:ea typeface="Calibri" pitchFamily="34" charset="-122"/>
                <a:cs typeface="Calibri" pitchFamily="34" charset="-120"/>
              </a:rPr>
              <a:t>Blueprint template on campus (or a whiteboard)</a:t>
            </a:r>
            <a:endParaRPr lang="en-US" sz="1200" dirty="0"/>
          </a:p>
          <a:p>
            <a:pPr marL="177800" indent="-177800">
              <a:spcAft>
                <a:spcPts val="300"/>
              </a:spcAft>
              <a:buSzPct val="100000"/>
              <a:buChar char="•"/>
            </a:pPr>
            <a:r>
              <a:rPr lang="en-US" sz="1200" dirty="0">
                <a:solidFill>
                  <a:srgbClr val="222222"/>
                </a:solidFill>
                <a:latin typeface="Calibri" pitchFamily="34" charset="0"/>
                <a:ea typeface="Calibri" pitchFamily="34" charset="-122"/>
                <a:cs typeface="Calibri" pitchFamily="34" charset="-120"/>
              </a:rPr>
              <a:t>Use today's vocabulary: the nine steps, the three checks, the three environments, the three control families</a:t>
            </a:r>
            <a:endParaRPr lang="en-US" sz="1200" dirty="0"/>
          </a:p>
          <a:p>
            <a:pPr marL="177800" indent="-177800">
              <a:spcAft>
                <a:spcPts val="300"/>
              </a:spcAft>
              <a:buSzPct val="100000"/>
              <a:buChar char="•"/>
            </a:pPr>
            <a:r>
              <a:rPr lang="en-US" sz="1200" dirty="0">
                <a:solidFill>
                  <a:srgbClr val="222222"/>
                </a:solidFill>
                <a:latin typeface="Calibri" pitchFamily="34" charset="0"/>
                <a:ea typeface="Calibri" pitchFamily="34" charset="-122"/>
                <a:cs typeface="Calibri" pitchFamily="34" charset="-120"/>
              </a:rPr>
              <a:t>Nominate a spokesperson: 2 minutes</a:t>
            </a:r>
            <a:endParaRPr lang="en-US" sz="1200" dirty="0"/>
          </a:p>
        </p:txBody>
      </p:sp>
      <p:sp>
        <p:nvSpPr>
          <p:cNvPr id="17" name="Shape 12"/>
          <p:cNvSpPr/>
          <p:nvPr/>
        </p:nvSpPr>
        <p:spPr>
          <a:xfrm>
            <a:off x="365760" y="4389120"/>
            <a:ext cx="8412480" cy="365760"/>
          </a:xfrm>
          <a:prstGeom prst="roundRect">
            <a:avLst>
              <a:gd name="adj" fmla="val 20000"/>
            </a:avLst>
          </a:prstGeom>
          <a:solidFill>
            <a:srgbClr val="E3F1F2"/>
          </a:solidFill>
          <a:ln w="12700">
            <a:solidFill>
              <a:srgbClr val="E3F1F2"/>
            </a:solidFill>
            <a:prstDash val="solid"/>
          </a:ln>
        </p:spPr>
        <p:txBody>
          <a:bodyPr/>
          <a:lstStyle/>
          <a:p>
            <a:endParaRPr/>
          </a:p>
        </p:txBody>
      </p:sp>
      <p:pic>
        <p:nvPicPr>
          <p:cNvPr id="18" name="Image 2" descr="preencoded.png"/>
          <p:cNvPicPr>
            <a:picLocks noChangeAspect="1"/>
          </p:cNvPicPr>
          <p:nvPr/>
        </p:nvPicPr>
        <p:blipFill>
          <a:blip r:embed="rId5"/>
          <a:stretch>
            <a:fillRect/>
          </a:stretch>
        </p:blipFill>
        <p:spPr>
          <a:xfrm>
            <a:off x="502920" y="4434840"/>
            <a:ext cx="274320" cy="274320"/>
          </a:xfrm>
          <a:prstGeom prst="rect">
            <a:avLst/>
          </a:prstGeom>
        </p:spPr>
      </p:pic>
      <p:sp>
        <p:nvSpPr>
          <p:cNvPr id="19" name="Text 13"/>
          <p:cNvSpPr txBox="1"/>
          <p:nvPr/>
        </p:nvSpPr>
        <p:spPr>
          <a:xfrm>
            <a:off x="896112" y="4389120"/>
            <a:ext cx="7772400" cy="365760"/>
          </a:xfrm>
          <a:prstGeom prst="rect">
            <a:avLst/>
          </a:prstGeom>
          <a:noFill/>
          <a:ln/>
        </p:spPr>
        <p:txBody>
          <a:bodyPr wrap="square" lIns="0" tIns="0" rIns="0" bIns="0" rtlCol="0" anchor="ctr"/>
          <a:lstStyle/>
          <a:p>
            <a:pPr marL="0" indent="0">
              <a:buNone/>
            </a:pPr>
            <a:r>
              <a:rPr lang="en-US" sz="1150" dirty="0">
                <a:solidFill>
                  <a:srgbClr val="1B2A4A"/>
                </a:solidFill>
                <a:latin typeface="Calibri" pitchFamily="34" charset="0"/>
                <a:ea typeface="Calibri" pitchFamily="34" charset="-122"/>
                <a:cs typeface="Calibri" pitchFamily="34" charset="-120"/>
              </a:rPr>
              <a:t>Output per room: one slide or whiteboard. Three rooms present in the debrief; everyone posts theirs on the forum.</a:t>
            </a:r>
            <a:endParaRPr lang="en-US" sz="1150" dirty="0"/>
          </a:p>
        </p:txBody>
      </p:sp>
      <p:pic>
        <p:nvPicPr>
          <p:cNvPr id="20" name="IE University logo" descr="IE University, School of Science &amp; Technology"/>
          <p:cNvPicPr>
            <a:picLocks noChangeAspect="1"/>
          </p:cNvPicPr>
          <p:nvPr/>
        </p:nvPicPr>
        <p:blipFill>
          <a:blip r:embed="rId6"/>
          <a:stretch>
            <a:fillRect/>
          </a:stretch>
        </p:blipFill>
        <p:spPr>
          <a:xfrm>
            <a:off x="8013607" y="92634"/>
            <a:ext cx="764633" cy="262789"/>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marL="0" indent="0">
              <a:buNone/>
            </a:pPr>
            <a:r>
              <a:rPr lang="en-US" sz="800" dirty="0">
                <a:solidFill>
                  <a:srgbClr val="6B7280"/>
                </a:solidFill>
                <a:latin typeface="Calibri" pitchFamily="34" charset="0"/>
                <a:ea typeface="Calibri" pitchFamily="34" charset="-122"/>
                <a:cs typeface="Calibri" pitchFamily="34" charset="-120"/>
              </a:rPr>
              <a:t>MLOps · MBDS-PT2026F · Session 3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marL="0" indent="0" algn="r">
              <a:buNone/>
            </a:pPr>
            <a:r>
              <a:rPr lang="en-US" sz="800" dirty="0">
                <a:solidFill>
                  <a:srgbClr val="6B7280"/>
                </a:solidFill>
                <a:latin typeface="Calibri" pitchFamily="34" charset="0"/>
                <a:ea typeface="Calibri" pitchFamily="34" charset="-122"/>
                <a:cs typeface="Calibri" pitchFamily="34" charset="-120"/>
              </a:rPr>
              <a:t>28</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marL="0" indent="0">
              <a:buNone/>
            </a:pPr>
            <a:r>
              <a:rPr lang="en-US" sz="2400" b="1" dirty="0">
                <a:solidFill>
                  <a:srgbClr val="1B2A4A"/>
                </a:solidFill>
                <a:latin typeface="Calibri" pitchFamily="34" charset="0"/>
                <a:ea typeface="Calibri" pitchFamily="34" charset="-122"/>
                <a:cs typeface="Calibri" pitchFamily="34" charset="-120"/>
              </a:rPr>
              <a:t>The case: IberBank card-fraud model (facts only)</a:t>
            </a:r>
            <a:endParaRPr lang="en-US" sz="2400" dirty="0"/>
          </a:p>
        </p:txBody>
      </p:sp>
      <p:sp>
        <p:nvSpPr>
          <p:cNvPr id="7" name="Text 4"/>
          <p:cNvSpPr txBox="1"/>
          <p:nvPr/>
        </p:nvSpPr>
        <p:spPr>
          <a:xfrm>
            <a:off x="365760" y="1234440"/>
            <a:ext cx="5669280" cy="3383280"/>
          </a:xfrm>
          <a:prstGeom prst="rect">
            <a:avLst/>
          </a:prstGeom>
          <a:noFill/>
          <a:ln/>
        </p:spPr>
        <p:txBody>
          <a:bodyPr wrap="square" lIns="0" tIns="0" rIns="0" bIns="0" rtlCol="0" anchor="t"/>
          <a:lstStyle/>
          <a:p>
            <a:pPr marL="177800" indent="-177800">
              <a:spcAft>
                <a:spcPts val="600"/>
              </a:spcAft>
              <a:buSzPct val="100000"/>
              <a:buChar char="•"/>
            </a:pPr>
            <a:r>
              <a:rPr lang="en-US" sz="1050" dirty="0">
                <a:solidFill>
                  <a:srgbClr val="222222"/>
                </a:solidFill>
                <a:latin typeface="Calibri" pitchFamily="34" charset="0"/>
                <a:ea typeface="Calibri" pitchFamily="34" charset="-122"/>
                <a:cs typeface="Calibri" pitchFamily="34" charset="-120"/>
              </a:rPr>
              <a:t>The model scores every card transaction in real time (about 40 million a month) and must answer in under 150 ms. Above a threshold, the transaction is blocked. Three channels use it: point of sale, e-commerce, ATM.</a:t>
            </a:r>
            <a:endParaRPr lang="en-US" sz="1050" dirty="0"/>
          </a:p>
          <a:p>
            <a:pPr marL="177800" indent="-177800">
              <a:spcAft>
                <a:spcPts val="600"/>
              </a:spcAft>
              <a:buSzPct val="100000"/>
              <a:buChar char="•"/>
            </a:pPr>
            <a:r>
              <a:rPr lang="en-US" sz="1050" dirty="0">
                <a:solidFill>
                  <a:srgbClr val="222222"/>
                </a:solidFill>
                <a:latin typeface="Calibri" pitchFamily="34" charset="0"/>
                <a:ea typeface="Calibri" pitchFamily="34" charset="-122"/>
                <a:cs typeface="Calibri" pitchFamily="34" charset="-120"/>
              </a:rPr>
              <a:t>Features: the transaction (amount, merchant type, country), the customer profile from the warehouse (loaded nightly), and "velocity" features from a streaming system (spend in the last hour).</a:t>
            </a:r>
            <a:endParaRPr lang="en-US" sz="1050" dirty="0"/>
          </a:p>
          <a:p>
            <a:pPr marL="177800" indent="-177800">
              <a:spcAft>
                <a:spcPts val="600"/>
              </a:spcAft>
              <a:buSzPct val="100000"/>
              <a:buChar char="•"/>
            </a:pPr>
            <a:r>
              <a:rPr lang="en-US" sz="1050" dirty="0">
                <a:solidFill>
                  <a:srgbClr val="222222"/>
                </a:solidFill>
                <a:latin typeface="Calibri" pitchFamily="34" charset="0"/>
                <a:ea typeface="Calibri" pitchFamily="34" charset="-122"/>
                <a:cs typeface="Calibri" pitchFamily="34" charset="-120"/>
              </a:rPr>
              <a:t>Retrained quarterly by the data-science team on confirmed fraud cases. The fraud team labels about 2,000 cases a month; chargebacks arrive up to 60 days late.</a:t>
            </a:r>
            <a:endParaRPr lang="en-US" sz="1050" dirty="0"/>
          </a:p>
          <a:p>
            <a:pPr marL="177800" indent="-177800">
              <a:spcAft>
                <a:spcPts val="600"/>
              </a:spcAft>
              <a:buSzPct val="100000"/>
              <a:buChar char="•"/>
            </a:pPr>
            <a:r>
              <a:rPr lang="en-US" sz="1050" dirty="0">
                <a:solidFill>
                  <a:srgbClr val="222222"/>
                </a:solidFill>
                <a:latin typeface="Calibri" pitchFamily="34" charset="0"/>
                <a:ea typeface="Calibri" pitchFamily="34" charset="-122"/>
                <a:cs typeface="Calibri" pitchFamily="34" charset="-120"/>
              </a:rPr>
              <a:t>Incident 1 (March): a data vendor changed the unit of "amount" from euros to cents for a subset of merchants. For three days, thousands of legitimate purchases were blocked.</a:t>
            </a:r>
            <a:endParaRPr lang="en-US" sz="1050" dirty="0"/>
          </a:p>
          <a:p>
            <a:pPr marL="177800" indent="-177800">
              <a:spcAft>
                <a:spcPts val="600"/>
              </a:spcAft>
              <a:buSzPct val="100000"/>
              <a:buChar char="•"/>
            </a:pPr>
            <a:r>
              <a:rPr lang="en-US" sz="1050" dirty="0">
                <a:solidFill>
                  <a:srgbClr val="222222"/>
                </a:solidFill>
                <a:latin typeface="Calibri" pitchFamily="34" charset="0"/>
                <a:ea typeface="Calibri" pitchFamily="34" charset="-122"/>
                <a:cs typeface="Calibri" pitchFamily="34" charset="-120"/>
              </a:rPr>
              <a:t>Incident 2 (June): a fraud ring found that purchases just under €30 at grocery merchants were never blocked, and cycled 1,200 stolen cards through them over two weeks.</a:t>
            </a:r>
            <a:endParaRPr lang="en-US" sz="1050" dirty="0"/>
          </a:p>
          <a:p>
            <a:pPr marL="177800" indent="-177800">
              <a:spcAft>
                <a:spcPts val="600"/>
              </a:spcAft>
              <a:buSzPct val="100000"/>
              <a:buChar char="•"/>
            </a:pPr>
            <a:r>
              <a:rPr lang="en-US" sz="1050" dirty="0">
                <a:solidFill>
                  <a:srgbClr val="222222"/>
                </a:solidFill>
                <a:latin typeface="Calibri" pitchFamily="34" charset="0"/>
                <a:ea typeface="Calibri" pitchFamily="34" charset="-122"/>
                <a:cs typeface="Calibri" pitchFamily="34" charset="-120"/>
              </a:rPr>
              <a:t>Incident 3 (September): a "hotfix" to the threshold was pushed on a Friday evening from a data scientist's laptop straight to production, skipping QA. It also changed a feature calculation; false positives doubled over the weekend.</a:t>
            </a:r>
            <a:endParaRPr lang="en-US" sz="1050" dirty="0"/>
          </a:p>
        </p:txBody>
      </p:sp>
      <p:sp>
        <p:nvSpPr>
          <p:cNvPr id="8" name="Shape 5"/>
          <p:cNvSpPr/>
          <p:nvPr/>
        </p:nvSpPr>
        <p:spPr>
          <a:xfrm>
            <a:off x="6309360" y="1234440"/>
            <a:ext cx="2468880" cy="3291840"/>
          </a:xfrm>
          <a:prstGeom prst="roundRect">
            <a:avLst>
              <a:gd name="adj" fmla="val 2963"/>
            </a:avLst>
          </a:prstGeom>
          <a:solidFill>
            <a:srgbClr val="F3F5F8"/>
          </a:solidFill>
          <a:ln w="12700">
            <a:solidFill>
              <a:srgbClr val="F3F5F8"/>
            </a:solidFill>
            <a:prstDash val="solid"/>
          </a:ln>
        </p:spPr>
        <p:txBody>
          <a:bodyPr/>
          <a:lstStyle/>
          <a:p>
            <a:endParaRPr/>
          </a:p>
        </p:txBody>
      </p:sp>
      <p:sp>
        <p:nvSpPr>
          <p:cNvPr id="9" name="Text 6"/>
          <p:cNvSpPr txBox="1"/>
          <p:nvPr/>
        </p:nvSpPr>
        <p:spPr>
          <a:xfrm>
            <a:off x="6446520" y="1325880"/>
            <a:ext cx="2194560" cy="320040"/>
          </a:xfrm>
          <a:prstGeom prst="rect">
            <a:avLst/>
          </a:prstGeom>
          <a:noFill/>
          <a:ln/>
        </p:spPr>
        <p:txBody>
          <a:bodyPr wrap="square" lIns="0" tIns="0" rIns="0" bIns="0" rtlCol="0" anchor="ctr"/>
          <a:lstStyle/>
          <a:p>
            <a:pPr marL="0" indent="0">
              <a:buNone/>
            </a:pPr>
            <a:r>
              <a:rPr lang="en-US" sz="1250" b="1" dirty="0">
                <a:solidFill>
                  <a:srgbClr val="1B2A4A"/>
                </a:solidFill>
                <a:latin typeface="Calibri" pitchFamily="34" charset="0"/>
                <a:ea typeface="Calibri" pitchFamily="34" charset="-122"/>
                <a:cs typeface="Calibri" pitchFamily="34" charset="-120"/>
              </a:rPr>
              <a:t>Blueprint template</a:t>
            </a:r>
            <a:endParaRPr lang="en-US" sz="1250" dirty="0"/>
          </a:p>
        </p:txBody>
      </p:sp>
      <p:sp>
        <p:nvSpPr>
          <p:cNvPr id="10" name="Text 7"/>
          <p:cNvSpPr txBox="1"/>
          <p:nvPr/>
        </p:nvSpPr>
        <p:spPr>
          <a:xfrm>
            <a:off x="6446520" y="1737360"/>
            <a:ext cx="2194560" cy="2743200"/>
          </a:xfrm>
          <a:prstGeom prst="rect">
            <a:avLst/>
          </a:prstGeom>
          <a:noFill/>
          <a:ln/>
        </p:spPr>
        <p:txBody>
          <a:bodyPr wrap="square" lIns="0" tIns="0" rIns="0" bIns="0" rtlCol="0" anchor="t"/>
          <a:lstStyle/>
          <a:p>
            <a:pPr marL="177800" indent="-177800">
              <a:spcAft>
                <a:spcPts val="500"/>
              </a:spcAft>
              <a:buSzPct val="100000"/>
              <a:buChar char="•"/>
            </a:pPr>
            <a:r>
              <a:rPr lang="en-US" sz="1100" dirty="0">
                <a:solidFill>
                  <a:srgbClr val="222222"/>
                </a:solidFill>
                <a:latin typeface="Calibri" pitchFamily="34" charset="0"/>
                <a:ea typeface="Calibri" pitchFamily="34" charset="-122"/>
                <a:cs typeface="Calibri" pitchFamily="34" charset="-120"/>
              </a:rPr>
              <a:t>Threat (3 rows)</a:t>
            </a:r>
            <a:endParaRPr lang="en-US" sz="1100" dirty="0"/>
          </a:p>
          <a:p>
            <a:pPr marL="177800" indent="-177800">
              <a:spcAft>
                <a:spcPts val="500"/>
              </a:spcAft>
              <a:buSzPct val="100000"/>
              <a:buChar char="•"/>
            </a:pPr>
            <a:r>
              <a:rPr lang="en-US" sz="1100" dirty="0">
                <a:solidFill>
                  <a:srgbClr val="222222"/>
                </a:solidFill>
                <a:latin typeface="Calibri" pitchFamily="34" charset="0"/>
                <a:ea typeface="Calibri" pitchFamily="34" charset="-122"/>
                <a:cs typeface="Calibri" pitchFamily="34" charset="-120"/>
              </a:rPr>
              <a:t>Lifecycle stage where it enters</a:t>
            </a:r>
            <a:endParaRPr lang="en-US" sz="1100" dirty="0"/>
          </a:p>
          <a:p>
            <a:pPr marL="177800" indent="-177800">
              <a:spcAft>
                <a:spcPts val="500"/>
              </a:spcAft>
              <a:buSzPct val="100000"/>
              <a:buChar char="•"/>
            </a:pPr>
            <a:r>
              <a:rPr lang="en-US" sz="1100" dirty="0">
                <a:solidFill>
                  <a:srgbClr val="222222"/>
                </a:solidFill>
                <a:latin typeface="Calibri" pitchFamily="34" charset="0"/>
                <a:ea typeface="Calibri" pitchFamily="34" charset="-122"/>
                <a:cs typeface="Calibri" pitchFamily="34" charset="-120"/>
              </a:rPr>
              <a:t>One control</a:t>
            </a:r>
            <a:endParaRPr lang="en-US" sz="1100" dirty="0"/>
          </a:p>
          <a:p>
            <a:pPr marL="177800" indent="-177800">
              <a:spcAft>
                <a:spcPts val="500"/>
              </a:spcAft>
              <a:buSzPct val="100000"/>
              <a:buChar char="•"/>
            </a:pPr>
            <a:r>
              <a:rPr lang="en-US" sz="1100" dirty="0">
                <a:solidFill>
                  <a:srgbClr val="222222"/>
                </a:solidFill>
                <a:latin typeface="Calibri" pitchFamily="34" charset="0"/>
                <a:ea typeface="Calibri" pitchFamily="34" charset="-122"/>
                <a:cs typeface="Calibri" pitchFamily="34" charset="-120"/>
              </a:rPr>
              <a:t>Who owns the control</a:t>
            </a:r>
            <a:endParaRPr lang="en-US" sz="1100" dirty="0"/>
          </a:p>
          <a:p>
            <a:pPr marL="177800" indent="-177800">
              <a:spcAft>
                <a:spcPts val="500"/>
              </a:spcAft>
              <a:buSzPct val="100000"/>
              <a:buChar char="•"/>
            </a:pPr>
            <a:r>
              <a:rPr lang="en-US" sz="1100" dirty="0">
                <a:solidFill>
                  <a:srgbClr val="222222"/>
                </a:solidFill>
                <a:latin typeface="Calibri" pitchFamily="34" charset="0"/>
                <a:ea typeface="Calibri" pitchFamily="34" charset="-122"/>
                <a:cs typeface="Calibri" pitchFamily="34" charset="-120"/>
              </a:rPr>
              <a:t>How you would detect it: which lineage or monitoring signal</a:t>
            </a:r>
            <a:endParaRPr lang="en-US" sz="1100" dirty="0"/>
          </a:p>
          <a:p>
            <a:pPr marL="177800" indent="-177800">
              <a:spcAft>
                <a:spcPts val="500"/>
              </a:spcAft>
              <a:buSzPct val="100000"/>
              <a:buChar char="•"/>
            </a:pPr>
            <a:r>
              <a:rPr lang="en-US" sz="1100" dirty="0">
                <a:solidFill>
                  <a:srgbClr val="222222"/>
                </a:solidFill>
                <a:latin typeface="Calibri" pitchFamily="34" charset="0"/>
                <a:ea typeface="Calibri" pitchFamily="34" charset="-122"/>
                <a:cs typeface="Calibri" pitchFamily="34" charset="-120"/>
              </a:rPr>
              <a:t>Bonus: the regulator's view</a:t>
            </a:r>
            <a:endParaRPr lang="en-US" sz="1100" dirty="0"/>
          </a:p>
        </p:txBody>
      </p:sp>
      <p:pic>
        <p:nvPicPr>
          <p:cNvPr id="11" name="IE University logo" descr="IE University, School of Science &amp; Technology"/>
          <p:cNvPicPr>
            <a:picLocks noChangeAspect="1"/>
          </p:cNvPicPr>
          <p:nvPr/>
        </p:nvPicPr>
        <p:blipFill>
          <a:blip r:embed="rId3"/>
          <a:stretch>
            <a:fillRect/>
          </a:stretch>
        </p:blipFill>
        <p:spPr>
          <a:xfrm>
            <a:off x="8013607" y="92634"/>
            <a:ext cx="764633" cy="262789"/>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marL="0" indent="0">
              <a:buNone/>
            </a:pPr>
            <a:r>
              <a:rPr lang="en-US" sz="800" dirty="0">
                <a:solidFill>
                  <a:srgbClr val="6B7280"/>
                </a:solidFill>
                <a:latin typeface="Calibri" pitchFamily="34" charset="0"/>
                <a:ea typeface="Calibri" pitchFamily="34" charset="-122"/>
                <a:cs typeface="Calibri" pitchFamily="34" charset="-120"/>
              </a:rPr>
              <a:t>MLOps · MBDS-PT2026F · Session 3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marL="0" indent="0" algn="r">
              <a:buNone/>
            </a:pPr>
            <a:r>
              <a:rPr lang="en-US" sz="800" dirty="0">
                <a:solidFill>
                  <a:srgbClr val="6B7280"/>
                </a:solidFill>
                <a:latin typeface="Calibri" pitchFamily="34" charset="0"/>
                <a:ea typeface="Calibri" pitchFamily="34" charset="-122"/>
                <a:cs typeface="Calibri" pitchFamily="34" charset="-120"/>
              </a:rPr>
              <a:t>29</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marL="0" indent="0">
              <a:buNone/>
            </a:pPr>
            <a:r>
              <a:rPr lang="en-US" sz="2400" b="1" dirty="0">
                <a:solidFill>
                  <a:srgbClr val="1B2A4A"/>
                </a:solidFill>
                <a:latin typeface="Calibri" pitchFamily="34" charset="0"/>
                <a:ea typeface="Calibri" pitchFamily="34" charset="-122"/>
                <a:cs typeface="Calibri" pitchFamily="34" charset="-120"/>
              </a:rPr>
              <a:t>Debrief: what we heard, and what it tells us</a:t>
            </a:r>
            <a:endParaRPr lang="en-US" sz="24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365760" y="1234440"/>
          <a:ext cx="8412480" cy="2194560"/>
        </p:xfrm>
        <a:graphic>
          <a:graphicData uri="http://schemas.openxmlformats.org/drawingml/2006/table">
            <a:tbl>
              <a:tblPr/>
              <a:tblGrid>
                <a:gridCol w="155448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tblGrid>
              <a:tr h="548640">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Incident</a:t>
                      </a:r>
                      <a:endParaRPr lang="en-US" sz="1000" dirty="0">
                        <a:latin typeface="Calibri" charset="0"/>
                        <a:ea typeface="Calibri" charset="0"/>
                        <a:cs typeface="Calibri" charset="0"/>
                      </a:endParaRPr>
                    </a:p>
                  </a:txBody>
                  <a:tcPr marL="45720" marR="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Enters at</a:t>
                      </a:r>
                      <a:endParaRPr lang="en-US" sz="1000" dirty="0">
                        <a:latin typeface="Calibri" charset="0"/>
                        <a:ea typeface="Calibri" charset="0"/>
                        <a:cs typeface="Calibri" charset="0"/>
                      </a:endParaRPr>
                    </a:p>
                  </a:txBody>
                  <a:tcPr marL="45720" marR="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Control</a:t>
                      </a:r>
                      <a:endParaRPr lang="en-US" sz="1000" dirty="0">
                        <a:latin typeface="Calibri" charset="0"/>
                        <a:ea typeface="Calibri" charset="0"/>
                        <a:cs typeface="Calibri" charset="0"/>
                      </a:endParaRPr>
                    </a:p>
                  </a:txBody>
                  <a:tcPr marL="45720" marR="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Owner</a:t>
                      </a:r>
                      <a:endParaRPr lang="en-US" sz="1000" dirty="0">
                        <a:latin typeface="Calibri" charset="0"/>
                        <a:ea typeface="Calibri" charset="0"/>
                        <a:cs typeface="Calibri" charset="0"/>
                      </a:endParaRPr>
                    </a:p>
                  </a:txBody>
                  <a:tcPr marL="45720" marR="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Detected by</a:t>
                      </a:r>
                      <a:endParaRPr lang="en-US" sz="1000" dirty="0">
                        <a:latin typeface="Calibri" charset="0"/>
                        <a:ea typeface="Calibri" charset="0"/>
                        <a:cs typeface="Calibri" charset="0"/>
                      </a:endParaRPr>
                    </a:p>
                  </a:txBody>
                  <a:tcPr marL="45720" marR="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548640">
                <a:tc>
                  <a:txBody>
                    <a:bodyPr/>
                    <a:lstStyle/>
                    <a:p>
                      <a:pPr marL="0" indent="0" algn="l">
                        <a:buNone/>
                      </a:pPr>
                      <a:r>
                        <a:rPr lang="en-US" sz="1000" b="1" dirty="0">
                          <a:solidFill>
                            <a:srgbClr val="222222"/>
                          </a:solidFill>
                          <a:latin typeface="Calibri" pitchFamily="34" charset="0"/>
                          <a:ea typeface="Calibri" pitchFamily="34" charset="-122"/>
                          <a:cs typeface="Calibri" pitchFamily="34" charset="-120"/>
                        </a:rPr>
                        <a:t>1 · Vendor changed units</a:t>
                      </a:r>
                      <a:endParaRPr lang="en-US" sz="1000" dirty="0">
                        <a:latin typeface="Calibri" charset="0"/>
                        <a:ea typeface="Calibri" charset="0"/>
                        <a:cs typeface="Calibri" charset="0"/>
                      </a:endParaRPr>
                    </a:p>
                  </a:txBody>
                  <a:tcPr marL="45720" marR="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marL="0" indent="0" algn="l">
                        <a:buNone/>
                      </a:pPr>
                      <a:r>
                        <a:rPr lang="en-US" sz="1000" dirty="0">
                          <a:solidFill>
                            <a:srgbClr val="222222"/>
                          </a:solidFill>
                          <a:latin typeface="Calibri" pitchFamily="34" charset="0"/>
                          <a:ea typeface="Calibri" pitchFamily="34" charset="-122"/>
                          <a:cs typeface="Calibri" pitchFamily="34" charset="-120"/>
                        </a:rPr>
                        <a:t>Ingestion / validation</a:t>
                      </a:r>
                      <a:endParaRPr lang="en-US" sz="1000" dirty="0">
                        <a:latin typeface="Calibri" charset="0"/>
                        <a:ea typeface="Calibri" charset="0"/>
                        <a:cs typeface="Calibri" charset="0"/>
                      </a:endParaRPr>
                    </a:p>
                  </a:txBody>
                  <a:tcPr marL="45720" marR="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marL="0" indent="0" algn="l">
                        <a:buNone/>
                      </a:pPr>
                      <a:r>
                        <a:rPr lang="en-US" sz="1000" dirty="0">
                          <a:solidFill>
                            <a:srgbClr val="222222"/>
                          </a:solidFill>
                          <a:latin typeface="Calibri" pitchFamily="34" charset="0"/>
                          <a:ea typeface="Calibri" pitchFamily="34" charset="-122"/>
                          <a:cs typeface="Calibri" pitchFamily="34" charset="-120"/>
                        </a:rPr>
                        <a:t>Schema and range checks on the feed; data contract with the vendor</a:t>
                      </a:r>
                      <a:endParaRPr lang="en-US" sz="1000" dirty="0">
                        <a:latin typeface="Calibri" charset="0"/>
                        <a:ea typeface="Calibri" charset="0"/>
                        <a:cs typeface="Calibri" charset="0"/>
                      </a:endParaRPr>
                    </a:p>
                  </a:txBody>
                  <a:tcPr marL="45720" marR="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marL="0" indent="0" algn="l">
                        <a:buNone/>
                      </a:pPr>
                      <a:r>
                        <a:rPr lang="en-US" sz="1000" dirty="0">
                          <a:solidFill>
                            <a:srgbClr val="222222"/>
                          </a:solidFill>
                          <a:latin typeface="Calibri" pitchFamily="34" charset="0"/>
                          <a:ea typeface="Calibri" pitchFamily="34" charset="-122"/>
                          <a:cs typeface="Calibri" pitchFamily="34" charset="-120"/>
                        </a:rPr>
                        <a:t>Data engineer</a:t>
                      </a:r>
                      <a:endParaRPr lang="en-US" sz="1000" dirty="0">
                        <a:latin typeface="Calibri" charset="0"/>
                        <a:ea typeface="Calibri" charset="0"/>
                        <a:cs typeface="Calibri" charset="0"/>
                      </a:endParaRPr>
                    </a:p>
                  </a:txBody>
                  <a:tcPr marL="45720" marR="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marL="0" indent="0" algn="l">
                        <a:buNone/>
                      </a:pPr>
                      <a:r>
                        <a:rPr lang="en-US" sz="1000" dirty="0">
                          <a:solidFill>
                            <a:srgbClr val="222222"/>
                          </a:solidFill>
                          <a:latin typeface="Calibri" pitchFamily="34" charset="0"/>
                          <a:ea typeface="Calibri" pitchFamily="34" charset="-122"/>
                          <a:cs typeface="Calibri" pitchFamily="34" charset="-120"/>
                        </a:rPr>
                        <a:t>Validation report per span; blocked-rate spike per merchant</a:t>
                      </a:r>
                      <a:endParaRPr lang="en-US" sz="1000" dirty="0">
                        <a:latin typeface="Calibri" charset="0"/>
                        <a:ea typeface="Calibri" charset="0"/>
                        <a:cs typeface="Calibri" charset="0"/>
                      </a:endParaRPr>
                    </a:p>
                  </a:txBody>
                  <a:tcPr marL="45720" marR="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extLst>
                  <a:ext uri="{0D108BD9-81ED-4DB2-BD59-A6C34878D82A}">
                    <a16:rowId xmlns:a16="http://schemas.microsoft.com/office/drawing/2014/main" val="10001"/>
                  </a:ext>
                </a:extLst>
              </a:tr>
              <a:tr h="548640">
                <a:tc>
                  <a:txBody>
                    <a:bodyPr/>
                    <a:lstStyle/>
                    <a:p>
                      <a:pPr marL="0" indent="0" algn="l">
                        <a:buNone/>
                      </a:pPr>
                      <a:r>
                        <a:rPr lang="en-US" sz="1000" b="1" dirty="0">
                          <a:solidFill>
                            <a:srgbClr val="222222"/>
                          </a:solidFill>
                          <a:latin typeface="Calibri" pitchFamily="34" charset="0"/>
                          <a:ea typeface="Calibri" pitchFamily="34" charset="-122"/>
                          <a:cs typeface="Calibri" pitchFamily="34" charset="-120"/>
                        </a:rPr>
                        <a:t>2 · Ring probes the threshold</a:t>
                      </a:r>
                      <a:endParaRPr lang="en-US" sz="1000" dirty="0">
                        <a:latin typeface="Calibri" charset="0"/>
                        <a:ea typeface="Calibri" charset="0"/>
                        <a:cs typeface="Calibri" charset="0"/>
                      </a:endParaRPr>
                    </a:p>
                  </a:txBody>
                  <a:tcPr marL="45720" marR="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marL="0" indent="0" algn="l">
                        <a:buNone/>
                      </a:pPr>
                      <a:r>
                        <a:rPr lang="en-US" sz="1000" dirty="0">
                          <a:solidFill>
                            <a:srgbClr val="222222"/>
                          </a:solidFill>
                          <a:latin typeface="Calibri" pitchFamily="34" charset="0"/>
                          <a:ea typeface="Calibri" pitchFamily="34" charset="-122"/>
                          <a:cs typeface="Calibri" pitchFamily="34" charset="-120"/>
                        </a:rPr>
                        <a:t>Inference / feedback</a:t>
                      </a:r>
                      <a:endParaRPr lang="en-US" sz="1000" dirty="0">
                        <a:latin typeface="Calibri" charset="0"/>
                        <a:ea typeface="Calibri" charset="0"/>
                        <a:cs typeface="Calibri" charset="0"/>
                      </a:endParaRPr>
                    </a:p>
                  </a:txBody>
                  <a:tcPr marL="45720" marR="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marL="0" indent="0" algn="l">
                        <a:buNone/>
                      </a:pPr>
                      <a:r>
                        <a:rPr lang="en-US" sz="1000" dirty="0">
                          <a:solidFill>
                            <a:srgbClr val="222222"/>
                          </a:solidFill>
                          <a:latin typeface="Calibri" pitchFamily="34" charset="0"/>
                          <a:ea typeface="Calibri" pitchFamily="34" charset="-122"/>
                          <a:cs typeface="Calibri" pitchFamily="34" charset="-120"/>
                        </a:rPr>
                        <a:t>Monitor probing patterns; no fixed public threshold; retrain on discovered patterns</a:t>
                      </a:r>
                      <a:endParaRPr lang="en-US" sz="1000" dirty="0">
                        <a:latin typeface="Calibri" charset="0"/>
                        <a:ea typeface="Calibri" charset="0"/>
                        <a:cs typeface="Calibri" charset="0"/>
                      </a:endParaRPr>
                    </a:p>
                  </a:txBody>
                  <a:tcPr marL="45720" marR="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marL="0" indent="0" algn="l">
                        <a:buNone/>
                      </a:pPr>
                      <a:r>
                        <a:rPr lang="en-US" sz="1000" dirty="0">
                          <a:solidFill>
                            <a:srgbClr val="222222"/>
                          </a:solidFill>
                          <a:latin typeface="Calibri" pitchFamily="34" charset="0"/>
                          <a:ea typeface="Calibri" pitchFamily="34" charset="-122"/>
                          <a:cs typeface="Calibri" pitchFamily="34" charset="-120"/>
                        </a:rPr>
                        <a:t>ML engineer + fraud team</a:t>
                      </a:r>
                      <a:endParaRPr lang="en-US" sz="1000" dirty="0">
                        <a:latin typeface="Calibri" charset="0"/>
                        <a:ea typeface="Calibri" charset="0"/>
                        <a:cs typeface="Calibri" charset="0"/>
                      </a:endParaRPr>
                    </a:p>
                  </a:txBody>
                  <a:tcPr marL="45720" marR="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marL="0" indent="0" algn="l">
                        <a:buNone/>
                      </a:pPr>
                      <a:r>
                        <a:rPr lang="en-US" sz="1000" dirty="0">
                          <a:solidFill>
                            <a:srgbClr val="222222"/>
                          </a:solidFill>
                          <a:latin typeface="Calibri" pitchFamily="34" charset="0"/>
                          <a:ea typeface="Calibri" pitchFamily="34" charset="-122"/>
                          <a:cs typeface="Calibri" pitchFamily="34" charset="-120"/>
                        </a:rPr>
                        <a:t>Amount-band and merchant patterns; late chargebacks confirm</a:t>
                      </a:r>
                      <a:endParaRPr lang="en-US" sz="1000" dirty="0">
                        <a:latin typeface="Calibri" charset="0"/>
                        <a:ea typeface="Calibri" charset="0"/>
                        <a:cs typeface="Calibri" charset="0"/>
                      </a:endParaRPr>
                    </a:p>
                  </a:txBody>
                  <a:tcPr marL="45720" marR="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extLst>
                  <a:ext uri="{0D108BD9-81ED-4DB2-BD59-A6C34878D82A}">
                    <a16:rowId xmlns:a16="http://schemas.microsoft.com/office/drawing/2014/main" val="10002"/>
                  </a:ext>
                </a:extLst>
              </a:tr>
              <a:tr h="548640">
                <a:tc>
                  <a:txBody>
                    <a:bodyPr/>
                    <a:lstStyle/>
                    <a:p>
                      <a:pPr marL="0" indent="0" algn="l">
                        <a:buNone/>
                      </a:pPr>
                      <a:r>
                        <a:rPr lang="en-US" sz="1000" b="1" dirty="0">
                          <a:solidFill>
                            <a:srgbClr val="222222"/>
                          </a:solidFill>
                          <a:latin typeface="Calibri" pitchFamily="34" charset="0"/>
                          <a:ea typeface="Calibri" pitchFamily="34" charset="-122"/>
                          <a:cs typeface="Calibri" pitchFamily="34" charset="-120"/>
                        </a:rPr>
                        <a:t>3 · Friday hotfix from a laptop</a:t>
                      </a:r>
                      <a:endParaRPr lang="en-US" sz="1000" dirty="0">
                        <a:latin typeface="Calibri" charset="0"/>
                        <a:ea typeface="Calibri" charset="0"/>
                        <a:cs typeface="Calibri" charset="0"/>
                      </a:endParaRPr>
                    </a:p>
                  </a:txBody>
                  <a:tcPr marL="45720" marR="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marL="0" indent="0" algn="l">
                        <a:buNone/>
                      </a:pPr>
                      <a:r>
                        <a:rPr lang="en-US" sz="1000" dirty="0">
                          <a:solidFill>
                            <a:srgbClr val="222222"/>
                          </a:solidFill>
                          <a:latin typeface="Calibri" pitchFamily="34" charset="0"/>
                          <a:ea typeface="Calibri" pitchFamily="34" charset="-122"/>
                          <a:cs typeface="Calibri" pitchFamily="34" charset="-120"/>
                        </a:rPr>
                        <a:t>Deployment</a:t>
                      </a:r>
                      <a:endParaRPr lang="en-US" sz="1000" dirty="0">
                        <a:latin typeface="Calibri" charset="0"/>
                        <a:ea typeface="Calibri" charset="0"/>
                        <a:cs typeface="Calibri" charset="0"/>
                      </a:endParaRPr>
                    </a:p>
                  </a:txBody>
                  <a:tcPr marL="45720" marR="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marL="0" indent="0" algn="l">
                        <a:buNone/>
                      </a:pPr>
                      <a:r>
                        <a:rPr lang="en-US" sz="1000" dirty="0">
                          <a:solidFill>
                            <a:srgbClr val="222222"/>
                          </a:solidFill>
                          <a:latin typeface="Calibri" pitchFamily="34" charset="0"/>
                          <a:ea typeface="Calibri" pitchFamily="34" charset="-122"/>
                          <a:cs typeface="Calibri" pitchFamily="34" charset="-120"/>
                        </a:rPr>
                        <a:t>The two gates: versioned artefact, QA sign-off, rollback; no promotion from a laptop</a:t>
                      </a:r>
                      <a:endParaRPr lang="en-US" sz="1000" dirty="0">
                        <a:latin typeface="Calibri" charset="0"/>
                        <a:ea typeface="Calibri" charset="0"/>
                        <a:cs typeface="Calibri" charset="0"/>
                      </a:endParaRPr>
                    </a:p>
                  </a:txBody>
                  <a:tcPr marL="45720" marR="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marL="0" indent="0" algn="l">
                        <a:buNone/>
                      </a:pPr>
                      <a:r>
                        <a:rPr lang="en-US" sz="1000" dirty="0">
                          <a:solidFill>
                            <a:srgbClr val="222222"/>
                          </a:solidFill>
                          <a:latin typeface="Calibri" pitchFamily="34" charset="0"/>
                          <a:ea typeface="Calibri" pitchFamily="34" charset="-122"/>
                          <a:cs typeface="Calibri" pitchFamily="34" charset="-120"/>
                        </a:rPr>
                        <a:t>Product owner (A), ML engineer (R), IT enforces</a:t>
                      </a:r>
                      <a:endParaRPr lang="en-US" sz="1000" dirty="0">
                        <a:latin typeface="Calibri" charset="0"/>
                        <a:ea typeface="Calibri" charset="0"/>
                        <a:cs typeface="Calibri" charset="0"/>
                      </a:endParaRPr>
                    </a:p>
                  </a:txBody>
                  <a:tcPr marL="45720" marR="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marL="0" indent="0" algn="l">
                        <a:buNone/>
                      </a:pPr>
                      <a:r>
                        <a:rPr lang="en-US" sz="1000" dirty="0">
                          <a:solidFill>
                            <a:srgbClr val="222222"/>
                          </a:solidFill>
                          <a:latin typeface="Calibri" pitchFamily="34" charset="0"/>
                          <a:ea typeface="Calibri" pitchFamily="34" charset="-122"/>
                          <a:cs typeface="Calibri" pitchFamily="34" charset="-120"/>
                        </a:rPr>
                        <a:t>Lineage: a change with no QA record; weekend false-positive rate</a:t>
                      </a:r>
                      <a:endParaRPr lang="en-US" sz="1000" dirty="0">
                        <a:latin typeface="Calibri" charset="0"/>
                        <a:ea typeface="Calibri" charset="0"/>
                        <a:cs typeface="Calibri" charset="0"/>
                      </a:endParaRPr>
                    </a:p>
                  </a:txBody>
                  <a:tcPr marL="45720" marR="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8" name="Shape 4"/>
          <p:cNvSpPr/>
          <p:nvPr/>
        </p:nvSpPr>
        <p:spPr>
          <a:xfrm>
            <a:off x="365760" y="3977640"/>
            <a:ext cx="8412480" cy="457200"/>
          </a:xfrm>
          <a:prstGeom prst="roundRect">
            <a:avLst>
              <a:gd name="adj" fmla="val 16000"/>
            </a:avLst>
          </a:prstGeom>
          <a:solidFill>
            <a:srgbClr val="E3F1F2"/>
          </a:solidFill>
          <a:ln w="12700">
            <a:solidFill>
              <a:srgbClr val="E3F1F2"/>
            </a:solidFill>
            <a:prstDash val="solid"/>
          </a:ln>
        </p:spPr>
        <p:txBody>
          <a:bodyPr/>
          <a:lstStyle/>
          <a:p>
            <a:endParaRPr/>
          </a:p>
        </p:txBody>
      </p:sp>
      <p:pic>
        <p:nvPicPr>
          <p:cNvPr id="9" name="Image 0" descr="preencoded.png"/>
          <p:cNvPicPr>
            <a:picLocks noChangeAspect="1"/>
          </p:cNvPicPr>
          <p:nvPr/>
        </p:nvPicPr>
        <p:blipFill>
          <a:blip r:embed="rId3"/>
          <a:stretch>
            <a:fillRect/>
          </a:stretch>
        </p:blipFill>
        <p:spPr>
          <a:xfrm>
            <a:off x="502920" y="4069080"/>
            <a:ext cx="274320" cy="274320"/>
          </a:xfrm>
          <a:prstGeom prst="rect">
            <a:avLst/>
          </a:prstGeom>
        </p:spPr>
      </p:pic>
      <p:sp>
        <p:nvSpPr>
          <p:cNvPr id="10" name="Text 5"/>
          <p:cNvSpPr txBox="1"/>
          <p:nvPr/>
        </p:nvSpPr>
        <p:spPr>
          <a:xfrm>
            <a:off x="896112" y="3977640"/>
            <a:ext cx="7772400" cy="457200"/>
          </a:xfrm>
          <a:prstGeom prst="rect">
            <a:avLst/>
          </a:prstGeom>
          <a:noFill/>
          <a:ln/>
        </p:spPr>
        <p:txBody>
          <a:bodyPr wrap="square" lIns="0" tIns="0" rIns="0" bIns="0" rtlCol="0" anchor="ctr"/>
          <a:lstStyle/>
          <a:p>
            <a:pPr marL="0" indent="0">
              <a:buNone/>
            </a:pPr>
            <a:r>
              <a:rPr lang="en-US" sz="1250" b="1" dirty="0">
                <a:solidFill>
                  <a:srgbClr val="1B2A4A"/>
                </a:solidFill>
                <a:latin typeface="Calibri" pitchFamily="34" charset="0"/>
                <a:ea typeface="Calibri" pitchFamily="34" charset="-122"/>
                <a:cs typeface="Calibri" pitchFamily="34" charset="-120"/>
              </a:rPr>
              <a:t>Every control you named is a step in the pipeline or a gate between environments. That is what MLOps is.</a:t>
            </a:r>
            <a:endParaRPr lang="en-US" sz="1250" dirty="0"/>
          </a:p>
        </p:txBody>
      </p:sp>
      <p:pic>
        <p:nvPicPr>
          <p:cNvPr id="31" name="IE University logo" descr="IE University, School of Science &amp; Technology"/>
          <p:cNvPicPr>
            <a:picLocks noChangeAspect="1"/>
          </p:cNvPicPr>
          <p:nvPr/>
        </p:nvPicPr>
        <p:blipFill>
          <a:blip r:embed="rId4"/>
          <a:stretch>
            <a:fillRect/>
          </a:stretch>
        </p:blipFill>
        <p:spPr>
          <a:xfrm>
            <a:off x="8013607" y="92634"/>
            <a:ext cx="764633" cy="262789"/>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marL="0" indent="0">
              <a:buNone/>
            </a:pPr>
            <a:r>
              <a:rPr lang="en-US" sz="800" dirty="0">
                <a:solidFill>
                  <a:srgbClr val="6B7280"/>
                </a:solidFill>
                <a:latin typeface="Calibri" pitchFamily="34" charset="0"/>
                <a:ea typeface="Calibri" pitchFamily="34" charset="-122"/>
                <a:cs typeface="Calibri" pitchFamily="34" charset="-120"/>
              </a:rPr>
              <a:t>MLOps · MBDS-PT2026F · Session 3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marL="0" indent="0" algn="r">
              <a:buNone/>
            </a:pPr>
            <a:r>
              <a:rPr lang="en-US" sz="800" dirty="0">
                <a:solidFill>
                  <a:srgbClr val="6B7280"/>
                </a:solidFill>
                <a:latin typeface="Calibri" pitchFamily="34" charset="0"/>
                <a:ea typeface="Calibri" pitchFamily="34" charset="-122"/>
                <a:cs typeface="Calibri" pitchFamily="34" charset="-120"/>
              </a:rPr>
              <a:t>30</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marL="0" indent="0">
              <a:buNone/>
            </a:pPr>
            <a:r>
              <a:rPr lang="en-US" sz="2400" b="1" dirty="0">
                <a:solidFill>
                  <a:srgbClr val="1B2A4A"/>
                </a:solidFill>
                <a:latin typeface="Calibri" pitchFamily="34" charset="0"/>
                <a:ea typeface="Calibri" pitchFamily="34" charset="-122"/>
                <a:cs typeface="Calibri" pitchFamily="34" charset="-120"/>
              </a:rPr>
              <a:t>Three things to remember</a:t>
            </a:r>
            <a:endParaRPr lang="en-US" sz="2400" dirty="0"/>
          </a:p>
        </p:txBody>
      </p:sp>
      <p:sp>
        <p:nvSpPr>
          <p:cNvPr id="7" name="Shape 4"/>
          <p:cNvSpPr/>
          <p:nvPr/>
        </p:nvSpPr>
        <p:spPr>
          <a:xfrm>
            <a:off x="365760" y="1325880"/>
            <a:ext cx="640080" cy="640080"/>
          </a:xfrm>
          <a:prstGeom prst="ellipse">
            <a:avLst/>
          </a:prstGeom>
          <a:solidFill>
            <a:srgbClr val="0E7C86"/>
          </a:solidFill>
          <a:ln w="12700">
            <a:solidFill>
              <a:srgbClr val="0E7C86"/>
            </a:solidFill>
            <a:prstDash val="solid"/>
          </a:ln>
        </p:spPr>
        <p:txBody>
          <a:bodyPr/>
          <a:lstStyle/>
          <a:p>
            <a:endParaRPr/>
          </a:p>
        </p:txBody>
      </p:sp>
      <p:sp>
        <p:nvSpPr>
          <p:cNvPr id="8" name="Text 5"/>
          <p:cNvSpPr txBox="1"/>
          <p:nvPr/>
        </p:nvSpPr>
        <p:spPr>
          <a:xfrm>
            <a:off x="365760" y="1325880"/>
            <a:ext cx="64008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1</a:t>
            </a:r>
            <a:endParaRPr lang="en-US" sz="2400" dirty="0"/>
          </a:p>
        </p:txBody>
      </p:sp>
      <p:sp>
        <p:nvSpPr>
          <p:cNvPr id="9" name="Text 6"/>
          <p:cNvSpPr txBox="1"/>
          <p:nvPr/>
        </p:nvSpPr>
        <p:spPr>
          <a:xfrm>
            <a:off x="1188720" y="1234440"/>
            <a:ext cx="7589520" cy="411480"/>
          </a:xfrm>
          <a:prstGeom prst="rect">
            <a:avLst/>
          </a:prstGeom>
          <a:noFill/>
          <a:ln/>
        </p:spPr>
        <p:txBody>
          <a:bodyPr wrap="square" lIns="0" tIns="0" rIns="0" bIns="0" rtlCol="0" anchor="ctr"/>
          <a:lstStyle/>
          <a:p>
            <a:pPr marL="0" indent="0">
              <a:buNone/>
            </a:pPr>
            <a:r>
              <a:rPr lang="en-US" sz="1600" b="1" dirty="0">
                <a:solidFill>
                  <a:srgbClr val="1B2A4A"/>
                </a:solidFill>
                <a:latin typeface="Calibri" pitchFamily="34" charset="0"/>
                <a:ea typeface="Calibri" pitchFamily="34" charset="-122"/>
                <a:cs typeface="Calibri" pitchFamily="34" charset="-120"/>
              </a:rPr>
              <a:t>A notebook is a workshop; a pipeline is a factory.</a:t>
            </a:r>
            <a:endParaRPr lang="en-US" sz="1600" dirty="0"/>
          </a:p>
        </p:txBody>
      </p:sp>
      <p:sp>
        <p:nvSpPr>
          <p:cNvPr id="10" name="Text 7"/>
          <p:cNvSpPr txBox="1"/>
          <p:nvPr/>
        </p:nvSpPr>
        <p:spPr>
          <a:xfrm>
            <a:off x="1188720" y="1645920"/>
            <a:ext cx="7589520" cy="548640"/>
          </a:xfrm>
          <a:prstGeom prst="rect">
            <a:avLst/>
          </a:prstGeom>
          <a:noFill/>
          <a:ln/>
        </p:spPr>
        <p:txBody>
          <a:bodyPr wrap="square" lIns="0" tIns="0" rIns="0" bIns="0" rtlCol="0" anchor="t"/>
          <a:lstStyle/>
          <a:p>
            <a:pPr marL="0" indent="0">
              <a:buNone/>
            </a:pPr>
            <a:r>
              <a:rPr lang="en-US" sz="1200" dirty="0">
                <a:solidFill>
                  <a:srgbClr val="222222"/>
                </a:solidFill>
                <a:latin typeface="Calibri" pitchFamily="34" charset="0"/>
                <a:ea typeface="Calibri" pitchFamily="34" charset="-122"/>
                <a:cs typeface="Calibri" pitchFamily="34" charset="-120"/>
              </a:rPr>
              <a:t>Steps with inputs, outputs and checks, run by a machine in the same order every time. Validation stops the line before a bad model is built.</a:t>
            </a:r>
            <a:endParaRPr lang="en-US" sz="1200" dirty="0"/>
          </a:p>
        </p:txBody>
      </p:sp>
      <p:sp>
        <p:nvSpPr>
          <p:cNvPr id="11" name="Shape 8"/>
          <p:cNvSpPr/>
          <p:nvPr/>
        </p:nvSpPr>
        <p:spPr>
          <a:xfrm>
            <a:off x="365760" y="2377440"/>
            <a:ext cx="640080" cy="640080"/>
          </a:xfrm>
          <a:prstGeom prst="ellipse">
            <a:avLst/>
          </a:prstGeom>
          <a:solidFill>
            <a:srgbClr val="0E7C86"/>
          </a:solidFill>
          <a:ln w="12700">
            <a:solidFill>
              <a:srgbClr val="0E7C86"/>
            </a:solidFill>
            <a:prstDash val="solid"/>
          </a:ln>
        </p:spPr>
        <p:txBody>
          <a:bodyPr/>
          <a:lstStyle/>
          <a:p>
            <a:endParaRPr/>
          </a:p>
        </p:txBody>
      </p:sp>
      <p:sp>
        <p:nvSpPr>
          <p:cNvPr id="12" name="Text 9"/>
          <p:cNvSpPr txBox="1"/>
          <p:nvPr/>
        </p:nvSpPr>
        <p:spPr>
          <a:xfrm>
            <a:off x="365760" y="2377440"/>
            <a:ext cx="64008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2</a:t>
            </a:r>
            <a:endParaRPr lang="en-US" sz="2400" dirty="0"/>
          </a:p>
        </p:txBody>
      </p:sp>
      <p:sp>
        <p:nvSpPr>
          <p:cNvPr id="13" name="Text 10"/>
          <p:cNvSpPr txBox="1"/>
          <p:nvPr/>
        </p:nvSpPr>
        <p:spPr>
          <a:xfrm>
            <a:off x="1188720" y="2286000"/>
            <a:ext cx="7589520" cy="411480"/>
          </a:xfrm>
          <a:prstGeom prst="rect">
            <a:avLst/>
          </a:prstGeom>
          <a:noFill/>
          <a:ln/>
        </p:spPr>
        <p:txBody>
          <a:bodyPr wrap="square" lIns="0" tIns="0" rIns="0" bIns="0" rtlCol="0" anchor="ctr"/>
          <a:lstStyle/>
          <a:p>
            <a:pPr marL="0" indent="0">
              <a:buNone/>
            </a:pPr>
            <a:r>
              <a:rPr lang="en-US" sz="1600" b="1" dirty="0">
                <a:solidFill>
                  <a:srgbClr val="1B2A4A"/>
                </a:solidFill>
                <a:latin typeface="Calibri" pitchFamily="34" charset="0"/>
                <a:ea typeface="Calibri" pitchFamily="34" charset="-122"/>
                <a:cs typeface="Calibri" pitchFamily="34" charset="-120"/>
              </a:rPr>
              <a:t>Version everything: code, data, models.</a:t>
            </a:r>
            <a:endParaRPr lang="en-US" sz="1600" dirty="0"/>
          </a:p>
        </p:txBody>
      </p:sp>
      <p:sp>
        <p:nvSpPr>
          <p:cNvPr id="14" name="Text 11"/>
          <p:cNvSpPr txBox="1"/>
          <p:nvPr/>
        </p:nvSpPr>
        <p:spPr>
          <a:xfrm>
            <a:off x="1188720" y="2697480"/>
            <a:ext cx="7589520" cy="548640"/>
          </a:xfrm>
          <a:prstGeom prst="rect">
            <a:avLst/>
          </a:prstGeom>
          <a:noFill/>
          <a:ln/>
        </p:spPr>
        <p:txBody>
          <a:bodyPr wrap="square" lIns="0" tIns="0" rIns="0" bIns="0" rtlCol="0" anchor="t"/>
          <a:lstStyle/>
          <a:p>
            <a:pPr marL="0" indent="0">
              <a:buNone/>
            </a:pPr>
            <a:r>
              <a:rPr lang="en-US" sz="1200" dirty="0">
                <a:solidFill>
                  <a:srgbClr val="222222"/>
                </a:solidFill>
                <a:latin typeface="Calibri" pitchFamily="34" charset="0"/>
                <a:ea typeface="Calibri" pitchFamily="34" charset="-122"/>
                <a:cs typeface="Calibri" pitchFamily="34" charset="-120"/>
              </a:rPr>
              <a:t>A repository, numbered data snapshots with a fingerprint, an experiment log and a registry. Any prediction can be traced back to its data.</a:t>
            </a:r>
            <a:endParaRPr lang="en-US" sz="1200" dirty="0"/>
          </a:p>
        </p:txBody>
      </p:sp>
      <p:sp>
        <p:nvSpPr>
          <p:cNvPr id="15" name="Shape 12"/>
          <p:cNvSpPr/>
          <p:nvPr/>
        </p:nvSpPr>
        <p:spPr>
          <a:xfrm>
            <a:off x="365760" y="3429000"/>
            <a:ext cx="640080" cy="640080"/>
          </a:xfrm>
          <a:prstGeom prst="ellipse">
            <a:avLst/>
          </a:prstGeom>
          <a:solidFill>
            <a:srgbClr val="0E7C86"/>
          </a:solidFill>
          <a:ln w="12700">
            <a:solidFill>
              <a:srgbClr val="0E7C86"/>
            </a:solidFill>
            <a:prstDash val="solid"/>
          </a:ln>
        </p:spPr>
        <p:txBody>
          <a:bodyPr/>
          <a:lstStyle/>
          <a:p>
            <a:endParaRPr/>
          </a:p>
        </p:txBody>
      </p:sp>
      <p:sp>
        <p:nvSpPr>
          <p:cNvPr id="16" name="Text 13"/>
          <p:cNvSpPr txBox="1"/>
          <p:nvPr/>
        </p:nvSpPr>
        <p:spPr>
          <a:xfrm>
            <a:off x="365760" y="3429000"/>
            <a:ext cx="64008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3</a:t>
            </a:r>
            <a:endParaRPr lang="en-US" sz="2400" dirty="0"/>
          </a:p>
        </p:txBody>
      </p:sp>
      <p:sp>
        <p:nvSpPr>
          <p:cNvPr id="17" name="Text 14"/>
          <p:cNvSpPr txBox="1"/>
          <p:nvPr/>
        </p:nvSpPr>
        <p:spPr>
          <a:xfrm>
            <a:off x="1188720" y="3337560"/>
            <a:ext cx="7589520" cy="411480"/>
          </a:xfrm>
          <a:prstGeom prst="rect">
            <a:avLst/>
          </a:prstGeom>
          <a:noFill/>
          <a:ln/>
        </p:spPr>
        <p:txBody>
          <a:bodyPr wrap="square" lIns="0" tIns="0" rIns="0" bIns="0" rtlCol="0" anchor="ctr"/>
          <a:lstStyle/>
          <a:p>
            <a:pPr marL="0" indent="0">
              <a:buNone/>
            </a:pPr>
            <a:r>
              <a:rPr lang="en-US" sz="1600" b="1" dirty="0">
                <a:solidFill>
                  <a:srgbClr val="1B2A4A"/>
                </a:solidFill>
                <a:latin typeface="Calibri" pitchFamily="34" charset="0"/>
                <a:ea typeface="Calibri" pitchFamily="34" charset="-122"/>
                <a:cs typeface="Calibri" pitchFamily="34" charset="-120"/>
              </a:rPr>
              <a:t>Three environments, two gates.</a:t>
            </a:r>
            <a:endParaRPr lang="en-US" sz="1600" dirty="0"/>
          </a:p>
        </p:txBody>
      </p:sp>
      <p:sp>
        <p:nvSpPr>
          <p:cNvPr id="18" name="Text 15"/>
          <p:cNvSpPr txBox="1"/>
          <p:nvPr/>
        </p:nvSpPr>
        <p:spPr>
          <a:xfrm>
            <a:off x="1188720" y="3749040"/>
            <a:ext cx="7589520" cy="548640"/>
          </a:xfrm>
          <a:prstGeom prst="rect">
            <a:avLst/>
          </a:prstGeom>
          <a:noFill/>
          <a:ln/>
        </p:spPr>
        <p:txBody>
          <a:bodyPr wrap="square" lIns="0" tIns="0" rIns="0" bIns="0" rtlCol="0" anchor="t"/>
          <a:lstStyle/>
          <a:p>
            <a:pPr marL="0" indent="0">
              <a:buNone/>
            </a:pPr>
            <a:r>
              <a:rPr lang="en-US" sz="1200" dirty="0">
                <a:solidFill>
                  <a:srgbClr val="222222"/>
                </a:solidFill>
                <a:latin typeface="Calibri" pitchFamily="34" charset="0"/>
                <a:ea typeface="Calibri" pitchFamily="34" charset="-122"/>
                <a:cs typeface="Calibri" pitchFamily="34" charset="-120"/>
              </a:rPr>
              <a:t>Nothing goes from a laptop to production. Dev builds, QA tests as if live, Prod serves; someone accountable signs the gate.</a:t>
            </a:r>
            <a:endParaRPr lang="en-US" sz="1200" dirty="0"/>
          </a:p>
        </p:txBody>
      </p:sp>
      <p:pic>
        <p:nvPicPr>
          <p:cNvPr id="19" name="IE University logo" descr="IE University, School of Science &amp; Technology"/>
          <p:cNvPicPr>
            <a:picLocks noChangeAspect="1"/>
          </p:cNvPicPr>
          <p:nvPr/>
        </p:nvPicPr>
        <p:blipFill>
          <a:blip r:embed="rId3"/>
          <a:stretch>
            <a:fillRect/>
          </a:stretch>
        </p:blipFill>
        <p:spPr>
          <a:xfrm>
            <a:off x="8013607" y="92634"/>
            <a:ext cx="764633" cy="262789"/>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marL="0" indent="0">
              <a:buNone/>
            </a:pPr>
            <a:r>
              <a:rPr lang="en-US" sz="800" dirty="0">
                <a:solidFill>
                  <a:srgbClr val="6B7280"/>
                </a:solidFill>
                <a:latin typeface="Calibri" pitchFamily="34" charset="0"/>
                <a:ea typeface="Calibri" pitchFamily="34" charset="-122"/>
                <a:cs typeface="Calibri" pitchFamily="34" charset="-120"/>
              </a:rPr>
              <a:t>MLOps · MBDS-PT2026F · Session 3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marL="0" indent="0" algn="r">
              <a:buNone/>
            </a:pPr>
            <a:r>
              <a:rPr lang="en-US" sz="800" dirty="0">
                <a:solidFill>
                  <a:srgbClr val="6B7280"/>
                </a:solidFill>
                <a:latin typeface="Calibri" pitchFamily="34" charset="0"/>
                <a:ea typeface="Calibri" pitchFamily="34" charset="-122"/>
                <a:cs typeface="Calibri" pitchFamily="34" charset="-120"/>
              </a:rPr>
              <a:t>31</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marL="0" indent="0">
              <a:buNone/>
            </a:pPr>
            <a:r>
              <a:rPr lang="en-US" sz="2400" b="1" dirty="0">
                <a:solidFill>
                  <a:srgbClr val="1B2A4A"/>
                </a:solidFill>
                <a:latin typeface="Calibri" pitchFamily="34" charset="0"/>
                <a:ea typeface="Calibri" pitchFamily="34" charset="-122"/>
                <a:cs typeface="Calibri" pitchFamily="34" charset="-120"/>
              </a:rPr>
              <a:t>Your forum this week: Session 4 · 10–16 October</a:t>
            </a:r>
            <a:endParaRPr lang="en-US" sz="2400" dirty="0"/>
          </a:p>
        </p:txBody>
      </p:sp>
      <p:sp>
        <p:nvSpPr>
          <p:cNvPr id="7" name="Shape 4"/>
          <p:cNvSpPr/>
          <p:nvPr/>
        </p:nvSpPr>
        <p:spPr>
          <a:xfrm>
            <a:off x="365760" y="1280160"/>
            <a:ext cx="502920" cy="502920"/>
          </a:xfrm>
          <a:prstGeom prst="ellipse">
            <a:avLst/>
          </a:prstGeom>
          <a:solidFill>
            <a:srgbClr val="1B2A4A"/>
          </a:solidFill>
          <a:ln w="12700">
            <a:solidFill>
              <a:srgbClr val="1B2A4A"/>
            </a:solidFill>
            <a:prstDash val="solid"/>
          </a:ln>
        </p:spPr>
        <p:txBody>
          <a:bodyPr/>
          <a:lstStyle/>
          <a:p>
            <a:endParaRPr/>
          </a:p>
        </p:txBody>
      </p:sp>
      <p:sp>
        <p:nvSpPr>
          <p:cNvPr id="8" name="Text 5"/>
          <p:cNvSpPr txBox="1"/>
          <p:nvPr/>
        </p:nvSpPr>
        <p:spPr>
          <a:xfrm>
            <a:off x="365760" y="128016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Q1</a:t>
            </a:r>
            <a:endParaRPr lang="en-US" sz="1300" dirty="0"/>
          </a:p>
        </p:txBody>
      </p:sp>
      <p:sp>
        <p:nvSpPr>
          <p:cNvPr id="9" name="Text 6"/>
          <p:cNvSpPr txBox="1"/>
          <p:nvPr/>
        </p:nvSpPr>
        <p:spPr>
          <a:xfrm>
            <a:off x="1051560" y="1234440"/>
            <a:ext cx="7726680" cy="868680"/>
          </a:xfrm>
          <a:prstGeom prst="rect">
            <a:avLst/>
          </a:prstGeom>
          <a:noFill/>
          <a:ln/>
        </p:spPr>
        <p:txBody>
          <a:bodyPr wrap="square" lIns="0" tIns="0" rIns="0" bIns="0" rtlCol="0" anchor="t"/>
          <a:lstStyle/>
          <a:p>
            <a:pPr marL="0" indent="0">
              <a:buNone/>
            </a:pPr>
            <a:r>
              <a:rPr lang="en-US" sz="1200" dirty="0">
                <a:solidFill>
                  <a:srgbClr val="222222"/>
                </a:solidFill>
                <a:latin typeface="Calibri" pitchFamily="34" charset="0"/>
                <a:ea typeface="Calibri" pitchFamily="34" charset="-122"/>
                <a:cs typeface="Calibri" pitchFamily="34" charset="-120"/>
              </a:rPr>
              <a:t>Take the exploratory notebook provided on the virtual campus and sketch how you would restructure it into a reusable pipeline with separate ingestion, validation and preprocessing steps. Submit the diagram and a short rationale.</a:t>
            </a:r>
            <a:endParaRPr lang="en-US" sz="1200" dirty="0"/>
          </a:p>
        </p:txBody>
      </p:sp>
      <p:sp>
        <p:nvSpPr>
          <p:cNvPr id="10" name="Shape 7"/>
          <p:cNvSpPr/>
          <p:nvPr/>
        </p:nvSpPr>
        <p:spPr>
          <a:xfrm>
            <a:off x="365760" y="2240280"/>
            <a:ext cx="502920" cy="502920"/>
          </a:xfrm>
          <a:prstGeom prst="ellipse">
            <a:avLst/>
          </a:prstGeom>
          <a:solidFill>
            <a:srgbClr val="1B2A4A"/>
          </a:solidFill>
          <a:ln w="12700">
            <a:solidFill>
              <a:srgbClr val="1B2A4A"/>
            </a:solidFill>
            <a:prstDash val="solid"/>
          </a:ln>
        </p:spPr>
        <p:txBody>
          <a:bodyPr/>
          <a:lstStyle/>
          <a:p>
            <a:endParaRPr/>
          </a:p>
        </p:txBody>
      </p:sp>
      <p:sp>
        <p:nvSpPr>
          <p:cNvPr id="11" name="Text 8"/>
          <p:cNvSpPr txBox="1"/>
          <p:nvPr/>
        </p:nvSpPr>
        <p:spPr>
          <a:xfrm>
            <a:off x="365760" y="224028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Q2</a:t>
            </a:r>
            <a:endParaRPr lang="en-US" sz="1300" dirty="0"/>
          </a:p>
        </p:txBody>
      </p:sp>
      <p:sp>
        <p:nvSpPr>
          <p:cNvPr id="12" name="Text 9"/>
          <p:cNvSpPr txBox="1"/>
          <p:nvPr/>
        </p:nvSpPr>
        <p:spPr>
          <a:xfrm>
            <a:off x="1051560" y="2194560"/>
            <a:ext cx="7726680" cy="868680"/>
          </a:xfrm>
          <a:prstGeom prst="rect">
            <a:avLst/>
          </a:prstGeom>
          <a:noFill/>
          <a:ln/>
        </p:spPr>
        <p:txBody>
          <a:bodyPr wrap="square" lIns="0" tIns="0" rIns="0" bIns="0" rtlCol="0" anchor="t"/>
          <a:lstStyle/>
          <a:p>
            <a:pPr marL="0" indent="0">
              <a:buNone/>
            </a:pPr>
            <a:r>
              <a:rPr lang="en-US" sz="1200" dirty="0">
                <a:solidFill>
                  <a:srgbClr val="222222"/>
                </a:solidFill>
                <a:latin typeface="Calibri" pitchFamily="34" charset="0"/>
                <a:ea typeface="Calibri" pitchFamily="34" charset="-122"/>
                <a:cs typeface="Calibri" pitchFamily="34" charset="-120"/>
              </a:rPr>
              <a:t>Explain why an organization needs separate Dev, QA and Prod environments. What could go wrong if a model is promoted straight from a data scientist's laptop to production?</a:t>
            </a:r>
            <a:endParaRPr lang="en-US" sz="1200" dirty="0"/>
          </a:p>
        </p:txBody>
      </p:sp>
      <p:sp>
        <p:nvSpPr>
          <p:cNvPr id="13" name="Shape 10"/>
          <p:cNvSpPr/>
          <p:nvPr/>
        </p:nvSpPr>
        <p:spPr>
          <a:xfrm>
            <a:off x="365760" y="3200400"/>
            <a:ext cx="502920" cy="502920"/>
          </a:xfrm>
          <a:prstGeom prst="ellipse">
            <a:avLst/>
          </a:prstGeom>
          <a:solidFill>
            <a:srgbClr val="1B2A4A"/>
          </a:solidFill>
          <a:ln w="12700">
            <a:solidFill>
              <a:srgbClr val="1B2A4A"/>
            </a:solidFill>
            <a:prstDash val="solid"/>
          </a:ln>
        </p:spPr>
        <p:txBody>
          <a:bodyPr/>
          <a:lstStyle/>
          <a:p>
            <a:endParaRPr/>
          </a:p>
        </p:txBody>
      </p:sp>
      <p:sp>
        <p:nvSpPr>
          <p:cNvPr id="14" name="Text 11"/>
          <p:cNvSpPr txBox="1"/>
          <p:nvPr/>
        </p:nvSpPr>
        <p:spPr>
          <a:xfrm>
            <a:off x="365760" y="320040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Q3</a:t>
            </a:r>
            <a:endParaRPr lang="en-US" sz="1300" dirty="0"/>
          </a:p>
        </p:txBody>
      </p:sp>
      <p:sp>
        <p:nvSpPr>
          <p:cNvPr id="15" name="Text 12"/>
          <p:cNvSpPr txBox="1"/>
          <p:nvPr/>
        </p:nvSpPr>
        <p:spPr>
          <a:xfrm>
            <a:off x="1051560" y="3154680"/>
            <a:ext cx="7726680" cy="868680"/>
          </a:xfrm>
          <a:prstGeom prst="rect">
            <a:avLst/>
          </a:prstGeom>
          <a:noFill/>
          <a:ln/>
        </p:spPr>
        <p:txBody>
          <a:bodyPr wrap="square" lIns="0" tIns="0" rIns="0" bIns="0" rtlCol="0" anchor="t"/>
          <a:lstStyle/>
          <a:p>
            <a:pPr marL="0" indent="0">
              <a:buNone/>
            </a:pPr>
            <a:r>
              <a:rPr lang="en-US" sz="1200" dirty="0">
                <a:solidFill>
                  <a:srgbClr val="222222"/>
                </a:solidFill>
                <a:latin typeface="Calibri" pitchFamily="34" charset="0"/>
                <a:ea typeface="Calibri" pitchFamily="34" charset="-122"/>
                <a:cs typeface="Calibri" pitchFamily="34" charset="-120"/>
              </a:rPr>
              <a:t>Identify one adversarial or data-integrity threat to a deployed model and propose a mitigation. Which lineage or auditability control would help you detect it?</a:t>
            </a:r>
            <a:endParaRPr lang="en-US" sz="1200" dirty="0"/>
          </a:p>
        </p:txBody>
      </p:sp>
      <p:sp>
        <p:nvSpPr>
          <p:cNvPr id="16" name="Shape 13"/>
          <p:cNvSpPr/>
          <p:nvPr/>
        </p:nvSpPr>
        <p:spPr>
          <a:xfrm>
            <a:off x="365760" y="4114800"/>
            <a:ext cx="8412480" cy="457200"/>
          </a:xfrm>
          <a:prstGeom prst="roundRect">
            <a:avLst>
              <a:gd name="adj" fmla="val 16000"/>
            </a:avLst>
          </a:prstGeom>
          <a:solidFill>
            <a:srgbClr val="E3F1F2"/>
          </a:solidFill>
          <a:ln w="12700">
            <a:solidFill>
              <a:srgbClr val="E3F1F2"/>
            </a:solidFill>
            <a:prstDash val="solid"/>
          </a:ln>
        </p:spPr>
        <p:txBody>
          <a:bodyPr/>
          <a:lstStyle/>
          <a:p>
            <a:endParaRPr/>
          </a:p>
        </p:txBody>
      </p:sp>
      <p:pic>
        <p:nvPicPr>
          <p:cNvPr id="17" name="Image 0" descr="preencoded.png"/>
          <p:cNvPicPr>
            <a:picLocks noChangeAspect="1"/>
          </p:cNvPicPr>
          <p:nvPr/>
        </p:nvPicPr>
        <p:blipFill>
          <a:blip r:embed="rId3"/>
          <a:stretch>
            <a:fillRect/>
          </a:stretch>
        </p:blipFill>
        <p:spPr>
          <a:xfrm>
            <a:off x="502920" y="4206240"/>
            <a:ext cx="274320" cy="274320"/>
          </a:xfrm>
          <a:prstGeom prst="rect">
            <a:avLst/>
          </a:prstGeom>
        </p:spPr>
      </p:pic>
      <p:sp>
        <p:nvSpPr>
          <p:cNvPr id="18" name="Text 14"/>
          <p:cNvSpPr txBox="1"/>
          <p:nvPr/>
        </p:nvSpPr>
        <p:spPr>
          <a:xfrm>
            <a:off x="896112" y="4114800"/>
            <a:ext cx="7772400" cy="457200"/>
          </a:xfrm>
          <a:prstGeom prst="rect">
            <a:avLst/>
          </a:prstGeom>
          <a:noFill/>
          <a:ln/>
        </p:spPr>
        <p:txBody>
          <a:bodyPr wrap="square" lIns="0" tIns="0" rIns="0" bIns="0" rtlCol="0" anchor="ctr"/>
          <a:lstStyle/>
          <a:p>
            <a:pPr marL="0" indent="0">
              <a:buNone/>
            </a:pPr>
            <a:r>
              <a:rPr lang="en-US" sz="1150" dirty="0">
                <a:solidFill>
                  <a:srgbClr val="1B2A4A"/>
                </a:solidFill>
                <a:latin typeface="Calibri" pitchFamily="34" charset="0"/>
                <a:ea typeface="Calibri" pitchFamily="34" charset="-122"/>
                <a:cs typeface="Calibri" pitchFamily="34" charset="-120"/>
              </a:rPr>
              <a:t>Opens today, closes Friday 16 October. No code needed for Q1: a drawing and a paragraph. Post early; reply to two classmates.</a:t>
            </a:r>
            <a:endParaRPr lang="en-US" sz="1150" dirty="0"/>
          </a:p>
        </p:txBody>
      </p:sp>
      <p:pic>
        <p:nvPicPr>
          <p:cNvPr id="19" name="IE University logo" descr="IE University, School of Science &amp; Technology"/>
          <p:cNvPicPr>
            <a:picLocks noChangeAspect="1"/>
          </p:cNvPicPr>
          <p:nvPr/>
        </p:nvPicPr>
        <p:blipFill>
          <a:blip r:embed="rId4"/>
          <a:stretch>
            <a:fillRect/>
          </a:stretch>
        </p:blipFill>
        <p:spPr>
          <a:xfrm>
            <a:off x="8013607" y="92634"/>
            <a:ext cx="764633" cy="262789"/>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marL="0" indent="0">
              <a:buNone/>
            </a:pPr>
            <a:r>
              <a:rPr lang="en-US" sz="800" dirty="0">
                <a:solidFill>
                  <a:srgbClr val="6B7280"/>
                </a:solidFill>
                <a:latin typeface="Calibri" pitchFamily="34" charset="0"/>
                <a:ea typeface="Calibri" pitchFamily="34" charset="-122"/>
                <a:cs typeface="Calibri" pitchFamily="34" charset="-120"/>
              </a:rPr>
              <a:t>MLOps · MBDS-PT2026F · Session 3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marL="0" indent="0" algn="r">
              <a:buNone/>
            </a:pPr>
            <a:r>
              <a:rPr lang="en-US" sz="800" dirty="0">
                <a:solidFill>
                  <a:srgbClr val="6B7280"/>
                </a:solidFill>
                <a:latin typeface="Calibri" pitchFamily="34" charset="0"/>
                <a:ea typeface="Calibri" pitchFamily="34" charset="-122"/>
                <a:cs typeface="Calibri" pitchFamily="34" charset="-120"/>
              </a:rPr>
              <a:t>32</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marL="0" indent="0">
              <a:buNone/>
            </a:pPr>
            <a:r>
              <a:rPr lang="en-US" sz="2400" b="1" dirty="0">
                <a:solidFill>
                  <a:srgbClr val="1B2A4A"/>
                </a:solidFill>
                <a:latin typeface="Calibri" pitchFamily="34" charset="0"/>
                <a:ea typeface="Calibri" pitchFamily="34" charset="-122"/>
                <a:cs typeface="Calibri" pitchFamily="34" charset="-120"/>
              </a:rPr>
              <a:t>Before Session 5 (Saturday 17 October): read, and look at one thing</a:t>
            </a:r>
            <a:endParaRPr lang="en-US" sz="2400" dirty="0"/>
          </a:p>
        </p:txBody>
      </p:sp>
      <p:sp>
        <p:nvSpPr>
          <p:cNvPr id="7" name="Shape 4"/>
          <p:cNvSpPr/>
          <p:nvPr/>
        </p:nvSpPr>
        <p:spPr>
          <a:xfrm>
            <a:off x="365760" y="1234440"/>
            <a:ext cx="4114800" cy="2011680"/>
          </a:xfrm>
          <a:prstGeom prst="roundRect">
            <a:avLst>
              <a:gd name="adj" fmla="val 3636"/>
            </a:avLst>
          </a:prstGeom>
          <a:solidFill>
            <a:srgbClr val="F3F5F8"/>
          </a:solidFill>
          <a:ln w="12700">
            <a:solidFill>
              <a:srgbClr val="F3F5F8"/>
            </a:solidFill>
            <a:prstDash val="solid"/>
          </a:ln>
        </p:spPr>
        <p:txBody>
          <a:bodyPr/>
          <a:lstStyle/>
          <a:p>
            <a:endParaRPr/>
          </a:p>
        </p:txBody>
      </p:sp>
      <p:sp>
        <p:nvSpPr>
          <p:cNvPr id="8" name="Shape 5"/>
          <p:cNvSpPr/>
          <p:nvPr/>
        </p:nvSpPr>
        <p:spPr>
          <a:xfrm>
            <a:off x="502920" y="1353312"/>
            <a:ext cx="347472" cy="347472"/>
          </a:xfrm>
          <a:prstGeom prst="ellipse">
            <a:avLst/>
          </a:prstGeom>
          <a:solidFill>
            <a:srgbClr val="0E7C86"/>
          </a:solidFill>
          <a:ln w="12700">
            <a:solidFill>
              <a:srgbClr val="0E7C86"/>
            </a:solidFill>
            <a:prstDash val="solid"/>
          </a:ln>
        </p:spPr>
        <p:txBody>
          <a:bodyPr/>
          <a:lstStyle/>
          <a:p>
            <a:endParaRPr/>
          </a:p>
        </p:txBody>
      </p:sp>
      <p:pic>
        <p:nvPicPr>
          <p:cNvPr id="9" name="Image 0" descr="preencoded.png"/>
          <p:cNvPicPr>
            <a:picLocks noChangeAspect="1"/>
          </p:cNvPicPr>
          <p:nvPr/>
        </p:nvPicPr>
        <p:blipFill>
          <a:blip r:embed="rId3"/>
          <a:stretch>
            <a:fillRect/>
          </a:stretch>
        </p:blipFill>
        <p:spPr>
          <a:xfrm>
            <a:off x="576072" y="1426464"/>
            <a:ext cx="201168" cy="201168"/>
          </a:xfrm>
          <a:prstGeom prst="rect">
            <a:avLst/>
          </a:prstGeom>
        </p:spPr>
      </p:pic>
      <p:sp>
        <p:nvSpPr>
          <p:cNvPr id="10" name="Text 6"/>
          <p:cNvSpPr txBox="1"/>
          <p:nvPr/>
        </p:nvSpPr>
        <p:spPr>
          <a:xfrm>
            <a:off x="932688" y="1325880"/>
            <a:ext cx="3429000" cy="402336"/>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Read</a:t>
            </a:r>
            <a:endParaRPr lang="en-US" sz="1300" dirty="0"/>
          </a:p>
        </p:txBody>
      </p:sp>
      <p:sp>
        <p:nvSpPr>
          <p:cNvPr id="11" name="Text 7"/>
          <p:cNvSpPr txBox="1"/>
          <p:nvPr/>
        </p:nvSpPr>
        <p:spPr>
          <a:xfrm>
            <a:off x="502920" y="1783080"/>
            <a:ext cx="3840480" cy="1371600"/>
          </a:xfrm>
          <a:prstGeom prst="rect">
            <a:avLst/>
          </a:prstGeom>
          <a:noFill/>
          <a:ln/>
        </p:spPr>
        <p:txBody>
          <a:bodyPr wrap="square" lIns="0" tIns="0" rIns="0" bIns="0" rtlCol="0" anchor="t"/>
          <a:lstStyle/>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Treveil et al., Introducing MLOps, chapters 5–6: Preparing for production, Deploying to production</a:t>
            </a:r>
            <a:endParaRPr lang="en-US" sz="1150" dirty="0"/>
          </a:p>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Google Cloud, "MLOps: continuous delivery and automation pipelines in ML", up to MLOps level 1</a:t>
            </a:r>
            <a:endParaRPr lang="en-US" sz="1150" dirty="0"/>
          </a:p>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Optional: Huyen, Designing ML Systems, chapter 7</a:t>
            </a:r>
            <a:endParaRPr lang="en-US" sz="1150" dirty="0"/>
          </a:p>
        </p:txBody>
      </p:sp>
      <p:sp>
        <p:nvSpPr>
          <p:cNvPr id="12" name="Shape 8"/>
          <p:cNvSpPr/>
          <p:nvPr/>
        </p:nvSpPr>
        <p:spPr>
          <a:xfrm>
            <a:off x="4663440" y="1234440"/>
            <a:ext cx="4114800" cy="2011680"/>
          </a:xfrm>
          <a:prstGeom prst="roundRect">
            <a:avLst>
              <a:gd name="adj" fmla="val 3636"/>
            </a:avLst>
          </a:prstGeom>
          <a:solidFill>
            <a:srgbClr val="F3F5F8"/>
          </a:solidFill>
          <a:ln w="12700">
            <a:solidFill>
              <a:srgbClr val="F3F5F8"/>
            </a:solidFill>
            <a:prstDash val="solid"/>
          </a:ln>
        </p:spPr>
        <p:txBody>
          <a:bodyPr/>
          <a:lstStyle/>
          <a:p>
            <a:endParaRPr/>
          </a:p>
        </p:txBody>
      </p:sp>
      <p:sp>
        <p:nvSpPr>
          <p:cNvPr id="13" name="Shape 9"/>
          <p:cNvSpPr/>
          <p:nvPr/>
        </p:nvSpPr>
        <p:spPr>
          <a:xfrm>
            <a:off x="4800600" y="1353312"/>
            <a:ext cx="347472" cy="347472"/>
          </a:xfrm>
          <a:prstGeom prst="ellipse">
            <a:avLst/>
          </a:prstGeom>
          <a:solidFill>
            <a:srgbClr val="0E7C86"/>
          </a:solidFill>
          <a:ln w="12700">
            <a:solidFill>
              <a:srgbClr val="0E7C86"/>
            </a:solidFill>
            <a:prstDash val="solid"/>
          </a:ln>
        </p:spPr>
        <p:txBody>
          <a:bodyPr/>
          <a:lstStyle/>
          <a:p>
            <a:endParaRPr/>
          </a:p>
        </p:txBody>
      </p:sp>
      <p:pic>
        <p:nvPicPr>
          <p:cNvPr id="14" name="Image 1" descr="preencoded.png"/>
          <p:cNvPicPr>
            <a:picLocks noChangeAspect="1"/>
          </p:cNvPicPr>
          <p:nvPr/>
        </p:nvPicPr>
        <p:blipFill>
          <a:blip r:embed="rId4"/>
          <a:stretch>
            <a:fillRect/>
          </a:stretch>
        </p:blipFill>
        <p:spPr>
          <a:xfrm>
            <a:off x="4873752" y="1426464"/>
            <a:ext cx="201168" cy="201168"/>
          </a:xfrm>
          <a:prstGeom prst="rect">
            <a:avLst/>
          </a:prstGeom>
        </p:spPr>
      </p:pic>
      <p:sp>
        <p:nvSpPr>
          <p:cNvPr id="15" name="Text 10"/>
          <p:cNvSpPr txBox="1"/>
          <p:nvPr/>
        </p:nvSpPr>
        <p:spPr>
          <a:xfrm>
            <a:off x="5230368" y="1325880"/>
            <a:ext cx="3429000" cy="402336"/>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Look at one thing</a:t>
            </a:r>
            <a:endParaRPr lang="en-US" sz="1300" dirty="0"/>
          </a:p>
        </p:txBody>
      </p:sp>
      <p:sp>
        <p:nvSpPr>
          <p:cNvPr id="16" name="Text 11"/>
          <p:cNvSpPr txBox="1"/>
          <p:nvPr/>
        </p:nvSpPr>
        <p:spPr>
          <a:xfrm>
            <a:off x="4800600" y="1783080"/>
            <a:ext cx="3840480" cy="1371600"/>
          </a:xfrm>
          <a:prstGeom prst="rect">
            <a:avLst/>
          </a:prstGeom>
          <a:noFill/>
          <a:ln/>
        </p:spPr>
        <p:txBody>
          <a:bodyPr wrap="square" lIns="0" tIns="0" rIns="0" bIns="0" rtlCol="0" anchor="t"/>
          <a:lstStyle/>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github.com/juanmaramirezgarcia/mlops-demo-churn → Actions tab</a:t>
            </a:r>
            <a:endParaRPr lang="en-US" sz="1150" dirty="0"/>
          </a:p>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Every push shows a green tick or a red cross. Write down what you think the tick is checking</a:t>
            </a:r>
            <a:endParaRPr lang="en-US" sz="1150" dirty="0"/>
          </a:p>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Session 5 starts from there</a:t>
            </a:r>
            <a:endParaRPr lang="en-US" sz="1150" dirty="0"/>
          </a:p>
        </p:txBody>
      </p:sp>
      <p:sp>
        <p:nvSpPr>
          <p:cNvPr id="17" name="Shape 12"/>
          <p:cNvSpPr/>
          <p:nvPr/>
        </p:nvSpPr>
        <p:spPr>
          <a:xfrm>
            <a:off x="365760" y="3429000"/>
            <a:ext cx="8412480" cy="914400"/>
          </a:xfrm>
          <a:prstGeom prst="roundRect">
            <a:avLst>
              <a:gd name="adj" fmla="val 8000"/>
            </a:avLst>
          </a:prstGeom>
          <a:solidFill>
            <a:srgbClr val="1B2A4A"/>
          </a:solidFill>
          <a:ln w="12700">
            <a:solidFill>
              <a:srgbClr val="1B2A4A"/>
            </a:solidFill>
            <a:prstDash val="solid"/>
          </a:ln>
        </p:spPr>
        <p:txBody>
          <a:bodyPr/>
          <a:lstStyle/>
          <a:p>
            <a:endParaRPr/>
          </a:p>
        </p:txBody>
      </p:sp>
      <p:sp>
        <p:nvSpPr>
          <p:cNvPr id="18" name="Text 13"/>
          <p:cNvSpPr txBox="1"/>
          <p:nvPr/>
        </p:nvSpPr>
        <p:spPr>
          <a:xfrm>
            <a:off x="548640" y="3474720"/>
            <a:ext cx="804672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Next: Session 5 · CI/CD &amp; Deployment Strategies</a:t>
            </a:r>
            <a:endParaRPr lang="en-US" sz="1400" dirty="0"/>
          </a:p>
        </p:txBody>
      </p:sp>
      <p:sp>
        <p:nvSpPr>
          <p:cNvPr id="19" name="Text 14"/>
          <p:cNvSpPr txBox="1"/>
          <p:nvPr/>
        </p:nvSpPr>
        <p:spPr>
          <a:xfrm>
            <a:off x="548640" y="3840480"/>
            <a:ext cx="8046720" cy="457200"/>
          </a:xfrm>
          <a:prstGeom prst="rect">
            <a:avLst/>
          </a:prstGeom>
          <a:noFill/>
          <a:ln/>
        </p:spPr>
        <p:txBody>
          <a:bodyPr wrap="square" lIns="0" tIns="0" rIns="0" bIns="0" rtlCol="0" anchor="ctr"/>
          <a:lstStyle/>
          <a:p>
            <a:pPr marL="0" indent="0">
              <a:buNone/>
            </a:pPr>
            <a:r>
              <a:rPr lang="en-US" sz="1200" dirty="0">
                <a:solidFill>
                  <a:srgbClr val="CADCFC"/>
                </a:solidFill>
                <a:latin typeface="Calibri" pitchFamily="34" charset="0"/>
                <a:ea typeface="Calibri" pitchFamily="34" charset="-122"/>
                <a:cs typeface="Calibri" pitchFamily="34" charset="-120"/>
              </a:rPr>
              <a:t>Tests for code and tests for data · how a model reaches customers without downtime: canary, blue-green, A/B · serverless hosting</a:t>
            </a:r>
            <a:endParaRPr lang="en-US" sz="1200" dirty="0"/>
          </a:p>
        </p:txBody>
      </p:sp>
      <p:pic>
        <p:nvPicPr>
          <p:cNvPr id="20" name="IE University logo" descr="IE University, School of Science &amp; Technology"/>
          <p:cNvPicPr>
            <a:picLocks noChangeAspect="1"/>
          </p:cNvPicPr>
          <p:nvPr/>
        </p:nvPicPr>
        <p:blipFill>
          <a:blip r:embed="rId5"/>
          <a:stretch>
            <a:fillRect/>
          </a:stretch>
        </p:blipFill>
        <p:spPr>
          <a:xfrm>
            <a:off x="8013607" y="92634"/>
            <a:ext cx="764633" cy="262789"/>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2E3F63"/>
        </a:solidFill>
        <a:effectLst/>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marL="0" indent="0">
              <a:buNone/>
            </a:pPr>
            <a:r>
              <a:rPr lang="en-US" sz="900" dirty="0">
                <a:solidFill>
                  <a:srgbClr val="B8C4D6"/>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marL="0" indent="0">
              <a:buNone/>
            </a:pPr>
            <a:r>
              <a:rPr lang="en-US" sz="800" dirty="0">
                <a:solidFill>
                  <a:srgbClr val="B8C4D6"/>
                </a:solidFill>
                <a:latin typeface="Calibri" pitchFamily="34" charset="0"/>
                <a:ea typeface="Calibri" pitchFamily="34" charset="-122"/>
                <a:cs typeface="Calibri" pitchFamily="34" charset="-120"/>
              </a:rPr>
              <a:t>MLOps · MBDS-PT2026F · Session 3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marL="0" indent="0" algn="r">
              <a:buNone/>
            </a:pPr>
            <a:r>
              <a:rPr lang="en-US" sz="800" dirty="0">
                <a:solidFill>
                  <a:srgbClr val="B8C4D6"/>
                </a:solidFill>
                <a:latin typeface="Calibri" pitchFamily="34" charset="0"/>
                <a:ea typeface="Calibri" pitchFamily="34" charset="-122"/>
                <a:cs typeface="Calibri" pitchFamily="34" charset="-120"/>
              </a:rPr>
              <a:t>33</a:t>
            </a:r>
            <a:endParaRPr lang="en-US" sz="800" dirty="0"/>
          </a:p>
        </p:txBody>
      </p:sp>
      <p:sp>
        <p:nvSpPr>
          <p:cNvPr id="5" name="Text 3"/>
          <p:cNvSpPr txBox="1"/>
          <p:nvPr/>
        </p:nvSpPr>
        <p:spPr>
          <a:xfrm>
            <a:off x="548640" y="1463040"/>
            <a:ext cx="8046720" cy="73152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Appendix · How models are tuned (not examinable)</a:t>
            </a:r>
            <a:endParaRPr lang="en-US" sz="3000" dirty="0"/>
          </a:p>
        </p:txBody>
      </p:sp>
      <p:sp>
        <p:nvSpPr>
          <p:cNvPr id="6" name="Text 4"/>
          <p:cNvSpPr txBox="1"/>
          <p:nvPr/>
        </p:nvSpPr>
        <p:spPr>
          <a:xfrm>
            <a:off x="548640" y="2286000"/>
            <a:ext cx="8046720" cy="822960"/>
          </a:xfrm>
          <a:prstGeom prst="rect">
            <a:avLst/>
          </a:prstGeom>
          <a:noFill/>
          <a:ln/>
        </p:spPr>
        <p:txBody>
          <a:bodyPr wrap="square" lIns="0" tIns="0" rIns="0" bIns="0" rtlCol="0" anchor="ctr"/>
          <a:lstStyle/>
          <a:p>
            <a:pPr marL="0" indent="0">
              <a:buNone/>
            </a:pPr>
            <a:r>
              <a:rPr lang="en-US" sz="1600" dirty="0">
                <a:solidFill>
                  <a:srgbClr val="CADCFC"/>
                </a:solidFill>
                <a:latin typeface="Calibri" pitchFamily="34" charset="0"/>
                <a:ea typeface="Calibri" pitchFamily="34" charset="-122"/>
                <a:cs typeface="Calibri" pitchFamily="34" charset="-120"/>
              </a:rPr>
              <a:t>Five slides for the curious: hyperparameters, search strategies, AutoML, how to challenge a model before trusting it, and what the MLflow lines look like in a training script. Not covered live; not in the exam.</a:t>
            </a:r>
            <a:endParaRPr lang="en-US" sz="1600" dirty="0"/>
          </a:p>
        </p:txBody>
      </p:sp>
      <p:pic>
        <p:nvPicPr>
          <p:cNvPr id="7" name="IE University logo" descr="IE University, School of Science &amp; Technology"/>
          <p:cNvPicPr>
            <a:picLocks noChangeAspect="1"/>
          </p:cNvPicPr>
          <p:nvPr/>
        </p:nvPicPr>
        <p:blipFill>
          <a:blip r:embed="rId3"/>
          <a:stretch>
            <a:fillRect/>
          </a:stretch>
        </p:blipFill>
        <p:spPr>
          <a:xfrm>
            <a:off x="8252653" y="109728"/>
            <a:ext cx="525587" cy="704395"/>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marL="0" indent="0">
              <a:buNone/>
            </a:pPr>
            <a:r>
              <a:rPr lang="en-US" sz="800" dirty="0">
                <a:solidFill>
                  <a:srgbClr val="6B7280"/>
                </a:solidFill>
                <a:latin typeface="Calibri" pitchFamily="34" charset="0"/>
                <a:ea typeface="Calibri" pitchFamily="34" charset="-122"/>
                <a:cs typeface="Calibri" pitchFamily="34" charset="-120"/>
              </a:rPr>
              <a:t>MLOps · MBDS-PT2026F · Session 3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marL="0" indent="0" algn="r">
              <a:buNone/>
            </a:pPr>
            <a:r>
              <a:rPr lang="en-US" sz="800" dirty="0">
                <a:solidFill>
                  <a:srgbClr val="6B7280"/>
                </a:solidFill>
                <a:latin typeface="Calibri" pitchFamily="34" charset="0"/>
                <a:ea typeface="Calibri" pitchFamily="34" charset="-122"/>
                <a:cs typeface="Calibri" pitchFamily="34" charset="-120"/>
              </a:rPr>
              <a:t>34</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marL="0" indent="0">
              <a:buNone/>
            </a:pPr>
            <a:r>
              <a:rPr lang="en-US" sz="2400" b="1" dirty="0">
                <a:solidFill>
                  <a:srgbClr val="1B2A4A"/>
                </a:solidFill>
                <a:latin typeface="Calibri" pitchFamily="34" charset="0"/>
                <a:ea typeface="Calibri" pitchFamily="34" charset="-122"/>
                <a:cs typeface="Calibri" pitchFamily="34" charset="-120"/>
              </a:rPr>
              <a:t>Appendix · Hyperparameters: the settings that govern training</a:t>
            </a:r>
            <a:endParaRPr lang="en-US" sz="2400" dirty="0"/>
          </a:p>
        </p:txBody>
      </p:sp>
      <p:sp>
        <p:nvSpPr>
          <p:cNvPr id="7" name="Shape 4"/>
          <p:cNvSpPr/>
          <p:nvPr/>
        </p:nvSpPr>
        <p:spPr>
          <a:xfrm>
            <a:off x="365760" y="1234440"/>
            <a:ext cx="4114800" cy="2743200"/>
          </a:xfrm>
          <a:prstGeom prst="roundRect">
            <a:avLst>
              <a:gd name="adj" fmla="val 2667"/>
            </a:avLst>
          </a:prstGeom>
          <a:solidFill>
            <a:srgbClr val="F3F5F8"/>
          </a:solidFill>
          <a:ln w="12700">
            <a:solidFill>
              <a:srgbClr val="F3F5F8"/>
            </a:solidFill>
            <a:prstDash val="solid"/>
          </a:ln>
        </p:spPr>
        <p:txBody>
          <a:bodyPr/>
          <a:lstStyle/>
          <a:p>
            <a:endParaRPr/>
          </a:p>
        </p:txBody>
      </p:sp>
      <p:sp>
        <p:nvSpPr>
          <p:cNvPr id="8" name="Shape 5"/>
          <p:cNvSpPr/>
          <p:nvPr/>
        </p:nvSpPr>
        <p:spPr>
          <a:xfrm>
            <a:off x="502920" y="1353312"/>
            <a:ext cx="347472" cy="347472"/>
          </a:xfrm>
          <a:prstGeom prst="ellipse">
            <a:avLst/>
          </a:prstGeom>
          <a:solidFill>
            <a:srgbClr val="0E7C86"/>
          </a:solidFill>
          <a:ln w="12700">
            <a:solidFill>
              <a:srgbClr val="0E7C86"/>
            </a:solidFill>
            <a:prstDash val="solid"/>
          </a:ln>
        </p:spPr>
        <p:txBody>
          <a:bodyPr/>
          <a:lstStyle/>
          <a:p>
            <a:endParaRPr/>
          </a:p>
        </p:txBody>
      </p:sp>
      <p:pic>
        <p:nvPicPr>
          <p:cNvPr id="9" name="Image 0" descr="preencoded.png"/>
          <p:cNvPicPr>
            <a:picLocks noChangeAspect="1"/>
          </p:cNvPicPr>
          <p:nvPr/>
        </p:nvPicPr>
        <p:blipFill>
          <a:blip r:embed="rId3"/>
          <a:stretch>
            <a:fillRect/>
          </a:stretch>
        </p:blipFill>
        <p:spPr>
          <a:xfrm>
            <a:off x="576072" y="1426464"/>
            <a:ext cx="201168" cy="201168"/>
          </a:xfrm>
          <a:prstGeom prst="rect">
            <a:avLst/>
          </a:prstGeom>
        </p:spPr>
      </p:pic>
      <p:sp>
        <p:nvSpPr>
          <p:cNvPr id="10" name="Text 6"/>
          <p:cNvSpPr txBox="1"/>
          <p:nvPr/>
        </p:nvSpPr>
        <p:spPr>
          <a:xfrm>
            <a:off x="932688" y="1325880"/>
            <a:ext cx="3429000" cy="402336"/>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What they are</a:t>
            </a:r>
            <a:endParaRPr lang="en-US" sz="1300" dirty="0"/>
          </a:p>
        </p:txBody>
      </p:sp>
      <p:sp>
        <p:nvSpPr>
          <p:cNvPr id="11" name="Text 7"/>
          <p:cNvSpPr txBox="1"/>
          <p:nvPr/>
        </p:nvSpPr>
        <p:spPr>
          <a:xfrm>
            <a:off x="502920" y="1783080"/>
            <a:ext cx="3840480" cy="2103120"/>
          </a:xfrm>
          <a:prstGeom prst="rect">
            <a:avLst/>
          </a:prstGeom>
          <a:noFill/>
          <a:ln/>
        </p:spPr>
        <p:txBody>
          <a:bodyPr wrap="square" lIns="0" tIns="0" rIns="0" bIns="0" rtlCol="0" anchor="t"/>
          <a:lstStyle/>
          <a:p>
            <a:pPr marL="177800" indent="-177800">
              <a:spcAft>
                <a:spcPts val="300"/>
              </a:spcAft>
              <a:buSzPct val="100000"/>
              <a:buChar char="•"/>
            </a:pPr>
            <a:r>
              <a:rPr lang="en-US" sz="1200" dirty="0">
                <a:solidFill>
                  <a:srgbClr val="222222"/>
                </a:solidFill>
                <a:latin typeface="Calibri" pitchFamily="34" charset="0"/>
                <a:ea typeface="Calibri" pitchFamily="34" charset="-122"/>
                <a:cs typeface="Calibri" pitchFamily="34" charset="-120"/>
              </a:rPr>
              <a:t>Configuration variables set before training: number of trees, tree depth, learning rate, regularisation</a:t>
            </a:r>
            <a:endParaRPr lang="en-US" sz="1200" dirty="0"/>
          </a:p>
          <a:p>
            <a:pPr marL="177800" indent="-177800">
              <a:spcAft>
                <a:spcPts val="300"/>
              </a:spcAft>
              <a:buSzPct val="100000"/>
              <a:buChar char="•"/>
            </a:pPr>
            <a:r>
              <a:rPr lang="en-US" sz="1200" dirty="0">
                <a:solidFill>
                  <a:srgbClr val="222222"/>
                </a:solidFill>
                <a:latin typeface="Calibri" pitchFamily="34" charset="0"/>
                <a:ea typeface="Calibri" pitchFamily="34" charset="-122"/>
                <a:cs typeface="Calibri" pitchFamily="34" charset="-120"/>
              </a:rPr>
              <a:t>Not learned from the data; constant during a training job</a:t>
            </a:r>
            <a:endParaRPr lang="en-US" sz="1200" dirty="0"/>
          </a:p>
          <a:p>
            <a:pPr marL="177800" indent="-177800">
              <a:spcAft>
                <a:spcPts val="300"/>
              </a:spcAft>
              <a:buSzPct val="100000"/>
              <a:buChar char="•"/>
            </a:pPr>
            <a:r>
              <a:rPr lang="en-US" sz="1200" dirty="0">
                <a:solidFill>
                  <a:srgbClr val="222222"/>
                </a:solidFill>
                <a:latin typeface="Calibri" pitchFamily="34" charset="0"/>
                <a:ea typeface="Calibri" pitchFamily="34" charset="-122"/>
                <a:cs typeface="Calibri" pitchFamily="34" charset="-120"/>
              </a:rPr>
              <a:t>Each combination is a "trial": a complete training run</a:t>
            </a:r>
            <a:endParaRPr lang="en-US" sz="1200" dirty="0"/>
          </a:p>
        </p:txBody>
      </p:sp>
      <p:sp>
        <p:nvSpPr>
          <p:cNvPr id="12" name="Shape 8"/>
          <p:cNvSpPr/>
          <p:nvPr/>
        </p:nvSpPr>
        <p:spPr>
          <a:xfrm>
            <a:off x="4663440" y="1234440"/>
            <a:ext cx="4114800" cy="2743200"/>
          </a:xfrm>
          <a:prstGeom prst="roundRect">
            <a:avLst>
              <a:gd name="adj" fmla="val 2667"/>
            </a:avLst>
          </a:prstGeom>
          <a:solidFill>
            <a:srgbClr val="F3F5F8"/>
          </a:solidFill>
          <a:ln w="12700">
            <a:solidFill>
              <a:srgbClr val="F3F5F8"/>
            </a:solidFill>
            <a:prstDash val="solid"/>
          </a:ln>
        </p:spPr>
        <p:txBody>
          <a:bodyPr/>
          <a:lstStyle/>
          <a:p>
            <a:endParaRPr/>
          </a:p>
        </p:txBody>
      </p:sp>
      <p:sp>
        <p:nvSpPr>
          <p:cNvPr id="13" name="Shape 9"/>
          <p:cNvSpPr/>
          <p:nvPr/>
        </p:nvSpPr>
        <p:spPr>
          <a:xfrm>
            <a:off x="4800600" y="1353312"/>
            <a:ext cx="347472" cy="347472"/>
          </a:xfrm>
          <a:prstGeom prst="ellipse">
            <a:avLst/>
          </a:prstGeom>
          <a:solidFill>
            <a:srgbClr val="0E7C86"/>
          </a:solidFill>
          <a:ln w="12700">
            <a:solidFill>
              <a:srgbClr val="0E7C86"/>
            </a:solidFill>
            <a:prstDash val="solid"/>
          </a:ln>
        </p:spPr>
        <p:txBody>
          <a:bodyPr/>
          <a:lstStyle/>
          <a:p>
            <a:endParaRPr/>
          </a:p>
        </p:txBody>
      </p:sp>
      <p:pic>
        <p:nvPicPr>
          <p:cNvPr id="14" name="Image 1" descr="preencoded.png"/>
          <p:cNvPicPr>
            <a:picLocks noChangeAspect="1"/>
          </p:cNvPicPr>
          <p:nvPr/>
        </p:nvPicPr>
        <p:blipFill>
          <a:blip r:embed="rId4"/>
          <a:stretch>
            <a:fillRect/>
          </a:stretch>
        </p:blipFill>
        <p:spPr>
          <a:xfrm>
            <a:off x="4873752" y="1426464"/>
            <a:ext cx="201168" cy="201168"/>
          </a:xfrm>
          <a:prstGeom prst="rect">
            <a:avLst/>
          </a:prstGeom>
        </p:spPr>
      </p:pic>
      <p:sp>
        <p:nvSpPr>
          <p:cNvPr id="15" name="Text 10"/>
          <p:cNvSpPr txBox="1"/>
          <p:nvPr/>
        </p:nvSpPr>
        <p:spPr>
          <a:xfrm>
            <a:off x="5230368" y="1325880"/>
            <a:ext cx="3429000" cy="402336"/>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Why it matters for operations</a:t>
            </a:r>
            <a:endParaRPr lang="en-US" sz="1300" dirty="0"/>
          </a:p>
        </p:txBody>
      </p:sp>
      <p:sp>
        <p:nvSpPr>
          <p:cNvPr id="16" name="Text 11"/>
          <p:cNvSpPr txBox="1"/>
          <p:nvPr/>
        </p:nvSpPr>
        <p:spPr>
          <a:xfrm>
            <a:off x="4800600" y="1783080"/>
            <a:ext cx="3840480" cy="2103120"/>
          </a:xfrm>
          <a:prstGeom prst="rect">
            <a:avLst/>
          </a:prstGeom>
          <a:noFill/>
          <a:ln/>
        </p:spPr>
        <p:txBody>
          <a:bodyPr wrap="square" lIns="0" tIns="0" rIns="0" bIns="0" rtlCol="0" anchor="t"/>
          <a:lstStyle/>
          <a:p>
            <a:pPr marL="177800" indent="-177800">
              <a:spcAft>
                <a:spcPts val="300"/>
              </a:spcAft>
              <a:buSzPct val="100000"/>
              <a:buChar char="•"/>
            </a:pPr>
            <a:r>
              <a:rPr lang="en-US" sz="1200" dirty="0">
                <a:solidFill>
                  <a:srgbClr val="222222"/>
                </a:solidFill>
                <a:latin typeface="Calibri" pitchFamily="34" charset="0"/>
                <a:ea typeface="Calibri" pitchFamily="34" charset="-122"/>
                <a:cs typeface="Calibri" pitchFamily="34" charset="-120"/>
              </a:rPr>
              <a:t>Every trial should be logged (the experiment log from the demo)</a:t>
            </a:r>
            <a:endParaRPr lang="en-US" sz="1200" dirty="0"/>
          </a:p>
          <a:p>
            <a:pPr marL="177800" indent="-177800">
              <a:spcAft>
                <a:spcPts val="300"/>
              </a:spcAft>
              <a:buSzPct val="100000"/>
              <a:buChar char="•"/>
            </a:pPr>
            <a:r>
              <a:rPr lang="en-US" sz="1200" dirty="0">
                <a:solidFill>
                  <a:srgbClr val="222222"/>
                </a:solidFill>
                <a:latin typeface="Calibri" pitchFamily="34" charset="0"/>
                <a:ea typeface="Calibri" pitchFamily="34" charset="-122"/>
                <a:cs typeface="Calibri" pitchFamily="34" charset="-120"/>
              </a:rPr>
              <a:t>The winning settings are part of the model artefact</a:t>
            </a:r>
            <a:endParaRPr lang="en-US" sz="1200" dirty="0"/>
          </a:p>
          <a:p>
            <a:pPr marL="177800" indent="-177800">
              <a:spcAft>
                <a:spcPts val="300"/>
              </a:spcAft>
              <a:buSzPct val="100000"/>
              <a:buChar char="•"/>
            </a:pPr>
            <a:r>
              <a:rPr lang="en-US" sz="1200" dirty="0">
                <a:solidFill>
                  <a:srgbClr val="222222"/>
                </a:solidFill>
                <a:latin typeface="Calibri" pitchFamily="34" charset="0"/>
                <a:ea typeface="Calibri" pitchFamily="34" charset="-122"/>
                <a:cs typeface="Calibri" pitchFamily="34" charset="-120"/>
              </a:rPr>
              <a:t>Retraining later must reuse or re-tune them deliberately</a:t>
            </a:r>
            <a:endParaRPr lang="en-US" sz="1200" dirty="0"/>
          </a:p>
        </p:txBody>
      </p:sp>
      <p:pic>
        <p:nvPicPr>
          <p:cNvPr id="17" name="IE University logo" descr="IE University, School of Science &amp; Technology"/>
          <p:cNvPicPr>
            <a:picLocks noChangeAspect="1"/>
          </p:cNvPicPr>
          <p:nvPr/>
        </p:nvPicPr>
        <p:blipFill>
          <a:blip r:embed="rId5"/>
          <a:stretch>
            <a:fillRect/>
          </a:stretch>
        </p:blipFill>
        <p:spPr>
          <a:xfrm>
            <a:off x="8013607" y="92634"/>
            <a:ext cx="764633" cy="262789"/>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marL="0" indent="0">
              <a:buNone/>
            </a:pPr>
            <a:r>
              <a:rPr lang="en-US" sz="800" dirty="0">
                <a:solidFill>
                  <a:srgbClr val="6B7280"/>
                </a:solidFill>
                <a:latin typeface="Calibri" pitchFamily="34" charset="0"/>
                <a:ea typeface="Calibri" pitchFamily="34" charset="-122"/>
                <a:cs typeface="Calibri" pitchFamily="34" charset="-120"/>
              </a:rPr>
              <a:t>MLOps · MBDS-PT2026F · Session 3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marL="0" indent="0" algn="r">
              <a:buNone/>
            </a:pPr>
            <a:r>
              <a:rPr lang="en-US" sz="800" dirty="0">
                <a:solidFill>
                  <a:srgbClr val="6B7280"/>
                </a:solidFill>
                <a:latin typeface="Calibri" pitchFamily="34" charset="0"/>
                <a:ea typeface="Calibri" pitchFamily="34" charset="-122"/>
                <a:cs typeface="Calibri" pitchFamily="34" charset="-120"/>
              </a:rPr>
              <a:t>35</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marL="0" indent="0">
              <a:buNone/>
            </a:pPr>
            <a:r>
              <a:rPr lang="en-US" sz="2400" b="1" dirty="0">
                <a:solidFill>
                  <a:srgbClr val="1B2A4A"/>
                </a:solidFill>
                <a:latin typeface="Calibri" pitchFamily="34" charset="0"/>
                <a:ea typeface="Calibri" pitchFamily="34" charset="-122"/>
                <a:cs typeface="Calibri" pitchFamily="34" charset="-120"/>
              </a:rPr>
              <a:t>Appendix · Three ways to search: grid, random, Bayesian</a:t>
            </a:r>
            <a:endParaRPr lang="en-US" sz="2400" dirty="0"/>
          </a:p>
        </p:txBody>
      </p:sp>
      <p:sp>
        <p:nvSpPr>
          <p:cNvPr id="7" name="Shape 4"/>
          <p:cNvSpPr/>
          <p:nvPr/>
        </p:nvSpPr>
        <p:spPr>
          <a:xfrm>
            <a:off x="365760" y="1234440"/>
            <a:ext cx="2697480" cy="2743200"/>
          </a:xfrm>
          <a:prstGeom prst="roundRect">
            <a:avLst>
              <a:gd name="adj" fmla="val 2712"/>
            </a:avLst>
          </a:prstGeom>
          <a:solidFill>
            <a:srgbClr val="F3F5F8"/>
          </a:solidFill>
          <a:ln w="12700">
            <a:solidFill>
              <a:srgbClr val="F3F5F8"/>
            </a:solidFill>
            <a:prstDash val="solid"/>
          </a:ln>
        </p:spPr>
        <p:txBody>
          <a:bodyPr/>
          <a:lstStyle/>
          <a:p>
            <a:endParaRPr/>
          </a:p>
        </p:txBody>
      </p:sp>
      <p:sp>
        <p:nvSpPr>
          <p:cNvPr id="8" name="Shape 5"/>
          <p:cNvSpPr/>
          <p:nvPr/>
        </p:nvSpPr>
        <p:spPr>
          <a:xfrm>
            <a:off x="502920" y="1353312"/>
            <a:ext cx="347472" cy="347472"/>
          </a:xfrm>
          <a:prstGeom prst="ellipse">
            <a:avLst/>
          </a:prstGeom>
          <a:solidFill>
            <a:srgbClr val="0E7C86"/>
          </a:solidFill>
          <a:ln w="12700">
            <a:solidFill>
              <a:srgbClr val="0E7C86"/>
            </a:solidFill>
            <a:prstDash val="solid"/>
          </a:ln>
        </p:spPr>
        <p:txBody>
          <a:bodyPr/>
          <a:lstStyle/>
          <a:p>
            <a:endParaRPr/>
          </a:p>
        </p:txBody>
      </p:sp>
      <p:pic>
        <p:nvPicPr>
          <p:cNvPr id="9" name="Image 0" descr="preencoded.png"/>
          <p:cNvPicPr>
            <a:picLocks noChangeAspect="1"/>
          </p:cNvPicPr>
          <p:nvPr/>
        </p:nvPicPr>
        <p:blipFill>
          <a:blip r:embed="rId3"/>
          <a:stretch>
            <a:fillRect/>
          </a:stretch>
        </p:blipFill>
        <p:spPr>
          <a:xfrm>
            <a:off x="576072" y="1426464"/>
            <a:ext cx="201168" cy="201168"/>
          </a:xfrm>
          <a:prstGeom prst="rect">
            <a:avLst/>
          </a:prstGeom>
        </p:spPr>
      </p:pic>
      <p:sp>
        <p:nvSpPr>
          <p:cNvPr id="10" name="Text 6"/>
          <p:cNvSpPr txBox="1"/>
          <p:nvPr/>
        </p:nvSpPr>
        <p:spPr>
          <a:xfrm>
            <a:off x="932688" y="1325880"/>
            <a:ext cx="2011680" cy="402336"/>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Grid search</a:t>
            </a:r>
            <a:endParaRPr lang="en-US" sz="1300" dirty="0"/>
          </a:p>
        </p:txBody>
      </p:sp>
      <p:sp>
        <p:nvSpPr>
          <p:cNvPr id="11" name="Text 7"/>
          <p:cNvSpPr txBox="1"/>
          <p:nvPr/>
        </p:nvSpPr>
        <p:spPr>
          <a:xfrm>
            <a:off x="502920" y="1783080"/>
            <a:ext cx="2423160" cy="2103120"/>
          </a:xfrm>
          <a:prstGeom prst="rect">
            <a:avLst/>
          </a:prstGeom>
          <a:noFill/>
          <a:ln/>
        </p:spPr>
        <p:txBody>
          <a:bodyPr wrap="square" lIns="0" tIns="0" rIns="0" bIns="0" rtlCol="0" anchor="t"/>
          <a:lstStyle/>
          <a:p>
            <a:pPr marL="177800" indent="-177800">
              <a:spcAft>
                <a:spcPts val="300"/>
              </a:spcAft>
              <a:buSzPct val="100000"/>
              <a:buChar char="•"/>
            </a:pPr>
            <a:r>
              <a:rPr lang="en-US" sz="1200" dirty="0">
                <a:solidFill>
                  <a:srgbClr val="222222"/>
                </a:solidFill>
                <a:latin typeface="Calibri" pitchFamily="34" charset="0"/>
                <a:ea typeface="Calibri" pitchFamily="34" charset="-122"/>
                <a:cs typeface="Calibri" pitchFamily="34" charset="-120"/>
              </a:rPr>
              <a:t>A list of values per setting; try every combination</a:t>
            </a:r>
            <a:endParaRPr lang="en-US" sz="1200" dirty="0"/>
          </a:p>
          <a:p>
            <a:pPr marL="177800" indent="-177800">
              <a:spcAft>
                <a:spcPts val="300"/>
              </a:spcAft>
              <a:buSzPct val="100000"/>
              <a:buChar char="•"/>
            </a:pPr>
            <a:r>
              <a:rPr lang="en-US" sz="1200" dirty="0">
                <a:solidFill>
                  <a:srgbClr val="222222"/>
                </a:solidFill>
                <a:latin typeface="Calibri" pitchFamily="34" charset="0"/>
                <a:ea typeface="Calibri" pitchFamily="34" charset="-122"/>
                <a:cs typeface="Calibri" pitchFamily="34" charset="-120"/>
              </a:rPr>
              <a:t>Exhaustive, easy to understand, expensive</a:t>
            </a:r>
            <a:endParaRPr lang="en-US" sz="1200" dirty="0"/>
          </a:p>
        </p:txBody>
      </p:sp>
      <p:sp>
        <p:nvSpPr>
          <p:cNvPr id="12" name="Shape 8"/>
          <p:cNvSpPr/>
          <p:nvPr/>
        </p:nvSpPr>
        <p:spPr>
          <a:xfrm>
            <a:off x="3218688" y="1234440"/>
            <a:ext cx="2697480" cy="2743200"/>
          </a:xfrm>
          <a:prstGeom prst="roundRect">
            <a:avLst>
              <a:gd name="adj" fmla="val 2712"/>
            </a:avLst>
          </a:prstGeom>
          <a:solidFill>
            <a:srgbClr val="F3F5F8"/>
          </a:solidFill>
          <a:ln w="12700">
            <a:solidFill>
              <a:srgbClr val="F3F5F8"/>
            </a:solidFill>
            <a:prstDash val="solid"/>
          </a:ln>
        </p:spPr>
        <p:txBody>
          <a:bodyPr/>
          <a:lstStyle/>
          <a:p>
            <a:endParaRPr/>
          </a:p>
        </p:txBody>
      </p:sp>
      <p:sp>
        <p:nvSpPr>
          <p:cNvPr id="13" name="Shape 9"/>
          <p:cNvSpPr/>
          <p:nvPr/>
        </p:nvSpPr>
        <p:spPr>
          <a:xfrm>
            <a:off x="3355848" y="1353312"/>
            <a:ext cx="347472" cy="347472"/>
          </a:xfrm>
          <a:prstGeom prst="ellipse">
            <a:avLst/>
          </a:prstGeom>
          <a:solidFill>
            <a:srgbClr val="0E7C86"/>
          </a:solidFill>
          <a:ln w="12700">
            <a:solidFill>
              <a:srgbClr val="0E7C86"/>
            </a:solidFill>
            <a:prstDash val="solid"/>
          </a:ln>
        </p:spPr>
        <p:txBody>
          <a:bodyPr/>
          <a:lstStyle/>
          <a:p>
            <a:endParaRPr/>
          </a:p>
        </p:txBody>
      </p:sp>
      <p:pic>
        <p:nvPicPr>
          <p:cNvPr id="14" name="Image 1" descr="preencoded.png"/>
          <p:cNvPicPr>
            <a:picLocks noChangeAspect="1"/>
          </p:cNvPicPr>
          <p:nvPr/>
        </p:nvPicPr>
        <p:blipFill>
          <a:blip r:embed="rId4"/>
          <a:stretch>
            <a:fillRect/>
          </a:stretch>
        </p:blipFill>
        <p:spPr>
          <a:xfrm>
            <a:off x="3429000" y="1426464"/>
            <a:ext cx="201168" cy="201168"/>
          </a:xfrm>
          <a:prstGeom prst="rect">
            <a:avLst/>
          </a:prstGeom>
        </p:spPr>
      </p:pic>
      <p:sp>
        <p:nvSpPr>
          <p:cNvPr id="15" name="Text 10"/>
          <p:cNvSpPr txBox="1"/>
          <p:nvPr/>
        </p:nvSpPr>
        <p:spPr>
          <a:xfrm>
            <a:off x="3785616" y="1325880"/>
            <a:ext cx="2011680" cy="402336"/>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Random search</a:t>
            </a:r>
            <a:endParaRPr lang="en-US" sz="1300" dirty="0"/>
          </a:p>
        </p:txBody>
      </p:sp>
      <p:sp>
        <p:nvSpPr>
          <p:cNvPr id="16" name="Text 11"/>
          <p:cNvSpPr txBox="1"/>
          <p:nvPr/>
        </p:nvSpPr>
        <p:spPr>
          <a:xfrm>
            <a:off x="3355848" y="1783080"/>
            <a:ext cx="2423160" cy="2103120"/>
          </a:xfrm>
          <a:prstGeom prst="rect">
            <a:avLst/>
          </a:prstGeom>
          <a:noFill/>
          <a:ln/>
        </p:spPr>
        <p:txBody>
          <a:bodyPr wrap="square" lIns="0" tIns="0" rIns="0" bIns="0" rtlCol="0" anchor="t"/>
          <a:lstStyle/>
          <a:p>
            <a:pPr marL="177800" indent="-177800">
              <a:spcAft>
                <a:spcPts val="300"/>
              </a:spcAft>
              <a:buSzPct val="100000"/>
              <a:buChar char="•"/>
            </a:pPr>
            <a:r>
              <a:rPr lang="en-US" sz="1200" dirty="0">
                <a:solidFill>
                  <a:srgbClr val="222222"/>
                </a:solidFill>
                <a:latin typeface="Calibri" pitchFamily="34" charset="0"/>
                <a:ea typeface="Calibri" pitchFamily="34" charset="-122"/>
                <a:cs typeface="Calibri" pitchFamily="34" charset="-120"/>
              </a:rPr>
              <a:t>Ranges per setting; sample combinations at random</a:t>
            </a:r>
            <a:endParaRPr lang="en-US" sz="1200" dirty="0"/>
          </a:p>
          <a:p>
            <a:pPr marL="177800" indent="-177800">
              <a:spcAft>
                <a:spcPts val="300"/>
              </a:spcAft>
              <a:buSzPct val="100000"/>
              <a:buChar char="•"/>
            </a:pPr>
            <a:r>
              <a:rPr lang="en-US" sz="1200" dirty="0">
                <a:solidFill>
                  <a:srgbClr val="222222"/>
                </a:solidFill>
                <a:latin typeface="Calibri" pitchFamily="34" charset="0"/>
                <a:ea typeface="Calibri" pitchFamily="34" charset="-122"/>
                <a:cs typeface="Calibri" pitchFamily="34" charset="-120"/>
              </a:rPr>
              <a:t>Usually finds good settings faster than grid</a:t>
            </a:r>
            <a:endParaRPr lang="en-US" sz="1200" dirty="0"/>
          </a:p>
        </p:txBody>
      </p:sp>
      <p:sp>
        <p:nvSpPr>
          <p:cNvPr id="17" name="Shape 12"/>
          <p:cNvSpPr/>
          <p:nvPr/>
        </p:nvSpPr>
        <p:spPr>
          <a:xfrm>
            <a:off x="6080760" y="1234440"/>
            <a:ext cx="2697480" cy="2743200"/>
          </a:xfrm>
          <a:prstGeom prst="roundRect">
            <a:avLst>
              <a:gd name="adj" fmla="val 2712"/>
            </a:avLst>
          </a:prstGeom>
          <a:solidFill>
            <a:srgbClr val="F3F5F8"/>
          </a:solidFill>
          <a:ln w="12700">
            <a:solidFill>
              <a:srgbClr val="F3F5F8"/>
            </a:solidFill>
            <a:prstDash val="solid"/>
          </a:ln>
        </p:spPr>
        <p:txBody>
          <a:bodyPr/>
          <a:lstStyle/>
          <a:p>
            <a:endParaRPr/>
          </a:p>
        </p:txBody>
      </p:sp>
      <p:sp>
        <p:nvSpPr>
          <p:cNvPr id="18" name="Shape 13"/>
          <p:cNvSpPr/>
          <p:nvPr/>
        </p:nvSpPr>
        <p:spPr>
          <a:xfrm>
            <a:off x="6217920" y="1353312"/>
            <a:ext cx="347472" cy="347472"/>
          </a:xfrm>
          <a:prstGeom prst="ellipse">
            <a:avLst/>
          </a:prstGeom>
          <a:solidFill>
            <a:srgbClr val="0E7C86"/>
          </a:solidFill>
          <a:ln w="12700">
            <a:solidFill>
              <a:srgbClr val="0E7C86"/>
            </a:solidFill>
            <a:prstDash val="solid"/>
          </a:ln>
        </p:spPr>
        <p:txBody>
          <a:bodyPr/>
          <a:lstStyle/>
          <a:p>
            <a:endParaRPr/>
          </a:p>
        </p:txBody>
      </p:sp>
      <p:pic>
        <p:nvPicPr>
          <p:cNvPr id="19" name="Image 2" descr="preencoded.png"/>
          <p:cNvPicPr>
            <a:picLocks noChangeAspect="1"/>
          </p:cNvPicPr>
          <p:nvPr/>
        </p:nvPicPr>
        <p:blipFill>
          <a:blip r:embed="rId5"/>
          <a:stretch>
            <a:fillRect/>
          </a:stretch>
        </p:blipFill>
        <p:spPr>
          <a:xfrm>
            <a:off x="6291072" y="1426464"/>
            <a:ext cx="201168" cy="201168"/>
          </a:xfrm>
          <a:prstGeom prst="rect">
            <a:avLst/>
          </a:prstGeom>
        </p:spPr>
      </p:pic>
      <p:sp>
        <p:nvSpPr>
          <p:cNvPr id="20" name="Text 14"/>
          <p:cNvSpPr txBox="1"/>
          <p:nvPr/>
        </p:nvSpPr>
        <p:spPr>
          <a:xfrm>
            <a:off x="6647688" y="1325880"/>
            <a:ext cx="2011680" cy="402336"/>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Bayesian optimisation</a:t>
            </a:r>
            <a:endParaRPr lang="en-US" sz="1300" dirty="0"/>
          </a:p>
        </p:txBody>
      </p:sp>
      <p:sp>
        <p:nvSpPr>
          <p:cNvPr id="21" name="Text 15"/>
          <p:cNvSpPr txBox="1"/>
          <p:nvPr/>
        </p:nvSpPr>
        <p:spPr>
          <a:xfrm>
            <a:off x="6217920" y="1783080"/>
            <a:ext cx="2423160" cy="2103120"/>
          </a:xfrm>
          <a:prstGeom prst="rect">
            <a:avLst/>
          </a:prstGeom>
          <a:noFill/>
          <a:ln/>
        </p:spPr>
        <p:txBody>
          <a:bodyPr wrap="square" lIns="0" tIns="0" rIns="0" bIns="0" rtlCol="0" anchor="t"/>
          <a:lstStyle/>
          <a:p>
            <a:pPr marL="177800" indent="-177800">
              <a:spcAft>
                <a:spcPts val="300"/>
              </a:spcAft>
              <a:buSzPct val="100000"/>
              <a:buChar char="•"/>
            </a:pPr>
            <a:r>
              <a:rPr lang="en-US" sz="1200" dirty="0">
                <a:solidFill>
                  <a:srgbClr val="222222"/>
                </a:solidFill>
                <a:latin typeface="Calibri" pitchFamily="34" charset="0"/>
                <a:ea typeface="Calibri" pitchFamily="34" charset="-122"/>
                <a:cs typeface="Calibri" pitchFamily="34" charset="-120"/>
              </a:rPr>
              <a:t>Uses previous trials to pick the next candidate</a:t>
            </a:r>
            <a:endParaRPr lang="en-US" sz="1200" dirty="0"/>
          </a:p>
          <a:p>
            <a:pPr marL="177800" indent="-177800">
              <a:spcAft>
                <a:spcPts val="300"/>
              </a:spcAft>
              <a:buSzPct val="100000"/>
              <a:buChar char="•"/>
            </a:pPr>
            <a:r>
              <a:rPr lang="en-US" sz="1200" dirty="0">
                <a:solidFill>
                  <a:srgbClr val="222222"/>
                </a:solidFill>
                <a:latin typeface="Calibri" pitchFamily="34" charset="0"/>
                <a:ea typeface="Calibri" pitchFamily="34" charset="-122"/>
                <a:cs typeface="Calibri" pitchFamily="34" charset="-120"/>
              </a:rPr>
              <a:t>A surrogate model estimates performance cheaply</a:t>
            </a:r>
            <a:endParaRPr lang="en-US" sz="1200" dirty="0"/>
          </a:p>
          <a:p>
            <a:pPr marL="177800" indent="-177800">
              <a:spcAft>
                <a:spcPts val="300"/>
              </a:spcAft>
              <a:buSzPct val="100000"/>
              <a:buChar char="•"/>
            </a:pPr>
            <a:r>
              <a:rPr lang="en-US" sz="1200" dirty="0">
                <a:solidFill>
                  <a:srgbClr val="222222"/>
                </a:solidFill>
                <a:latin typeface="Calibri" pitchFamily="34" charset="0"/>
                <a:ea typeface="Calibri" pitchFamily="34" charset="-122"/>
                <a:cs typeface="Calibri" pitchFamily="34" charset="-120"/>
              </a:rPr>
              <a:t>Cold start: begins with random trials</a:t>
            </a:r>
            <a:endParaRPr lang="en-US" sz="1200" dirty="0"/>
          </a:p>
        </p:txBody>
      </p:sp>
      <p:pic>
        <p:nvPicPr>
          <p:cNvPr id="22" name="IE University logo" descr="IE University, School of Science &amp; Technology"/>
          <p:cNvPicPr>
            <a:picLocks noChangeAspect="1"/>
          </p:cNvPicPr>
          <p:nvPr/>
        </p:nvPicPr>
        <p:blipFill>
          <a:blip r:embed="rId6"/>
          <a:stretch>
            <a:fillRect/>
          </a:stretch>
        </p:blipFill>
        <p:spPr>
          <a:xfrm>
            <a:off x="8013607" y="92634"/>
            <a:ext cx="764633" cy="262789"/>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marL="0" indent="0">
              <a:buNone/>
            </a:pPr>
            <a:r>
              <a:rPr lang="en-US" sz="800" dirty="0">
                <a:solidFill>
                  <a:srgbClr val="6B7280"/>
                </a:solidFill>
                <a:latin typeface="Calibri" pitchFamily="34" charset="0"/>
                <a:ea typeface="Calibri" pitchFamily="34" charset="-122"/>
                <a:cs typeface="Calibri" pitchFamily="34" charset="-120"/>
              </a:rPr>
              <a:t>MLOps · MBDS-PT2026F · Session 3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marL="0" indent="0" algn="r">
              <a:buNone/>
            </a:pPr>
            <a:r>
              <a:rPr lang="en-US" sz="800" dirty="0">
                <a:solidFill>
                  <a:srgbClr val="6B7280"/>
                </a:solidFill>
                <a:latin typeface="Calibri" pitchFamily="34" charset="0"/>
                <a:ea typeface="Calibri" pitchFamily="34" charset="-122"/>
                <a:cs typeface="Calibri" pitchFamily="34" charset="-120"/>
              </a:rPr>
              <a:t>36</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marL="0" indent="0">
              <a:buNone/>
            </a:pPr>
            <a:r>
              <a:rPr lang="en-US" sz="2400" b="1" dirty="0">
                <a:solidFill>
                  <a:srgbClr val="1B2A4A"/>
                </a:solidFill>
                <a:latin typeface="Calibri" pitchFamily="34" charset="0"/>
                <a:ea typeface="Calibri" pitchFamily="34" charset="-122"/>
                <a:cs typeface="Calibri" pitchFamily="34" charset="-120"/>
              </a:rPr>
              <a:t>Appendix · AutoML: automating the search, not the judgement</a:t>
            </a:r>
            <a:endParaRPr lang="en-US" sz="2400" dirty="0"/>
          </a:p>
        </p:txBody>
      </p:sp>
      <p:sp>
        <p:nvSpPr>
          <p:cNvPr id="7" name="Shape 4"/>
          <p:cNvSpPr/>
          <p:nvPr/>
        </p:nvSpPr>
        <p:spPr>
          <a:xfrm>
            <a:off x="365760" y="1234440"/>
            <a:ext cx="4114800" cy="2743200"/>
          </a:xfrm>
          <a:prstGeom prst="roundRect">
            <a:avLst>
              <a:gd name="adj" fmla="val 2667"/>
            </a:avLst>
          </a:prstGeom>
          <a:solidFill>
            <a:srgbClr val="F3F5F8"/>
          </a:solidFill>
          <a:ln w="12700">
            <a:solidFill>
              <a:srgbClr val="F3F5F8"/>
            </a:solidFill>
            <a:prstDash val="solid"/>
          </a:ln>
        </p:spPr>
        <p:txBody>
          <a:bodyPr/>
          <a:lstStyle/>
          <a:p>
            <a:endParaRPr/>
          </a:p>
        </p:txBody>
      </p:sp>
      <p:sp>
        <p:nvSpPr>
          <p:cNvPr id="8" name="Shape 5"/>
          <p:cNvSpPr/>
          <p:nvPr/>
        </p:nvSpPr>
        <p:spPr>
          <a:xfrm>
            <a:off x="502920" y="1353312"/>
            <a:ext cx="347472" cy="347472"/>
          </a:xfrm>
          <a:prstGeom prst="ellipse">
            <a:avLst/>
          </a:prstGeom>
          <a:solidFill>
            <a:srgbClr val="0E7C86"/>
          </a:solidFill>
          <a:ln w="12700">
            <a:solidFill>
              <a:srgbClr val="0E7C86"/>
            </a:solidFill>
            <a:prstDash val="solid"/>
          </a:ln>
        </p:spPr>
        <p:txBody>
          <a:bodyPr/>
          <a:lstStyle/>
          <a:p>
            <a:endParaRPr/>
          </a:p>
        </p:txBody>
      </p:sp>
      <p:pic>
        <p:nvPicPr>
          <p:cNvPr id="9" name="Image 0" descr="preencoded.png"/>
          <p:cNvPicPr>
            <a:picLocks noChangeAspect="1"/>
          </p:cNvPicPr>
          <p:nvPr/>
        </p:nvPicPr>
        <p:blipFill>
          <a:blip r:embed="rId3"/>
          <a:stretch>
            <a:fillRect/>
          </a:stretch>
        </p:blipFill>
        <p:spPr>
          <a:xfrm>
            <a:off x="576072" y="1426464"/>
            <a:ext cx="201168" cy="201168"/>
          </a:xfrm>
          <a:prstGeom prst="rect">
            <a:avLst/>
          </a:prstGeom>
        </p:spPr>
      </p:pic>
      <p:sp>
        <p:nvSpPr>
          <p:cNvPr id="10" name="Text 6"/>
          <p:cNvSpPr txBox="1"/>
          <p:nvPr/>
        </p:nvSpPr>
        <p:spPr>
          <a:xfrm>
            <a:off x="932688" y="1325880"/>
            <a:ext cx="3429000" cy="402336"/>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What AutoML does</a:t>
            </a:r>
            <a:endParaRPr lang="en-US" sz="1300" dirty="0"/>
          </a:p>
        </p:txBody>
      </p:sp>
      <p:sp>
        <p:nvSpPr>
          <p:cNvPr id="11" name="Text 7"/>
          <p:cNvSpPr txBox="1"/>
          <p:nvPr/>
        </p:nvSpPr>
        <p:spPr>
          <a:xfrm>
            <a:off x="502920" y="1783080"/>
            <a:ext cx="3840480" cy="2103120"/>
          </a:xfrm>
          <a:prstGeom prst="rect">
            <a:avLst/>
          </a:prstGeom>
          <a:noFill/>
          <a:ln/>
        </p:spPr>
        <p:txBody>
          <a:bodyPr wrap="square" lIns="0" tIns="0" rIns="0" bIns="0" rtlCol="0" anchor="t"/>
          <a:lstStyle/>
          <a:p>
            <a:pPr marL="177800" indent="-177800">
              <a:spcAft>
                <a:spcPts val="300"/>
              </a:spcAft>
              <a:buSzPct val="100000"/>
              <a:buChar char="•"/>
            </a:pPr>
            <a:r>
              <a:rPr lang="en-US" sz="1200" dirty="0">
                <a:solidFill>
                  <a:srgbClr val="222222"/>
                </a:solidFill>
                <a:latin typeface="Calibri" pitchFamily="34" charset="0"/>
                <a:ea typeface="Calibri" pitchFamily="34" charset="-122"/>
                <a:cs typeface="Calibri" pitchFamily="34" charset="-120"/>
              </a:rPr>
              <a:t>Selects algorithms and pre-processing automatically</a:t>
            </a:r>
            <a:endParaRPr lang="en-US" sz="1200" dirty="0"/>
          </a:p>
          <a:p>
            <a:pPr marL="177800" indent="-177800">
              <a:spcAft>
                <a:spcPts val="300"/>
              </a:spcAft>
              <a:buSzPct val="100000"/>
              <a:buChar char="•"/>
            </a:pPr>
            <a:r>
              <a:rPr lang="en-US" sz="1200" dirty="0">
                <a:solidFill>
                  <a:srgbClr val="222222"/>
                </a:solidFill>
                <a:latin typeface="Calibri" pitchFamily="34" charset="0"/>
                <a:ea typeface="Calibri" pitchFamily="34" charset="-122"/>
                <a:cs typeface="Calibri" pitchFamily="34" charset="-120"/>
              </a:rPr>
              <a:t>Searches hyperparameters; builds ensembles</a:t>
            </a:r>
            <a:endParaRPr lang="en-US" sz="1200" dirty="0"/>
          </a:p>
          <a:p>
            <a:pPr marL="177800" indent="-177800">
              <a:spcAft>
                <a:spcPts val="300"/>
              </a:spcAft>
              <a:buSzPct val="100000"/>
              <a:buChar char="•"/>
            </a:pPr>
            <a:r>
              <a:rPr lang="en-US" sz="1200" dirty="0">
                <a:solidFill>
                  <a:srgbClr val="222222"/>
                </a:solidFill>
                <a:latin typeface="Calibri" pitchFamily="34" charset="0"/>
                <a:ea typeface="Calibri" pitchFamily="34" charset="-122"/>
                <a:cs typeface="Calibri" pitchFamily="34" charset="-120"/>
              </a:rPr>
              <a:t>Estimates performance; sometimes explains the model</a:t>
            </a:r>
            <a:endParaRPr lang="en-US" sz="1200" dirty="0"/>
          </a:p>
          <a:p>
            <a:pPr marL="177800" indent="-177800">
              <a:spcAft>
                <a:spcPts val="300"/>
              </a:spcAft>
              <a:buSzPct val="100000"/>
              <a:buChar char="•"/>
            </a:pPr>
            <a:r>
              <a:rPr lang="en-US" sz="1200" dirty="0">
                <a:solidFill>
                  <a:srgbClr val="222222"/>
                </a:solidFill>
                <a:latin typeface="Calibri" pitchFamily="34" charset="0"/>
                <a:ea typeface="Calibri" pitchFamily="34" charset="-122"/>
                <a:cs typeface="Calibri" pitchFamily="34" charset="-120"/>
              </a:rPr>
              <a:t>Examples: cloud AutoML services, DataRobot, IBM AutoAI, auto-sklearn</a:t>
            </a:r>
            <a:endParaRPr lang="en-US" sz="1200" dirty="0"/>
          </a:p>
        </p:txBody>
      </p:sp>
      <p:sp>
        <p:nvSpPr>
          <p:cNvPr id="12" name="Shape 8"/>
          <p:cNvSpPr/>
          <p:nvPr/>
        </p:nvSpPr>
        <p:spPr>
          <a:xfrm>
            <a:off x="4663440" y="1234440"/>
            <a:ext cx="4114800" cy="2743200"/>
          </a:xfrm>
          <a:prstGeom prst="roundRect">
            <a:avLst>
              <a:gd name="adj" fmla="val 2667"/>
            </a:avLst>
          </a:prstGeom>
          <a:solidFill>
            <a:srgbClr val="F3F5F8"/>
          </a:solidFill>
          <a:ln w="12700">
            <a:solidFill>
              <a:srgbClr val="F3F5F8"/>
            </a:solidFill>
            <a:prstDash val="solid"/>
          </a:ln>
        </p:spPr>
        <p:txBody>
          <a:bodyPr/>
          <a:lstStyle/>
          <a:p>
            <a:endParaRPr/>
          </a:p>
        </p:txBody>
      </p:sp>
      <p:sp>
        <p:nvSpPr>
          <p:cNvPr id="13" name="Shape 9"/>
          <p:cNvSpPr/>
          <p:nvPr/>
        </p:nvSpPr>
        <p:spPr>
          <a:xfrm>
            <a:off x="4800600" y="1353312"/>
            <a:ext cx="347472" cy="347472"/>
          </a:xfrm>
          <a:prstGeom prst="ellipse">
            <a:avLst/>
          </a:prstGeom>
          <a:solidFill>
            <a:srgbClr val="E07A2F"/>
          </a:solidFill>
          <a:ln w="12700">
            <a:solidFill>
              <a:srgbClr val="E07A2F"/>
            </a:solidFill>
            <a:prstDash val="solid"/>
          </a:ln>
        </p:spPr>
        <p:txBody>
          <a:bodyPr/>
          <a:lstStyle/>
          <a:p>
            <a:endParaRPr/>
          </a:p>
        </p:txBody>
      </p:sp>
      <p:pic>
        <p:nvPicPr>
          <p:cNvPr id="14" name="Image 1" descr="preencoded.png"/>
          <p:cNvPicPr>
            <a:picLocks noChangeAspect="1"/>
          </p:cNvPicPr>
          <p:nvPr/>
        </p:nvPicPr>
        <p:blipFill>
          <a:blip r:embed="rId4"/>
          <a:stretch>
            <a:fillRect/>
          </a:stretch>
        </p:blipFill>
        <p:spPr>
          <a:xfrm>
            <a:off x="4873752" y="1426464"/>
            <a:ext cx="201168" cy="201168"/>
          </a:xfrm>
          <a:prstGeom prst="rect">
            <a:avLst/>
          </a:prstGeom>
        </p:spPr>
      </p:pic>
      <p:sp>
        <p:nvSpPr>
          <p:cNvPr id="15" name="Text 10"/>
          <p:cNvSpPr txBox="1"/>
          <p:nvPr/>
        </p:nvSpPr>
        <p:spPr>
          <a:xfrm>
            <a:off x="5230368" y="1325880"/>
            <a:ext cx="3429000" cy="402336"/>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What it does not do</a:t>
            </a:r>
            <a:endParaRPr lang="en-US" sz="1300" dirty="0"/>
          </a:p>
        </p:txBody>
      </p:sp>
      <p:sp>
        <p:nvSpPr>
          <p:cNvPr id="16" name="Text 11"/>
          <p:cNvSpPr txBox="1"/>
          <p:nvPr/>
        </p:nvSpPr>
        <p:spPr>
          <a:xfrm>
            <a:off x="4800600" y="1783080"/>
            <a:ext cx="3840480" cy="2103120"/>
          </a:xfrm>
          <a:prstGeom prst="rect">
            <a:avLst/>
          </a:prstGeom>
          <a:noFill/>
          <a:ln/>
        </p:spPr>
        <p:txBody>
          <a:bodyPr wrap="square" lIns="0" tIns="0" rIns="0" bIns="0" rtlCol="0" anchor="t"/>
          <a:lstStyle/>
          <a:p>
            <a:pPr marL="177800" indent="-177800">
              <a:spcAft>
                <a:spcPts val="300"/>
              </a:spcAft>
              <a:buSzPct val="100000"/>
              <a:buChar char="•"/>
            </a:pPr>
            <a:r>
              <a:rPr lang="en-US" sz="1200" dirty="0">
                <a:solidFill>
                  <a:srgbClr val="222222"/>
                </a:solidFill>
                <a:latin typeface="Calibri" pitchFamily="34" charset="0"/>
                <a:ea typeface="Calibri" pitchFamily="34" charset="-122"/>
                <a:cs typeface="Calibri" pitchFamily="34" charset="-120"/>
              </a:rPr>
              <a:t>Decide what to predict, or whether the data may be used</a:t>
            </a:r>
            <a:endParaRPr lang="en-US" sz="1200" dirty="0"/>
          </a:p>
          <a:p>
            <a:pPr marL="177800" indent="-177800">
              <a:spcAft>
                <a:spcPts val="300"/>
              </a:spcAft>
              <a:buSzPct val="100000"/>
              <a:buChar char="•"/>
            </a:pPr>
            <a:r>
              <a:rPr lang="en-US" sz="1200" dirty="0">
                <a:solidFill>
                  <a:srgbClr val="222222"/>
                </a:solidFill>
                <a:latin typeface="Calibri" pitchFamily="34" charset="0"/>
                <a:ea typeface="Calibri" pitchFamily="34" charset="-122"/>
                <a:cs typeface="Calibri" pitchFamily="34" charset="-120"/>
              </a:rPr>
              <a:t>Define "good enough" for the business</a:t>
            </a:r>
            <a:endParaRPr lang="en-US" sz="1200" dirty="0"/>
          </a:p>
          <a:p>
            <a:pPr marL="177800" indent="-177800">
              <a:spcAft>
                <a:spcPts val="300"/>
              </a:spcAft>
              <a:buSzPct val="100000"/>
              <a:buChar char="•"/>
            </a:pPr>
            <a:r>
              <a:rPr lang="en-US" sz="1200" dirty="0">
                <a:solidFill>
                  <a:srgbClr val="222222"/>
                </a:solidFill>
                <a:latin typeface="Calibri" pitchFamily="34" charset="0"/>
                <a:ea typeface="Calibri" pitchFamily="34" charset="-122"/>
                <a:cs typeface="Calibri" pitchFamily="34" charset="-120"/>
              </a:rPr>
              <a:t>Operate the model afterwards: everything in this course</a:t>
            </a:r>
            <a:endParaRPr lang="en-US" sz="1200" dirty="0"/>
          </a:p>
          <a:p>
            <a:pPr marL="177800" indent="-177800">
              <a:spcAft>
                <a:spcPts val="300"/>
              </a:spcAft>
              <a:buSzPct val="100000"/>
              <a:buChar char="•"/>
            </a:pPr>
            <a:r>
              <a:rPr lang="en-US" sz="1200" dirty="0">
                <a:solidFill>
                  <a:srgbClr val="222222"/>
                </a:solidFill>
                <a:latin typeface="Calibri" pitchFamily="34" charset="0"/>
                <a:ea typeface="Calibri" pitchFamily="34" charset="-122"/>
                <a:cs typeface="Calibri" pitchFamily="34" charset="-120"/>
              </a:rPr>
              <a:t>Domain knowledge becomes more important, not less</a:t>
            </a:r>
            <a:endParaRPr lang="en-US" sz="1200" dirty="0"/>
          </a:p>
        </p:txBody>
      </p:sp>
      <p:pic>
        <p:nvPicPr>
          <p:cNvPr id="17" name="IE University logo" descr="IE University, School of Science &amp; Technology"/>
          <p:cNvPicPr>
            <a:picLocks noChangeAspect="1"/>
          </p:cNvPicPr>
          <p:nvPr/>
        </p:nvPicPr>
        <p:blipFill>
          <a:blip r:embed="rId5"/>
          <a:stretch>
            <a:fillRect/>
          </a:stretch>
        </p:blipFill>
        <p:spPr>
          <a:xfrm>
            <a:off x="8013607" y="92634"/>
            <a:ext cx="764633" cy="262789"/>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marL="0" indent="0">
              <a:buNone/>
            </a:pPr>
            <a:r>
              <a:rPr lang="en-US" sz="800" dirty="0">
                <a:solidFill>
                  <a:srgbClr val="6B7280"/>
                </a:solidFill>
                <a:latin typeface="Calibri" pitchFamily="34" charset="0"/>
                <a:ea typeface="Calibri" pitchFamily="34" charset="-122"/>
                <a:cs typeface="Calibri" pitchFamily="34" charset="-120"/>
              </a:rPr>
              <a:t>MLOps · MBDS-PT2026F · Session 3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marL="0" indent="0" algn="r">
              <a:buNone/>
            </a:pPr>
            <a:r>
              <a:rPr lang="en-US" sz="800" dirty="0">
                <a:solidFill>
                  <a:srgbClr val="6B7280"/>
                </a:solidFill>
                <a:latin typeface="Calibri" pitchFamily="34" charset="0"/>
                <a:ea typeface="Calibri" pitchFamily="34" charset="-122"/>
                <a:cs typeface="Calibri" pitchFamily="34" charset="-120"/>
              </a:rPr>
              <a:t>37</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marL="0" indent="0">
              <a:buNone/>
            </a:pPr>
            <a:r>
              <a:rPr lang="en-US" sz="2400" b="1" dirty="0">
                <a:solidFill>
                  <a:srgbClr val="1B2A4A"/>
                </a:solidFill>
                <a:latin typeface="Calibri" pitchFamily="34" charset="0"/>
                <a:ea typeface="Calibri" pitchFamily="34" charset="-122"/>
                <a:cs typeface="Calibri" pitchFamily="34" charset="-120"/>
              </a:rPr>
              <a:t>Appendix · Before trusting a model, challenge it</a:t>
            </a:r>
            <a:endParaRPr lang="en-US" sz="2400" dirty="0"/>
          </a:p>
        </p:txBody>
      </p:sp>
      <p:sp>
        <p:nvSpPr>
          <p:cNvPr id="7" name="Shape 4"/>
          <p:cNvSpPr/>
          <p:nvPr/>
        </p:nvSpPr>
        <p:spPr>
          <a:xfrm>
            <a:off x="365760" y="1325880"/>
            <a:ext cx="640080" cy="640080"/>
          </a:xfrm>
          <a:prstGeom prst="ellipse">
            <a:avLst/>
          </a:prstGeom>
          <a:solidFill>
            <a:srgbClr val="0E7C86"/>
          </a:solidFill>
          <a:ln w="12700">
            <a:solidFill>
              <a:srgbClr val="0E7C86"/>
            </a:solidFill>
            <a:prstDash val="solid"/>
          </a:ln>
        </p:spPr>
        <p:txBody>
          <a:bodyPr/>
          <a:lstStyle/>
          <a:p>
            <a:endParaRPr/>
          </a:p>
        </p:txBody>
      </p:sp>
      <p:sp>
        <p:nvSpPr>
          <p:cNvPr id="8" name="Text 5"/>
          <p:cNvSpPr txBox="1"/>
          <p:nvPr/>
        </p:nvSpPr>
        <p:spPr>
          <a:xfrm>
            <a:off x="365760" y="1325880"/>
            <a:ext cx="64008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1</a:t>
            </a:r>
            <a:endParaRPr lang="en-US" sz="2400" dirty="0"/>
          </a:p>
        </p:txBody>
      </p:sp>
      <p:sp>
        <p:nvSpPr>
          <p:cNvPr id="9" name="Text 6"/>
          <p:cNvSpPr txBox="1"/>
          <p:nvPr/>
        </p:nvSpPr>
        <p:spPr>
          <a:xfrm>
            <a:off x="1188720" y="1234440"/>
            <a:ext cx="7589520" cy="411480"/>
          </a:xfrm>
          <a:prstGeom prst="rect">
            <a:avLst/>
          </a:prstGeom>
          <a:noFill/>
          <a:ln/>
        </p:spPr>
        <p:txBody>
          <a:bodyPr wrap="square" lIns="0" tIns="0" rIns="0" bIns="0" rtlCol="0" anchor="ctr"/>
          <a:lstStyle/>
          <a:p>
            <a:pPr marL="0" indent="0">
              <a:buNone/>
            </a:pPr>
            <a:r>
              <a:rPr lang="en-US" sz="1600" b="1" dirty="0">
                <a:solidFill>
                  <a:srgbClr val="1B2A4A"/>
                </a:solidFill>
                <a:latin typeface="Calibri" pitchFamily="34" charset="0"/>
                <a:ea typeface="Calibri" pitchFamily="34" charset="-122"/>
                <a:cs typeface="Calibri" pitchFamily="34" charset="-120"/>
              </a:rPr>
              <a:t>Cross-check several metrics</a:t>
            </a:r>
            <a:endParaRPr lang="en-US" sz="1600" dirty="0"/>
          </a:p>
        </p:txBody>
      </p:sp>
      <p:sp>
        <p:nvSpPr>
          <p:cNvPr id="10" name="Text 7"/>
          <p:cNvSpPr txBox="1"/>
          <p:nvPr/>
        </p:nvSpPr>
        <p:spPr>
          <a:xfrm>
            <a:off x="1188720" y="1645920"/>
            <a:ext cx="7589520" cy="548640"/>
          </a:xfrm>
          <a:prstGeom prst="rect">
            <a:avLst/>
          </a:prstGeom>
          <a:noFill/>
          <a:ln/>
        </p:spPr>
        <p:txBody>
          <a:bodyPr wrap="square" lIns="0" tIns="0" rIns="0" bIns="0" rtlCol="0" anchor="t"/>
          <a:lstStyle/>
          <a:p>
            <a:pPr marL="0" indent="0">
              <a:buNone/>
            </a:pPr>
            <a:r>
              <a:rPr lang="en-US" sz="1200" dirty="0">
                <a:solidFill>
                  <a:srgbClr val="222222"/>
                </a:solidFill>
                <a:latin typeface="Calibri" pitchFamily="34" charset="0"/>
                <a:ea typeface="Calibri" pitchFamily="34" charset="-122"/>
                <a:cs typeface="Calibri" pitchFamily="34" charset="-120"/>
              </a:rPr>
              <a:t>Not only the one the model was optimised on. Accuracy can look fine while recall on the minority class collapses.</a:t>
            </a:r>
            <a:endParaRPr lang="en-US" sz="1200" dirty="0"/>
          </a:p>
        </p:txBody>
      </p:sp>
      <p:sp>
        <p:nvSpPr>
          <p:cNvPr id="11" name="Shape 8"/>
          <p:cNvSpPr/>
          <p:nvPr/>
        </p:nvSpPr>
        <p:spPr>
          <a:xfrm>
            <a:off x="365760" y="2377440"/>
            <a:ext cx="640080" cy="640080"/>
          </a:xfrm>
          <a:prstGeom prst="ellipse">
            <a:avLst/>
          </a:prstGeom>
          <a:solidFill>
            <a:srgbClr val="0E7C86"/>
          </a:solidFill>
          <a:ln w="12700">
            <a:solidFill>
              <a:srgbClr val="0E7C86"/>
            </a:solidFill>
            <a:prstDash val="solid"/>
          </a:ln>
        </p:spPr>
        <p:txBody>
          <a:bodyPr/>
          <a:lstStyle/>
          <a:p>
            <a:endParaRPr/>
          </a:p>
        </p:txBody>
      </p:sp>
      <p:sp>
        <p:nvSpPr>
          <p:cNvPr id="12" name="Text 9"/>
          <p:cNvSpPr txBox="1"/>
          <p:nvPr/>
        </p:nvSpPr>
        <p:spPr>
          <a:xfrm>
            <a:off x="365760" y="2377440"/>
            <a:ext cx="64008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2</a:t>
            </a:r>
            <a:endParaRPr lang="en-US" sz="2400" dirty="0"/>
          </a:p>
        </p:txBody>
      </p:sp>
      <p:sp>
        <p:nvSpPr>
          <p:cNvPr id="13" name="Text 10"/>
          <p:cNvSpPr txBox="1"/>
          <p:nvPr/>
        </p:nvSpPr>
        <p:spPr>
          <a:xfrm>
            <a:off x="1188720" y="2286000"/>
            <a:ext cx="7589520" cy="411480"/>
          </a:xfrm>
          <a:prstGeom prst="rect">
            <a:avLst/>
          </a:prstGeom>
          <a:noFill/>
          <a:ln/>
        </p:spPr>
        <p:txBody>
          <a:bodyPr wrap="square" lIns="0" tIns="0" rIns="0" bIns="0" rtlCol="0" anchor="ctr"/>
          <a:lstStyle/>
          <a:p>
            <a:pPr marL="0" indent="0">
              <a:buNone/>
            </a:pPr>
            <a:r>
              <a:rPr lang="en-US" sz="1600" b="1" dirty="0">
                <a:solidFill>
                  <a:srgbClr val="1B2A4A"/>
                </a:solidFill>
                <a:latin typeface="Calibri" pitchFamily="34" charset="0"/>
                <a:ea typeface="Calibri" pitchFamily="34" charset="-122"/>
                <a:cs typeface="Calibri" pitchFamily="34" charset="-120"/>
              </a:rPr>
              <a:t>Split by subpopulation</a:t>
            </a:r>
            <a:endParaRPr lang="en-US" sz="1600" dirty="0"/>
          </a:p>
        </p:txBody>
      </p:sp>
      <p:sp>
        <p:nvSpPr>
          <p:cNvPr id="14" name="Text 11"/>
          <p:cNvSpPr txBox="1"/>
          <p:nvPr/>
        </p:nvSpPr>
        <p:spPr>
          <a:xfrm>
            <a:off x="1188720" y="2697480"/>
            <a:ext cx="7589520" cy="548640"/>
          </a:xfrm>
          <a:prstGeom prst="rect">
            <a:avLst/>
          </a:prstGeom>
          <a:noFill/>
          <a:ln/>
        </p:spPr>
        <p:txBody>
          <a:bodyPr wrap="square" lIns="0" tIns="0" rIns="0" bIns="0" rtlCol="0" anchor="t"/>
          <a:lstStyle/>
          <a:p>
            <a:pPr marL="0" indent="0">
              <a:buNone/>
            </a:pPr>
            <a:r>
              <a:rPr lang="en-US" sz="1200" dirty="0">
                <a:solidFill>
                  <a:srgbClr val="222222"/>
                </a:solidFill>
                <a:latin typeface="Calibri" pitchFamily="34" charset="0"/>
                <a:ea typeface="Calibri" pitchFamily="34" charset="-122"/>
                <a:cs typeface="Calibri" pitchFamily="34" charset="-120"/>
              </a:rPr>
              <a:t>Same error rate for men and women? for regions? for new and old customers? Session 7: fairness.</a:t>
            </a:r>
            <a:endParaRPr lang="en-US" sz="1200" dirty="0"/>
          </a:p>
        </p:txBody>
      </p:sp>
      <p:sp>
        <p:nvSpPr>
          <p:cNvPr id="15" name="Shape 12"/>
          <p:cNvSpPr/>
          <p:nvPr/>
        </p:nvSpPr>
        <p:spPr>
          <a:xfrm>
            <a:off x="365760" y="3429000"/>
            <a:ext cx="640080" cy="640080"/>
          </a:xfrm>
          <a:prstGeom prst="ellipse">
            <a:avLst/>
          </a:prstGeom>
          <a:solidFill>
            <a:srgbClr val="0E7C86"/>
          </a:solidFill>
          <a:ln w="12700">
            <a:solidFill>
              <a:srgbClr val="0E7C86"/>
            </a:solidFill>
            <a:prstDash val="solid"/>
          </a:ln>
        </p:spPr>
        <p:txBody>
          <a:bodyPr/>
          <a:lstStyle/>
          <a:p>
            <a:endParaRPr/>
          </a:p>
        </p:txBody>
      </p:sp>
      <p:sp>
        <p:nvSpPr>
          <p:cNvPr id="16" name="Text 13"/>
          <p:cNvSpPr txBox="1"/>
          <p:nvPr/>
        </p:nvSpPr>
        <p:spPr>
          <a:xfrm>
            <a:off x="365760" y="3429000"/>
            <a:ext cx="64008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3</a:t>
            </a:r>
            <a:endParaRPr lang="en-US" sz="2400" dirty="0"/>
          </a:p>
        </p:txBody>
      </p:sp>
      <p:sp>
        <p:nvSpPr>
          <p:cNvPr id="17" name="Text 14"/>
          <p:cNvSpPr txBox="1"/>
          <p:nvPr/>
        </p:nvSpPr>
        <p:spPr>
          <a:xfrm>
            <a:off x="1188720" y="3337560"/>
            <a:ext cx="7589520" cy="411480"/>
          </a:xfrm>
          <a:prstGeom prst="rect">
            <a:avLst/>
          </a:prstGeom>
          <a:noFill/>
          <a:ln/>
        </p:spPr>
        <p:txBody>
          <a:bodyPr wrap="square" lIns="0" tIns="0" rIns="0" bIns="0" rtlCol="0" anchor="ctr"/>
          <a:lstStyle/>
          <a:p>
            <a:pPr marL="0" indent="0">
              <a:buNone/>
            </a:pPr>
            <a:r>
              <a:rPr lang="en-US" sz="1600" b="1" dirty="0">
                <a:solidFill>
                  <a:srgbClr val="1B2A4A"/>
                </a:solidFill>
                <a:latin typeface="Calibri" pitchFamily="34" charset="0"/>
                <a:ea typeface="Calibri" pitchFamily="34" charset="-122"/>
                <a:cs typeface="Calibri" pitchFamily="34" charset="-120"/>
              </a:rPr>
              <a:t>Compare with production</a:t>
            </a:r>
            <a:endParaRPr lang="en-US" sz="1600" dirty="0"/>
          </a:p>
        </p:txBody>
      </p:sp>
      <p:sp>
        <p:nvSpPr>
          <p:cNvPr id="18" name="Text 15"/>
          <p:cNvSpPr txBox="1"/>
          <p:nvPr/>
        </p:nvSpPr>
        <p:spPr>
          <a:xfrm>
            <a:off x="1188720" y="3749040"/>
            <a:ext cx="7589520" cy="548640"/>
          </a:xfrm>
          <a:prstGeom prst="rect">
            <a:avLst/>
          </a:prstGeom>
          <a:noFill/>
          <a:ln/>
        </p:spPr>
        <p:txBody>
          <a:bodyPr wrap="square" lIns="0" tIns="0" rIns="0" bIns="0" rtlCol="0" anchor="t"/>
          <a:lstStyle/>
          <a:p>
            <a:pPr marL="0" indent="0">
              <a:buNone/>
            </a:pPr>
            <a:r>
              <a:rPr lang="en-US" sz="1200" dirty="0">
                <a:solidFill>
                  <a:srgbClr val="222222"/>
                </a:solidFill>
                <a:latin typeface="Calibri" pitchFamily="34" charset="0"/>
                <a:ea typeface="Calibri" pitchFamily="34" charset="-122"/>
                <a:cs typeface="Calibri" pitchFamily="34" charset="-120"/>
              </a:rPr>
              <a:t>Is the new model better than the one already serving customers, on the same data? If not, do not deploy.</a:t>
            </a:r>
            <a:endParaRPr lang="en-US" sz="1200" dirty="0"/>
          </a:p>
        </p:txBody>
      </p:sp>
      <p:pic>
        <p:nvPicPr>
          <p:cNvPr id="19" name="IE University logo" descr="IE University, School of Science &amp; Technology"/>
          <p:cNvPicPr>
            <a:picLocks noChangeAspect="1"/>
          </p:cNvPicPr>
          <p:nvPr/>
        </p:nvPicPr>
        <p:blipFill>
          <a:blip r:embed="rId3"/>
          <a:stretch>
            <a:fillRect/>
          </a:stretch>
        </p:blipFill>
        <p:spPr>
          <a:xfrm>
            <a:off x="8013607" y="92634"/>
            <a:ext cx="764633" cy="262789"/>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marL="0" indent="0">
              <a:buNone/>
            </a:pPr>
            <a:r>
              <a:rPr lang="en-US" sz="800" dirty="0">
                <a:solidFill>
                  <a:srgbClr val="6B7280"/>
                </a:solidFill>
                <a:latin typeface="Calibri" pitchFamily="34" charset="0"/>
                <a:ea typeface="Calibri" pitchFamily="34" charset="-122"/>
                <a:cs typeface="Calibri" pitchFamily="34" charset="-120"/>
              </a:rPr>
              <a:t>MLOps · MBDS-PT2026F · Session 3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marL="0" indent="0" algn="r">
              <a:buNone/>
            </a:pPr>
            <a:r>
              <a:rPr lang="en-US" sz="800" dirty="0">
                <a:solidFill>
                  <a:srgbClr val="6B7280"/>
                </a:solidFill>
                <a:latin typeface="Calibri" pitchFamily="34" charset="0"/>
                <a:ea typeface="Calibri" pitchFamily="34" charset="-122"/>
                <a:cs typeface="Calibri" pitchFamily="34" charset="-120"/>
              </a:rPr>
              <a:t>38</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marL="0" indent="0">
              <a:buNone/>
            </a:pPr>
            <a:r>
              <a:rPr lang="en-US" sz="2400" b="1" dirty="0">
                <a:solidFill>
                  <a:srgbClr val="1B2A4A"/>
                </a:solidFill>
                <a:latin typeface="Calibri" pitchFamily="34" charset="0"/>
                <a:ea typeface="Calibri" pitchFamily="34" charset="-122"/>
                <a:cs typeface="Calibri" pitchFamily="34" charset="-120"/>
              </a:rPr>
              <a:t>Appendix · The eight lines that give a training script a memory</a:t>
            </a:r>
            <a:endParaRPr lang="en-US" sz="2400" dirty="0"/>
          </a:p>
        </p:txBody>
      </p:sp>
      <p:sp>
        <p:nvSpPr>
          <p:cNvPr id="7" name="Text 4"/>
          <p:cNvSpPr txBox="1"/>
          <p:nvPr/>
        </p:nvSpPr>
        <p:spPr>
          <a:xfrm>
            <a:off x="365760" y="1188720"/>
            <a:ext cx="4023360" cy="274320"/>
          </a:xfrm>
          <a:prstGeom prst="rect">
            <a:avLst/>
          </a:prstGeom>
          <a:noFill/>
          <a:ln/>
        </p:spPr>
        <p:txBody>
          <a:bodyPr wrap="square" lIns="0" tIns="0" rIns="0" bIns="0" rtlCol="0" anchor="t"/>
          <a:lstStyle/>
          <a:p>
            <a:pPr marL="0" indent="0" algn="l">
              <a:buNone/>
            </a:pPr>
            <a:r>
              <a:rPr lang="en-US" sz="1250" b="1" dirty="0">
                <a:solidFill>
                  <a:srgbClr val="E07A2F"/>
                </a:solidFill>
                <a:latin typeface="Calibri" pitchFamily="34" charset="0"/>
                <a:ea typeface="Calibri" pitchFamily="34" charset="-122"/>
                <a:cs typeface="Calibri" pitchFamily="34" charset="-120"/>
              </a:rPr>
              <a:t>A plain training script</a:t>
            </a:r>
            <a:endParaRPr lang="en-US" sz="1250" dirty="0"/>
          </a:p>
        </p:txBody>
      </p:sp>
      <p:sp>
        <p:nvSpPr>
          <p:cNvPr id="8" name="Shape 5"/>
          <p:cNvSpPr/>
          <p:nvPr/>
        </p:nvSpPr>
        <p:spPr>
          <a:xfrm>
            <a:off x="365760" y="1508760"/>
            <a:ext cx="4023360" cy="3154680"/>
          </a:xfrm>
          <a:prstGeom prst="roundRect">
            <a:avLst>
              <a:gd name="adj" fmla="val 2319"/>
            </a:avLst>
          </a:prstGeom>
          <a:solidFill>
            <a:srgbClr val="F3F5F8"/>
          </a:solidFill>
          <a:ln w="12700">
            <a:solidFill>
              <a:srgbClr val="F3F5F8"/>
            </a:solidFill>
            <a:prstDash val="solid"/>
          </a:ln>
        </p:spPr>
        <p:txBody>
          <a:bodyPr/>
          <a:lstStyle/>
          <a:p>
            <a:endParaRPr/>
          </a:p>
        </p:txBody>
      </p:sp>
      <p:sp>
        <p:nvSpPr>
          <p:cNvPr id="9" name="Text 6"/>
          <p:cNvSpPr txBox="1"/>
          <p:nvPr/>
        </p:nvSpPr>
        <p:spPr>
          <a:xfrm>
            <a:off x="502920" y="1600200"/>
            <a:ext cx="3749040" cy="2971800"/>
          </a:xfrm>
          <a:prstGeom prst="rect">
            <a:avLst/>
          </a:prstGeom>
          <a:noFill/>
          <a:ln/>
        </p:spPr>
        <p:txBody>
          <a:bodyPr wrap="square" lIns="0" tIns="0" rIns="0" bIns="0" rtlCol="0" anchor="t"/>
          <a:lstStyle/>
          <a:p>
            <a:pPr marL="0" indent="0">
              <a:buNone/>
            </a:pPr>
            <a:r>
              <a:rPr lang="en-US" sz="950" dirty="0">
                <a:solidFill>
                  <a:srgbClr val="222222"/>
                </a:solidFill>
                <a:latin typeface="Courier New" pitchFamily="34" charset="0"/>
                <a:ea typeface="Courier New" pitchFamily="34" charset="-122"/>
                <a:cs typeface="Courier New" pitchFamily="34" charset="-120"/>
              </a:rPr>
              <a:t>df = read_csv("churn.csv")</a:t>
            </a:r>
            <a:endParaRPr lang="en-US" sz="950" dirty="0"/>
          </a:p>
          <a:p>
            <a:pPr marL="0" indent="0">
              <a:buNone/>
            </a:pPr>
            <a:r>
              <a:rPr lang="en-US" sz="950" dirty="0">
                <a:solidFill>
                  <a:srgbClr val="222222"/>
                </a:solidFill>
                <a:latin typeface="Courier New" pitchFamily="34" charset="0"/>
                <a:ea typeface="Courier New" pitchFamily="34" charset="-122"/>
                <a:cs typeface="Courier New" pitchFamily="34" charset="-120"/>
              </a:rPr>
              <a:t>validate(df)                 # stop if wrong</a:t>
            </a:r>
            <a:endParaRPr lang="en-US" sz="950" dirty="0"/>
          </a:p>
          <a:p>
            <a:pPr marL="0" indent="0">
              <a:buNone/>
            </a:pPr>
            <a:r>
              <a:rPr lang="en-US" sz="950" dirty="0">
                <a:solidFill>
                  <a:srgbClr val="222222"/>
                </a:solidFill>
                <a:latin typeface="Courier New" pitchFamily="34" charset="0"/>
                <a:ea typeface="Courier New" pitchFamily="34" charset="-122"/>
                <a:cs typeface="Courier New" pitchFamily="34" charset="-120"/>
              </a:rPr>
              <a:t>X_train, X_test, y_train, y_test = split(df)</a:t>
            </a:r>
            <a:endParaRPr lang="en-US" sz="950" dirty="0"/>
          </a:p>
          <a:p>
            <a:pPr marL="0" indent="0">
              <a:buNone/>
            </a:pPr>
            <a:endParaRPr lang="en-US" sz="950" dirty="0"/>
          </a:p>
          <a:p>
            <a:pPr marL="0" indent="0">
              <a:buNone/>
            </a:pPr>
            <a:r>
              <a:rPr lang="en-US" sz="950" dirty="0">
                <a:solidFill>
                  <a:srgbClr val="222222"/>
                </a:solidFill>
                <a:latin typeface="Courier New" pitchFamily="34" charset="0"/>
                <a:ea typeface="Courier New" pitchFamily="34" charset="-122"/>
                <a:cs typeface="Courier New" pitchFamily="34" charset="-120"/>
              </a:rPr>
              <a:t>model = RandomForest(n_estimators=200,</a:t>
            </a:r>
            <a:endParaRPr lang="en-US" sz="950" dirty="0"/>
          </a:p>
          <a:p>
            <a:pPr marL="0" indent="0">
              <a:buNone/>
            </a:pPr>
            <a:r>
              <a:rPr lang="en-US" sz="950" dirty="0">
                <a:solidFill>
                  <a:srgbClr val="222222"/>
                </a:solidFill>
                <a:latin typeface="Courier New" pitchFamily="34" charset="0"/>
                <a:ea typeface="Courier New" pitchFamily="34" charset="-122"/>
                <a:cs typeface="Courier New" pitchFamily="34" charset="-120"/>
              </a:rPr>
              <a:t>                     max_depth=6)</a:t>
            </a:r>
            <a:endParaRPr lang="en-US" sz="950" dirty="0"/>
          </a:p>
          <a:p>
            <a:pPr marL="0" indent="0">
              <a:buNone/>
            </a:pPr>
            <a:r>
              <a:rPr lang="en-US" sz="950" dirty="0">
                <a:solidFill>
                  <a:srgbClr val="222222"/>
                </a:solidFill>
                <a:latin typeface="Courier New" pitchFamily="34" charset="0"/>
                <a:ea typeface="Courier New" pitchFamily="34" charset="-122"/>
                <a:cs typeface="Courier New" pitchFamily="34" charset="-120"/>
              </a:rPr>
              <a:t>model.fit(X_train, y_train)</a:t>
            </a:r>
            <a:endParaRPr lang="en-US" sz="950" dirty="0"/>
          </a:p>
          <a:p>
            <a:pPr marL="0" indent="0">
              <a:buNone/>
            </a:pPr>
            <a:r>
              <a:rPr lang="en-US" sz="950" dirty="0">
                <a:solidFill>
                  <a:srgbClr val="222222"/>
                </a:solidFill>
                <a:latin typeface="Courier New" pitchFamily="34" charset="0"/>
                <a:ea typeface="Courier New" pitchFamily="34" charset="-122"/>
                <a:cs typeface="Courier New" pitchFamily="34" charset="-120"/>
              </a:rPr>
              <a:t>accuracy = score(model, X_test, y_test)</a:t>
            </a:r>
            <a:endParaRPr lang="en-US" sz="950" dirty="0"/>
          </a:p>
          <a:p>
            <a:pPr marL="0" indent="0">
              <a:buNone/>
            </a:pPr>
            <a:endParaRPr lang="en-US" sz="950" dirty="0"/>
          </a:p>
          <a:p>
            <a:pPr marL="0" indent="0">
              <a:buNone/>
            </a:pPr>
            <a:r>
              <a:rPr lang="en-US" sz="950" dirty="0">
                <a:solidFill>
                  <a:srgbClr val="222222"/>
                </a:solidFill>
                <a:latin typeface="Courier New" pitchFamily="34" charset="0"/>
                <a:ea typeface="Courier New" pitchFamily="34" charset="-122"/>
                <a:cs typeface="Courier New" pitchFamily="34" charset="-120"/>
              </a:rPr>
              <a:t>save(model, "model.pkl")</a:t>
            </a:r>
            <a:endParaRPr lang="en-US" sz="950" dirty="0"/>
          </a:p>
          <a:p>
            <a:pPr marL="0" indent="0">
              <a:buNone/>
            </a:pPr>
            <a:r>
              <a:rPr lang="en-US" sz="950" dirty="0">
                <a:solidFill>
                  <a:srgbClr val="222222"/>
                </a:solidFill>
                <a:latin typeface="Courier New" pitchFamily="34" charset="0"/>
                <a:ea typeface="Courier New" pitchFamily="34" charset="-122"/>
                <a:cs typeface="Courier New" pitchFamily="34" charset="-120"/>
              </a:rPr>
              <a:t>print(accuracy)              # …and then?</a:t>
            </a:r>
            <a:endParaRPr lang="en-US" sz="950" dirty="0"/>
          </a:p>
        </p:txBody>
      </p:sp>
      <p:sp>
        <p:nvSpPr>
          <p:cNvPr id="10" name="Text 7"/>
          <p:cNvSpPr txBox="1"/>
          <p:nvPr/>
        </p:nvSpPr>
        <p:spPr>
          <a:xfrm>
            <a:off x="4754880" y="1188720"/>
            <a:ext cx="4023360" cy="274320"/>
          </a:xfrm>
          <a:prstGeom prst="rect">
            <a:avLst/>
          </a:prstGeom>
          <a:noFill/>
          <a:ln/>
        </p:spPr>
        <p:txBody>
          <a:bodyPr wrap="square" lIns="0" tIns="0" rIns="0" bIns="0" rtlCol="0" anchor="t"/>
          <a:lstStyle/>
          <a:p>
            <a:pPr marL="0" indent="0" algn="l">
              <a:buNone/>
            </a:pPr>
            <a:r>
              <a:rPr lang="en-US" sz="1250" b="1" dirty="0">
                <a:solidFill>
                  <a:srgbClr val="0E7C86"/>
                </a:solidFill>
                <a:latin typeface="Calibri" pitchFamily="34" charset="0"/>
                <a:ea typeface="Calibri" pitchFamily="34" charset="-122"/>
                <a:cs typeface="Calibri" pitchFamily="34" charset="-120"/>
              </a:rPr>
              <a:t>The same script, with a memory</a:t>
            </a:r>
            <a:endParaRPr lang="en-US" sz="1250" dirty="0"/>
          </a:p>
        </p:txBody>
      </p:sp>
      <p:sp>
        <p:nvSpPr>
          <p:cNvPr id="11" name="Shape 8"/>
          <p:cNvSpPr/>
          <p:nvPr/>
        </p:nvSpPr>
        <p:spPr>
          <a:xfrm>
            <a:off x="4754880" y="1508760"/>
            <a:ext cx="4023360" cy="3154680"/>
          </a:xfrm>
          <a:prstGeom prst="roundRect">
            <a:avLst>
              <a:gd name="adj" fmla="val 2319"/>
            </a:avLst>
          </a:prstGeom>
          <a:solidFill>
            <a:srgbClr val="E3F1F2"/>
          </a:solidFill>
          <a:ln w="12700">
            <a:solidFill>
              <a:srgbClr val="E3F1F2"/>
            </a:solidFill>
            <a:prstDash val="solid"/>
          </a:ln>
        </p:spPr>
        <p:txBody>
          <a:bodyPr/>
          <a:lstStyle/>
          <a:p>
            <a:endParaRPr/>
          </a:p>
        </p:txBody>
      </p:sp>
      <p:sp>
        <p:nvSpPr>
          <p:cNvPr id="12" name="Text 9"/>
          <p:cNvSpPr txBox="1"/>
          <p:nvPr/>
        </p:nvSpPr>
        <p:spPr>
          <a:xfrm>
            <a:off x="4892040" y="1600200"/>
            <a:ext cx="3749040" cy="2971800"/>
          </a:xfrm>
          <a:prstGeom prst="rect">
            <a:avLst/>
          </a:prstGeom>
          <a:noFill/>
          <a:ln/>
        </p:spPr>
        <p:txBody>
          <a:bodyPr wrap="square" lIns="0" tIns="0" rIns="0" bIns="0" rtlCol="0" anchor="t"/>
          <a:lstStyle/>
          <a:p>
            <a:pPr marL="0" indent="0">
              <a:buNone/>
            </a:pPr>
            <a:r>
              <a:rPr lang="en-US" sz="850" b="1" dirty="0">
                <a:solidFill>
                  <a:srgbClr val="0E7C86"/>
                </a:solidFill>
                <a:latin typeface="Courier New" pitchFamily="34" charset="0"/>
                <a:ea typeface="Courier New" pitchFamily="34" charset="-122"/>
                <a:cs typeface="Courier New" pitchFamily="34" charset="-120"/>
              </a:rPr>
              <a:t>import mlflow</a:t>
            </a:r>
            <a:endParaRPr lang="en-US" sz="850" dirty="0"/>
          </a:p>
          <a:p>
            <a:pPr marL="0" indent="0">
              <a:buNone/>
            </a:pPr>
            <a:r>
              <a:rPr lang="en-US" sz="850" b="1" dirty="0">
                <a:solidFill>
                  <a:srgbClr val="0E7C86"/>
                </a:solidFill>
                <a:latin typeface="Courier New" pitchFamily="34" charset="0"/>
                <a:ea typeface="Courier New" pitchFamily="34" charset="-122"/>
                <a:cs typeface="Courier New" pitchFamily="34" charset="-120"/>
              </a:rPr>
              <a:t>mlflow.set_experiment("churn-model")</a:t>
            </a:r>
            <a:endParaRPr lang="en-US" sz="850" dirty="0"/>
          </a:p>
          <a:p>
            <a:pPr marL="0" indent="0">
              <a:buNone/>
            </a:pPr>
            <a:r>
              <a:rPr lang="en-US" sz="850" dirty="0">
                <a:solidFill>
                  <a:srgbClr val="222222"/>
                </a:solidFill>
                <a:latin typeface="Courier New" pitchFamily="34" charset="0"/>
                <a:ea typeface="Courier New" pitchFamily="34" charset="-122"/>
                <a:cs typeface="Courier New" pitchFamily="34" charset="-120"/>
              </a:rPr>
              <a:t>df = read_csv("churn.csv"); validate(df)</a:t>
            </a:r>
            <a:endParaRPr lang="en-US" sz="850" dirty="0"/>
          </a:p>
          <a:p>
            <a:pPr marL="0" indent="0">
              <a:buNone/>
            </a:pPr>
            <a:r>
              <a:rPr lang="en-US" sz="850" dirty="0">
                <a:solidFill>
                  <a:srgbClr val="222222"/>
                </a:solidFill>
                <a:latin typeface="Courier New" pitchFamily="34" charset="0"/>
                <a:ea typeface="Courier New" pitchFamily="34" charset="-122"/>
                <a:cs typeface="Courier New" pitchFamily="34" charset="-120"/>
              </a:rPr>
              <a:t>X_train, X_test, y_train, y_test = split(df)</a:t>
            </a:r>
            <a:endParaRPr lang="en-US" sz="850" dirty="0"/>
          </a:p>
          <a:p>
            <a:pPr marL="0" indent="0">
              <a:buNone/>
            </a:pPr>
            <a:r>
              <a:rPr lang="en-US" sz="850" b="1" dirty="0">
                <a:solidFill>
                  <a:srgbClr val="0E7C86"/>
                </a:solidFill>
                <a:latin typeface="Courier New" pitchFamily="34" charset="0"/>
                <a:ea typeface="Courier New" pitchFamily="34" charset="-122"/>
                <a:cs typeface="Courier New" pitchFamily="34" charset="-120"/>
              </a:rPr>
              <a:t>with mlflow.start_run():   # one attempt</a:t>
            </a:r>
            <a:endParaRPr lang="en-US" sz="850" dirty="0"/>
          </a:p>
          <a:p>
            <a:pPr marL="0" indent="0">
              <a:buNone/>
            </a:pPr>
            <a:r>
              <a:rPr lang="en-US" sz="850" dirty="0">
                <a:solidFill>
                  <a:srgbClr val="222222"/>
                </a:solidFill>
                <a:latin typeface="Courier New" pitchFamily="34" charset="0"/>
                <a:ea typeface="Courier New" pitchFamily="34" charset="-122"/>
                <a:cs typeface="Courier New" pitchFamily="34" charset="-120"/>
              </a:rPr>
              <a:t>    model = RandomForest(n_estimators=200, max_depth=6)</a:t>
            </a:r>
            <a:endParaRPr lang="en-US" sz="850" dirty="0"/>
          </a:p>
          <a:p>
            <a:pPr marL="0" indent="0">
              <a:buNone/>
            </a:pPr>
            <a:r>
              <a:rPr lang="en-US" sz="850" dirty="0">
                <a:solidFill>
                  <a:srgbClr val="222222"/>
                </a:solidFill>
                <a:latin typeface="Courier New" pitchFamily="34" charset="0"/>
                <a:ea typeface="Courier New" pitchFamily="34" charset="-122"/>
                <a:cs typeface="Courier New" pitchFamily="34" charset="-120"/>
              </a:rPr>
              <a:t>    model.fit(X_train, y_train)</a:t>
            </a:r>
            <a:endParaRPr lang="en-US" sz="850" dirty="0"/>
          </a:p>
          <a:p>
            <a:pPr marL="0" indent="0">
              <a:buNone/>
            </a:pPr>
            <a:r>
              <a:rPr lang="en-US" sz="850" dirty="0">
                <a:solidFill>
                  <a:srgbClr val="222222"/>
                </a:solidFill>
                <a:latin typeface="Courier New" pitchFamily="34" charset="0"/>
                <a:ea typeface="Courier New" pitchFamily="34" charset="-122"/>
                <a:cs typeface="Courier New" pitchFamily="34" charset="-120"/>
              </a:rPr>
              <a:t>    accuracy = score(model, X_test, y_test)</a:t>
            </a:r>
            <a:endParaRPr lang="en-US" sz="850" dirty="0"/>
          </a:p>
          <a:p>
            <a:pPr marL="0" indent="0">
              <a:buNone/>
            </a:pPr>
            <a:r>
              <a:rPr lang="en-US" sz="850" b="1" dirty="0">
                <a:solidFill>
                  <a:srgbClr val="0E7C86"/>
                </a:solidFill>
                <a:latin typeface="Courier New" pitchFamily="34" charset="0"/>
                <a:ea typeface="Courier New" pitchFamily="34" charset="-122"/>
                <a:cs typeface="Courier New" pitchFamily="34" charset="-120"/>
              </a:rPr>
              <a:t>    mlflow.log_params({"n_estimators": 200,</a:t>
            </a:r>
            <a:endParaRPr lang="en-US" sz="850" dirty="0"/>
          </a:p>
          <a:p>
            <a:pPr marL="0" indent="0">
              <a:buNone/>
            </a:pPr>
            <a:r>
              <a:rPr lang="en-US" sz="850" b="1" dirty="0">
                <a:solidFill>
                  <a:srgbClr val="0E7C86"/>
                </a:solidFill>
                <a:latin typeface="Courier New" pitchFamily="34" charset="0"/>
                <a:ea typeface="Courier New" pitchFamily="34" charset="-122"/>
                <a:cs typeface="Courier New" pitchFamily="34" charset="-120"/>
              </a:rPr>
              <a:t>        "max_depth": 6, "data_version": "06-01"})</a:t>
            </a:r>
            <a:endParaRPr lang="en-US" sz="850" dirty="0"/>
          </a:p>
          <a:p>
            <a:pPr marL="0" indent="0">
              <a:buNone/>
            </a:pPr>
            <a:r>
              <a:rPr lang="en-US" sz="850" b="1" dirty="0">
                <a:solidFill>
                  <a:srgbClr val="0E7C86"/>
                </a:solidFill>
                <a:latin typeface="Courier New" pitchFamily="34" charset="0"/>
                <a:ea typeface="Courier New" pitchFamily="34" charset="-122"/>
                <a:cs typeface="Courier New" pitchFamily="34" charset="-120"/>
              </a:rPr>
              <a:t>    mlflow.log_metrics({"accuracy": accuracy})</a:t>
            </a:r>
            <a:endParaRPr lang="en-US" sz="850" dirty="0"/>
          </a:p>
          <a:p>
            <a:pPr marL="0" indent="0">
              <a:buNone/>
            </a:pPr>
            <a:r>
              <a:rPr lang="en-US" sz="850" b="1" dirty="0">
                <a:solidFill>
                  <a:srgbClr val="0E7C86"/>
                </a:solidFill>
                <a:latin typeface="Courier New" pitchFamily="34" charset="0"/>
                <a:ea typeface="Courier New" pitchFamily="34" charset="-122"/>
                <a:cs typeface="Courier New" pitchFamily="34" charset="-120"/>
              </a:rPr>
              <a:t>    mlflow.set_tags({"owner": "Data Platform",</a:t>
            </a:r>
            <a:endParaRPr lang="en-US" sz="850" dirty="0"/>
          </a:p>
          <a:p>
            <a:pPr marL="0" indent="0">
              <a:buNone/>
            </a:pPr>
            <a:r>
              <a:rPr lang="en-US" sz="850" b="1" dirty="0">
                <a:solidFill>
                  <a:srgbClr val="0E7C86"/>
                </a:solidFill>
                <a:latin typeface="Courier New" pitchFamily="34" charset="0"/>
                <a:ea typeface="Courier New" pitchFamily="34" charset="-122"/>
                <a:cs typeface="Courier New" pitchFamily="34" charset="-120"/>
              </a:rPr>
              <a:t>                     "requested_by": "Retention"})</a:t>
            </a:r>
            <a:endParaRPr lang="en-US" sz="850" dirty="0"/>
          </a:p>
          <a:p>
            <a:pPr marL="0" indent="0">
              <a:buNone/>
            </a:pPr>
            <a:r>
              <a:rPr lang="en-US" sz="850" b="1" dirty="0">
                <a:solidFill>
                  <a:srgbClr val="0E7C86"/>
                </a:solidFill>
                <a:latin typeface="Courier New" pitchFamily="34" charset="0"/>
                <a:ea typeface="Courier New" pitchFamily="34" charset="-122"/>
                <a:cs typeface="Courier New" pitchFamily="34" charset="-120"/>
              </a:rPr>
              <a:t>    mlflow.sklearn.log_model(model, name="model")</a:t>
            </a:r>
            <a:endParaRPr lang="en-US" sz="850" dirty="0"/>
          </a:p>
          <a:p>
            <a:pPr marL="0" indent="0">
              <a:buNone/>
            </a:pPr>
            <a:r>
              <a:rPr lang="en-US" sz="850" b="1" dirty="0">
                <a:solidFill>
                  <a:srgbClr val="0E7C86"/>
                </a:solidFill>
                <a:latin typeface="Courier New" pitchFamily="34" charset="0"/>
                <a:ea typeface="Courier New" pitchFamily="34" charset="-122"/>
                <a:cs typeface="Courier New" pitchFamily="34" charset="-120"/>
              </a:rPr>
              <a:t>    mlflow.register_model(…, "churn-model")  # optional</a:t>
            </a:r>
            <a:endParaRPr lang="en-US" sz="850" dirty="0"/>
          </a:p>
        </p:txBody>
      </p:sp>
      <p:sp>
        <p:nvSpPr>
          <p:cNvPr id="13" name="Text 10"/>
          <p:cNvSpPr txBox="1"/>
          <p:nvPr/>
        </p:nvSpPr>
        <p:spPr>
          <a:xfrm>
            <a:off x="365760" y="4572000"/>
            <a:ext cx="8412480" cy="274320"/>
          </a:xfrm>
          <a:prstGeom prst="rect">
            <a:avLst/>
          </a:prstGeom>
          <a:noFill/>
          <a:ln/>
        </p:spPr>
        <p:txBody>
          <a:bodyPr wrap="square" lIns="0" tIns="0" rIns="0" bIns="0" rtlCol="0" anchor="t"/>
          <a:lstStyle/>
          <a:p>
            <a:pPr marL="0" indent="0" algn="l">
              <a:buNone/>
            </a:pPr>
            <a:r>
              <a:rPr lang="en-US" sz="950" i="1" dirty="0">
                <a:solidFill>
                  <a:srgbClr val="6B7280"/>
                </a:solidFill>
                <a:latin typeface="Calibri" pitchFamily="34" charset="0"/>
                <a:ea typeface="Calibri" pitchFamily="34" charset="-122"/>
                <a:cs typeface="Calibri" pitchFamily="34" charset="-120"/>
              </a:rPr>
              <a:t>Settings (what was tried) · metrics (how good) · tags (who, for whom, why) · the model file. The real file: S03/demo/mlflow/train_with_mlflow.py</a:t>
            </a:r>
            <a:endParaRPr lang="en-US" sz="950" dirty="0"/>
          </a:p>
        </p:txBody>
      </p:sp>
      <p:pic>
        <p:nvPicPr>
          <p:cNvPr id="14" name="IE University logo" descr="IE University, School of Science &amp; Technology"/>
          <p:cNvPicPr>
            <a:picLocks noChangeAspect="1"/>
          </p:cNvPicPr>
          <p:nvPr/>
        </p:nvPicPr>
        <p:blipFill>
          <a:blip r:embed="rId3"/>
          <a:stretch>
            <a:fillRect/>
          </a:stretch>
        </p:blipFill>
        <p:spPr>
          <a:xfrm>
            <a:off x="8013607" y="92634"/>
            <a:ext cx="764633" cy="262789"/>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TotalTime>
  <Words>9854</Words>
  <Application>Microsoft Macintosh PowerPoint</Application>
  <PresentationFormat>On-screen Show (16:9)</PresentationFormat>
  <Paragraphs>729</Paragraphs>
  <Slides>38</Slides>
  <Notes>38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38</vt:i4>
      </vt:variant>
    </vt:vector>
  </HeadingPairs>
  <TitlesOfParts>
    <vt:vector size="42"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MLOps Session 3 – ML Pipelines, Environments &amp; Security</dc:title>
  <dc:subject>PptxGenJS Presentation</dc:subject>
  <dc:creator>Juan Manuel Ramírez García</dc:creator>
  <cp:lastModifiedBy>JUAN MANUEL RAMIREZ</cp:lastModifiedBy>
  <cp:revision>2</cp:revision>
  <dcterms:created xsi:type="dcterms:W3CDTF">2026-08-27T08:53:40Z</dcterms:created>
  <dcterms:modified xsi:type="dcterms:W3CDTF">2026-10-10T12:18:38Z</dcterms:modified>
</cp:coreProperties>
</file>